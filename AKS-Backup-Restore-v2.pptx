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A61FB-91E7-4004-94DC-391C96CC3C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7DDA25-B321-44C0-8FE4-68B2BF2C89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21B0AE-ECFC-4AF5-9FFA-0F1B094FFE3C}"/>
              </a:ext>
            </a:extLst>
          </p:cNvPr>
          <p:cNvSpPr>
            <a:spLocks noGrp="1"/>
          </p:cNvSpPr>
          <p:nvPr>
            <p:ph type="dt" sz="half" idx="10"/>
          </p:nvPr>
        </p:nvSpPr>
        <p:spPr/>
        <p:txBody>
          <a:bodyPr/>
          <a:lstStyle/>
          <a:p>
            <a:fld id="{384C1B98-578C-4234-A463-753A83F5F7A7}" type="datetimeFigureOut">
              <a:rPr lang="en-US" smtClean="0"/>
              <a:t>10/8/2026</a:t>
            </a:fld>
            <a:endParaRPr lang="en-US"/>
          </a:p>
        </p:txBody>
      </p:sp>
      <p:sp>
        <p:nvSpPr>
          <p:cNvPr id="5" name="Footer Placeholder 4">
            <a:extLst>
              <a:ext uri="{FF2B5EF4-FFF2-40B4-BE49-F238E27FC236}">
                <a16:creationId xmlns:a16="http://schemas.microsoft.com/office/drawing/2014/main" id="{1458FD47-5201-42B1-9139-1DD0FAE40B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E18A27-9801-46A1-9FFD-8E24BFCBEE2D}"/>
              </a:ext>
            </a:extLst>
          </p:cNvPr>
          <p:cNvSpPr>
            <a:spLocks noGrp="1"/>
          </p:cNvSpPr>
          <p:nvPr>
            <p:ph type="sldNum" sz="quarter" idx="12"/>
          </p:nvPr>
        </p:nvSpPr>
        <p:spPr/>
        <p:txBody>
          <a:bodyPr/>
          <a:lstStyle/>
          <a:p>
            <a:fld id="{DA1DF69B-300B-403A-8418-6781E45FCC44}" type="slidenum">
              <a:rPr lang="en-US" smtClean="0"/>
              <a:t>‹#›</a:t>
            </a:fld>
            <a:endParaRPr lang="en-US"/>
          </a:p>
        </p:txBody>
      </p:sp>
    </p:spTree>
    <p:extLst>
      <p:ext uri="{BB962C8B-B14F-4D97-AF65-F5344CB8AC3E}">
        <p14:creationId xmlns:p14="http://schemas.microsoft.com/office/powerpoint/2010/main" val="2930340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14C82-5E39-4573-B35B-56AB50E1CC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75D09E-630C-4C62-937C-29D22CFF0C8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EFE033-5F39-43F2-AE5A-B230D6EEE118}"/>
              </a:ext>
            </a:extLst>
          </p:cNvPr>
          <p:cNvSpPr>
            <a:spLocks noGrp="1"/>
          </p:cNvSpPr>
          <p:nvPr>
            <p:ph type="dt" sz="half" idx="10"/>
          </p:nvPr>
        </p:nvSpPr>
        <p:spPr/>
        <p:txBody>
          <a:bodyPr/>
          <a:lstStyle/>
          <a:p>
            <a:fld id="{384C1B98-578C-4234-A463-753A83F5F7A7}" type="datetimeFigureOut">
              <a:rPr lang="en-US" smtClean="0"/>
              <a:t>10/8/2026</a:t>
            </a:fld>
            <a:endParaRPr lang="en-US"/>
          </a:p>
        </p:txBody>
      </p:sp>
      <p:sp>
        <p:nvSpPr>
          <p:cNvPr id="5" name="Footer Placeholder 4">
            <a:extLst>
              <a:ext uri="{FF2B5EF4-FFF2-40B4-BE49-F238E27FC236}">
                <a16:creationId xmlns:a16="http://schemas.microsoft.com/office/drawing/2014/main" id="{F1AC22DE-382A-4E20-93A6-7873E0E4AE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45347A-EF8C-488B-9931-5D4F64F61541}"/>
              </a:ext>
            </a:extLst>
          </p:cNvPr>
          <p:cNvSpPr>
            <a:spLocks noGrp="1"/>
          </p:cNvSpPr>
          <p:nvPr>
            <p:ph type="sldNum" sz="quarter" idx="12"/>
          </p:nvPr>
        </p:nvSpPr>
        <p:spPr/>
        <p:txBody>
          <a:bodyPr/>
          <a:lstStyle/>
          <a:p>
            <a:fld id="{DA1DF69B-300B-403A-8418-6781E45FCC44}" type="slidenum">
              <a:rPr lang="en-US" smtClean="0"/>
              <a:t>‹#›</a:t>
            </a:fld>
            <a:endParaRPr lang="en-US"/>
          </a:p>
        </p:txBody>
      </p:sp>
    </p:spTree>
    <p:extLst>
      <p:ext uri="{BB962C8B-B14F-4D97-AF65-F5344CB8AC3E}">
        <p14:creationId xmlns:p14="http://schemas.microsoft.com/office/powerpoint/2010/main" val="2298077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DF2DA-EEA8-4167-A874-FA952F6E2C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FAEC27-D8A1-4D78-B29C-CD2743094C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72E362E-5631-433A-BA9C-504BD09DA481}"/>
              </a:ext>
            </a:extLst>
          </p:cNvPr>
          <p:cNvSpPr>
            <a:spLocks noGrp="1"/>
          </p:cNvSpPr>
          <p:nvPr>
            <p:ph type="dt" sz="half" idx="10"/>
          </p:nvPr>
        </p:nvSpPr>
        <p:spPr/>
        <p:txBody>
          <a:bodyPr/>
          <a:lstStyle/>
          <a:p>
            <a:fld id="{384C1B98-578C-4234-A463-753A83F5F7A7}" type="datetimeFigureOut">
              <a:rPr lang="en-US" smtClean="0"/>
              <a:t>10/8/2026</a:t>
            </a:fld>
            <a:endParaRPr lang="en-US"/>
          </a:p>
        </p:txBody>
      </p:sp>
      <p:sp>
        <p:nvSpPr>
          <p:cNvPr id="5" name="Footer Placeholder 4">
            <a:extLst>
              <a:ext uri="{FF2B5EF4-FFF2-40B4-BE49-F238E27FC236}">
                <a16:creationId xmlns:a16="http://schemas.microsoft.com/office/drawing/2014/main" id="{DC0B1F28-FC7B-4E6B-B7BC-AED57E91D3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530DE6-00C1-460A-92AF-06274FB8C770}"/>
              </a:ext>
            </a:extLst>
          </p:cNvPr>
          <p:cNvSpPr>
            <a:spLocks noGrp="1"/>
          </p:cNvSpPr>
          <p:nvPr>
            <p:ph type="sldNum" sz="quarter" idx="12"/>
          </p:nvPr>
        </p:nvSpPr>
        <p:spPr/>
        <p:txBody>
          <a:bodyPr/>
          <a:lstStyle/>
          <a:p>
            <a:fld id="{DA1DF69B-300B-403A-8418-6781E45FCC44}" type="slidenum">
              <a:rPr lang="en-US" smtClean="0"/>
              <a:t>‹#›</a:t>
            </a:fld>
            <a:endParaRPr lang="en-US"/>
          </a:p>
        </p:txBody>
      </p:sp>
    </p:spTree>
    <p:extLst>
      <p:ext uri="{BB962C8B-B14F-4D97-AF65-F5344CB8AC3E}">
        <p14:creationId xmlns:p14="http://schemas.microsoft.com/office/powerpoint/2010/main" val="906884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E21DF-5F71-4F04-B58C-93B5AF02EA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2EB414-2614-4EC1-A4C1-5D178DF2C80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B425C23-2014-463F-91EF-D228F23BC6C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A2219ED-732A-467E-BB04-E6F3A81E24EF}"/>
              </a:ext>
            </a:extLst>
          </p:cNvPr>
          <p:cNvSpPr>
            <a:spLocks noGrp="1"/>
          </p:cNvSpPr>
          <p:nvPr>
            <p:ph type="dt" sz="half" idx="10"/>
          </p:nvPr>
        </p:nvSpPr>
        <p:spPr/>
        <p:txBody>
          <a:bodyPr/>
          <a:lstStyle/>
          <a:p>
            <a:fld id="{384C1B98-578C-4234-A463-753A83F5F7A7}" type="datetimeFigureOut">
              <a:rPr lang="en-US" smtClean="0"/>
              <a:t>10/8/2026</a:t>
            </a:fld>
            <a:endParaRPr lang="en-US"/>
          </a:p>
        </p:txBody>
      </p:sp>
      <p:sp>
        <p:nvSpPr>
          <p:cNvPr id="6" name="Footer Placeholder 5">
            <a:extLst>
              <a:ext uri="{FF2B5EF4-FFF2-40B4-BE49-F238E27FC236}">
                <a16:creationId xmlns:a16="http://schemas.microsoft.com/office/drawing/2014/main" id="{D9270710-DE70-4B98-B014-150C41C9F3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7660F7-D2D4-463C-9A69-490574E73C69}"/>
              </a:ext>
            </a:extLst>
          </p:cNvPr>
          <p:cNvSpPr>
            <a:spLocks noGrp="1"/>
          </p:cNvSpPr>
          <p:nvPr>
            <p:ph type="sldNum" sz="quarter" idx="12"/>
          </p:nvPr>
        </p:nvSpPr>
        <p:spPr/>
        <p:txBody>
          <a:bodyPr/>
          <a:lstStyle/>
          <a:p>
            <a:fld id="{DA1DF69B-300B-403A-8418-6781E45FCC44}" type="slidenum">
              <a:rPr lang="en-US" smtClean="0"/>
              <a:t>‹#›</a:t>
            </a:fld>
            <a:endParaRPr lang="en-US"/>
          </a:p>
        </p:txBody>
      </p:sp>
    </p:spTree>
    <p:extLst>
      <p:ext uri="{BB962C8B-B14F-4D97-AF65-F5344CB8AC3E}">
        <p14:creationId xmlns:p14="http://schemas.microsoft.com/office/powerpoint/2010/main" val="2452633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5A657-1E37-4B5C-BF8A-BA25061ED5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BD97DE-D843-4015-9909-4B0A39EC0A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92134AD-9C1B-4C8A-86BE-F58F33355C5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F6D7036-B83D-41CC-A2C3-A7837105BA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B4AAD6D-2D01-46CF-91C0-95F341B061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D91444-B6E0-4C9B-928A-EBA1E9E999D0}"/>
              </a:ext>
            </a:extLst>
          </p:cNvPr>
          <p:cNvSpPr>
            <a:spLocks noGrp="1"/>
          </p:cNvSpPr>
          <p:nvPr>
            <p:ph type="dt" sz="half" idx="10"/>
          </p:nvPr>
        </p:nvSpPr>
        <p:spPr/>
        <p:txBody>
          <a:bodyPr/>
          <a:lstStyle/>
          <a:p>
            <a:fld id="{384C1B98-578C-4234-A463-753A83F5F7A7}" type="datetimeFigureOut">
              <a:rPr lang="en-US" smtClean="0"/>
              <a:t>10/8/2026</a:t>
            </a:fld>
            <a:endParaRPr lang="en-US"/>
          </a:p>
        </p:txBody>
      </p:sp>
      <p:sp>
        <p:nvSpPr>
          <p:cNvPr id="8" name="Footer Placeholder 7">
            <a:extLst>
              <a:ext uri="{FF2B5EF4-FFF2-40B4-BE49-F238E27FC236}">
                <a16:creationId xmlns:a16="http://schemas.microsoft.com/office/drawing/2014/main" id="{927F17BA-820A-4550-87A5-8A1F785F50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1609A4-8FC2-4125-8BB5-2D77D1897E3E}"/>
              </a:ext>
            </a:extLst>
          </p:cNvPr>
          <p:cNvSpPr>
            <a:spLocks noGrp="1"/>
          </p:cNvSpPr>
          <p:nvPr>
            <p:ph type="sldNum" sz="quarter" idx="12"/>
          </p:nvPr>
        </p:nvSpPr>
        <p:spPr/>
        <p:txBody>
          <a:bodyPr/>
          <a:lstStyle/>
          <a:p>
            <a:fld id="{DA1DF69B-300B-403A-8418-6781E45FCC44}" type="slidenum">
              <a:rPr lang="en-US" smtClean="0"/>
              <a:t>‹#›</a:t>
            </a:fld>
            <a:endParaRPr lang="en-US"/>
          </a:p>
        </p:txBody>
      </p:sp>
    </p:spTree>
    <p:extLst>
      <p:ext uri="{BB962C8B-B14F-4D97-AF65-F5344CB8AC3E}">
        <p14:creationId xmlns:p14="http://schemas.microsoft.com/office/powerpoint/2010/main" val="2985926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3F567-3001-427F-8C1D-EAC7A5C918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D6A9BE-EE9F-41F9-9159-C414270A02E7}"/>
              </a:ext>
            </a:extLst>
          </p:cNvPr>
          <p:cNvSpPr>
            <a:spLocks noGrp="1"/>
          </p:cNvSpPr>
          <p:nvPr>
            <p:ph type="dt" sz="half" idx="10"/>
          </p:nvPr>
        </p:nvSpPr>
        <p:spPr/>
        <p:txBody>
          <a:bodyPr/>
          <a:lstStyle/>
          <a:p>
            <a:fld id="{384C1B98-578C-4234-A463-753A83F5F7A7}" type="datetimeFigureOut">
              <a:rPr lang="en-US" smtClean="0"/>
              <a:t>10/8/2026</a:t>
            </a:fld>
            <a:endParaRPr lang="en-US"/>
          </a:p>
        </p:txBody>
      </p:sp>
      <p:sp>
        <p:nvSpPr>
          <p:cNvPr id="4" name="Footer Placeholder 3">
            <a:extLst>
              <a:ext uri="{FF2B5EF4-FFF2-40B4-BE49-F238E27FC236}">
                <a16:creationId xmlns:a16="http://schemas.microsoft.com/office/drawing/2014/main" id="{B2C80631-7370-40EA-8075-2E43B32C29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40B0E9-CF8A-48D3-AA7E-CBC899F42A5D}"/>
              </a:ext>
            </a:extLst>
          </p:cNvPr>
          <p:cNvSpPr>
            <a:spLocks noGrp="1"/>
          </p:cNvSpPr>
          <p:nvPr>
            <p:ph type="sldNum" sz="quarter" idx="12"/>
          </p:nvPr>
        </p:nvSpPr>
        <p:spPr/>
        <p:txBody>
          <a:bodyPr/>
          <a:lstStyle/>
          <a:p>
            <a:fld id="{DA1DF69B-300B-403A-8418-6781E45FCC44}" type="slidenum">
              <a:rPr lang="en-US" smtClean="0"/>
              <a:t>‹#›</a:t>
            </a:fld>
            <a:endParaRPr lang="en-US"/>
          </a:p>
        </p:txBody>
      </p:sp>
    </p:spTree>
    <p:extLst>
      <p:ext uri="{BB962C8B-B14F-4D97-AF65-F5344CB8AC3E}">
        <p14:creationId xmlns:p14="http://schemas.microsoft.com/office/powerpoint/2010/main" val="2788948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08412A-57E7-44A8-84CB-A1030CECEC31}"/>
              </a:ext>
            </a:extLst>
          </p:cNvPr>
          <p:cNvSpPr>
            <a:spLocks noGrp="1"/>
          </p:cNvSpPr>
          <p:nvPr>
            <p:ph type="dt" sz="half" idx="10"/>
          </p:nvPr>
        </p:nvSpPr>
        <p:spPr/>
        <p:txBody>
          <a:bodyPr/>
          <a:lstStyle/>
          <a:p>
            <a:fld id="{384C1B98-578C-4234-A463-753A83F5F7A7}" type="datetimeFigureOut">
              <a:rPr lang="en-US" smtClean="0"/>
              <a:t>10/8/2026</a:t>
            </a:fld>
            <a:endParaRPr lang="en-US"/>
          </a:p>
        </p:txBody>
      </p:sp>
      <p:sp>
        <p:nvSpPr>
          <p:cNvPr id="3" name="Footer Placeholder 2">
            <a:extLst>
              <a:ext uri="{FF2B5EF4-FFF2-40B4-BE49-F238E27FC236}">
                <a16:creationId xmlns:a16="http://schemas.microsoft.com/office/drawing/2014/main" id="{83A6FABB-E4BD-49BE-B532-618A4F9167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B07FDE-0802-4003-9024-FFADC436F3B8}"/>
              </a:ext>
            </a:extLst>
          </p:cNvPr>
          <p:cNvSpPr>
            <a:spLocks noGrp="1"/>
          </p:cNvSpPr>
          <p:nvPr>
            <p:ph type="sldNum" sz="quarter" idx="12"/>
          </p:nvPr>
        </p:nvSpPr>
        <p:spPr/>
        <p:txBody>
          <a:bodyPr/>
          <a:lstStyle/>
          <a:p>
            <a:fld id="{DA1DF69B-300B-403A-8418-6781E45FCC44}" type="slidenum">
              <a:rPr lang="en-US" smtClean="0"/>
              <a:t>‹#›</a:t>
            </a:fld>
            <a:endParaRPr lang="en-US"/>
          </a:p>
        </p:txBody>
      </p:sp>
    </p:spTree>
    <p:extLst>
      <p:ext uri="{BB962C8B-B14F-4D97-AF65-F5344CB8AC3E}">
        <p14:creationId xmlns:p14="http://schemas.microsoft.com/office/powerpoint/2010/main" val="1050426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0F7ED-9630-44A7-9C79-171AD0E785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453A220-BD3B-47D1-BCDB-64EF074378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1DDA4A-BE51-424C-ABB5-8C68D1387B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A82478C-F3D8-450C-9BED-ED6E22EE58AB}"/>
              </a:ext>
            </a:extLst>
          </p:cNvPr>
          <p:cNvSpPr>
            <a:spLocks noGrp="1"/>
          </p:cNvSpPr>
          <p:nvPr>
            <p:ph type="dt" sz="half" idx="10"/>
          </p:nvPr>
        </p:nvSpPr>
        <p:spPr/>
        <p:txBody>
          <a:bodyPr/>
          <a:lstStyle/>
          <a:p>
            <a:fld id="{384C1B98-578C-4234-A463-753A83F5F7A7}" type="datetimeFigureOut">
              <a:rPr lang="en-US" smtClean="0"/>
              <a:t>10/8/2026</a:t>
            </a:fld>
            <a:endParaRPr lang="en-US"/>
          </a:p>
        </p:txBody>
      </p:sp>
      <p:sp>
        <p:nvSpPr>
          <p:cNvPr id="6" name="Footer Placeholder 5">
            <a:extLst>
              <a:ext uri="{FF2B5EF4-FFF2-40B4-BE49-F238E27FC236}">
                <a16:creationId xmlns:a16="http://schemas.microsoft.com/office/drawing/2014/main" id="{1002EBEB-05FB-4145-8F7B-080AB22CF8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214835-CCCC-4F22-A2F5-8D50EA619D37}"/>
              </a:ext>
            </a:extLst>
          </p:cNvPr>
          <p:cNvSpPr>
            <a:spLocks noGrp="1"/>
          </p:cNvSpPr>
          <p:nvPr>
            <p:ph type="sldNum" sz="quarter" idx="12"/>
          </p:nvPr>
        </p:nvSpPr>
        <p:spPr/>
        <p:txBody>
          <a:bodyPr/>
          <a:lstStyle/>
          <a:p>
            <a:fld id="{DA1DF69B-300B-403A-8418-6781E45FCC44}" type="slidenum">
              <a:rPr lang="en-US" smtClean="0"/>
              <a:t>‹#›</a:t>
            </a:fld>
            <a:endParaRPr lang="en-US"/>
          </a:p>
        </p:txBody>
      </p:sp>
    </p:spTree>
    <p:extLst>
      <p:ext uri="{BB962C8B-B14F-4D97-AF65-F5344CB8AC3E}">
        <p14:creationId xmlns:p14="http://schemas.microsoft.com/office/powerpoint/2010/main" val="2164610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71399-034F-4646-AE18-277FD13D8C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1283FFB-2BCC-42E5-8260-88FF87C8B3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127816-C59B-40F3-8984-E51E2859FE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1D356E9-B363-4712-B563-AD3C7B2F5BC8}"/>
              </a:ext>
            </a:extLst>
          </p:cNvPr>
          <p:cNvSpPr>
            <a:spLocks noGrp="1"/>
          </p:cNvSpPr>
          <p:nvPr>
            <p:ph type="dt" sz="half" idx="10"/>
          </p:nvPr>
        </p:nvSpPr>
        <p:spPr/>
        <p:txBody>
          <a:bodyPr/>
          <a:lstStyle/>
          <a:p>
            <a:fld id="{384C1B98-578C-4234-A463-753A83F5F7A7}" type="datetimeFigureOut">
              <a:rPr lang="en-US" smtClean="0"/>
              <a:t>10/8/2026</a:t>
            </a:fld>
            <a:endParaRPr lang="en-US"/>
          </a:p>
        </p:txBody>
      </p:sp>
      <p:sp>
        <p:nvSpPr>
          <p:cNvPr id="6" name="Footer Placeholder 5">
            <a:extLst>
              <a:ext uri="{FF2B5EF4-FFF2-40B4-BE49-F238E27FC236}">
                <a16:creationId xmlns:a16="http://schemas.microsoft.com/office/drawing/2014/main" id="{5DF1E408-E55A-49AC-A67C-92FBC88E39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6ECFA7-00F7-4C79-89BF-A6FAA134471C}"/>
              </a:ext>
            </a:extLst>
          </p:cNvPr>
          <p:cNvSpPr>
            <a:spLocks noGrp="1"/>
          </p:cNvSpPr>
          <p:nvPr>
            <p:ph type="sldNum" sz="quarter" idx="12"/>
          </p:nvPr>
        </p:nvSpPr>
        <p:spPr/>
        <p:txBody>
          <a:bodyPr/>
          <a:lstStyle/>
          <a:p>
            <a:fld id="{DA1DF69B-300B-403A-8418-6781E45FCC44}" type="slidenum">
              <a:rPr lang="en-US" smtClean="0"/>
              <a:t>‹#›</a:t>
            </a:fld>
            <a:endParaRPr lang="en-US"/>
          </a:p>
        </p:txBody>
      </p:sp>
    </p:spTree>
    <p:extLst>
      <p:ext uri="{BB962C8B-B14F-4D97-AF65-F5344CB8AC3E}">
        <p14:creationId xmlns:p14="http://schemas.microsoft.com/office/powerpoint/2010/main" val="198396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5985E-8071-431B-AECA-88DED7694B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0ACE87-1874-4D52-A14B-4A6466A0A0F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4D228-B271-425C-AD03-745E490C1207}"/>
              </a:ext>
            </a:extLst>
          </p:cNvPr>
          <p:cNvSpPr>
            <a:spLocks noGrp="1"/>
          </p:cNvSpPr>
          <p:nvPr>
            <p:ph type="dt" sz="half" idx="10"/>
          </p:nvPr>
        </p:nvSpPr>
        <p:spPr/>
        <p:txBody>
          <a:bodyPr/>
          <a:lstStyle/>
          <a:p>
            <a:fld id="{384C1B98-578C-4234-A463-753A83F5F7A7}" type="datetimeFigureOut">
              <a:rPr lang="en-US" smtClean="0"/>
              <a:t>10/8/2026</a:t>
            </a:fld>
            <a:endParaRPr lang="en-US"/>
          </a:p>
        </p:txBody>
      </p:sp>
      <p:sp>
        <p:nvSpPr>
          <p:cNvPr id="5" name="Footer Placeholder 4">
            <a:extLst>
              <a:ext uri="{FF2B5EF4-FFF2-40B4-BE49-F238E27FC236}">
                <a16:creationId xmlns:a16="http://schemas.microsoft.com/office/drawing/2014/main" id="{3B356BE3-8D54-4656-B5C5-0EDBDC21AC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1AA3D5-DD31-4339-99AD-42EEB1FA6822}"/>
              </a:ext>
            </a:extLst>
          </p:cNvPr>
          <p:cNvSpPr>
            <a:spLocks noGrp="1"/>
          </p:cNvSpPr>
          <p:nvPr>
            <p:ph type="sldNum" sz="quarter" idx="12"/>
          </p:nvPr>
        </p:nvSpPr>
        <p:spPr/>
        <p:txBody>
          <a:bodyPr/>
          <a:lstStyle/>
          <a:p>
            <a:fld id="{DA1DF69B-300B-403A-8418-6781E45FCC44}" type="slidenum">
              <a:rPr lang="en-US" smtClean="0"/>
              <a:t>‹#›</a:t>
            </a:fld>
            <a:endParaRPr lang="en-US"/>
          </a:p>
        </p:txBody>
      </p:sp>
    </p:spTree>
    <p:extLst>
      <p:ext uri="{BB962C8B-B14F-4D97-AF65-F5344CB8AC3E}">
        <p14:creationId xmlns:p14="http://schemas.microsoft.com/office/powerpoint/2010/main" val="721523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D71CC2-6AE3-4103-97E3-FB3B5E7D523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E379FE-89FE-4B00-B60C-EB29BB8BA1B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560789-CF44-4359-9D67-4B798F229540}"/>
              </a:ext>
            </a:extLst>
          </p:cNvPr>
          <p:cNvSpPr>
            <a:spLocks noGrp="1"/>
          </p:cNvSpPr>
          <p:nvPr>
            <p:ph type="dt" sz="half" idx="10"/>
          </p:nvPr>
        </p:nvSpPr>
        <p:spPr/>
        <p:txBody>
          <a:bodyPr/>
          <a:lstStyle/>
          <a:p>
            <a:fld id="{384C1B98-578C-4234-A463-753A83F5F7A7}" type="datetimeFigureOut">
              <a:rPr lang="en-US" smtClean="0"/>
              <a:t>10/8/2026</a:t>
            </a:fld>
            <a:endParaRPr lang="en-US"/>
          </a:p>
        </p:txBody>
      </p:sp>
      <p:sp>
        <p:nvSpPr>
          <p:cNvPr id="5" name="Footer Placeholder 4">
            <a:extLst>
              <a:ext uri="{FF2B5EF4-FFF2-40B4-BE49-F238E27FC236}">
                <a16:creationId xmlns:a16="http://schemas.microsoft.com/office/drawing/2014/main" id="{8534AFB5-1A49-4F04-B9E3-99A1C59584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B4CADB-3602-4C11-8EC2-474D4F87C796}"/>
              </a:ext>
            </a:extLst>
          </p:cNvPr>
          <p:cNvSpPr>
            <a:spLocks noGrp="1"/>
          </p:cNvSpPr>
          <p:nvPr>
            <p:ph type="sldNum" sz="quarter" idx="12"/>
          </p:nvPr>
        </p:nvSpPr>
        <p:spPr/>
        <p:txBody>
          <a:bodyPr/>
          <a:lstStyle/>
          <a:p>
            <a:fld id="{DA1DF69B-300B-403A-8418-6781E45FCC44}" type="slidenum">
              <a:rPr lang="en-US" smtClean="0"/>
              <a:t>‹#›</a:t>
            </a:fld>
            <a:endParaRPr lang="en-US"/>
          </a:p>
        </p:txBody>
      </p:sp>
    </p:spTree>
    <p:extLst>
      <p:ext uri="{BB962C8B-B14F-4D97-AF65-F5344CB8AC3E}">
        <p14:creationId xmlns:p14="http://schemas.microsoft.com/office/powerpoint/2010/main" val="290112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542912-0EF1-4EA8-B01E-04DEB11C66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5A8220-9924-431D-8846-F822F5C71D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D321C6-C825-4DD3-B142-C2FD108414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4C1B98-578C-4234-A463-753A83F5F7A7}" type="datetimeFigureOut">
              <a:rPr lang="en-US" smtClean="0"/>
              <a:t>10/8/2026</a:t>
            </a:fld>
            <a:endParaRPr lang="en-US"/>
          </a:p>
        </p:txBody>
      </p:sp>
      <p:sp>
        <p:nvSpPr>
          <p:cNvPr id="5" name="Footer Placeholder 4">
            <a:extLst>
              <a:ext uri="{FF2B5EF4-FFF2-40B4-BE49-F238E27FC236}">
                <a16:creationId xmlns:a16="http://schemas.microsoft.com/office/drawing/2014/main" id="{202CAC85-B1AD-4551-8AAA-745B17783C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A5A85B6-8C72-4245-A132-D471770E0D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1DF69B-300B-403A-8418-6781E45FCC44}" type="slidenum">
              <a:rPr lang="en-US" smtClean="0"/>
              <a:t>‹#›</a:t>
            </a:fld>
            <a:endParaRPr lang="en-US"/>
          </a:p>
        </p:txBody>
      </p:sp>
    </p:spTree>
    <p:extLst>
      <p:ext uri="{BB962C8B-B14F-4D97-AF65-F5344CB8AC3E}">
        <p14:creationId xmlns:p14="http://schemas.microsoft.com/office/powerpoint/2010/main" val="140703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pic>
        <p:nvPicPr>
          <p:cNvPr id="52" name="Picture 51">
            <a:extLst>
              <a:ext uri="{FF2B5EF4-FFF2-40B4-BE49-F238E27FC236}">
                <a16:creationId xmlns:a16="http://schemas.microsoft.com/office/drawing/2014/main" id="{3A765004-6162-4626-9AA5-50335D1A43A4}"/>
              </a:ext>
            </a:extLst>
          </p:cNvPr>
          <p:cNvPicPr>
            <a:picLocks noChangeAspect="1"/>
          </p:cNvPicPr>
          <p:nvPr/>
        </p:nvPicPr>
        <p:blipFill>
          <a:blip r:embed="rId2">
            <a:extLst>
              <a:ext uri="{28A0092B-C50C-407E-A947-70E740481C1C}">
                <a14:useLocalDpi xmlns:a14="http://schemas.microsoft.com/office/drawing/2010/main" val="0"/>
              </a:ext>
            </a:extLst>
          </a:blip>
          <a:srcRect l="3333" r="3333"/>
          <a:stretch>
            <a:fillRect/>
          </a:stretch>
        </p:blipFill>
        <p:spPr>
          <a:xfrm>
            <a:off x="0" y="0"/>
            <a:ext cx="12192005" cy="6858000"/>
          </a:xfrm>
          <a:prstGeom prst="rect">
            <a:avLst/>
          </a:prstGeom>
        </p:spPr>
      </p:pic>
      <p:sp>
        <p:nvSpPr>
          <p:cNvPr id="53" name="TextBox 52">
            <a:extLst>
              <a:ext uri="{FF2B5EF4-FFF2-40B4-BE49-F238E27FC236}">
                <a16:creationId xmlns:a16="http://schemas.microsoft.com/office/drawing/2014/main" id="{15359E26-EE69-4098-9EED-BFCCA0CD2C81}"/>
              </a:ext>
            </a:extLst>
          </p:cNvPr>
          <p:cNvSpPr txBox="1"/>
          <p:nvPr/>
        </p:nvSpPr>
        <p:spPr>
          <a:xfrm>
            <a:off x="1016000" y="4254500"/>
            <a:ext cx="10160000" cy="707886"/>
          </a:xfrm>
          <a:prstGeom prst="rect">
            <a:avLst/>
          </a:prstGeom>
          <a:noFill/>
        </p:spPr>
        <p:txBody>
          <a:bodyPr vert="horz" wrap="square" rtlCol="0">
            <a:spAutoFit/>
          </a:bodyPr>
          <a:lstStyle/>
          <a:p>
            <a:pPr algn="ctr"/>
            <a:r>
              <a:rPr lang="en-US" sz="4000" b="1">
                <a:solidFill>
                  <a:srgbClr val="FFFFFF"/>
                </a:solidFill>
                <a:latin typeface="Segoe UI" panose="020B0502040204020203" pitchFamily="34" charset="0"/>
              </a:rPr>
              <a:t>AKS Backup &amp; Restore</a:t>
            </a:r>
          </a:p>
        </p:txBody>
      </p:sp>
      <p:sp>
        <p:nvSpPr>
          <p:cNvPr id="54" name="TextBox 53">
            <a:extLst>
              <a:ext uri="{FF2B5EF4-FFF2-40B4-BE49-F238E27FC236}">
                <a16:creationId xmlns:a16="http://schemas.microsoft.com/office/drawing/2014/main" id="{D9334595-C894-4BD0-9CEA-EE2F999DBC0F}"/>
              </a:ext>
            </a:extLst>
          </p:cNvPr>
          <p:cNvSpPr txBox="1"/>
          <p:nvPr/>
        </p:nvSpPr>
        <p:spPr>
          <a:xfrm>
            <a:off x="1016000" y="5016500"/>
            <a:ext cx="10160000" cy="400110"/>
          </a:xfrm>
          <a:prstGeom prst="rect">
            <a:avLst/>
          </a:prstGeom>
          <a:noFill/>
        </p:spPr>
        <p:txBody>
          <a:bodyPr vert="horz" wrap="square" rtlCol="0">
            <a:spAutoFit/>
          </a:bodyPr>
          <a:lstStyle/>
          <a:p>
            <a:pPr algn="ctr"/>
            <a:r>
              <a:rPr lang="en-US" sz="2000">
                <a:solidFill>
                  <a:srgbClr val="59BEC9"/>
                </a:solidFill>
                <a:latin typeface="Segoe UI" panose="020B0502040204020203" pitchFamily="34" charset="0"/>
              </a:rPr>
              <a:t>How it works, and how to restore a cluster step by step</a:t>
            </a:r>
          </a:p>
        </p:txBody>
      </p:sp>
      <p:sp>
        <p:nvSpPr>
          <p:cNvPr id="55" name="TextBox 54">
            <a:extLst>
              <a:ext uri="{FF2B5EF4-FFF2-40B4-BE49-F238E27FC236}">
                <a16:creationId xmlns:a16="http://schemas.microsoft.com/office/drawing/2014/main" id="{B9BA5C30-3731-45C2-9C15-092FF6C100F9}"/>
              </a:ext>
            </a:extLst>
          </p:cNvPr>
          <p:cNvSpPr txBox="1"/>
          <p:nvPr/>
        </p:nvSpPr>
        <p:spPr>
          <a:xfrm>
            <a:off x="1016000" y="5486400"/>
            <a:ext cx="10160000" cy="307777"/>
          </a:xfrm>
          <a:prstGeom prst="rect">
            <a:avLst/>
          </a:prstGeom>
          <a:noFill/>
        </p:spPr>
        <p:txBody>
          <a:bodyPr vert="horz" wrap="square" rtlCol="0">
            <a:spAutoFit/>
          </a:bodyPr>
          <a:lstStyle/>
          <a:p>
            <a:pPr algn="ctr"/>
            <a:r>
              <a:rPr lang="en-US" sz="1400">
                <a:solidFill>
                  <a:srgbClr val="BEC8D7"/>
                </a:solidFill>
                <a:latin typeface="Segoe UI" panose="020B0502040204020203" pitchFamily="34" charset="0"/>
              </a:rPr>
              <a:t>BFH AKS IHUB Platform Team</a:t>
            </a:r>
          </a:p>
        </p:txBody>
      </p:sp>
    </p:spTree>
    <p:extLst>
      <p:ext uri="{BB962C8B-B14F-4D97-AF65-F5344CB8AC3E}">
        <p14:creationId xmlns:p14="http://schemas.microsoft.com/office/powerpoint/2010/main" val="490318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0AE436-4590-4DA8-9BEF-76C82F094429}"/>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0D5A6A7-477D-4C2B-8C5F-70009620C03E}"/>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57F74FF-4775-4E9C-A1C6-B17AC0B0CBCB}"/>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What we will cover</a:t>
            </a:r>
          </a:p>
        </p:txBody>
      </p:sp>
      <p:sp>
        <p:nvSpPr>
          <p:cNvPr id="5" name="TextBox 4">
            <a:extLst>
              <a:ext uri="{FF2B5EF4-FFF2-40B4-BE49-F238E27FC236}">
                <a16:creationId xmlns:a16="http://schemas.microsoft.com/office/drawing/2014/main" id="{EE113E22-91F9-430C-8C0B-76660B7AB886}"/>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A quick tour from the idea to a working restore</a:t>
            </a:r>
          </a:p>
        </p:txBody>
      </p:sp>
      <p:sp>
        <p:nvSpPr>
          <p:cNvPr id="6" name="TextBox 5">
            <a:extLst>
              <a:ext uri="{FF2B5EF4-FFF2-40B4-BE49-F238E27FC236}">
                <a16:creationId xmlns:a16="http://schemas.microsoft.com/office/drawing/2014/main" id="{43C41422-C488-48BC-8752-5B80580E39A8}"/>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F2D53338-0D40-4E17-98FD-DDA7986D94B5}"/>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2</a:t>
            </a:r>
          </a:p>
        </p:txBody>
      </p:sp>
      <p:sp>
        <p:nvSpPr>
          <p:cNvPr id="8" name="Rectangle 7">
            <a:extLst>
              <a:ext uri="{FF2B5EF4-FFF2-40B4-BE49-F238E27FC236}">
                <a16:creationId xmlns:a16="http://schemas.microsoft.com/office/drawing/2014/main" id="{D518D282-3135-4ECA-A866-17429E1DE7EB}"/>
              </a:ext>
            </a:extLst>
          </p:cNvPr>
          <p:cNvSpPr/>
          <p:nvPr/>
        </p:nvSpPr>
        <p:spPr>
          <a:xfrm>
            <a:off x="762000" y="1397000"/>
            <a:ext cx="10668000" cy="711200"/>
          </a:xfrm>
          <a:prstGeom prst="rect">
            <a:avLst/>
          </a:prstGeom>
          <a:solidFill>
            <a:srgbClr val="F5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ACE2D6B-BAAD-4808-B798-4D4C466A401A}"/>
              </a:ext>
            </a:extLst>
          </p:cNvPr>
          <p:cNvSpPr/>
          <p:nvPr/>
        </p:nvSpPr>
        <p:spPr>
          <a:xfrm>
            <a:off x="965200" y="1460500"/>
            <a:ext cx="584200" cy="584200"/>
          </a:xfrm>
          <a:prstGeom prst="ellipse">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a:solidFill>
                  <a:srgbClr val="1F2D3D"/>
                </a:solidFill>
                <a:latin typeface="Segoe UI" panose="020B0502040204020203" pitchFamily="34" charset="0"/>
              </a:rPr>
              <a:t>1</a:t>
            </a:r>
          </a:p>
        </p:txBody>
      </p:sp>
      <p:sp>
        <p:nvSpPr>
          <p:cNvPr id="10" name="TextBox 9">
            <a:extLst>
              <a:ext uri="{FF2B5EF4-FFF2-40B4-BE49-F238E27FC236}">
                <a16:creationId xmlns:a16="http://schemas.microsoft.com/office/drawing/2014/main" id="{874632C5-AEFE-40D0-B3BC-2170358539E8}"/>
              </a:ext>
            </a:extLst>
          </p:cNvPr>
          <p:cNvSpPr txBox="1"/>
          <p:nvPr/>
        </p:nvSpPr>
        <p:spPr>
          <a:xfrm>
            <a:off x="1778000" y="1422400"/>
            <a:ext cx="4826000" cy="384721"/>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How AKS Backup works</a:t>
            </a:r>
          </a:p>
        </p:txBody>
      </p:sp>
      <p:sp>
        <p:nvSpPr>
          <p:cNvPr id="11" name="TextBox 10">
            <a:extLst>
              <a:ext uri="{FF2B5EF4-FFF2-40B4-BE49-F238E27FC236}">
                <a16:creationId xmlns:a16="http://schemas.microsoft.com/office/drawing/2014/main" id="{7E9FED46-47FD-45E0-9AB7-CF5A4A9C83CC}"/>
              </a:ext>
            </a:extLst>
          </p:cNvPr>
          <p:cNvSpPr txBox="1"/>
          <p:nvPr/>
        </p:nvSpPr>
        <p:spPr>
          <a:xfrm>
            <a:off x="1778000" y="1765300"/>
            <a:ext cx="8890000" cy="292388"/>
          </a:xfrm>
          <a:prstGeom prst="rect">
            <a:avLst/>
          </a:prstGeom>
          <a:noFill/>
        </p:spPr>
        <p:txBody>
          <a:bodyPr vert="horz" wrap="square" rtlCol="0">
            <a:spAutoFit/>
          </a:bodyPr>
          <a:lstStyle/>
          <a:p>
            <a:r>
              <a:rPr lang="en-US" sz="1300">
                <a:solidFill>
                  <a:srgbClr val="5C6B66"/>
                </a:solidFill>
                <a:latin typeface="Segoe UI" panose="020B0502040204020203" pitchFamily="34" charset="0"/>
              </a:rPr>
              <a:t>Extension, Trusted Access and the operational tier</a:t>
            </a:r>
          </a:p>
        </p:txBody>
      </p:sp>
      <p:sp>
        <p:nvSpPr>
          <p:cNvPr id="12" name="Rectangle 11">
            <a:extLst>
              <a:ext uri="{FF2B5EF4-FFF2-40B4-BE49-F238E27FC236}">
                <a16:creationId xmlns:a16="http://schemas.microsoft.com/office/drawing/2014/main" id="{BD11AF8F-6BB0-454F-81C0-F20B13A21E00}"/>
              </a:ext>
            </a:extLst>
          </p:cNvPr>
          <p:cNvSpPr/>
          <p:nvPr/>
        </p:nvSpPr>
        <p:spPr>
          <a:xfrm>
            <a:off x="762000" y="2235200"/>
            <a:ext cx="10668000" cy="711200"/>
          </a:xfrm>
          <a:prstGeom prst="rect">
            <a:avLst/>
          </a:prstGeom>
          <a:solidFill>
            <a:srgbClr val="F5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2602BE6-880F-4442-BC52-2D91F5BD0AB4}"/>
              </a:ext>
            </a:extLst>
          </p:cNvPr>
          <p:cNvSpPr/>
          <p:nvPr/>
        </p:nvSpPr>
        <p:spPr>
          <a:xfrm>
            <a:off x="965200" y="2298700"/>
            <a:ext cx="584200" cy="584200"/>
          </a:xfrm>
          <a:prstGeom prst="ellipse">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a:solidFill>
                  <a:srgbClr val="1F2D3D"/>
                </a:solidFill>
                <a:latin typeface="Segoe UI" panose="020B0502040204020203" pitchFamily="34" charset="0"/>
              </a:rPr>
              <a:t>2</a:t>
            </a:r>
          </a:p>
        </p:txBody>
      </p:sp>
      <p:sp>
        <p:nvSpPr>
          <p:cNvPr id="14" name="TextBox 13">
            <a:extLst>
              <a:ext uri="{FF2B5EF4-FFF2-40B4-BE49-F238E27FC236}">
                <a16:creationId xmlns:a16="http://schemas.microsoft.com/office/drawing/2014/main" id="{184DB3EE-260B-451F-8023-E3D5F8AF759A}"/>
              </a:ext>
            </a:extLst>
          </p:cNvPr>
          <p:cNvSpPr txBox="1"/>
          <p:nvPr/>
        </p:nvSpPr>
        <p:spPr>
          <a:xfrm>
            <a:off x="1778000" y="2260600"/>
            <a:ext cx="4826000" cy="384721"/>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Our architecture</a:t>
            </a:r>
          </a:p>
        </p:txBody>
      </p:sp>
      <p:sp>
        <p:nvSpPr>
          <p:cNvPr id="15" name="TextBox 14">
            <a:extLst>
              <a:ext uri="{FF2B5EF4-FFF2-40B4-BE49-F238E27FC236}">
                <a16:creationId xmlns:a16="http://schemas.microsoft.com/office/drawing/2014/main" id="{AFEC0B33-FE47-4152-8661-7DC634F7B957}"/>
              </a:ext>
            </a:extLst>
          </p:cNvPr>
          <p:cNvSpPr txBox="1"/>
          <p:nvPr/>
        </p:nvSpPr>
        <p:spPr>
          <a:xfrm>
            <a:off x="1778000" y="2603500"/>
            <a:ext cx="8890000" cy="292388"/>
          </a:xfrm>
          <a:prstGeom prst="rect">
            <a:avLst/>
          </a:prstGeom>
          <a:noFill/>
        </p:spPr>
        <p:txBody>
          <a:bodyPr vert="horz" wrap="square" rtlCol="0">
            <a:spAutoFit/>
          </a:bodyPr>
          <a:lstStyle/>
          <a:p>
            <a:r>
              <a:rPr lang="en-US" sz="1300">
                <a:solidFill>
                  <a:srgbClr val="5C6B66"/>
                </a:solidFill>
                <a:latin typeface="Segoe UI" panose="020B0502040204020203" pitchFamily="34" charset="0"/>
              </a:rPr>
              <a:t>Original cluster, vault, storage and the -rst cluster</a:t>
            </a:r>
          </a:p>
        </p:txBody>
      </p:sp>
      <p:sp>
        <p:nvSpPr>
          <p:cNvPr id="16" name="Rectangle 15">
            <a:extLst>
              <a:ext uri="{FF2B5EF4-FFF2-40B4-BE49-F238E27FC236}">
                <a16:creationId xmlns:a16="http://schemas.microsoft.com/office/drawing/2014/main" id="{924C38D4-B9E2-4847-B0FB-5A9A86208D8C}"/>
              </a:ext>
            </a:extLst>
          </p:cNvPr>
          <p:cNvSpPr/>
          <p:nvPr/>
        </p:nvSpPr>
        <p:spPr>
          <a:xfrm>
            <a:off x="762000" y="3073400"/>
            <a:ext cx="10668000" cy="711200"/>
          </a:xfrm>
          <a:prstGeom prst="rect">
            <a:avLst/>
          </a:prstGeom>
          <a:solidFill>
            <a:srgbClr val="F5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FF5E2D-99D1-43E5-9330-471E30A0DBB7}"/>
              </a:ext>
            </a:extLst>
          </p:cNvPr>
          <p:cNvSpPr/>
          <p:nvPr/>
        </p:nvSpPr>
        <p:spPr>
          <a:xfrm>
            <a:off x="965200" y="3136900"/>
            <a:ext cx="584200" cy="584200"/>
          </a:xfrm>
          <a:prstGeom prst="ellipse">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a:solidFill>
                  <a:srgbClr val="1F2D3D"/>
                </a:solidFill>
                <a:latin typeface="Segoe UI" panose="020B0502040204020203" pitchFamily="34" charset="0"/>
              </a:rPr>
              <a:t>3</a:t>
            </a:r>
          </a:p>
        </p:txBody>
      </p:sp>
      <p:sp>
        <p:nvSpPr>
          <p:cNvPr id="18" name="TextBox 17">
            <a:extLst>
              <a:ext uri="{FF2B5EF4-FFF2-40B4-BE49-F238E27FC236}">
                <a16:creationId xmlns:a16="http://schemas.microsoft.com/office/drawing/2014/main" id="{5197DD96-EB04-485B-BA2C-4363F2B7116F}"/>
              </a:ext>
            </a:extLst>
          </p:cNvPr>
          <p:cNvSpPr txBox="1"/>
          <p:nvPr/>
        </p:nvSpPr>
        <p:spPr>
          <a:xfrm>
            <a:off x="1778000" y="3098800"/>
            <a:ext cx="4826000" cy="384721"/>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What we built in code</a:t>
            </a:r>
          </a:p>
        </p:txBody>
      </p:sp>
      <p:sp>
        <p:nvSpPr>
          <p:cNvPr id="19" name="TextBox 18">
            <a:extLst>
              <a:ext uri="{FF2B5EF4-FFF2-40B4-BE49-F238E27FC236}">
                <a16:creationId xmlns:a16="http://schemas.microsoft.com/office/drawing/2014/main" id="{A589E6E9-CB49-4C8D-B7A6-9A11E3F558F1}"/>
              </a:ext>
            </a:extLst>
          </p:cNvPr>
          <p:cNvSpPr txBox="1"/>
          <p:nvPr/>
        </p:nvSpPr>
        <p:spPr>
          <a:xfrm>
            <a:off x="1778000" y="3441700"/>
            <a:ext cx="8890000" cy="292388"/>
          </a:xfrm>
          <a:prstGeom prst="rect">
            <a:avLst/>
          </a:prstGeom>
          <a:noFill/>
        </p:spPr>
        <p:txBody>
          <a:bodyPr vert="horz" wrap="square" rtlCol="0">
            <a:spAutoFit/>
          </a:bodyPr>
          <a:lstStyle/>
          <a:p>
            <a:r>
              <a:rPr lang="en-US" sz="1300">
                <a:solidFill>
                  <a:srgbClr val="5C6B66"/>
                </a:solidFill>
                <a:latin typeface="Segoe UI" panose="020B0502040204020203" pitchFamily="34" charset="0"/>
              </a:rPr>
              <a:t>backup.tf, conf.yaml and the workload onboarding changes</a:t>
            </a:r>
          </a:p>
        </p:txBody>
      </p:sp>
      <p:sp>
        <p:nvSpPr>
          <p:cNvPr id="20" name="Rectangle 19">
            <a:extLst>
              <a:ext uri="{FF2B5EF4-FFF2-40B4-BE49-F238E27FC236}">
                <a16:creationId xmlns:a16="http://schemas.microsoft.com/office/drawing/2014/main" id="{03492D28-D121-4B89-B47B-80584DEB0F81}"/>
              </a:ext>
            </a:extLst>
          </p:cNvPr>
          <p:cNvSpPr/>
          <p:nvPr/>
        </p:nvSpPr>
        <p:spPr>
          <a:xfrm>
            <a:off x="762000" y="3911600"/>
            <a:ext cx="10668000" cy="711200"/>
          </a:xfrm>
          <a:prstGeom prst="rect">
            <a:avLst/>
          </a:prstGeom>
          <a:solidFill>
            <a:srgbClr val="F5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02C5A76-EAD7-424A-937B-C5B7719E8DA7}"/>
              </a:ext>
            </a:extLst>
          </p:cNvPr>
          <p:cNvSpPr/>
          <p:nvPr/>
        </p:nvSpPr>
        <p:spPr>
          <a:xfrm>
            <a:off x="965200" y="3975100"/>
            <a:ext cx="584200" cy="584200"/>
          </a:xfrm>
          <a:prstGeom prst="ellipse">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a:solidFill>
                  <a:srgbClr val="1F2D3D"/>
                </a:solidFill>
                <a:latin typeface="Segoe UI" panose="020B0502040204020203" pitchFamily="34" charset="0"/>
              </a:rPr>
              <a:t>4</a:t>
            </a:r>
          </a:p>
        </p:txBody>
      </p:sp>
      <p:sp>
        <p:nvSpPr>
          <p:cNvPr id="22" name="TextBox 21">
            <a:extLst>
              <a:ext uri="{FF2B5EF4-FFF2-40B4-BE49-F238E27FC236}">
                <a16:creationId xmlns:a16="http://schemas.microsoft.com/office/drawing/2014/main" id="{5E65F6BA-457F-41F4-A089-81B0728671E5}"/>
              </a:ext>
            </a:extLst>
          </p:cNvPr>
          <p:cNvSpPr txBox="1"/>
          <p:nvPr/>
        </p:nvSpPr>
        <p:spPr>
          <a:xfrm>
            <a:off x="1778000" y="3937000"/>
            <a:ext cx="4826000" cy="384721"/>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Permissions</a:t>
            </a:r>
          </a:p>
        </p:txBody>
      </p:sp>
      <p:sp>
        <p:nvSpPr>
          <p:cNvPr id="23" name="TextBox 22">
            <a:extLst>
              <a:ext uri="{FF2B5EF4-FFF2-40B4-BE49-F238E27FC236}">
                <a16:creationId xmlns:a16="http://schemas.microsoft.com/office/drawing/2014/main" id="{B65C100A-BF72-449E-BA80-2F2F34ABB44E}"/>
              </a:ext>
            </a:extLst>
          </p:cNvPr>
          <p:cNvSpPr txBox="1"/>
          <p:nvPr/>
        </p:nvSpPr>
        <p:spPr>
          <a:xfrm>
            <a:off x="1778000" y="4279900"/>
            <a:ext cx="8890000" cy="292388"/>
          </a:xfrm>
          <a:prstGeom prst="rect">
            <a:avLst/>
          </a:prstGeom>
          <a:noFill/>
        </p:spPr>
        <p:txBody>
          <a:bodyPr vert="horz" wrap="square" rtlCol="0">
            <a:spAutoFit/>
          </a:bodyPr>
          <a:lstStyle/>
          <a:p>
            <a:r>
              <a:rPr lang="en-US" sz="1300">
                <a:solidFill>
                  <a:srgbClr val="5C6B66"/>
                </a:solidFill>
                <a:latin typeface="Segoe UI" panose="020B0502040204020203" pitchFamily="34" charset="0"/>
              </a:rPr>
              <a:t>Who needs which role</a:t>
            </a:r>
          </a:p>
        </p:txBody>
      </p:sp>
      <p:sp>
        <p:nvSpPr>
          <p:cNvPr id="24" name="Rectangle 23">
            <a:extLst>
              <a:ext uri="{FF2B5EF4-FFF2-40B4-BE49-F238E27FC236}">
                <a16:creationId xmlns:a16="http://schemas.microsoft.com/office/drawing/2014/main" id="{81DB2C17-1AAB-4016-A1DB-F237EAE5C374}"/>
              </a:ext>
            </a:extLst>
          </p:cNvPr>
          <p:cNvSpPr/>
          <p:nvPr/>
        </p:nvSpPr>
        <p:spPr>
          <a:xfrm>
            <a:off x="762000" y="4749800"/>
            <a:ext cx="10668000" cy="711200"/>
          </a:xfrm>
          <a:prstGeom prst="rect">
            <a:avLst/>
          </a:prstGeom>
          <a:solidFill>
            <a:srgbClr val="F5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945A5125-AAB3-4510-A64B-7C1F3AECDF1D}"/>
              </a:ext>
            </a:extLst>
          </p:cNvPr>
          <p:cNvSpPr/>
          <p:nvPr/>
        </p:nvSpPr>
        <p:spPr>
          <a:xfrm>
            <a:off x="965200" y="4813300"/>
            <a:ext cx="584200" cy="584200"/>
          </a:xfrm>
          <a:prstGeom prst="ellipse">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a:solidFill>
                  <a:srgbClr val="1F2D3D"/>
                </a:solidFill>
                <a:latin typeface="Segoe UI" panose="020B0502040204020203" pitchFamily="34" charset="0"/>
              </a:rPr>
              <a:t>5</a:t>
            </a:r>
          </a:p>
        </p:txBody>
      </p:sp>
      <p:sp>
        <p:nvSpPr>
          <p:cNvPr id="26" name="TextBox 25">
            <a:extLst>
              <a:ext uri="{FF2B5EF4-FFF2-40B4-BE49-F238E27FC236}">
                <a16:creationId xmlns:a16="http://schemas.microsoft.com/office/drawing/2014/main" id="{C6165CAD-96F8-4A0E-8543-06A571D935E0}"/>
              </a:ext>
            </a:extLst>
          </p:cNvPr>
          <p:cNvSpPr txBox="1"/>
          <p:nvPr/>
        </p:nvSpPr>
        <p:spPr>
          <a:xfrm>
            <a:off x="1778000" y="4775200"/>
            <a:ext cx="4826000" cy="384721"/>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Restoring in the Portal</a:t>
            </a:r>
          </a:p>
        </p:txBody>
      </p:sp>
      <p:sp>
        <p:nvSpPr>
          <p:cNvPr id="27" name="TextBox 26">
            <a:extLst>
              <a:ext uri="{FF2B5EF4-FFF2-40B4-BE49-F238E27FC236}">
                <a16:creationId xmlns:a16="http://schemas.microsoft.com/office/drawing/2014/main" id="{4E9792D1-094F-423E-83D9-A55343C37637}"/>
              </a:ext>
            </a:extLst>
          </p:cNvPr>
          <p:cNvSpPr txBox="1"/>
          <p:nvPr/>
        </p:nvSpPr>
        <p:spPr>
          <a:xfrm>
            <a:off x="1778000" y="5118100"/>
            <a:ext cx="8890000" cy="292388"/>
          </a:xfrm>
          <a:prstGeom prst="rect">
            <a:avLst/>
          </a:prstGeom>
          <a:noFill/>
        </p:spPr>
        <p:txBody>
          <a:bodyPr vert="horz" wrap="square" rtlCol="0">
            <a:spAutoFit/>
          </a:bodyPr>
          <a:lstStyle/>
          <a:p>
            <a:r>
              <a:rPr lang="en-US" sz="1300">
                <a:solidFill>
                  <a:srgbClr val="5C6B66"/>
                </a:solidFill>
                <a:latin typeface="Segoe UI" panose="020B0502040204020203" pitchFamily="34" charset="0"/>
              </a:rPr>
              <a:t>Step by step, from the vault to the restored cluster</a:t>
            </a:r>
          </a:p>
        </p:txBody>
      </p:sp>
      <p:sp>
        <p:nvSpPr>
          <p:cNvPr id="28" name="Rectangle 27">
            <a:extLst>
              <a:ext uri="{FF2B5EF4-FFF2-40B4-BE49-F238E27FC236}">
                <a16:creationId xmlns:a16="http://schemas.microsoft.com/office/drawing/2014/main" id="{4801DBB7-9C26-4DD6-9DAE-33696D304E01}"/>
              </a:ext>
            </a:extLst>
          </p:cNvPr>
          <p:cNvSpPr/>
          <p:nvPr/>
        </p:nvSpPr>
        <p:spPr>
          <a:xfrm>
            <a:off x="762000" y="5588000"/>
            <a:ext cx="10668000" cy="711200"/>
          </a:xfrm>
          <a:prstGeom prst="rect">
            <a:avLst/>
          </a:prstGeom>
          <a:solidFill>
            <a:srgbClr val="F5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8622742-5555-4338-8494-E64472A297A3}"/>
              </a:ext>
            </a:extLst>
          </p:cNvPr>
          <p:cNvSpPr/>
          <p:nvPr/>
        </p:nvSpPr>
        <p:spPr>
          <a:xfrm>
            <a:off x="965200" y="5651500"/>
            <a:ext cx="584200" cy="584200"/>
          </a:xfrm>
          <a:prstGeom prst="ellipse">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a:solidFill>
                  <a:srgbClr val="1F2D3D"/>
                </a:solidFill>
                <a:latin typeface="Segoe UI" panose="020B0502040204020203" pitchFamily="34" charset="0"/>
              </a:rPr>
              <a:t>6</a:t>
            </a:r>
          </a:p>
        </p:txBody>
      </p:sp>
      <p:sp>
        <p:nvSpPr>
          <p:cNvPr id="30" name="TextBox 29">
            <a:extLst>
              <a:ext uri="{FF2B5EF4-FFF2-40B4-BE49-F238E27FC236}">
                <a16:creationId xmlns:a16="http://schemas.microsoft.com/office/drawing/2014/main" id="{08D27C13-7006-4810-AC40-C834A6491D7F}"/>
              </a:ext>
            </a:extLst>
          </p:cNvPr>
          <p:cNvSpPr txBox="1"/>
          <p:nvPr/>
        </p:nvSpPr>
        <p:spPr>
          <a:xfrm>
            <a:off x="1778000" y="5613400"/>
            <a:ext cx="4826000" cy="384721"/>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Verify and tips</a:t>
            </a:r>
          </a:p>
        </p:txBody>
      </p:sp>
      <p:sp>
        <p:nvSpPr>
          <p:cNvPr id="31" name="TextBox 30">
            <a:extLst>
              <a:ext uri="{FF2B5EF4-FFF2-40B4-BE49-F238E27FC236}">
                <a16:creationId xmlns:a16="http://schemas.microsoft.com/office/drawing/2014/main" id="{F1C0871C-D393-4893-9DBF-1D9BE4164CDA}"/>
              </a:ext>
            </a:extLst>
          </p:cNvPr>
          <p:cNvSpPr txBox="1"/>
          <p:nvPr/>
        </p:nvSpPr>
        <p:spPr>
          <a:xfrm>
            <a:off x="1778000" y="5956300"/>
            <a:ext cx="8890000" cy="292388"/>
          </a:xfrm>
          <a:prstGeom prst="rect">
            <a:avLst/>
          </a:prstGeom>
          <a:noFill/>
        </p:spPr>
        <p:txBody>
          <a:bodyPr vert="horz" wrap="square" rtlCol="0">
            <a:spAutoFit/>
          </a:bodyPr>
          <a:lstStyle/>
          <a:p>
            <a:r>
              <a:rPr lang="en-US" sz="1300">
                <a:solidFill>
                  <a:srgbClr val="5C6B66"/>
                </a:solidFill>
                <a:latin typeface="Segoe UI" panose="020B0502040204020203" pitchFamily="34" charset="0"/>
              </a:rPr>
              <a:t>Check the result and avoid common traps</a:t>
            </a:r>
          </a:p>
        </p:txBody>
      </p:sp>
    </p:spTree>
    <p:extLst>
      <p:ext uri="{BB962C8B-B14F-4D97-AF65-F5344CB8AC3E}">
        <p14:creationId xmlns:p14="http://schemas.microsoft.com/office/powerpoint/2010/main" val="626389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121430-F1C3-4E1F-9ED7-346D6E509397}"/>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32676A1-7FB0-46E7-8832-13451490E859}"/>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F5FCD58-A10B-4C08-958C-B101BBD21496}"/>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How AKS Backup works</a:t>
            </a:r>
          </a:p>
        </p:txBody>
      </p:sp>
      <p:sp>
        <p:nvSpPr>
          <p:cNvPr id="5" name="TextBox 4">
            <a:extLst>
              <a:ext uri="{FF2B5EF4-FFF2-40B4-BE49-F238E27FC236}">
                <a16:creationId xmlns:a16="http://schemas.microsoft.com/office/drawing/2014/main" id="{3933ECBB-0EE4-464E-92CE-61B9C8C369EC}"/>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Three ideas to remember</a:t>
            </a:r>
          </a:p>
        </p:txBody>
      </p:sp>
      <p:sp>
        <p:nvSpPr>
          <p:cNvPr id="6" name="TextBox 5">
            <a:extLst>
              <a:ext uri="{FF2B5EF4-FFF2-40B4-BE49-F238E27FC236}">
                <a16:creationId xmlns:a16="http://schemas.microsoft.com/office/drawing/2014/main" id="{A83DC54E-F325-4B64-98A4-C27C8C02A4CA}"/>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5E11D1D5-299F-4D28-BF92-0BE90EEB0854}"/>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3</a:t>
            </a:r>
          </a:p>
        </p:txBody>
      </p:sp>
      <p:sp>
        <p:nvSpPr>
          <p:cNvPr id="8" name="Rectangle 7">
            <a:extLst>
              <a:ext uri="{FF2B5EF4-FFF2-40B4-BE49-F238E27FC236}">
                <a16:creationId xmlns:a16="http://schemas.microsoft.com/office/drawing/2014/main" id="{61A80956-B50A-4839-BC59-8D82106239B4}"/>
              </a:ext>
            </a:extLst>
          </p:cNvPr>
          <p:cNvSpPr/>
          <p:nvPr/>
        </p:nvSpPr>
        <p:spPr>
          <a:xfrm>
            <a:off x="635000" y="1524000"/>
            <a:ext cx="3556000" cy="3556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88C9A64-010E-4409-AF77-782358BD2B5F}"/>
              </a:ext>
            </a:extLst>
          </p:cNvPr>
          <p:cNvSpPr/>
          <p:nvPr/>
        </p:nvSpPr>
        <p:spPr>
          <a:xfrm>
            <a:off x="635000" y="1524000"/>
            <a:ext cx="76200" cy="3556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A94F7D3-03C0-4AE6-8B6D-686BAF55DE6F}"/>
              </a:ext>
            </a:extLst>
          </p:cNvPr>
          <p:cNvSpPr txBox="1"/>
          <p:nvPr/>
        </p:nvSpPr>
        <p:spPr>
          <a:xfrm>
            <a:off x="863600" y="1651000"/>
            <a:ext cx="3175000" cy="400110"/>
          </a:xfrm>
          <a:prstGeom prst="rect">
            <a:avLst/>
          </a:prstGeom>
          <a:noFill/>
        </p:spPr>
        <p:txBody>
          <a:bodyPr vert="horz" wrap="square" rtlCol="0">
            <a:spAutoFit/>
          </a:bodyPr>
          <a:lstStyle/>
          <a:p>
            <a:r>
              <a:rPr lang="en-US" sz="2000" b="1">
                <a:solidFill>
                  <a:srgbClr val="1F2D3D"/>
                </a:solidFill>
                <a:latin typeface="Segoe UI" panose="020B0502040204020203" pitchFamily="34" charset="0"/>
              </a:rPr>
              <a:t>Backup extension</a:t>
            </a:r>
          </a:p>
        </p:txBody>
      </p:sp>
      <p:sp>
        <p:nvSpPr>
          <p:cNvPr id="11" name="TextBox 10">
            <a:extLst>
              <a:ext uri="{FF2B5EF4-FFF2-40B4-BE49-F238E27FC236}">
                <a16:creationId xmlns:a16="http://schemas.microsoft.com/office/drawing/2014/main" id="{5A5455E6-A61B-487C-928A-7471365DB6BA}"/>
              </a:ext>
            </a:extLst>
          </p:cNvPr>
          <p:cNvSpPr txBox="1"/>
          <p:nvPr/>
        </p:nvSpPr>
        <p:spPr>
          <a:xfrm>
            <a:off x="863600" y="2133600"/>
            <a:ext cx="3175000" cy="124649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A component installed inside the cluster. The Backup vault talks to the cluster only through this extension, for both backup and restore.</a:t>
            </a:r>
          </a:p>
        </p:txBody>
      </p:sp>
      <p:sp>
        <p:nvSpPr>
          <p:cNvPr id="12" name="Rectangle 11">
            <a:extLst>
              <a:ext uri="{FF2B5EF4-FFF2-40B4-BE49-F238E27FC236}">
                <a16:creationId xmlns:a16="http://schemas.microsoft.com/office/drawing/2014/main" id="{CCC1708A-3745-4EC5-B09C-56DD1646D387}"/>
              </a:ext>
            </a:extLst>
          </p:cNvPr>
          <p:cNvSpPr/>
          <p:nvPr/>
        </p:nvSpPr>
        <p:spPr>
          <a:xfrm>
            <a:off x="4318000" y="1524000"/>
            <a:ext cx="3556000" cy="3556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79BBF2A-69A7-492E-88B0-FEFBE267098E}"/>
              </a:ext>
            </a:extLst>
          </p:cNvPr>
          <p:cNvSpPr/>
          <p:nvPr/>
        </p:nvSpPr>
        <p:spPr>
          <a:xfrm>
            <a:off x="4318000" y="1524000"/>
            <a:ext cx="76200" cy="3556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77EC144-CC6C-4FA4-B8D3-4057E4EA0142}"/>
              </a:ext>
            </a:extLst>
          </p:cNvPr>
          <p:cNvSpPr txBox="1"/>
          <p:nvPr/>
        </p:nvSpPr>
        <p:spPr>
          <a:xfrm>
            <a:off x="4546600" y="1651000"/>
            <a:ext cx="3175000" cy="400110"/>
          </a:xfrm>
          <a:prstGeom prst="rect">
            <a:avLst/>
          </a:prstGeom>
          <a:noFill/>
        </p:spPr>
        <p:txBody>
          <a:bodyPr vert="horz" wrap="square" rtlCol="0">
            <a:spAutoFit/>
          </a:bodyPr>
          <a:lstStyle/>
          <a:p>
            <a:r>
              <a:rPr lang="en-US" sz="2000" b="1">
                <a:solidFill>
                  <a:srgbClr val="1F2D3D"/>
                </a:solidFill>
                <a:latin typeface="Segoe UI" panose="020B0502040204020203" pitchFamily="34" charset="0"/>
              </a:rPr>
              <a:t>Trusted Access</a:t>
            </a:r>
          </a:p>
        </p:txBody>
      </p:sp>
      <p:sp>
        <p:nvSpPr>
          <p:cNvPr id="15" name="TextBox 14">
            <a:extLst>
              <a:ext uri="{FF2B5EF4-FFF2-40B4-BE49-F238E27FC236}">
                <a16:creationId xmlns:a16="http://schemas.microsoft.com/office/drawing/2014/main" id="{02CB78FC-34C4-4706-803F-D41DB2545AAD}"/>
              </a:ext>
            </a:extLst>
          </p:cNvPr>
          <p:cNvSpPr txBox="1"/>
          <p:nvPr/>
        </p:nvSpPr>
        <p:spPr>
          <a:xfrm>
            <a:off x="4546600" y="2133600"/>
            <a:ext cx="3175000" cy="124649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The vault reaches the cluster through Trusted Access, with a least-privilege role. No broad admin rights are handed to the vault.</a:t>
            </a:r>
          </a:p>
        </p:txBody>
      </p:sp>
      <p:sp>
        <p:nvSpPr>
          <p:cNvPr id="16" name="Rectangle 15">
            <a:extLst>
              <a:ext uri="{FF2B5EF4-FFF2-40B4-BE49-F238E27FC236}">
                <a16:creationId xmlns:a16="http://schemas.microsoft.com/office/drawing/2014/main" id="{733F7740-6073-48EE-B1B6-A066EDACBE2C}"/>
              </a:ext>
            </a:extLst>
          </p:cNvPr>
          <p:cNvSpPr/>
          <p:nvPr/>
        </p:nvSpPr>
        <p:spPr>
          <a:xfrm>
            <a:off x="8001000" y="1524000"/>
            <a:ext cx="3556000" cy="3556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5468F95-2586-4713-A51A-0A24ED549624}"/>
              </a:ext>
            </a:extLst>
          </p:cNvPr>
          <p:cNvSpPr/>
          <p:nvPr/>
        </p:nvSpPr>
        <p:spPr>
          <a:xfrm>
            <a:off x="8001000" y="1524000"/>
            <a:ext cx="76200" cy="3556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83EDFAE-FDC8-4B38-8A91-51AB93F75C87}"/>
              </a:ext>
            </a:extLst>
          </p:cNvPr>
          <p:cNvSpPr txBox="1"/>
          <p:nvPr/>
        </p:nvSpPr>
        <p:spPr>
          <a:xfrm>
            <a:off x="8229600" y="1651000"/>
            <a:ext cx="3175000" cy="400110"/>
          </a:xfrm>
          <a:prstGeom prst="rect">
            <a:avLst/>
          </a:prstGeom>
          <a:noFill/>
        </p:spPr>
        <p:txBody>
          <a:bodyPr vert="horz" wrap="square" rtlCol="0">
            <a:spAutoFit/>
          </a:bodyPr>
          <a:lstStyle/>
          <a:p>
            <a:r>
              <a:rPr lang="en-US" sz="2000" b="1">
                <a:solidFill>
                  <a:srgbClr val="1F2D3D"/>
                </a:solidFill>
                <a:latin typeface="Segoe UI" panose="020B0502040204020203" pitchFamily="34" charset="0"/>
              </a:rPr>
              <a:t>Operational tier</a:t>
            </a:r>
          </a:p>
        </p:txBody>
      </p:sp>
      <p:sp>
        <p:nvSpPr>
          <p:cNvPr id="19" name="TextBox 18">
            <a:extLst>
              <a:ext uri="{FF2B5EF4-FFF2-40B4-BE49-F238E27FC236}">
                <a16:creationId xmlns:a16="http://schemas.microsoft.com/office/drawing/2014/main" id="{02C5215E-956D-4DCC-BDDF-15EC7A2833D3}"/>
              </a:ext>
            </a:extLst>
          </p:cNvPr>
          <p:cNvSpPr txBox="1"/>
          <p:nvPr/>
        </p:nvSpPr>
        <p:spPr>
          <a:xfrm>
            <a:off x="8229600" y="2133600"/>
            <a:ext cx="3175000" cy="1015663"/>
          </a:xfrm>
          <a:prstGeom prst="rect">
            <a:avLst/>
          </a:prstGeom>
          <a:noFill/>
        </p:spPr>
        <p:txBody>
          <a:bodyPr vert="horz" wrap="square" rtlCol="0">
            <a:spAutoFit/>
          </a:bodyPr>
          <a:lstStyle/>
          <a:p>
            <a:r>
              <a:rPr lang="en-US" sz="1500">
                <a:solidFill>
                  <a:srgbClr val="5C6B66"/>
                </a:solidFill>
                <a:latin typeface="Segoe UI" panose="020B0502040204020203" pitchFamily="34" charset="0"/>
              </a:rPr>
              <a:t>Backups stay in your own subscription: in the backup storage account and the snapshot resource group. This is the tier we use.</a:t>
            </a:r>
          </a:p>
        </p:txBody>
      </p:sp>
      <p:sp>
        <p:nvSpPr>
          <p:cNvPr id="20" name="Rectangle: Rounded Corners 19">
            <a:extLst>
              <a:ext uri="{FF2B5EF4-FFF2-40B4-BE49-F238E27FC236}">
                <a16:creationId xmlns:a16="http://schemas.microsoft.com/office/drawing/2014/main" id="{F8A738D2-DF09-42C1-B66D-B56523CE2906}"/>
              </a:ext>
            </a:extLst>
          </p:cNvPr>
          <p:cNvSpPr/>
          <p:nvPr/>
        </p:nvSpPr>
        <p:spPr>
          <a:xfrm>
            <a:off x="635000" y="5397500"/>
            <a:ext cx="10922000" cy="635000"/>
          </a:xfrm>
          <a:prstGeom prst="roundRect">
            <a:avLst/>
          </a:prstGeom>
          <a:solidFill>
            <a:srgbClr val="1F2D3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dirty="0">
                <a:solidFill>
                  <a:srgbClr val="FFFFFF"/>
                </a:solidFill>
                <a:latin typeface="Segoe UI" panose="020B0502040204020203" pitchFamily="34" charset="0"/>
              </a:rPr>
              <a:t>It backs up cluster resources. Volume snapshots are off, so volume data is not included.</a:t>
            </a:r>
          </a:p>
        </p:txBody>
      </p:sp>
    </p:spTree>
    <p:extLst>
      <p:ext uri="{BB962C8B-B14F-4D97-AF65-F5344CB8AC3E}">
        <p14:creationId xmlns:p14="http://schemas.microsoft.com/office/powerpoint/2010/main" val="2204144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D95983-F832-430E-BE0C-75E9BEA47DEA}"/>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866AF19-68AB-4474-B1D5-5FF93CF65AAF}"/>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53E3FCB-D35F-4BBB-88AD-4B6BBDEA5719}"/>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Our architecture</a:t>
            </a:r>
          </a:p>
        </p:txBody>
      </p:sp>
      <p:sp>
        <p:nvSpPr>
          <p:cNvPr id="5" name="TextBox 4">
            <a:extLst>
              <a:ext uri="{FF2B5EF4-FFF2-40B4-BE49-F238E27FC236}">
                <a16:creationId xmlns:a16="http://schemas.microsoft.com/office/drawing/2014/main" id="{11173688-E4DA-43B9-8A05-F1ECB13ABADA}"/>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Backups flow to storage; restores land on the separate -rst cluster</a:t>
            </a:r>
          </a:p>
        </p:txBody>
      </p:sp>
      <p:sp>
        <p:nvSpPr>
          <p:cNvPr id="6" name="TextBox 5">
            <a:extLst>
              <a:ext uri="{FF2B5EF4-FFF2-40B4-BE49-F238E27FC236}">
                <a16:creationId xmlns:a16="http://schemas.microsoft.com/office/drawing/2014/main" id="{FB44276C-60D9-4B03-AC4A-8F13E87E78E6}"/>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BB4869C3-57C9-4C6F-9F29-D9A6D86780D6}"/>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4</a:t>
            </a:r>
          </a:p>
        </p:txBody>
      </p:sp>
      <p:sp>
        <p:nvSpPr>
          <p:cNvPr id="8" name="Rectangle: Rounded Corners 7">
            <a:extLst>
              <a:ext uri="{FF2B5EF4-FFF2-40B4-BE49-F238E27FC236}">
                <a16:creationId xmlns:a16="http://schemas.microsoft.com/office/drawing/2014/main" id="{11AB8522-C317-4063-A916-EE7079A56F52}"/>
              </a:ext>
            </a:extLst>
          </p:cNvPr>
          <p:cNvSpPr/>
          <p:nvPr/>
        </p:nvSpPr>
        <p:spPr>
          <a:xfrm>
            <a:off x="635000" y="1651000"/>
            <a:ext cx="2794000" cy="1397000"/>
          </a:xfrm>
          <a:prstGeom prst="round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b="1">
                <a:solidFill>
                  <a:srgbClr val="1F2D3D"/>
                </a:solidFill>
                <a:latin typeface="Segoe UI" panose="020B0502040204020203" pitchFamily="34" charset="0"/>
              </a:rPr>
              <a:t>Original cluster</a:t>
            </a:r>
          </a:p>
          <a:p>
            <a:pPr algn="ctr"/>
            <a:r>
              <a:rPr lang="en-US" b="1">
                <a:solidFill>
                  <a:srgbClr val="1F2D3D"/>
                </a:solidFill>
                <a:latin typeface="Segoe UI" panose="020B0502040204020203" pitchFamily="34" charset="0"/>
              </a:rPr>
              <a:t>+ Backup extension</a:t>
            </a:r>
          </a:p>
        </p:txBody>
      </p:sp>
      <p:sp>
        <p:nvSpPr>
          <p:cNvPr id="9" name="Arrow: Right 8">
            <a:extLst>
              <a:ext uri="{FF2B5EF4-FFF2-40B4-BE49-F238E27FC236}">
                <a16:creationId xmlns:a16="http://schemas.microsoft.com/office/drawing/2014/main" id="{3EC60C32-2DC8-4489-8681-52ADAA05473D}"/>
              </a:ext>
            </a:extLst>
          </p:cNvPr>
          <p:cNvSpPr/>
          <p:nvPr/>
        </p:nvSpPr>
        <p:spPr>
          <a:xfrm>
            <a:off x="3505200" y="2159000"/>
            <a:ext cx="762000" cy="381000"/>
          </a:xfrm>
          <a:prstGeom prst="rightArrow">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46C4A8D-1B13-46E0-B875-1DC6C136C882}"/>
              </a:ext>
            </a:extLst>
          </p:cNvPr>
          <p:cNvSpPr txBox="1"/>
          <p:nvPr/>
        </p:nvSpPr>
        <p:spPr>
          <a:xfrm>
            <a:off x="3429000" y="2616200"/>
            <a:ext cx="914400" cy="400110"/>
          </a:xfrm>
          <a:prstGeom prst="rect">
            <a:avLst/>
          </a:prstGeom>
          <a:noFill/>
        </p:spPr>
        <p:txBody>
          <a:bodyPr vert="horz" wrap="square" rtlCol="0">
            <a:spAutoFit/>
          </a:bodyPr>
          <a:lstStyle/>
          <a:p>
            <a:pPr algn="ctr"/>
            <a:r>
              <a:rPr lang="en-US" sz="1000">
                <a:solidFill>
                  <a:srgbClr val="5C6B66"/>
                </a:solidFill>
                <a:latin typeface="Segoe UI" panose="020B0502040204020203" pitchFamily="34" charset="0"/>
              </a:rPr>
              <a:t>Trusted</a:t>
            </a:r>
          </a:p>
          <a:p>
            <a:pPr algn="ctr"/>
            <a:r>
              <a:rPr lang="en-US" sz="1000">
                <a:solidFill>
                  <a:srgbClr val="5C6B66"/>
                </a:solidFill>
                <a:latin typeface="Segoe UI" panose="020B0502040204020203" pitchFamily="34" charset="0"/>
              </a:rPr>
              <a:t>Access</a:t>
            </a:r>
          </a:p>
        </p:txBody>
      </p:sp>
      <p:sp>
        <p:nvSpPr>
          <p:cNvPr id="11" name="Rectangle: Rounded Corners 10">
            <a:extLst>
              <a:ext uri="{FF2B5EF4-FFF2-40B4-BE49-F238E27FC236}">
                <a16:creationId xmlns:a16="http://schemas.microsoft.com/office/drawing/2014/main" id="{96D3E480-2793-4A12-95E4-FAB213F09A23}"/>
              </a:ext>
            </a:extLst>
          </p:cNvPr>
          <p:cNvSpPr/>
          <p:nvPr/>
        </p:nvSpPr>
        <p:spPr>
          <a:xfrm>
            <a:off x="4343400" y="1651000"/>
            <a:ext cx="2794000" cy="1397000"/>
          </a:xfrm>
          <a:prstGeom prst="round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b="1">
                <a:solidFill>
                  <a:srgbClr val="1F2D3D"/>
                </a:solidFill>
                <a:latin typeface="Segoe UI" panose="020B0502040204020203" pitchFamily="34" charset="0"/>
              </a:rPr>
              <a:t>Backup vault</a:t>
            </a:r>
          </a:p>
          <a:p>
            <a:pPr algn="ctr"/>
            <a:r>
              <a:rPr lang="en-US" b="1">
                <a:solidFill>
                  <a:srgbClr val="1F2D3D"/>
                </a:solidFill>
                <a:latin typeface="Segoe UI" panose="020B0502040204020203" pitchFamily="34" charset="0"/>
              </a:rPr>
              <a:t>+ backup policy</a:t>
            </a:r>
          </a:p>
        </p:txBody>
      </p:sp>
      <p:sp>
        <p:nvSpPr>
          <p:cNvPr id="12" name="Arrow: Right 11">
            <a:extLst>
              <a:ext uri="{FF2B5EF4-FFF2-40B4-BE49-F238E27FC236}">
                <a16:creationId xmlns:a16="http://schemas.microsoft.com/office/drawing/2014/main" id="{D629FCAF-AAB3-42AC-A3F8-2F6B6AC83ADE}"/>
              </a:ext>
            </a:extLst>
          </p:cNvPr>
          <p:cNvSpPr/>
          <p:nvPr/>
        </p:nvSpPr>
        <p:spPr>
          <a:xfrm>
            <a:off x="7213600" y="2159000"/>
            <a:ext cx="762000" cy="381000"/>
          </a:xfrm>
          <a:prstGeom prst="rightArrow">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4253BF9-A8CA-46D0-A2DA-4C21610119B1}"/>
              </a:ext>
            </a:extLst>
          </p:cNvPr>
          <p:cNvSpPr txBox="1"/>
          <p:nvPr/>
        </p:nvSpPr>
        <p:spPr>
          <a:xfrm>
            <a:off x="7137400" y="2616200"/>
            <a:ext cx="914400" cy="400110"/>
          </a:xfrm>
          <a:prstGeom prst="rect">
            <a:avLst/>
          </a:prstGeom>
          <a:noFill/>
        </p:spPr>
        <p:txBody>
          <a:bodyPr vert="horz" wrap="square" rtlCol="0">
            <a:spAutoFit/>
          </a:bodyPr>
          <a:lstStyle/>
          <a:p>
            <a:pPr algn="ctr"/>
            <a:r>
              <a:rPr lang="en-US" sz="1000">
                <a:solidFill>
                  <a:srgbClr val="5C6B66"/>
                </a:solidFill>
                <a:latin typeface="Segoe UI" panose="020B0502040204020203" pitchFamily="34" charset="0"/>
              </a:rPr>
              <a:t>backup</a:t>
            </a:r>
          </a:p>
          <a:p>
            <a:pPr algn="ctr"/>
            <a:r>
              <a:rPr lang="en-US" sz="1000">
                <a:solidFill>
                  <a:srgbClr val="5C6B66"/>
                </a:solidFill>
                <a:latin typeface="Segoe UI" panose="020B0502040204020203" pitchFamily="34" charset="0"/>
              </a:rPr>
              <a:t>data</a:t>
            </a:r>
          </a:p>
        </p:txBody>
      </p:sp>
      <p:sp>
        <p:nvSpPr>
          <p:cNvPr id="14" name="Rectangle: Rounded Corners 13">
            <a:extLst>
              <a:ext uri="{FF2B5EF4-FFF2-40B4-BE49-F238E27FC236}">
                <a16:creationId xmlns:a16="http://schemas.microsoft.com/office/drawing/2014/main" id="{474D613C-EEBB-45A1-AB56-22F7C9B8E047}"/>
              </a:ext>
            </a:extLst>
          </p:cNvPr>
          <p:cNvSpPr/>
          <p:nvPr/>
        </p:nvSpPr>
        <p:spPr>
          <a:xfrm>
            <a:off x="8051800" y="1651000"/>
            <a:ext cx="3429000" cy="1397000"/>
          </a:xfrm>
          <a:prstGeom prst="round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b="1">
                <a:solidFill>
                  <a:srgbClr val="1F2D3D"/>
                </a:solidFill>
                <a:latin typeface="Segoe UI" panose="020B0502040204020203" pitchFamily="34" charset="0"/>
              </a:rPr>
              <a:t>Storage account</a:t>
            </a:r>
          </a:p>
          <a:p>
            <a:pPr algn="ctr"/>
            <a:r>
              <a:rPr lang="en-US" b="1">
                <a:solidFill>
                  <a:srgbClr val="1F2D3D"/>
                </a:solidFill>
                <a:latin typeface="Segoe UI" panose="020B0502040204020203" pitchFamily="34" charset="0"/>
              </a:rPr>
              <a:t>+ container</a:t>
            </a:r>
          </a:p>
        </p:txBody>
      </p:sp>
      <p:sp>
        <p:nvSpPr>
          <p:cNvPr id="15" name="Rectangle: Rounded Corners 14">
            <a:extLst>
              <a:ext uri="{FF2B5EF4-FFF2-40B4-BE49-F238E27FC236}">
                <a16:creationId xmlns:a16="http://schemas.microsoft.com/office/drawing/2014/main" id="{345A7411-CDD4-4AEF-A0A3-84FF01A95140}"/>
              </a:ext>
            </a:extLst>
          </p:cNvPr>
          <p:cNvSpPr/>
          <p:nvPr/>
        </p:nvSpPr>
        <p:spPr>
          <a:xfrm>
            <a:off x="8305800" y="3200400"/>
            <a:ext cx="2921000" cy="508000"/>
          </a:xfrm>
          <a:prstGeom prst="roundRect">
            <a:avLst/>
          </a:prstGeom>
          <a:solidFill>
            <a:srgbClr val="1F2D3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FFFFF"/>
                </a:solidFill>
                <a:latin typeface="Segoe UI" panose="020B0502040204020203" pitchFamily="34" charset="0"/>
              </a:rPr>
              <a:t>Private endpoint (created by the cloud team)</a:t>
            </a:r>
          </a:p>
        </p:txBody>
      </p:sp>
      <p:sp>
        <p:nvSpPr>
          <p:cNvPr id="16" name="Arrow: Up 15">
            <a:extLst>
              <a:ext uri="{FF2B5EF4-FFF2-40B4-BE49-F238E27FC236}">
                <a16:creationId xmlns:a16="http://schemas.microsoft.com/office/drawing/2014/main" id="{46298FA9-8BC4-441D-9DF5-C5A86D00B372}"/>
              </a:ext>
            </a:extLst>
          </p:cNvPr>
          <p:cNvSpPr/>
          <p:nvPr/>
        </p:nvSpPr>
        <p:spPr>
          <a:xfrm>
            <a:off x="5588000" y="3124200"/>
            <a:ext cx="381000" cy="762000"/>
          </a:xfrm>
          <a:prstGeom prst="upArrow">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6F475BF-63F4-4707-908A-F4F6AD5B90BB}"/>
              </a:ext>
            </a:extLst>
          </p:cNvPr>
          <p:cNvSpPr txBox="1"/>
          <p:nvPr/>
        </p:nvSpPr>
        <p:spPr>
          <a:xfrm>
            <a:off x="6045200" y="3327400"/>
            <a:ext cx="1016000" cy="276999"/>
          </a:xfrm>
          <a:prstGeom prst="rect">
            <a:avLst/>
          </a:prstGeom>
          <a:noFill/>
        </p:spPr>
        <p:txBody>
          <a:bodyPr vert="horz" wrap="square" rtlCol="0">
            <a:spAutoFit/>
          </a:bodyPr>
          <a:lstStyle/>
          <a:p>
            <a:r>
              <a:rPr lang="en-US" sz="1200" b="1">
                <a:solidFill>
                  <a:srgbClr val="268C98"/>
                </a:solidFill>
                <a:latin typeface="Segoe UI" panose="020B0502040204020203" pitchFamily="34" charset="0"/>
              </a:rPr>
              <a:t>restore</a:t>
            </a:r>
          </a:p>
        </p:txBody>
      </p:sp>
      <p:sp>
        <p:nvSpPr>
          <p:cNvPr id="18" name="Rectangle: Rounded Corners 17">
            <a:extLst>
              <a:ext uri="{FF2B5EF4-FFF2-40B4-BE49-F238E27FC236}">
                <a16:creationId xmlns:a16="http://schemas.microsoft.com/office/drawing/2014/main" id="{D12D11B6-BAFD-4DEF-99F8-D08742E47ADF}"/>
              </a:ext>
            </a:extLst>
          </p:cNvPr>
          <p:cNvSpPr/>
          <p:nvPr/>
        </p:nvSpPr>
        <p:spPr>
          <a:xfrm>
            <a:off x="4343400" y="3962400"/>
            <a:ext cx="2794000" cy="1397000"/>
          </a:xfrm>
          <a:prstGeom prst="roundRect">
            <a:avLst/>
          </a:prstGeom>
          <a:solidFill>
            <a:srgbClr val="1F2D3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b="1">
                <a:solidFill>
                  <a:srgbClr val="FFFFFF"/>
                </a:solidFill>
                <a:latin typeface="Segoe UI" panose="020B0502040204020203" pitchFamily="34" charset="0"/>
              </a:rPr>
              <a:t>Restore cluster</a:t>
            </a:r>
          </a:p>
          <a:p>
            <a:pPr algn="ctr"/>
            <a:r>
              <a:rPr lang="en-US" b="1">
                <a:solidFill>
                  <a:srgbClr val="FFFFFF"/>
                </a:solidFill>
                <a:latin typeface="Segoe UI" panose="020B0502040204020203" pitchFamily="34" charset="0"/>
              </a:rPr>
              <a:t>(-rst suffix)</a:t>
            </a:r>
          </a:p>
        </p:txBody>
      </p:sp>
      <p:sp>
        <p:nvSpPr>
          <p:cNvPr id="19" name="Rectangle 18">
            <a:extLst>
              <a:ext uri="{FF2B5EF4-FFF2-40B4-BE49-F238E27FC236}">
                <a16:creationId xmlns:a16="http://schemas.microsoft.com/office/drawing/2014/main" id="{C863083A-56C0-4443-875D-E9548A581645}"/>
              </a:ext>
            </a:extLst>
          </p:cNvPr>
          <p:cNvSpPr/>
          <p:nvPr/>
        </p:nvSpPr>
        <p:spPr>
          <a:xfrm>
            <a:off x="635000" y="4191000"/>
            <a:ext cx="3175000" cy="1016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1894CD5-0FA2-4E02-A105-4017F067BE9D}"/>
              </a:ext>
            </a:extLst>
          </p:cNvPr>
          <p:cNvSpPr/>
          <p:nvPr/>
        </p:nvSpPr>
        <p:spPr>
          <a:xfrm>
            <a:off x="635000" y="4191000"/>
            <a:ext cx="76200" cy="1016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5E44B15-624C-4CFC-B5F3-0B2532A4CB0A}"/>
              </a:ext>
            </a:extLst>
          </p:cNvPr>
          <p:cNvSpPr txBox="1"/>
          <p:nvPr/>
        </p:nvSpPr>
        <p:spPr>
          <a:xfrm>
            <a:off x="838200" y="4267200"/>
            <a:ext cx="2895600" cy="692497"/>
          </a:xfrm>
          <a:prstGeom prst="rect">
            <a:avLst/>
          </a:prstGeom>
          <a:noFill/>
        </p:spPr>
        <p:txBody>
          <a:bodyPr vert="horz" wrap="square" rtlCol="0">
            <a:spAutoFit/>
          </a:bodyPr>
          <a:lstStyle/>
          <a:p>
            <a:r>
              <a:rPr lang="en-US" sz="1300">
                <a:solidFill>
                  <a:srgbClr val="1F2D3D"/>
                </a:solidFill>
                <a:latin typeface="Segoe UI" panose="020B0502040204020203" pitchFamily="34" charset="0"/>
              </a:rPr>
              <a:t>Restoring to the -rst cluster is an alternate-cluster restore. The original cluster is never touched.</a:t>
            </a:r>
          </a:p>
        </p:txBody>
      </p:sp>
      <p:sp>
        <p:nvSpPr>
          <p:cNvPr id="22" name="Rectangle 21">
            <a:extLst>
              <a:ext uri="{FF2B5EF4-FFF2-40B4-BE49-F238E27FC236}">
                <a16:creationId xmlns:a16="http://schemas.microsoft.com/office/drawing/2014/main" id="{330F2194-EABA-4867-A9B1-0800D1CFE733}"/>
              </a:ext>
            </a:extLst>
          </p:cNvPr>
          <p:cNvSpPr/>
          <p:nvPr/>
        </p:nvSpPr>
        <p:spPr>
          <a:xfrm>
            <a:off x="7874000" y="4191000"/>
            <a:ext cx="3606800" cy="1016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BD584BC-A2F7-4BE2-9CCB-D7C2519E3138}"/>
              </a:ext>
            </a:extLst>
          </p:cNvPr>
          <p:cNvSpPr/>
          <p:nvPr/>
        </p:nvSpPr>
        <p:spPr>
          <a:xfrm>
            <a:off x="7874000" y="4191000"/>
            <a:ext cx="76200" cy="1016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839F41C-BE25-41AF-B25F-3FEC063CE96A}"/>
              </a:ext>
            </a:extLst>
          </p:cNvPr>
          <p:cNvSpPr txBox="1"/>
          <p:nvPr/>
        </p:nvSpPr>
        <p:spPr>
          <a:xfrm>
            <a:off x="8077200" y="4267200"/>
            <a:ext cx="3327400" cy="692497"/>
          </a:xfrm>
          <a:prstGeom prst="rect">
            <a:avLst/>
          </a:prstGeom>
          <a:noFill/>
        </p:spPr>
        <p:txBody>
          <a:bodyPr vert="horz" wrap="square" rtlCol="0">
            <a:spAutoFit/>
          </a:bodyPr>
          <a:lstStyle/>
          <a:p>
            <a:r>
              <a:rPr lang="en-US" sz="1300">
                <a:solidFill>
                  <a:srgbClr val="1F2D3D"/>
                </a:solidFill>
                <a:latin typeface="Segoe UI" panose="020B0502040204020203" pitchFamily="34" charset="0"/>
              </a:rPr>
              <a:t>No private endpoint means the storage account cannot talk to the cluster, so backups fail.</a:t>
            </a:r>
          </a:p>
        </p:txBody>
      </p:sp>
    </p:spTree>
    <p:extLst>
      <p:ext uri="{BB962C8B-B14F-4D97-AF65-F5344CB8AC3E}">
        <p14:creationId xmlns:p14="http://schemas.microsoft.com/office/powerpoint/2010/main" val="163150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8DD8E2A-7538-4381-BF70-AABF3D0C6B90}"/>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8072EE3-9692-4EB3-9DCC-A130145F52AA}"/>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5DF3142-6807-4201-BD5B-03F4922C50A9}"/>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What backup.tf creates</a:t>
            </a:r>
          </a:p>
        </p:txBody>
      </p:sp>
      <p:sp>
        <p:nvSpPr>
          <p:cNvPr id="5" name="TextBox 4">
            <a:extLst>
              <a:ext uri="{FF2B5EF4-FFF2-40B4-BE49-F238E27FC236}">
                <a16:creationId xmlns:a16="http://schemas.microsoft.com/office/drawing/2014/main" id="{63DCCCC2-D630-4BB3-8C17-510C02FDD884}"/>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One file builds the whole backup setup</a:t>
            </a:r>
          </a:p>
        </p:txBody>
      </p:sp>
      <p:sp>
        <p:nvSpPr>
          <p:cNvPr id="6" name="TextBox 5">
            <a:extLst>
              <a:ext uri="{FF2B5EF4-FFF2-40B4-BE49-F238E27FC236}">
                <a16:creationId xmlns:a16="http://schemas.microsoft.com/office/drawing/2014/main" id="{78504688-7637-4213-8764-81548BD3C204}"/>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8B44435D-4159-4209-A796-D75006FA830D}"/>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5</a:t>
            </a:r>
          </a:p>
        </p:txBody>
      </p:sp>
      <p:sp>
        <p:nvSpPr>
          <p:cNvPr id="8" name="Rectangle 7">
            <a:extLst>
              <a:ext uri="{FF2B5EF4-FFF2-40B4-BE49-F238E27FC236}">
                <a16:creationId xmlns:a16="http://schemas.microsoft.com/office/drawing/2014/main" id="{8BBFAFC9-B071-4AC0-89E1-263C671006AC}"/>
              </a:ext>
            </a:extLst>
          </p:cNvPr>
          <p:cNvSpPr/>
          <p:nvPr/>
        </p:nvSpPr>
        <p:spPr>
          <a:xfrm>
            <a:off x="635000" y="1422400"/>
            <a:ext cx="3556000" cy="22225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CFAC3DE-840C-48D6-8F34-51ADD8A89EA9}"/>
              </a:ext>
            </a:extLst>
          </p:cNvPr>
          <p:cNvSpPr/>
          <p:nvPr/>
        </p:nvSpPr>
        <p:spPr>
          <a:xfrm>
            <a:off x="635000" y="1422400"/>
            <a:ext cx="3556000" cy="762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F8B950E-FA35-4338-B871-4C15DAE9DF93}"/>
              </a:ext>
            </a:extLst>
          </p:cNvPr>
          <p:cNvSpPr txBox="1"/>
          <p:nvPr/>
        </p:nvSpPr>
        <p:spPr>
          <a:xfrm>
            <a:off x="787400" y="1651000"/>
            <a:ext cx="3251200" cy="646331"/>
          </a:xfrm>
          <a:prstGeom prst="rect">
            <a:avLst/>
          </a:prstGeom>
          <a:noFill/>
        </p:spPr>
        <p:txBody>
          <a:bodyPr vert="horz" wrap="square" rtlCol="0">
            <a:spAutoFit/>
          </a:bodyPr>
          <a:lstStyle/>
          <a:p>
            <a:r>
              <a:rPr lang="en-US" b="1">
                <a:solidFill>
                  <a:srgbClr val="1F2D3D"/>
                </a:solidFill>
                <a:latin typeface="Segoe UI" panose="020B0502040204020203" pitchFamily="34" charset="0"/>
              </a:rPr>
              <a:t>Storage account and container</a:t>
            </a:r>
          </a:p>
        </p:txBody>
      </p:sp>
      <p:sp>
        <p:nvSpPr>
          <p:cNvPr id="11" name="TextBox 10">
            <a:extLst>
              <a:ext uri="{FF2B5EF4-FFF2-40B4-BE49-F238E27FC236}">
                <a16:creationId xmlns:a16="http://schemas.microsoft.com/office/drawing/2014/main" id="{679C37F1-915F-484F-BF69-4777D62E52BE}"/>
              </a:ext>
            </a:extLst>
          </p:cNvPr>
          <p:cNvSpPr txBox="1"/>
          <p:nvPr/>
        </p:nvSpPr>
        <p:spPr>
          <a:xfrm>
            <a:off x="787400" y="2413000"/>
            <a:ext cx="3251200" cy="692497"/>
          </a:xfrm>
          <a:prstGeom prst="rect">
            <a:avLst/>
          </a:prstGeom>
          <a:noFill/>
        </p:spPr>
        <p:txBody>
          <a:bodyPr vert="horz" wrap="square" rtlCol="0">
            <a:spAutoFit/>
          </a:bodyPr>
          <a:lstStyle/>
          <a:p>
            <a:r>
              <a:rPr lang="en-US" sz="1300">
                <a:solidFill>
                  <a:srgbClr val="5C6B66"/>
                </a:solidFill>
                <a:latin typeface="Segoe UI" panose="020B0502040204020203" pitchFamily="34" charset="0"/>
              </a:rPr>
              <a:t>Where backup data lives. Public network access is off, which is why the private endpoint is needed. Versioning is on.</a:t>
            </a:r>
          </a:p>
        </p:txBody>
      </p:sp>
      <p:sp>
        <p:nvSpPr>
          <p:cNvPr id="12" name="Rectangle 11">
            <a:extLst>
              <a:ext uri="{FF2B5EF4-FFF2-40B4-BE49-F238E27FC236}">
                <a16:creationId xmlns:a16="http://schemas.microsoft.com/office/drawing/2014/main" id="{0DC2640C-6C81-4902-BC92-816C5B5753EA}"/>
              </a:ext>
            </a:extLst>
          </p:cNvPr>
          <p:cNvSpPr/>
          <p:nvPr/>
        </p:nvSpPr>
        <p:spPr>
          <a:xfrm>
            <a:off x="4318000" y="1422400"/>
            <a:ext cx="3556000" cy="22225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0793FD4-1AFD-4A21-AD8F-B36B8B69DAB0}"/>
              </a:ext>
            </a:extLst>
          </p:cNvPr>
          <p:cNvSpPr/>
          <p:nvPr/>
        </p:nvSpPr>
        <p:spPr>
          <a:xfrm>
            <a:off x="4318000" y="1422400"/>
            <a:ext cx="3556000" cy="762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379756C-F514-4E17-B149-DA8646D26E17}"/>
              </a:ext>
            </a:extLst>
          </p:cNvPr>
          <p:cNvSpPr txBox="1"/>
          <p:nvPr/>
        </p:nvSpPr>
        <p:spPr>
          <a:xfrm>
            <a:off x="4470400" y="1651000"/>
            <a:ext cx="3251200" cy="381000"/>
          </a:xfrm>
          <a:prstGeom prst="rect">
            <a:avLst/>
          </a:prstGeom>
          <a:noFill/>
        </p:spPr>
        <p:txBody>
          <a:bodyPr vert="horz" wrap="square" rtlCol="0">
            <a:spAutoFit/>
          </a:bodyPr>
          <a:lstStyle/>
          <a:p>
            <a:r>
              <a:rPr lang="en-US" b="1">
                <a:solidFill>
                  <a:srgbClr val="1F2D3D"/>
                </a:solidFill>
                <a:latin typeface="Segoe UI" panose="020B0502040204020203" pitchFamily="34" charset="0"/>
              </a:rPr>
              <a:t>Backup extension</a:t>
            </a:r>
          </a:p>
        </p:txBody>
      </p:sp>
      <p:sp>
        <p:nvSpPr>
          <p:cNvPr id="15" name="TextBox 14">
            <a:extLst>
              <a:ext uri="{FF2B5EF4-FFF2-40B4-BE49-F238E27FC236}">
                <a16:creationId xmlns:a16="http://schemas.microsoft.com/office/drawing/2014/main" id="{C41A43AC-49EF-4BE9-A761-5CB064CE2DAA}"/>
              </a:ext>
            </a:extLst>
          </p:cNvPr>
          <p:cNvSpPr txBox="1"/>
          <p:nvPr/>
        </p:nvSpPr>
        <p:spPr>
          <a:xfrm>
            <a:off x="4470400" y="2413000"/>
            <a:ext cx="3251200" cy="692497"/>
          </a:xfrm>
          <a:prstGeom prst="rect">
            <a:avLst/>
          </a:prstGeom>
          <a:noFill/>
        </p:spPr>
        <p:txBody>
          <a:bodyPr vert="horz" wrap="square" rtlCol="0">
            <a:spAutoFit/>
          </a:bodyPr>
          <a:lstStyle/>
          <a:p>
            <a:r>
              <a:rPr lang="en-US" sz="1300">
                <a:solidFill>
                  <a:srgbClr val="5C6B66"/>
                </a:solidFill>
                <a:latin typeface="Segoe UI" panose="020B0502040204020203" pitchFamily="34" charset="0"/>
              </a:rPr>
              <a:t>Installed on the cluster. Tells the cluster which storage account and container to write backups to.</a:t>
            </a:r>
          </a:p>
        </p:txBody>
      </p:sp>
      <p:sp>
        <p:nvSpPr>
          <p:cNvPr id="16" name="Rectangle 15">
            <a:extLst>
              <a:ext uri="{FF2B5EF4-FFF2-40B4-BE49-F238E27FC236}">
                <a16:creationId xmlns:a16="http://schemas.microsoft.com/office/drawing/2014/main" id="{C2A1742A-6750-44EB-964C-C28466939AC1}"/>
              </a:ext>
            </a:extLst>
          </p:cNvPr>
          <p:cNvSpPr/>
          <p:nvPr/>
        </p:nvSpPr>
        <p:spPr>
          <a:xfrm>
            <a:off x="8001000" y="1422400"/>
            <a:ext cx="3556000" cy="22225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120F9EC-BF28-44D2-B47A-4875B29AF933}"/>
              </a:ext>
            </a:extLst>
          </p:cNvPr>
          <p:cNvSpPr/>
          <p:nvPr/>
        </p:nvSpPr>
        <p:spPr>
          <a:xfrm>
            <a:off x="8001000" y="1422400"/>
            <a:ext cx="3556000" cy="762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604BE5C-BEEE-42CF-83E9-CEA8696A2934}"/>
              </a:ext>
            </a:extLst>
          </p:cNvPr>
          <p:cNvSpPr txBox="1"/>
          <p:nvPr/>
        </p:nvSpPr>
        <p:spPr>
          <a:xfrm>
            <a:off x="8153400" y="1651000"/>
            <a:ext cx="3251200" cy="381000"/>
          </a:xfrm>
          <a:prstGeom prst="rect">
            <a:avLst/>
          </a:prstGeom>
          <a:noFill/>
        </p:spPr>
        <p:txBody>
          <a:bodyPr vert="horz" wrap="square" rtlCol="0">
            <a:spAutoFit/>
          </a:bodyPr>
          <a:lstStyle/>
          <a:p>
            <a:r>
              <a:rPr lang="en-US" b="1">
                <a:solidFill>
                  <a:srgbClr val="1F2D3D"/>
                </a:solidFill>
                <a:latin typeface="Segoe UI" panose="020B0502040204020203" pitchFamily="34" charset="0"/>
              </a:rPr>
              <a:t>Backup vault</a:t>
            </a:r>
          </a:p>
        </p:txBody>
      </p:sp>
      <p:sp>
        <p:nvSpPr>
          <p:cNvPr id="19" name="TextBox 18">
            <a:extLst>
              <a:ext uri="{FF2B5EF4-FFF2-40B4-BE49-F238E27FC236}">
                <a16:creationId xmlns:a16="http://schemas.microsoft.com/office/drawing/2014/main" id="{467B9DFF-6B96-49E5-8629-831AF7E1AEC7}"/>
              </a:ext>
            </a:extLst>
          </p:cNvPr>
          <p:cNvSpPr txBox="1"/>
          <p:nvPr/>
        </p:nvSpPr>
        <p:spPr>
          <a:xfrm>
            <a:off x="8153400" y="2413000"/>
            <a:ext cx="3251200" cy="692497"/>
          </a:xfrm>
          <a:prstGeom prst="rect">
            <a:avLst/>
          </a:prstGeom>
          <a:noFill/>
        </p:spPr>
        <p:txBody>
          <a:bodyPr vert="horz" wrap="square" rtlCol="0">
            <a:spAutoFit/>
          </a:bodyPr>
          <a:lstStyle/>
          <a:p>
            <a:r>
              <a:rPr lang="en-US" sz="1300">
                <a:solidFill>
                  <a:srgbClr val="5C6B66"/>
                </a:solidFill>
                <a:latin typeface="Segoe UI" panose="020B0502040204020203" pitchFamily="34" charset="0"/>
              </a:rPr>
              <a:t>Zone redundant, soft delete always on, immutable, and protected by a delete lock.</a:t>
            </a:r>
          </a:p>
        </p:txBody>
      </p:sp>
      <p:sp>
        <p:nvSpPr>
          <p:cNvPr id="20" name="Rectangle 19">
            <a:extLst>
              <a:ext uri="{FF2B5EF4-FFF2-40B4-BE49-F238E27FC236}">
                <a16:creationId xmlns:a16="http://schemas.microsoft.com/office/drawing/2014/main" id="{8CACC000-6E0A-4728-A610-C344F74D4104}"/>
              </a:ext>
            </a:extLst>
          </p:cNvPr>
          <p:cNvSpPr/>
          <p:nvPr/>
        </p:nvSpPr>
        <p:spPr>
          <a:xfrm>
            <a:off x="635000" y="3784600"/>
            <a:ext cx="3556000" cy="22225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10F1356-05EF-4370-9B14-D8886B282BDE}"/>
              </a:ext>
            </a:extLst>
          </p:cNvPr>
          <p:cNvSpPr/>
          <p:nvPr/>
        </p:nvSpPr>
        <p:spPr>
          <a:xfrm>
            <a:off x="635000" y="3784600"/>
            <a:ext cx="3556000" cy="762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586F5B9-E207-43D1-8134-349FC76A6A09}"/>
              </a:ext>
            </a:extLst>
          </p:cNvPr>
          <p:cNvSpPr txBox="1"/>
          <p:nvPr/>
        </p:nvSpPr>
        <p:spPr>
          <a:xfrm>
            <a:off x="787400" y="4013200"/>
            <a:ext cx="3251200" cy="381000"/>
          </a:xfrm>
          <a:prstGeom prst="rect">
            <a:avLst/>
          </a:prstGeom>
          <a:noFill/>
        </p:spPr>
        <p:txBody>
          <a:bodyPr vert="horz" wrap="square" rtlCol="0">
            <a:spAutoFit/>
          </a:bodyPr>
          <a:lstStyle/>
          <a:p>
            <a:r>
              <a:rPr lang="en-US" b="1">
                <a:solidFill>
                  <a:srgbClr val="1F2D3D"/>
                </a:solidFill>
                <a:latin typeface="Segoe UI" panose="020B0502040204020203" pitchFamily="34" charset="0"/>
              </a:rPr>
              <a:t>Backup policy</a:t>
            </a:r>
          </a:p>
        </p:txBody>
      </p:sp>
      <p:sp>
        <p:nvSpPr>
          <p:cNvPr id="23" name="TextBox 22">
            <a:extLst>
              <a:ext uri="{FF2B5EF4-FFF2-40B4-BE49-F238E27FC236}">
                <a16:creationId xmlns:a16="http://schemas.microsoft.com/office/drawing/2014/main" id="{9984CB4D-FBA4-4006-BD8F-954306842FA5}"/>
              </a:ext>
            </a:extLst>
          </p:cNvPr>
          <p:cNvSpPr txBox="1"/>
          <p:nvPr/>
        </p:nvSpPr>
        <p:spPr>
          <a:xfrm>
            <a:off x="787400" y="4775200"/>
            <a:ext cx="3251200" cy="492443"/>
          </a:xfrm>
          <a:prstGeom prst="rect">
            <a:avLst/>
          </a:prstGeom>
          <a:noFill/>
        </p:spPr>
        <p:txBody>
          <a:bodyPr vert="horz" wrap="square" rtlCol="0">
            <a:spAutoFit/>
          </a:bodyPr>
          <a:lstStyle/>
          <a:p>
            <a:r>
              <a:rPr lang="en-US" sz="1300">
                <a:solidFill>
                  <a:srgbClr val="5C6B66"/>
                </a:solidFill>
                <a:latin typeface="Segoe UI" panose="020B0502040204020203" pitchFamily="34" charset="0"/>
              </a:rPr>
              <a:t>Backs up every 4 hours. Keeps 7 days of backups in non-prod and 90 days in prod.</a:t>
            </a:r>
          </a:p>
        </p:txBody>
      </p:sp>
      <p:sp>
        <p:nvSpPr>
          <p:cNvPr id="24" name="Rectangle 23">
            <a:extLst>
              <a:ext uri="{FF2B5EF4-FFF2-40B4-BE49-F238E27FC236}">
                <a16:creationId xmlns:a16="http://schemas.microsoft.com/office/drawing/2014/main" id="{0D25189C-91BF-4B37-9A0C-31E97CE24495}"/>
              </a:ext>
            </a:extLst>
          </p:cNvPr>
          <p:cNvSpPr/>
          <p:nvPr/>
        </p:nvSpPr>
        <p:spPr>
          <a:xfrm>
            <a:off x="4318000" y="3784600"/>
            <a:ext cx="3556000" cy="22225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70606DF-A94F-4353-90AA-4C8353CA327E}"/>
              </a:ext>
            </a:extLst>
          </p:cNvPr>
          <p:cNvSpPr/>
          <p:nvPr/>
        </p:nvSpPr>
        <p:spPr>
          <a:xfrm>
            <a:off x="4318000" y="3784600"/>
            <a:ext cx="3556000" cy="762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DC15CBA-6025-47AD-BC52-1BB433A307AD}"/>
              </a:ext>
            </a:extLst>
          </p:cNvPr>
          <p:cNvSpPr txBox="1"/>
          <p:nvPr/>
        </p:nvSpPr>
        <p:spPr>
          <a:xfrm>
            <a:off x="4470400" y="4013200"/>
            <a:ext cx="3251200" cy="381000"/>
          </a:xfrm>
          <a:prstGeom prst="rect">
            <a:avLst/>
          </a:prstGeom>
          <a:noFill/>
        </p:spPr>
        <p:txBody>
          <a:bodyPr vert="horz" wrap="square" rtlCol="0">
            <a:spAutoFit/>
          </a:bodyPr>
          <a:lstStyle/>
          <a:p>
            <a:r>
              <a:rPr lang="en-US" b="1">
                <a:solidFill>
                  <a:srgbClr val="1F2D3D"/>
                </a:solidFill>
                <a:latin typeface="Segoe UI" panose="020B0502040204020203" pitchFamily="34" charset="0"/>
              </a:rPr>
              <a:t>Backup instance</a:t>
            </a:r>
          </a:p>
        </p:txBody>
      </p:sp>
      <p:sp>
        <p:nvSpPr>
          <p:cNvPr id="27" name="TextBox 26">
            <a:extLst>
              <a:ext uri="{FF2B5EF4-FFF2-40B4-BE49-F238E27FC236}">
                <a16:creationId xmlns:a16="http://schemas.microsoft.com/office/drawing/2014/main" id="{77E814E9-5100-4AC8-BB02-2C247F607C4B}"/>
              </a:ext>
            </a:extLst>
          </p:cNvPr>
          <p:cNvSpPr txBox="1"/>
          <p:nvPr/>
        </p:nvSpPr>
        <p:spPr>
          <a:xfrm>
            <a:off x="4470400" y="4775200"/>
            <a:ext cx="3251200" cy="692497"/>
          </a:xfrm>
          <a:prstGeom prst="rect">
            <a:avLst/>
          </a:prstGeom>
          <a:noFill/>
        </p:spPr>
        <p:txBody>
          <a:bodyPr vert="horz" wrap="square" rtlCol="0">
            <a:spAutoFit/>
          </a:bodyPr>
          <a:lstStyle/>
          <a:p>
            <a:r>
              <a:rPr lang="en-US" sz="1300">
                <a:solidFill>
                  <a:srgbClr val="5C6B66"/>
                </a:solidFill>
                <a:latin typeface="Segoe UI" panose="020B0502040204020203" pitchFamily="34" charset="0"/>
              </a:rPr>
              <a:t>Ties together the cluster, the vault and the policy. Full cluster backup with nothing excluded.</a:t>
            </a:r>
          </a:p>
        </p:txBody>
      </p:sp>
      <p:sp>
        <p:nvSpPr>
          <p:cNvPr id="28" name="Rectangle 27">
            <a:extLst>
              <a:ext uri="{FF2B5EF4-FFF2-40B4-BE49-F238E27FC236}">
                <a16:creationId xmlns:a16="http://schemas.microsoft.com/office/drawing/2014/main" id="{48483C6B-94B9-4F08-BB84-A22186FC3748}"/>
              </a:ext>
            </a:extLst>
          </p:cNvPr>
          <p:cNvSpPr/>
          <p:nvPr/>
        </p:nvSpPr>
        <p:spPr>
          <a:xfrm>
            <a:off x="8001000" y="3784600"/>
            <a:ext cx="3556000" cy="22225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3414170-1D60-4CA8-B42D-4B238B5E8E2B}"/>
              </a:ext>
            </a:extLst>
          </p:cNvPr>
          <p:cNvSpPr/>
          <p:nvPr/>
        </p:nvSpPr>
        <p:spPr>
          <a:xfrm>
            <a:off x="8001000" y="3784600"/>
            <a:ext cx="3556000" cy="762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B37C6C83-D170-4328-A323-7457E5AD4E1A}"/>
              </a:ext>
            </a:extLst>
          </p:cNvPr>
          <p:cNvSpPr txBox="1"/>
          <p:nvPr/>
        </p:nvSpPr>
        <p:spPr>
          <a:xfrm>
            <a:off x="8153400" y="4013200"/>
            <a:ext cx="3251200" cy="381000"/>
          </a:xfrm>
          <a:prstGeom prst="rect">
            <a:avLst/>
          </a:prstGeom>
          <a:noFill/>
        </p:spPr>
        <p:txBody>
          <a:bodyPr vert="horz" wrap="square" rtlCol="0">
            <a:spAutoFit/>
          </a:bodyPr>
          <a:lstStyle/>
          <a:p>
            <a:r>
              <a:rPr lang="en-US" b="1">
                <a:solidFill>
                  <a:srgbClr val="1F2D3D"/>
                </a:solidFill>
                <a:latin typeface="Segoe UI" panose="020B0502040204020203" pitchFamily="34" charset="0"/>
              </a:rPr>
              <a:t>Access and roles</a:t>
            </a:r>
          </a:p>
        </p:txBody>
      </p:sp>
      <p:sp>
        <p:nvSpPr>
          <p:cNvPr id="31" name="TextBox 30">
            <a:extLst>
              <a:ext uri="{FF2B5EF4-FFF2-40B4-BE49-F238E27FC236}">
                <a16:creationId xmlns:a16="http://schemas.microsoft.com/office/drawing/2014/main" id="{C371AE9D-E30F-4550-AAEE-18776CF5D320}"/>
              </a:ext>
            </a:extLst>
          </p:cNvPr>
          <p:cNvSpPr txBox="1"/>
          <p:nvPr/>
        </p:nvSpPr>
        <p:spPr>
          <a:xfrm>
            <a:off x="8153400" y="4775200"/>
            <a:ext cx="3251200" cy="692497"/>
          </a:xfrm>
          <a:prstGeom prst="rect">
            <a:avLst/>
          </a:prstGeom>
          <a:noFill/>
        </p:spPr>
        <p:txBody>
          <a:bodyPr vert="horz" wrap="square" rtlCol="0">
            <a:spAutoFit/>
          </a:bodyPr>
          <a:lstStyle/>
          <a:p>
            <a:r>
              <a:rPr lang="en-US" sz="1300">
                <a:solidFill>
                  <a:srgbClr val="5C6B66"/>
                </a:solidFill>
                <a:latin typeface="Segoe UI" panose="020B0502040204020203" pitchFamily="34" charset="0"/>
              </a:rPr>
              <a:t>Trusted Access from the vault to the cluster, plus the roles the vault, the extension and the cluster identities need.</a:t>
            </a:r>
          </a:p>
        </p:txBody>
      </p:sp>
      <p:sp>
        <p:nvSpPr>
          <p:cNvPr id="32" name="TextBox 31">
            <a:extLst>
              <a:ext uri="{FF2B5EF4-FFF2-40B4-BE49-F238E27FC236}">
                <a16:creationId xmlns:a16="http://schemas.microsoft.com/office/drawing/2014/main" id="{217C6A7E-48AE-48B6-BF70-57D6423A0E65}"/>
              </a:ext>
            </a:extLst>
          </p:cNvPr>
          <p:cNvSpPr txBox="1"/>
          <p:nvPr/>
        </p:nvSpPr>
        <p:spPr>
          <a:xfrm>
            <a:off x="635000" y="6121400"/>
            <a:ext cx="7620000" cy="261610"/>
          </a:xfrm>
          <a:prstGeom prst="rect">
            <a:avLst/>
          </a:prstGeom>
          <a:noFill/>
        </p:spPr>
        <p:txBody>
          <a:bodyPr vert="horz" wrap="square" rtlCol="0">
            <a:spAutoFit/>
          </a:bodyPr>
          <a:lstStyle/>
          <a:p>
            <a:r>
              <a:rPr lang="en-US" sz="1100">
                <a:solidFill>
                  <a:srgbClr val="5C6B66"/>
                </a:solidFill>
                <a:latin typeface="Segoe UI" panose="020B0502040204020203" pitchFamily="34" charset="0"/>
              </a:rPr>
              <a:t>File: bfhaksplatform/terraform/modules/main/backup.tf</a:t>
            </a:r>
          </a:p>
        </p:txBody>
      </p:sp>
    </p:spTree>
    <p:extLst>
      <p:ext uri="{BB962C8B-B14F-4D97-AF65-F5344CB8AC3E}">
        <p14:creationId xmlns:p14="http://schemas.microsoft.com/office/powerpoint/2010/main" val="163804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F7EBBC7-1432-4079-B21B-2150C31CB8E1}"/>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E283A27-1268-4469-B135-997BF065A2C6}"/>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1DB5B23-6D72-434A-9B12-AE6D607ABDDE}"/>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How backup.tf is driven by conf.yaml</a:t>
            </a:r>
          </a:p>
        </p:txBody>
      </p:sp>
      <p:sp>
        <p:nvSpPr>
          <p:cNvPr id="5" name="TextBox 4">
            <a:extLst>
              <a:ext uri="{FF2B5EF4-FFF2-40B4-BE49-F238E27FC236}">
                <a16:creationId xmlns:a16="http://schemas.microsoft.com/office/drawing/2014/main" id="{28284A56-7ED1-434B-A34B-F7AD4E1592B5}"/>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No names are hard-coded: the file reads lists and builds one resource per entry</a:t>
            </a:r>
          </a:p>
        </p:txBody>
      </p:sp>
      <p:sp>
        <p:nvSpPr>
          <p:cNvPr id="6" name="TextBox 5">
            <a:extLst>
              <a:ext uri="{FF2B5EF4-FFF2-40B4-BE49-F238E27FC236}">
                <a16:creationId xmlns:a16="http://schemas.microsoft.com/office/drawing/2014/main" id="{E2BA72E2-5E25-46F0-AC9D-10316EAB2ECE}"/>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F32DAC05-ED4F-444F-B6E4-EC3BA3D8F296}"/>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6</a:t>
            </a:r>
          </a:p>
        </p:txBody>
      </p:sp>
      <p:sp>
        <p:nvSpPr>
          <p:cNvPr id="8" name="Rectangle: Rounded Corners 7">
            <a:extLst>
              <a:ext uri="{FF2B5EF4-FFF2-40B4-BE49-F238E27FC236}">
                <a16:creationId xmlns:a16="http://schemas.microsoft.com/office/drawing/2014/main" id="{8A9498CC-2416-4F35-8B88-7AADC80900E9}"/>
              </a:ext>
            </a:extLst>
          </p:cNvPr>
          <p:cNvSpPr/>
          <p:nvPr/>
        </p:nvSpPr>
        <p:spPr>
          <a:xfrm>
            <a:off x="635000" y="1498600"/>
            <a:ext cx="3175000" cy="1397000"/>
          </a:xfrm>
          <a:prstGeom prst="round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2200" b="1">
                <a:solidFill>
                  <a:srgbClr val="1F2D3D"/>
                </a:solidFill>
                <a:latin typeface="Segoe UI" panose="020B0502040204020203" pitchFamily="34" charset="0"/>
              </a:rPr>
              <a:t>conf.yaml</a:t>
            </a:r>
          </a:p>
          <a:p>
            <a:pPr algn="ctr"/>
            <a:r>
              <a:rPr lang="en-US" sz="1400">
                <a:solidFill>
                  <a:srgbClr val="1F2D3D"/>
                </a:solidFill>
                <a:latin typeface="Segoe UI" panose="020B0502040204020203" pitchFamily="34" charset="0"/>
              </a:rPr>
              <a:t>Your settings: lists of storage accounts, vaults, clusters and policies</a:t>
            </a:r>
          </a:p>
        </p:txBody>
      </p:sp>
      <p:sp>
        <p:nvSpPr>
          <p:cNvPr id="9" name="Arrow: Right 8">
            <a:extLst>
              <a:ext uri="{FF2B5EF4-FFF2-40B4-BE49-F238E27FC236}">
                <a16:creationId xmlns:a16="http://schemas.microsoft.com/office/drawing/2014/main" id="{3CEA8856-C73D-466F-94EA-AC4C60FB36A7}"/>
              </a:ext>
            </a:extLst>
          </p:cNvPr>
          <p:cNvSpPr/>
          <p:nvPr/>
        </p:nvSpPr>
        <p:spPr>
          <a:xfrm>
            <a:off x="3911600" y="2006600"/>
            <a:ext cx="558800" cy="381000"/>
          </a:xfrm>
          <a:prstGeom prst="rightArrow">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E57BF6D5-2529-4DB5-A469-970AADA3BCB4}"/>
              </a:ext>
            </a:extLst>
          </p:cNvPr>
          <p:cNvSpPr/>
          <p:nvPr/>
        </p:nvSpPr>
        <p:spPr>
          <a:xfrm>
            <a:off x="4508500" y="1498600"/>
            <a:ext cx="3175000" cy="1397000"/>
          </a:xfrm>
          <a:prstGeom prst="roundRect">
            <a:avLst/>
          </a:prstGeom>
          <a:solidFill>
            <a:srgbClr val="1F2D3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2200" b="1">
                <a:solidFill>
                  <a:srgbClr val="FFFFFF"/>
                </a:solidFill>
                <a:latin typeface="Segoe UI" panose="020B0502040204020203" pitchFamily="34" charset="0"/>
              </a:rPr>
              <a:t>backup.tf</a:t>
            </a:r>
          </a:p>
          <a:p>
            <a:pPr algn="ctr"/>
            <a:r>
              <a:rPr lang="en-US" sz="1400">
                <a:solidFill>
                  <a:srgbClr val="FFFFFF"/>
                </a:solidFill>
                <a:latin typeface="Segoe UI" panose="020B0502040204020203" pitchFamily="34" charset="0"/>
              </a:rPr>
              <a:t>Reads each list and creates one resource for every entry</a:t>
            </a:r>
          </a:p>
        </p:txBody>
      </p:sp>
      <p:sp>
        <p:nvSpPr>
          <p:cNvPr id="11" name="Arrow: Right 10">
            <a:extLst>
              <a:ext uri="{FF2B5EF4-FFF2-40B4-BE49-F238E27FC236}">
                <a16:creationId xmlns:a16="http://schemas.microsoft.com/office/drawing/2014/main" id="{0F40037A-6274-4950-B438-0F872750A801}"/>
              </a:ext>
            </a:extLst>
          </p:cNvPr>
          <p:cNvSpPr/>
          <p:nvPr/>
        </p:nvSpPr>
        <p:spPr>
          <a:xfrm>
            <a:off x="7785100" y="2006600"/>
            <a:ext cx="558800" cy="381000"/>
          </a:xfrm>
          <a:prstGeom prst="rightArrow">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2254F7A5-905C-40EC-B6D8-0D693F26541D}"/>
              </a:ext>
            </a:extLst>
          </p:cNvPr>
          <p:cNvSpPr/>
          <p:nvPr/>
        </p:nvSpPr>
        <p:spPr>
          <a:xfrm>
            <a:off x="8382000" y="1498600"/>
            <a:ext cx="3175000" cy="1397000"/>
          </a:xfrm>
          <a:prstGeom prst="round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2200" b="1">
                <a:solidFill>
                  <a:srgbClr val="1F2D3D"/>
                </a:solidFill>
                <a:latin typeface="Segoe UI" panose="020B0502040204020203" pitchFamily="34" charset="0"/>
              </a:rPr>
              <a:t>Azure resources</a:t>
            </a:r>
          </a:p>
          <a:p>
            <a:pPr algn="ctr"/>
            <a:r>
              <a:rPr lang="en-US" sz="1400">
                <a:solidFill>
                  <a:srgbClr val="1F2D3D"/>
                </a:solidFill>
                <a:latin typeface="Segoe UI" panose="020B0502040204020203" pitchFamily="34" charset="0"/>
              </a:rPr>
              <a:t>Storage, vault, extension, policy, instance and roles</a:t>
            </a:r>
          </a:p>
        </p:txBody>
      </p:sp>
      <p:sp>
        <p:nvSpPr>
          <p:cNvPr id="13" name="Rectangle 12">
            <a:extLst>
              <a:ext uri="{FF2B5EF4-FFF2-40B4-BE49-F238E27FC236}">
                <a16:creationId xmlns:a16="http://schemas.microsoft.com/office/drawing/2014/main" id="{B785DAA6-0D00-4E0A-B23F-5544A615D5A3}"/>
              </a:ext>
            </a:extLst>
          </p:cNvPr>
          <p:cNvSpPr/>
          <p:nvPr/>
        </p:nvSpPr>
        <p:spPr>
          <a:xfrm>
            <a:off x="635000" y="3175000"/>
            <a:ext cx="5461000" cy="27305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CE6467F-972F-4C44-9F43-FBCBA12CA7A1}"/>
              </a:ext>
            </a:extLst>
          </p:cNvPr>
          <p:cNvSpPr/>
          <p:nvPr/>
        </p:nvSpPr>
        <p:spPr>
          <a:xfrm>
            <a:off x="635000" y="3175000"/>
            <a:ext cx="76200" cy="27305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9675A50-02CB-42F9-972D-A9110D936217}"/>
              </a:ext>
            </a:extLst>
          </p:cNvPr>
          <p:cNvSpPr txBox="1"/>
          <p:nvPr/>
        </p:nvSpPr>
        <p:spPr>
          <a:xfrm>
            <a:off x="863600" y="3302000"/>
            <a:ext cx="5080000" cy="381000"/>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What is a local?</a:t>
            </a:r>
          </a:p>
        </p:txBody>
      </p:sp>
      <p:sp>
        <p:nvSpPr>
          <p:cNvPr id="16" name="TextBox 15">
            <a:extLst>
              <a:ext uri="{FF2B5EF4-FFF2-40B4-BE49-F238E27FC236}">
                <a16:creationId xmlns:a16="http://schemas.microsoft.com/office/drawing/2014/main" id="{495CCDD6-5E93-453B-9F92-544F9EDE60CD}"/>
              </a:ext>
            </a:extLst>
          </p:cNvPr>
          <p:cNvSpPr txBox="1"/>
          <p:nvPr/>
        </p:nvSpPr>
        <p:spPr>
          <a:xfrm>
            <a:off x="863600" y="3771900"/>
            <a:ext cx="5080000" cy="954107"/>
          </a:xfrm>
          <a:prstGeom prst="rect">
            <a:avLst/>
          </a:prstGeom>
          <a:noFill/>
        </p:spPr>
        <p:txBody>
          <a:bodyPr vert="horz" wrap="square" rtlCol="0">
            <a:spAutoFit/>
          </a:bodyPr>
          <a:lstStyle/>
          <a:p>
            <a:r>
              <a:rPr lang="en-US" sz="1400">
                <a:solidFill>
                  <a:srgbClr val="5C6B66"/>
                </a:solidFill>
                <a:latin typeface="Segoe UI" panose="020B0502040204020203" pitchFamily="34" charset="0"/>
              </a:rPr>
              <a:t>A local is a named helper value that Terraform works out once and then reuses. For example, backup.tf turns the storage account list from conf.yaml into a lookup by name. Locals are internal helpers. They are not settings you pass in.</a:t>
            </a:r>
          </a:p>
        </p:txBody>
      </p:sp>
      <p:sp>
        <p:nvSpPr>
          <p:cNvPr id="17" name="Rectangle 16">
            <a:extLst>
              <a:ext uri="{FF2B5EF4-FFF2-40B4-BE49-F238E27FC236}">
                <a16:creationId xmlns:a16="http://schemas.microsoft.com/office/drawing/2014/main" id="{2FDCF0CB-2785-4FFD-9E24-5092525ECCE5}"/>
              </a:ext>
            </a:extLst>
          </p:cNvPr>
          <p:cNvSpPr/>
          <p:nvPr/>
        </p:nvSpPr>
        <p:spPr>
          <a:xfrm>
            <a:off x="6223000" y="3175000"/>
            <a:ext cx="5334000" cy="27305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CCBCC08-B4E3-4BC3-BF3D-60BAF84E28D5}"/>
              </a:ext>
            </a:extLst>
          </p:cNvPr>
          <p:cNvSpPr/>
          <p:nvPr/>
        </p:nvSpPr>
        <p:spPr>
          <a:xfrm>
            <a:off x="6223000" y="3175000"/>
            <a:ext cx="76200" cy="27305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B2FBF05-E44A-4BD0-A336-516FE20674C8}"/>
              </a:ext>
            </a:extLst>
          </p:cNvPr>
          <p:cNvSpPr txBox="1"/>
          <p:nvPr/>
        </p:nvSpPr>
        <p:spPr>
          <a:xfrm>
            <a:off x="6451600" y="3302000"/>
            <a:ext cx="4953000" cy="381000"/>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Why it matters</a:t>
            </a:r>
          </a:p>
        </p:txBody>
      </p:sp>
      <p:sp>
        <p:nvSpPr>
          <p:cNvPr id="20" name="TextBox 19">
            <a:extLst>
              <a:ext uri="{FF2B5EF4-FFF2-40B4-BE49-F238E27FC236}">
                <a16:creationId xmlns:a16="http://schemas.microsoft.com/office/drawing/2014/main" id="{86B6AA09-CB54-4DDF-8356-74A39F1071DF}"/>
              </a:ext>
            </a:extLst>
          </p:cNvPr>
          <p:cNvSpPr txBox="1"/>
          <p:nvPr/>
        </p:nvSpPr>
        <p:spPr>
          <a:xfrm>
            <a:off x="6451600" y="3771900"/>
            <a:ext cx="4953000" cy="954107"/>
          </a:xfrm>
          <a:prstGeom prst="rect">
            <a:avLst/>
          </a:prstGeom>
          <a:noFill/>
        </p:spPr>
        <p:txBody>
          <a:bodyPr vert="horz" wrap="square" rtlCol="0">
            <a:spAutoFit/>
          </a:bodyPr>
          <a:lstStyle/>
          <a:p>
            <a:r>
              <a:rPr lang="en-US" sz="1400">
                <a:solidFill>
                  <a:srgbClr val="5C6B66"/>
                </a:solidFill>
                <a:latin typeface="Segoe UI" panose="020B0502040204020203" pitchFamily="34" charset="0"/>
              </a:rPr>
              <a:t>Add an entry to a list in conf.yaml and the next pipeline run creates the matching resources. Change the environment and the policy follows: retention is 7 days everywhere except prd, which keeps 90 days.</a:t>
            </a:r>
          </a:p>
        </p:txBody>
      </p:sp>
    </p:spTree>
    <p:extLst>
      <p:ext uri="{BB962C8B-B14F-4D97-AF65-F5344CB8AC3E}">
        <p14:creationId xmlns:p14="http://schemas.microsoft.com/office/powerpoint/2010/main" val="1109871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935D59-957C-44EF-AFFC-12EDC2DE3A5B}"/>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F556E32-03C9-4352-94CA-0AFB97074D62}"/>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99D7EC2-E659-4FA4-8FA7-19F73128731B}"/>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What conf.yaml contains for backup</a:t>
            </a:r>
          </a:p>
        </p:txBody>
      </p:sp>
      <p:sp>
        <p:nvSpPr>
          <p:cNvPr id="5" name="TextBox 4">
            <a:extLst>
              <a:ext uri="{FF2B5EF4-FFF2-40B4-BE49-F238E27FC236}">
                <a16:creationId xmlns:a16="http://schemas.microsoft.com/office/drawing/2014/main" id="{32330D21-768F-4E8F-9622-6B776E9DD2D7}"/>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Five blocks. Fields such as interval, retention and full_cluster_backup are not read by backup.tf.</a:t>
            </a:r>
          </a:p>
        </p:txBody>
      </p:sp>
      <p:sp>
        <p:nvSpPr>
          <p:cNvPr id="6" name="TextBox 5">
            <a:extLst>
              <a:ext uri="{FF2B5EF4-FFF2-40B4-BE49-F238E27FC236}">
                <a16:creationId xmlns:a16="http://schemas.microsoft.com/office/drawing/2014/main" id="{14FA33DA-67CA-4EE7-9D4E-A284201C402D}"/>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78D2B33B-FA9E-4177-AB90-E6BF09692B14}"/>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7</a:t>
            </a:r>
          </a:p>
        </p:txBody>
      </p:sp>
      <p:graphicFrame>
        <p:nvGraphicFramePr>
          <p:cNvPr id="8" name="Table 7">
            <a:extLst>
              <a:ext uri="{FF2B5EF4-FFF2-40B4-BE49-F238E27FC236}">
                <a16:creationId xmlns:a16="http://schemas.microsoft.com/office/drawing/2014/main" id="{443620AA-A399-48F2-8544-BFCD94F08BD7}"/>
              </a:ext>
            </a:extLst>
          </p:cNvPr>
          <p:cNvGraphicFramePr>
            <a:graphicFrameLocks noGrp="1"/>
          </p:cNvGraphicFramePr>
          <p:nvPr>
            <p:extLst>
              <p:ext uri="{D42A27DB-BD31-4B8C-83A1-F6EECF244321}">
                <p14:modId xmlns:p14="http://schemas.microsoft.com/office/powerpoint/2010/main" val="2998887122"/>
              </p:ext>
            </p:extLst>
          </p:nvPr>
        </p:nvGraphicFramePr>
        <p:xfrm>
          <a:off x="635000" y="1397000"/>
          <a:ext cx="10922000" cy="3682998"/>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614517352"/>
                    </a:ext>
                  </a:extLst>
                </a:gridCol>
                <a:gridCol w="4191000">
                  <a:extLst>
                    <a:ext uri="{9D8B030D-6E8A-4147-A177-3AD203B41FA5}">
                      <a16:colId xmlns:a16="http://schemas.microsoft.com/office/drawing/2014/main" val="4130451267"/>
                    </a:ext>
                  </a:extLst>
                </a:gridCol>
                <a:gridCol w="4064000">
                  <a:extLst>
                    <a:ext uri="{9D8B030D-6E8A-4147-A177-3AD203B41FA5}">
                      <a16:colId xmlns:a16="http://schemas.microsoft.com/office/drawing/2014/main" val="3292545409"/>
                    </a:ext>
                  </a:extLst>
                </a:gridCol>
              </a:tblGrid>
              <a:tr h="613833">
                <a:tc>
                  <a:txBody>
                    <a:bodyPr/>
                    <a:lstStyle/>
                    <a:p>
                      <a:r>
                        <a:rPr lang="en-US" sz="1500" b="1">
                          <a:solidFill>
                            <a:srgbClr val="1F2D3D"/>
                          </a:solidFill>
                          <a:latin typeface="Segoe UI" panose="020B0502040204020203" pitchFamily="34" charset="0"/>
                        </a:rPr>
                        <a:t>Block</a:t>
                      </a:r>
                    </a:p>
                  </a:txBody>
                  <a:tcPr>
                    <a:solidFill>
                      <a:srgbClr val="59BEC9"/>
                    </a:solidFill>
                  </a:tcPr>
                </a:tc>
                <a:tc>
                  <a:txBody>
                    <a:bodyPr/>
                    <a:lstStyle/>
                    <a:p>
                      <a:r>
                        <a:rPr lang="en-US" sz="1500" b="1">
                          <a:solidFill>
                            <a:srgbClr val="1F2D3D"/>
                          </a:solidFill>
                          <a:latin typeface="Segoe UI" panose="020B0502040204020203" pitchFamily="34" charset="0"/>
                        </a:rPr>
                        <a:t>What you put in</a:t>
                      </a:r>
                    </a:p>
                  </a:txBody>
                  <a:tcPr>
                    <a:solidFill>
                      <a:srgbClr val="59BEC9"/>
                    </a:solidFill>
                  </a:tcPr>
                </a:tc>
                <a:tc>
                  <a:txBody>
                    <a:bodyPr/>
                    <a:lstStyle/>
                    <a:p>
                      <a:r>
                        <a:rPr lang="en-US" sz="1500" b="1">
                          <a:solidFill>
                            <a:srgbClr val="1F2D3D"/>
                          </a:solidFill>
                          <a:latin typeface="Segoe UI" panose="020B0502040204020203" pitchFamily="34" charset="0"/>
                        </a:rPr>
                        <a:t>What it creates</a:t>
                      </a:r>
                    </a:p>
                  </a:txBody>
                  <a:tcPr>
                    <a:solidFill>
                      <a:srgbClr val="59BEC9"/>
                    </a:solidFill>
                  </a:tcPr>
                </a:tc>
                <a:extLst>
                  <a:ext uri="{0D108BD9-81ED-4DB2-BD59-A6C34878D82A}">
                    <a16:rowId xmlns:a16="http://schemas.microsoft.com/office/drawing/2014/main" val="2227569835"/>
                  </a:ext>
                </a:extLst>
              </a:tr>
              <a:tr h="613833">
                <a:tc>
                  <a:txBody>
                    <a:bodyPr/>
                    <a:lstStyle/>
                    <a:p>
                      <a:r>
                        <a:rPr lang="en-US" sz="1400">
                          <a:solidFill>
                            <a:srgbClr val="1F2D3D"/>
                          </a:solidFill>
                          <a:latin typeface="Segoe UI" panose="020B0502040204020203" pitchFamily="34" charset="0"/>
                        </a:rPr>
                        <a:t>storage_account</a:t>
                      </a:r>
                    </a:p>
                  </a:txBody>
                  <a:tcPr>
                    <a:solidFill>
                      <a:srgbClr val="E4F4F5"/>
                    </a:solidFill>
                  </a:tcPr>
                </a:tc>
                <a:tc>
                  <a:txBody>
                    <a:bodyPr/>
                    <a:lstStyle/>
                    <a:p>
                      <a:r>
                        <a:rPr lang="en-US" sz="1400">
                          <a:solidFill>
                            <a:srgbClr val="1F2D3D"/>
                          </a:solidFill>
                          <a:latin typeface="Segoe UI" panose="020B0502040204020203" pitchFamily="34" charset="0"/>
                        </a:rPr>
                        <a:t>Name and container name</a:t>
                      </a:r>
                    </a:p>
                  </a:txBody>
                  <a:tcPr>
                    <a:solidFill>
                      <a:srgbClr val="E4F4F5"/>
                    </a:solidFill>
                  </a:tcPr>
                </a:tc>
                <a:tc>
                  <a:txBody>
                    <a:bodyPr/>
                    <a:lstStyle/>
                    <a:p>
                      <a:r>
                        <a:rPr lang="en-US" sz="1400">
                          <a:solidFill>
                            <a:srgbClr val="1F2D3D"/>
                          </a:solidFill>
                          <a:latin typeface="Segoe UI" panose="020B0502040204020203" pitchFamily="34" charset="0"/>
                        </a:rPr>
                        <a:t>Storage account and blob container</a:t>
                      </a:r>
                    </a:p>
                  </a:txBody>
                  <a:tcPr>
                    <a:solidFill>
                      <a:srgbClr val="E4F4F5"/>
                    </a:solidFill>
                  </a:tcPr>
                </a:tc>
                <a:extLst>
                  <a:ext uri="{0D108BD9-81ED-4DB2-BD59-A6C34878D82A}">
                    <a16:rowId xmlns:a16="http://schemas.microsoft.com/office/drawing/2014/main" val="8803341"/>
                  </a:ext>
                </a:extLst>
              </a:tr>
              <a:tr h="613833">
                <a:tc>
                  <a:txBody>
                    <a:bodyPr/>
                    <a:lstStyle/>
                    <a:p>
                      <a:r>
                        <a:rPr lang="en-US" sz="1400">
                          <a:solidFill>
                            <a:srgbClr val="1F2D3D"/>
                          </a:solidFill>
                          <a:latin typeface="Segoe UI" panose="020B0502040204020203" pitchFamily="34" charset="0"/>
                        </a:rPr>
                        <a:t>backup_vault</a:t>
                      </a:r>
                    </a:p>
                  </a:txBody>
                  <a:tcPr>
                    <a:solidFill>
                      <a:srgbClr val="FFFFFF"/>
                    </a:solidFill>
                  </a:tcPr>
                </a:tc>
                <a:tc>
                  <a:txBody>
                    <a:bodyPr/>
                    <a:lstStyle/>
                    <a:p>
                      <a:r>
                        <a:rPr lang="en-US" sz="1400">
                          <a:solidFill>
                            <a:srgbClr val="1F2D3D"/>
                          </a:solidFill>
                          <a:latin typeface="Segoe UI" panose="020B0502040204020203" pitchFamily="34" charset="0"/>
                        </a:rPr>
                        <a:t>Vault name</a:t>
                      </a:r>
                    </a:p>
                  </a:txBody>
                  <a:tcPr>
                    <a:solidFill>
                      <a:srgbClr val="FFFFFF"/>
                    </a:solidFill>
                  </a:tcPr>
                </a:tc>
                <a:tc>
                  <a:txBody>
                    <a:bodyPr/>
                    <a:lstStyle/>
                    <a:p>
                      <a:r>
                        <a:rPr lang="en-US" sz="1400">
                          <a:solidFill>
                            <a:srgbClr val="1F2D3D"/>
                          </a:solidFill>
                          <a:latin typeface="Segoe UI" panose="020B0502040204020203" pitchFamily="34" charset="0"/>
                        </a:rPr>
                        <a:t>Backup vault with a delete lock</a:t>
                      </a:r>
                    </a:p>
                  </a:txBody>
                  <a:tcPr>
                    <a:solidFill>
                      <a:srgbClr val="FFFFFF"/>
                    </a:solidFill>
                  </a:tcPr>
                </a:tc>
                <a:extLst>
                  <a:ext uri="{0D108BD9-81ED-4DB2-BD59-A6C34878D82A}">
                    <a16:rowId xmlns:a16="http://schemas.microsoft.com/office/drawing/2014/main" val="317528045"/>
                  </a:ext>
                </a:extLst>
              </a:tr>
              <a:tr h="613833">
                <a:tc>
                  <a:txBody>
                    <a:bodyPr/>
                    <a:lstStyle/>
                    <a:p>
                      <a:r>
                        <a:rPr lang="en-US" sz="1400">
                          <a:solidFill>
                            <a:srgbClr val="1F2D3D"/>
                          </a:solidFill>
                          <a:latin typeface="Segoe UI" panose="020B0502040204020203" pitchFamily="34" charset="0"/>
                        </a:rPr>
                        <a:t>aks_backup_extension</a:t>
                      </a:r>
                    </a:p>
                  </a:txBody>
                  <a:tcPr>
                    <a:solidFill>
                      <a:srgbClr val="E4F4F5"/>
                    </a:solidFill>
                  </a:tcPr>
                </a:tc>
                <a:tc>
                  <a:txBody>
                    <a:bodyPr/>
                    <a:lstStyle/>
                    <a:p>
                      <a:r>
                        <a:rPr lang="en-US" sz="1400">
                          <a:solidFill>
                            <a:srgbClr val="1F2D3D"/>
                          </a:solidFill>
                          <a:latin typeface="Segoe UI" panose="020B0502040204020203" pitchFamily="34" charset="0"/>
                        </a:rPr>
                        <a:t>Cluster, storage account, container</a:t>
                      </a:r>
                    </a:p>
                  </a:txBody>
                  <a:tcPr>
                    <a:solidFill>
                      <a:srgbClr val="E4F4F5"/>
                    </a:solidFill>
                  </a:tcPr>
                </a:tc>
                <a:tc>
                  <a:txBody>
                    <a:bodyPr/>
                    <a:lstStyle/>
                    <a:p>
                      <a:r>
                        <a:rPr lang="en-US" sz="1400">
                          <a:solidFill>
                            <a:srgbClr val="1F2D3D"/>
                          </a:solidFill>
                          <a:latin typeface="Segoe UI" panose="020B0502040204020203" pitchFamily="34" charset="0"/>
                        </a:rPr>
                        <a:t>Backup extension on that cluster</a:t>
                      </a:r>
                    </a:p>
                  </a:txBody>
                  <a:tcPr>
                    <a:solidFill>
                      <a:srgbClr val="E4F4F5"/>
                    </a:solidFill>
                  </a:tcPr>
                </a:tc>
                <a:extLst>
                  <a:ext uri="{0D108BD9-81ED-4DB2-BD59-A6C34878D82A}">
                    <a16:rowId xmlns:a16="http://schemas.microsoft.com/office/drawing/2014/main" val="37642971"/>
                  </a:ext>
                </a:extLst>
              </a:tr>
              <a:tr h="613833">
                <a:tc>
                  <a:txBody>
                    <a:bodyPr/>
                    <a:lstStyle/>
                    <a:p>
                      <a:r>
                        <a:rPr lang="en-US" sz="1400">
                          <a:solidFill>
                            <a:srgbClr val="1F2D3D"/>
                          </a:solidFill>
                          <a:latin typeface="Segoe UI" panose="020B0502040204020203" pitchFamily="34" charset="0"/>
                        </a:rPr>
                        <a:t>backup_policy</a:t>
                      </a:r>
                    </a:p>
                  </a:txBody>
                  <a:tcPr>
                    <a:solidFill>
                      <a:srgbClr val="FFFFFF"/>
                    </a:solidFill>
                  </a:tcPr>
                </a:tc>
                <a:tc>
                  <a:txBody>
                    <a:bodyPr/>
                    <a:lstStyle/>
                    <a:p>
                      <a:r>
                        <a:rPr lang="en-US" sz="1400">
                          <a:solidFill>
                            <a:srgbClr val="1F2D3D"/>
                          </a:solidFill>
                          <a:latin typeface="Segoe UI" panose="020B0502040204020203" pitchFamily="34" charset="0"/>
                        </a:rPr>
                        <a:t>Name and vault</a:t>
                      </a:r>
                    </a:p>
                  </a:txBody>
                  <a:tcPr>
                    <a:solidFill>
                      <a:srgbClr val="FFFFFF"/>
                    </a:solidFill>
                  </a:tcPr>
                </a:tc>
                <a:tc>
                  <a:txBody>
                    <a:bodyPr/>
                    <a:lstStyle/>
                    <a:p>
                      <a:r>
                        <a:rPr lang="en-US" sz="1400">
                          <a:solidFill>
                            <a:srgbClr val="1F2D3D"/>
                          </a:solidFill>
                          <a:latin typeface="Segoe UI" panose="020B0502040204020203" pitchFamily="34" charset="0"/>
                        </a:rPr>
                        <a:t>Backup policy on the vault. Interval and retention are set in backup.tf, not here.</a:t>
                      </a:r>
                    </a:p>
                  </a:txBody>
                  <a:tcPr>
                    <a:solidFill>
                      <a:srgbClr val="FFFFFF"/>
                    </a:solidFill>
                  </a:tcPr>
                </a:tc>
                <a:extLst>
                  <a:ext uri="{0D108BD9-81ED-4DB2-BD59-A6C34878D82A}">
                    <a16:rowId xmlns:a16="http://schemas.microsoft.com/office/drawing/2014/main" val="4159113869"/>
                  </a:ext>
                </a:extLst>
              </a:tr>
              <a:tr h="613833">
                <a:tc>
                  <a:txBody>
                    <a:bodyPr/>
                    <a:lstStyle/>
                    <a:p>
                      <a:r>
                        <a:rPr lang="en-US" sz="1400">
                          <a:solidFill>
                            <a:srgbClr val="1F2D3D"/>
                          </a:solidFill>
                          <a:latin typeface="Segoe UI" panose="020B0502040204020203" pitchFamily="34" charset="0"/>
                        </a:rPr>
                        <a:t>backup_instance</a:t>
                      </a:r>
                    </a:p>
                  </a:txBody>
                  <a:tcPr>
                    <a:solidFill>
                      <a:srgbClr val="E4F4F5"/>
                    </a:solidFill>
                  </a:tcPr>
                </a:tc>
                <a:tc>
                  <a:txBody>
                    <a:bodyPr/>
                    <a:lstStyle/>
                    <a:p>
                      <a:r>
                        <a:rPr lang="en-US" sz="1400">
                          <a:solidFill>
                            <a:srgbClr val="1F2D3D"/>
                          </a:solidFill>
                          <a:latin typeface="Segoe UI" panose="020B0502040204020203" pitchFamily="34" charset="0"/>
                        </a:rPr>
                        <a:t>Cluster and policy</a:t>
                      </a:r>
                    </a:p>
                  </a:txBody>
                  <a:tcPr>
                    <a:solidFill>
                      <a:srgbClr val="E4F4F5"/>
                    </a:solidFill>
                  </a:tcPr>
                </a:tc>
                <a:tc>
                  <a:txBody>
                    <a:bodyPr/>
                    <a:lstStyle/>
                    <a:p>
                      <a:r>
                        <a:rPr lang="en-US" sz="1400">
                          <a:solidFill>
                            <a:srgbClr val="1F2D3D"/>
                          </a:solidFill>
                          <a:latin typeface="Segoe UI" panose="020B0502040204020203" pitchFamily="34" charset="0"/>
                        </a:rPr>
                        <a:t>Backup instance, plus Trusted Access and role assignments for that cluster</a:t>
                      </a:r>
                    </a:p>
                  </a:txBody>
                  <a:tcPr>
                    <a:solidFill>
                      <a:srgbClr val="E4F4F5"/>
                    </a:solidFill>
                  </a:tcPr>
                </a:tc>
                <a:extLst>
                  <a:ext uri="{0D108BD9-81ED-4DB2-BD59-A6C34878D82A}">
                    <a16:rowId xmlns:a16="http://schemas.microsoft.com/office/drawing/2014/main" val="1128328803"/>
                  </a:ext>
                </a:extLst>
              </a:tr>
            </a:tbl>
          </a:graphicData>
        </a:graphic>
      </p:graphicFrame>
      <p:sp>
        <p:nvSpPr>
          <p:cNvPr id="9" name="Rectangle 8">
            <a:extLst>
              <a:ext uri="{FF2B5EF4-FFF2-40B4-BE49-F238E27FC236}">
                <a16:creationId xmlns:a16="http://schemas.microsoft.com/office/drawing/2014/main" id="{19CEC044-DEC7-4810-A3AF-05858FBF2E0E}"/>
              </a:ext>
            </a:extLst>
          </p:cNvPr>
          <p:cNvSpPr/>
          <p:nvPr/>
        </p:nvSpPr>
        <p:spPr>
          <a:xfrm>
            <a:off x="635000" y="5270500"/>
            <a:ext cx="10922000" cy="7874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2AF692D-D11F-480E-AD47-CB284DFB0243}"/>
              </a:ext>
            </a:extLst>
          </p:cNvPr>
          <p:cNvSpPr/>
          <p:nvPr/>
        </p:nvSpPr>
        <p:spPr>
          <a:xfrm>
            <a:off x="635000" y="5270500"/>
            <a:ext cx="76200" cy="7874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5A363D5-D8B8-4E3A-8757-FD564E57BE43}"/>
              </a:ext>
            </a:extLst>
          </p:cNvPr>
          <p:cNvSpPr txBox="1"/>
          <p:nvPr/>
        </p:nvSpPr>
        <p:spPr>
          <a:xfrm>
            <a:off x="838200" y="5346700"/>
            <a:ext cx="10617200" cy="738664"/>
          </a:xfrm>
          <a:prstGeom prst="rect">
            <a:avLst/>
          </a:prstGeom>
          <a:noFill/>
        </p:spPr>
        <p:txBody>
          <a:bodyPr vert="horz" wrap="square" rtlCol="0">
            <a:spAutoFit/>
          </a:bodyPr>
          <a:lstStyle/>
          <a:p>
            <a:r>
              <a:rPr lang="en-US" sz="1400">
                <a:solidFill>
                  <a:srgbClr val="1F2D3D"/>
                </a:solidFill>
                <a:latin typeface="Segoe UI" panose="020B0502040204020203" pitchFamily="34" charset="0"/>
              </a:rPr>
              <a:t>The -rst cluster: every -rst entry is commented out in the dev conf.yaml (the cluster definition, the backup extension, and per-cluster entries such as cert_manager and ACR). It gets an extension but no backup instance, so it is a restore target and is not backed up itself.</a:t>
            </a:r>
          </a:p>
        </p:txBody>
      </p:sp>
    </p:spTree>
    <p:extLst>
      <p:ext uri="{BB962C8B-B14F-4D97-AF65-F5344CB8AC3E}">
        <p14:creationId xmlns:p14="http://schemas.microsoft.com/office/powerpoint/2010/main" val="215811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A9C361-C407-4613-A16C-B8561069D6F1}"/>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92C8B43-BB3B-46A5-92B4-FC2E3CB318EF}"/>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CEEC52F-6EC0-4844-A7CB-844DEC6933AA}"/>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What we did in workload onboarding</a:t>
            </a:r>
          </a:p>
        </p:txBody>
      </p:sp>
      <p:sp>
        <p:nvSpPr>
          <p:cNvPr id="5" name="TextBox 4">
            <a:extLst>
              <a:ext uri="{FF2B5EF4-FFF2-40B4-BE49-F238E27FC236}">
                <a16:creationId xmlns:a16="http://schemas.microsoft.com/office/drawing/2014/main" id="{5B0F8C2E-537E-4289-91DB-FE26D1FB9601}"/>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Three changes so the -rst cluster works without touching the original</a:t>
            </a:r>
          </a:p>
        </p:txBody>
      </p:sp>
      <p:sp>
        <p:nvSpPr>
          <p:cNvPr id="6" name="TextBox 5">
            <a:extLst>
              <a:ext uri="{FF2B5EF4-FFF2-40B4-BE49-F238E27FC236}">
                <a16:creationId xmlns:a16="http://schemas.microsoft.com/office/drawing/2014/main" id="{2CAF33AA-69F8-453C-AEC6-D630F893EA5D}"/>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928AF79A-72CE-4596-9A2B-C6A0D35C982D}"/>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8</a:t>
            </a:r>
          </a:p>
        </p:txBody>
      </p:sp>
      <p:sp>
        <p:nvSpPr>
          <p:cNvPr id="8" name="Rectangle 7">
            <a:extLst>
              <a:ext uri="{FF2B5EF4-FFF2-40B4-BE49-F238E27FC236}">
                <a16:creationId xmlns:a16="http://schemas.microsoft.com/office/drawing/2014/main" id="{E701CCA9-2B7F-4CEE-97F2-050D1C555B26}"/>
              </a:ext>
            </a:extLst>
          </p:cNvPr>
          <p:cNvSpPr/>
          <p:nvPr/>
        </p:nvSpPr>
        <p:spPr>
          <a:xfrm>
            <a:off x="635000" y="1422400"/>
            <a:ext cx="3556000" cy="3683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566ACDA-21C3-4895-ACFC-433358B4EF73}"/>
              </a:ext>
            </a:extLst>
          </p:cNvPr>
          <p:cNvSpPr/>
          <p:nvPr/>
        </p:nvSpPr>
        <p:spPr>
          <a:xfrm>
            <a:off x="635000" y="1422400"/>
            <a:ext cx="3556000" cy="762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92A9CD3-6501-4371-959B-749AEE0132F6}"/>
              </a:ext>
            </a:extLst>
          </p:cNvPr>
          <p:cNvSpPr txBox="1"/>
          <p:nvPr/>
        </p:nvSpPr>
        <p:spPr>
          <a:xfrm>
            <a:off x="787400" y="1651000"/>
            <a:ext cx="3251200" cy="646331"/>
          </a:xfrm>
          <a:prstGeom prst="rect">
            <a:avLst/>
          </a:prstGeom>
          <a:noFill/>
        </p:spPr>
        <p:txBody>
          <a:bodyPr vert="horz" wrap="square" rtlCol="0">
            <a:spAutoFit/>
          </a:bodyPr>
          <a:lstStyle/>
          <a:p>
            <a:r>
              <a:rPr lang="en-US" b="1">
                <a:solidFill>
                  <a:srgbClr val="1F2D3D"/>
                </a:solidFill>
                <a:latin typeface="Segoe UI" panose="020B0502040204020203" pitchFamily="34" charset="0"/>
              </a:rPr>
              <a:t>Phase 1: keep rst out of alerts</a:t>
            </a:r>
          </a:p>
        </p:txBody>
      </p:sp>
      <p:sp>
        <p:nvSpPr>
          <p:cNvPr id="11" name="TextBox 10">
            <a:extLst>
              <a:ext uri="{FF2B5EF4-FFF2-40B4-BE49-F238E27FC236}">
                <a16:creationId xmlns:a16="http://schemas.microsoft.com/office/drawing/2014/main" id="{EA6C2BF1-BFAB-4E1E-9C28-56478D8EC743}"/>
              </a:ext>
            </a:extLst>
          </p:cNvPr>
          <p:cNvSpPr txBox="1"/>
          <p:nvPr/>
        </p:nvSpPr>
        <p:spPr>
          <a:xfrm>
            <a:off x="787400" y="2413000"/>
            <a:ext cx="3251200" cy="1492716"/>
          </a:xfrm>
          <a:prstGeom prst="rect">
            <a:avLst/>
          </a:prstGeom>
          <a:noFill/>
        </p:spPr>
        <p:txBody>
          <a:bodyPr vert="horz" wrap="square" rtlCol="0">
            <a:spAutoFit/>
          </a:bodyPr>
          <a:lstStyle/>
          <a:p>
            <a:r>
              <a:rPr lang="en-US" sz="1300">
                <a:solidFill>
                  <a:srgbClr val="5C6B66"/>
                </a:solidFill>
                <a:latin typeface="Segoe UI" panose="020B0502040204020203" pitchFamily="34" charset="0"/>
              </a:rPr>
              <a:t>Clusters with -rst- in the name are left out of the Prometheus alert list, so alert rule names no longer clash. The cluster-names output that Phase 2 uses is the filtered list too, which fixed the workspace routing failure. The old hard-coded exclusion list was removed.</a:t>
            </a:r>
          </a:p>
        </p:txBody>
      </p:sp>
      <p:sp>
        <p:nvSpPr>
          <p:cNvPr id="12" name="Rectangle 11">
            <a:extLst>
              <a:ext uri="{FF2B5EF4-FFF2-40B4-BE49-F238E27FC236}">
                <a16:creationId xmlns:a16="http://schemas.microsoft.com/office/drawing/2014/main" id="{7A3562E0-8479-4872-A2C1-D750C93A6BFF}"/>
              </a:ext>
            </a:extLst>
          </p:cNvPr>
          <p:cNvSpPr/>
          <p:nvPr/>
        </p:nvSpPr>
        <p:spPr>
          <a:xfrm>
            <a:off x="4318000" y="1422400"/>
            <a:ext cx="3556000" cy="3683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79CE678-5DF7-40BB-8DC6-61EAF1B80CE0}"/>
              </a:ext>
            </a:extLst>
          </p:cNvPr>
          <p:cNvSpPr/>
          <p:nvPr/>
        </p:nvSpPr>
        <p:spPr>
          <a:xfrm>
            <a:off x="4318000" y="1422400"/>
            <a:ext cx="3556000" cy="762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E44D3EA-6ADA-4D56-9FBB-40F36C9339EF}"/>
              </a:ext>
            </a:extLst>
          </p:cNvPr>
          <p:cNvSpPr txBox="1"/>
          <p:nvPr/>
        </p:nvSpPr>
        <p:spPr>
          <a:xfrm>
            <a:off x="4470400" y="1651000"/>
            <a:ext cx="3251200" cy="381000"/>
          </a:xfrm>
          <a:prstGeom prst="rect">
            <a:avLst/>
          </a:prstGeom>
          <a:noFill/>
        </p:spPr>
        <p:txBody>
          <a:bodyPr vert="horz" wrap="square" rtlCol="0">
            <a:spAutoFit/>
          </a:bodyPr>
          <a:lstStyle/>
          <a:p>
            <a:r>
              <a:rPr lang="en-US" b="1">
                <a:solidFill>
                  <a:srgbClr val="1F2D3D"/>
                </a:solidFill>
                <a:latin typeface="Segoe UI" panose="020B0502040204020203" pitchFamily="34" charset="0"/>
              </a:rPr>
              <a:t>Phase 2: find the rst cluster</a:t>
            </a:r>
          </a:p>
        </p:txBody>
      </p:sp>
      <p:sp>
        <p:nvSpPr>
          <p:cNvPr id="15" name="TextBox 14">
            <a:extLst>
              <a:ext uri="{FF2B5EF4-FFF2-40B4-BE49-F238E27FC236}">
                <a16:creationId xmlns:a16="http://schemas.microsoft.com/office/drawing/2014/main" id="{B370D4D8-391F-4683-9EF6-9AAE53DC9A1A}"/>
              </a:ext>
            </a:extLst>
          </p:cNvPr>
          <p:cNvSpPr txBox="1"/>
          <p:nvPr/>
        </p:nvSpPr>
        <p:spPr>
          <a:xfrm>
            <a:off x="4470400" y="2413000"/>
            <a:ext cx="3251200" cy="1292662"/>
          </a:xfrm>
          <a:prstGeom prst="rect">
            <a:avLst/>
          </a:prstGeom>
          <a:noFill/>
        </p:spPr>
        <p:txBody>
          <a:bodyPr vert="horz" wrap="square" rtlCol="0">
            <a:spAutoFit/>
          </a:bodyPr>
          <a:lstStyle/>
          <a:p>
            <a:r>
              <a:rPr lang="en-US" sz="1300">
                <a:solidFill>
                  <a:srgbClr val="5C6B66"/>
                </a:solidFill>
                <a:latin typeface="Segoe UI" panose="020B0502040204020203" pitchFamily="34" charset="0"/>
              </a:rPr>
              <a:t>A hard-coded environment mapping was replaced by detection from conf.yaml: any cluster with -rst- in its name is treated as a restore target. The code looks up that cluster in the same resource group and reads its OIDC issuer.</a:t>
            </a:r>
          </a:p>
        </p:txBody>
      </p:sp>
      <p:sp>
        <p:nvSpPr>
          <p:cNvPr id="16" name="Rectangle 15">
            <a:extLst>
              <a:ext uri="{FF2B5EF4-FFF2-40B4-BE49-F238E27FC236}">
                <a16:creationId xmlns:a16="http://schemas.microsoft.com/office/drawing/2014/main" id="{40D178AA-7316-4721-8076-11D255B4DA77}"/>
              </a:ext>
            </a:extLst>
          </p:cNvPr>
          <p:cNvSpPr/>
          <p:nvPr/>
        </p:nvSpPr>
        <p:spPr>
          <a:xfrm>
            <a:off x="8001000" y="1422400"/>
            <a:ext cx="3556000" cy="3683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9D23AAB-48B0-495F-8DE4-7DF58863EA2A}"/>
              </a:ext>
            </a:extLst>
          </p:cNvPr>
          <p:cNvSpPr/>
          <p:nvPr/>
        </p:nvSpPr>
        <p:spPr>
          <a:xfrm>
            <a:off x="8001000" y="1422400"/>
            <a:ext cx="3556000" cy="762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8FCF139-72E4-408A-82B3-7754765D1EEA}"/>
              </a:ext>
            </a:extLst>
          </p:cNvPr>
          <p:cNvSpPr txBox="1"/>
          <p:nvPr/>
        </p:nvSpPr>
        <p:spPr>
          <a:xfrm>
            <a:off x="8153400" y="1651000"/>
            <a:ext cx="3251200" cy="381000"/>
          </a:xfrm>
          <a:prstGeom prst="rect">
            <a:avLst/>
          </a:prstGeom>
          <a:noFill/>
        </p:spPr>
        <p:txBody>
          <a:bodyPr vert="horz" wrap="square" rtlCol="0">
            <a:spAutoFit/>
          </a:bodyPr>
          <a:lstStyle/>
          <a:p>
            <a:r>
              <a:rPr lang="en-US" b="1">
                <a:solidFill>
                  <a:srgbClr val="1F2D3D"/>
                </a:solidFill>
                <a:latin typeface="Segoe UI" panose="020B0502040204020203" pitchFamily="34" charset="0"/>
              </a:rPr>
              <a:t>Module: add, never replace</a:t>
            </a:r>
          </a:p>
        </p:txBody>
      </p:sp>
      <p:sp>
        <p:nvSpPr>
          <p:cNvPr id="19" name="TextBox 18">
            <a:extLst>
              <a:ext uri="{FF2B5EF4-FFF2-40B4-BE49-F238E27FC236}">
                <a16:creationId xmlns:a16="http://schemas.microsoft.com/office/drawing/2014/main" id="{4FA56387-5C9E-4D66-90B6-F534547815D8}"/>
              </a:ext>
            </a:extLst>
          </p:cNvPr>
          <p:cNvSpPr txBox="1"/>
          <p:nvPr/>
        </p:nvSpPr>
        <p:spPr>
          <a:xfrm>
            <a:off x="8153400" y="2413000"/>
            <a:ext cx="3251200" cy="1892826"/>
          </a:xfrm>
          <a:prstGeom prst="rect">
            <a:avLst/>
          </a:prstGeom>
          <a:noFill/>
        </p:spPr>
        <p:txBody>
          <a:bodyPr vert="horz" wrap="square" rtlCol="0">
            <a:spAutoFit/>
          </a:bodyPr>
          <a:lstStyle/>
          <a:p>
            <a:r>
              <a:rPr lang="en-US" sz="1300">
                <a:solidFill>
                  <a:srgbClr val="5C6B66"/>
                </a:solidFill>
                <a:latin typeface="Segoe UI" panose="020B0502040204020203" pitchFamily="34" charset="0"/>
              </a:rPr>
              <a:t>For each workload component that uses workload identity, an extra federated credential is created for the rst cluster. Same identity, same subject, different issuer. Each cluster has its own issuer, so without it pods on the rst cluster fail the token exchange and stick in Init. The original cluster's credentials are never changed.</a:t>
            </a:r>
          </a:p>
        </p:txBody>
      </p:sp>
      <p:sp>
        <p:nvSpPr>
          <p:cNvPr id="20" name="Rectangle: Rounded Corners 19">
            <a:extLst>
              <a:ext uri="{FF2B5EF4-FFF2-40B4-BE49-F238E27FC236}">
                <a16:creationId xmlns:a16="http://schemas.microsoft.com/office/drawing/2014/main" id="{6598D878-126D-4E3C-AF8D-538462A3B6A4}"/>
              </a:ext>
            </a:extLst>
          </p:cNvPr>
          <p:cNvSpPr/>
          <p:nvPr/>
        </p:nvSpPr>
        <p:spPr>
          <a:xfrm>
            <a:off x="635000" y="5334000"/>
            <a:ext cx="10922000" cy="635000"/>
          </a:xfrm>
          <a:prstGeom prst="round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1F2D3D"/>
                </a:solidFill>
                <a:latin typeface="Segoe UI" panose="020B0502040204020203" pitchFamily="34" charset="0"/>
              </a:rPr>
              <a:t>Result: the Phase 1 plan showed only an output change and no resource changes for the original cluster.</a:t>
            </a:r>
          </a:p>
        </p:txBody>
      </p:sp>
    </p:spTree>
    <p:extLst>
      <p:ext uri="{BB962C8B-B14F-4D97-AF65-F5344CB8AC3E}">
        <p14:creationId xmlns:p14="http://schemas.microsoft.com/office/powerpoint/2010/main" val="3680006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51E5DE-48AB-48D7-B646-9890FDBDD06A}"/>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4595436-92B3-4354-A169-CDE2FFC42A8D}"/>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D368927-89B3-4F1D-AA8D-DC9D4D9B6797}"/>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Restore options at a glance</a:t>
            </a:r>
          </a:p>
        </p:txBody>
      </p:sp>
      <p:sp>
        <p:nvSpPr>
          <p:cNvPr id="5" name="TextBox 4">
            <a:extLst>
              <a:ext uri="{FF2B5EF4-FFF2-40B4-BE49-F238E27FC236}">
                <a16:creationId xmlns:a16="http://schemas.microsoft.com/office/drawing/2014/main" id="{5FC1589A-048B-400B-B261-94A41DA415E6}"/>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AKS Backup is flexible about what and where you restore</a:t>
            </a:r>
          </a:p>
        </p:txBody>
      </p:sp>
      <p:sp>
        <p:nvSpPr>
          <p:cNvPr id="6" name="TextBox 5">
            <a:extLst>
              <a:ext uri="{FF2B5EF4-FFF2-40B4-BE49-F238E27FC236}">
                <a16:creationId xmlns:a16="http://schemas.microsoft.com/office/drawing/2014/main" id="{EA27DE01-CBDA-423F-8B63-D539BEDAFF94}"/>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4943EDD6-2B8B-4374-B828-8F4C60F13F82}"/>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9</a:t>
            </a:r>
          </a:p>
        </p:txBody>
      </p:sp>
      <p:sp>
        <p:nvSpPr>
          <p:cNvPr id="8" name="Rectangle 7">
            <a:extLst>
              <a:ext uri="{FF2B5EF4-FFF2-40B4-BE49-F238E27FC236}">
                <a16:creationId xmlns:a16="http://schemas.microsoft.com/office/drawing/2014/main" id="{69DBF56E-5AD4-427F-B2AA-4A6DB29FA881}"/>
              </a:ext>
            </a:extLst>
          </p:cNvPr>
          <p:cNvSpPr/>
          <p:nvPr/>
        </p:nvSpPr>
        <p:spPr>
          <a:xfrm>
            <a:off x="635000" y="1524000"/>
            <a:ext cx="5461000" cy="1905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C28C04F-0846-4436-AF0C-4C1AAEDCFD1D}"/>
              </a:ext>
            </a:extLst>
          </p:cNvPr>
          <p:cNvSpPr/>
          <p:nvPr/>
        </p:nvSpPr>
        <p:spPr>
          <a:xfrm>
            <a:off x="635000" y="1524000"/>
            <a:ext cx="76200" cy="1905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987E8F2-4891-4590-96CB-ED037B781709}"/>
              </a:ext>
            </a:extLst>
          </p:cNvPr>
          <p:cNvSpPr txBox="1"/>
          <p:nvPr/>
        </p:nvSpPr>
        <p:spPr>
          <a:xfrm>
            <a:off x="863600" y="1651000"/>
            <a:ext cx="5080000" cy="400110"/>
          </a:xfrm>
          <a:prstGeom prst="rect">
            <a:avLst/>
          </a:prstGeom>
          <a:noFill/>
        </p:spPr>
        <p:txBody>
          <a:bodyPr vert="horz" wrap="square" rtlCol="0">
            <a:spAutoFit/>
          </a:bodyPr>
          <a:lstStyle/>
          <a:p>
            <a:r>
              <a:rPr lang="en-US" sz="2000" b="1">
                <a:solidFill>
                  <a:srgbClr val="1F2D3D"/>
                </a:solidFill>
                <a:latin typeface="Segoe UI" panose="020B0502040204020203" pitchFamily="34" charset="0"/>
              </a:rPr>
              <a:t>Full restore</a:t>
            </a:r>
          </a:p>
        </p:txBody>
      </p:sp>
      <p:sp>
        <p:nvSpPr>
          <p:cNvPr id="11" name="TextBox 10">
            <a:extLst>
              <a:ext uri="{FF2B5EF4-FFF2-40B4-BE49-F238E27FC236}">
                <a16:creationId xmlns:a16="http://schemas.microsoft.com/office/drawing/2014/main" id="{A3B284D8-CBE8-4E16-AB6D-2D1A8F46A359}"/>
              </a:ext>
            </a:extLst>
          </p:cNvPr>
          <p:cNvSpPr txBox="1"/>
          <p:nvPr/>
        </p:nvSpPr>
        <p:spPr>
          <a:xfrm>
            <a:off x="863600" y="2133600"/>
            <a:ext cx="5080000" cy="553998"/>
          </a:xfrm>
          <a:prstGeom prst="rect">
            <a:avLst/>
          </a:prstGeom>
          <a:noFill/>
        </p:spPr>
        <p:txBody>
          <a:bodyPr vert="horz" wrap="square" rtlCol="0">
            <a:spAutoFit/>
          </a:bodyPr>
          <a:lstStyle/>
          <a:p>
            <a:r>
              <a:rPr lang="en-US" sz="1500">
                <a:solidFill>
                  <a:srgbClr val="5C6B66"/>
                </a:solidFill>
                <a:latin typeface="Segoe UI" panose="020B0502040204020203" pitchFamily="34" charset="0"/>
              </a:rPr>
              <a:t>Bring back everything that was backed up: the cluster resources. Volume data is not part of our backups.</a:t>
            </a:r>
          </a:p>
        </p:txBody>
      </p:sp>
      <p:sp>
        <p:nvSpPr>
          <p:cNvPr id="12" name="Rectangle 11">
            <a:extLst>
              <a:ext uri="{FF2B5EF4-FFF2-40B4-BE49-F238E27FC236}">
                <a16:creationId xmlns:a16="http://schemas.microsoft.com/office/drawing/2014/main" id="{839A6082-4CED-4692-A803-9B3252065D69}"/>
              </a:ext>
            </a:extLst>
          </p:cNvPr>
          <p:cNvSpPr/>
          <p:nvPr/>
        </p:nvSpPr>
        <p:spPr>
          <a:xfrm>
            <a:off x="6096000" y="1524000"/>
            <a:ext cx="5461000" cy="1905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8F13A7-6EB5-48E0-9996-B088D7B2ACB7}"/>
              </a:ext>
            </a:extLst>
          </p:cNvPr>
          <p:cNvSpPr/>
          <p:nvPr/>
        </p:nvSpPr>
        <p:spPr>
          <a:xfrm>
            <a:off x="6096000" y="1524000"/>
            <a:ext cx="76200" cy="1905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418F42B-E388-4AD2-9518-81DAF345DBF7}"/>
              </a:ext>
            </a:extLst>
          </p:cNvPr>
          <p:cNvSpPr txBox="1"/>
          <p:nvPr/>
        </p:nvSpPr>
        <p:spPr>
          <a:xfrm>
            <a:off x="6324600" y="1651000"/>
            <a:ext cx="5080000" cy="400110"/>
          </a:xfrm>
          <a:prstGeom prst="rect">
            <a:avLst/>
          </a:prstGeom>
          <a:noFill/>
        </p:spPr>
        <p:txBody>
          <a:bodyPr vert="horz" wrap="square" rtlCol="0">
            <a:spAutoFit/>
          </a:bodyPr>
          <a:lstStyle/>
          <a:p>
            <a:r>
              <a:rPr lang="en-US" sz="2000" b="1">
                <a:solidFill>
                  <a:srgbClr val="1F2D3D"/>
                </a:solidFill>
                <a:latin typeface="Segoe UI" panose="020B0502040204020203" pitchFamily="34" charset="0"/>
              </a:rPr>
              <a:t>Item-level restore</a:t>
            </a:r>
          </a:p>
        </p:txBody>
      </p:sp>
      <p:sp>
        <p:nvSpPr>
          <p:cNvPr id="15" name="TextBox 14">
            <a:extLst>
              <a:ext uri="{FF2B5EF4-FFF2-40B4-BE49-F238E27FC236}">
                <a16:creationId xmlns:a16="http://schemas.microsoft.com/office/drawing/2014/main" id="{0EBC7459-2C34-402C-83F3-AC7A61B196E6}"/>
              </a:ext>
            </a:extLst>
          </p:cNvPr>
          <p:cNvSpPr txBox="1"/>
          <p:nvPr/>
        </p:nvSpPr>
        <p:spPr>
          <a:xfrm>
            <a:off x="6324600" y="2133600"/>
            <a:ext cx="5080000" cy="553998"/>
          </a:xfrm>
          <a:prstGeom prst="rect">
            <a:avLst/>
          </a:prstGeom>
          <a:noFill/>
        </p:spPr>
        <p:txBody>
          <a:bodyPr vert="horz" wrap="square" rtlCol="0">
            <a:spAutoFit/>
          </a:bodyPr>
          <a:lstStyle/>
          <a:p>
            <a:r>
              <a:rPr lang="en-US" sz="1500">
                <a:solidFill>
                  <a:srgbClr val="5C6B66"/>
                </a:solidFill>
                <a:latin typeface="Segoe UI" panose="020B0502040204020203" pitchFamily="34" charset="0"/>
              </a:rPr>
              <a:t>Pick only what you need: namespaces, labels, or specific resource kinds.</a:t>
            </a:r>
          </a:p>
        </p:txBody>
      </p:sp>
      <p:sp>
        <p:nvSpPr>
          <p:cNvPr id="16" name="Rectangle 15">
            <a:extLst>
              <a:ext uri="{FF2B5EF4-FFF2-40B4-BE49-F238E27FC236}">
                <a16:creationId xmlns:a16="http://schemas.microsoft.com/office/drawing/2014/main" id="{1B867BDB-0B62-4C79-AB63-1FE702F3CCA9}"/>
              </a:ext>
            </a:extLst>
          </p:cNvPr>
          <p:cNvSpPr/>
          <p:nvPr/>
        </p:nvSpPr>
        <p:spPr>
          <a:xfrm>
            <a:off x="635000" y="3619500"/>
            <a:ext cx="5461000" cy="1905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FCC1220-92ED-4399-B45A-FD1093868046}"/>
              </a:ext>
            </a:extLst>
          </p:cNvPr>
          <p:cNvSpPr/>
          <p:nvPr/>
        </p:nvSpPr>
        <p:spPr>
          <a:xfrm>
            <a:off x="635000" y="3619500"/>
            <a:ext cx="76200" cy="1905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09962B6-29D6-43DF-A8B1-A200943D4F5B}"/>
              </a:ext>
            </a:extLst>
          </p:cNvPr>
          <p:cNvSpPr txBox="1"/>
          <p:nvPr/>
        </p:nvSpPr>
        <p:spPr>
          <a:xfrm>
            <a:off x="863600" y="3746500"/>
            <a:ext cx="5080000" cy="400110"/>
          </a:xfrm>
          <a:prstGeom prst="rect">
            <a:avLst/>
          </a:prstGeom>
          <a:noFill/>
        </p:spPr>
        <p:txBody>
          <a:bodyPr vert="horz" wrap="square" rtlCol="0">
            <a:spAutoFit/>
          </a:bodyPr>
          <a:lstStyle/>
          <a:p>
            <a:r>
              <a:rPr lang="en-US" sz="2000" b="1">
                <a:solidFill>
                  <a:srgbClr val="1F2D3D"/>
                </a:solidFill>
                <a:latin typeface="Segoe UI" panose="020B0502040204020203" pitchFamily="34" charset="0"/>
              </a:rPr>
              <a:t>Original cluster</a:t>
            </a:r>
          </a:p>
        </p:txBody>
      </p:sp>
      <p:sp>
        <p:nvSpPr>
          <p:cNvPr id="19" name="TextBox 18">
            <a:extLst>
              <a:ext uri="{FF2B5EF4-FFF2-40B4-BE49-F238E27FC236}">
                <a16:creationId xmlns:a16="http://schemas.microsoft.com/office/drawing/2014/main" id="{803B78B3-4275-4CA5-9B4E-F500BF543E2B}"/>
              </a:ext>
            </a:extLst>
          </p:cNvPr>
          <p:cNvSpPr txBox="1"/>
          <p:nvPr/>
        </p:nvSpPr>
        <p:spPr>
          <a:xfrm>
            <a:off x="863600" y="4229100"/>
            <a:ext cx="5080000" cy="784830"/>
          </a:xfrm>
          <a:prstGeom prst="rect">
            <a:avLst/>
          </a:prstGeom>
          <a:noFill/>
        </p:spPr>
        <p:txBody>
          <a:bodyPr vert="horz" wrap="square" rtlCol="0">
            <a:spAutoFit/>
          </a:bodyPr>
          <a:lstStyle/>
          <a:p>
            <a:r>
              <a:rPr lang="en-US" sz="1500">
                <a:solidFill>
                  <a:srgbClr val="5C6B66"/>
                </a:solidFill>
                <a:latin typeface="Segoe UI" panose="020B0502040204020203" pitchFamily="34" charset="0"/>
              </a:rPr>
              <a:t>Restore back to the cluster that was backed up. Existing resources with the same name must be deleted first, or patched.</a:t>
            </a:r>
          </a:p>
        </p:txBody>
      </p:sp>
      <p:sp>
        <p:nvSpPr>
          <p:cNvPr id="20" name="Rectangle 19">
            <a:extLst>
              <a:ext uri="{FF2B5EF4-FFF2-40B4-BE49-F238E27FC236}">
                <a16:creationId xmlns:a16="http://schemas.microsoft.com/office/drawing/2014/main" id="{BE432649-0EE1-46F3-8C7A-D6250F17DA4D}"/>
              </a:ext>
            </a:extLst>
          </p:cNvPr>
          <p:cNvSpPr/>
          <p:nvPr/>
        </p:nvSpPr>
        <p:spPr>
          <a:xfrm>
            <a:off x="6096000" y="3619500"/>
            <a:ext cx="5461000" cy="1905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2B576F1-4BAA-4B0C-88C6-E6DE93A720A6}"/>
              </a:ext>
            </a:extLst>
          </p:cNvPr>
          <p:cNvSpPr/>
          <p:nvPr/>
        </p:nvSpPr>
        <p:spPr>
          <a:xfrm>
            <a:off x="6096000" y="3619500"/>
            <a:ext cx="76200" cy="1905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426B288-5AC9-4A88-BEA6-EDD7C15CC8DA}"/>
              </a:ext>
            </a:extLst>
          </p:cNvPr>
          <p:cNvSpPr txBox="1"/>
          <p:nvPr/>
        </p:nvSpPr>
        <p:spPr>
          <a:xfrm>
            <a:off x="6324600" y="3746500"/>
            <a:ext cx="5080000" cy="400110"/>
          </a:xfrm>
          <a:prstGeom prst="rect">
            <a:avLst/>
          </a:prstGeom>
          <a:noFill/>
        </p:spPr>
        <p:txBody>
          <a:bodyPr vert="horz" wrap="square" rtlCol="0">
            <a:spAutoFit/>
          </a:bodyPr>
          <a:lstStyle/>
          <a:p>
            <a:r>
              <a:rPr lang="en-US" sz="2000" b="1">
                <a:solidFill>
                  <a:srgbClr val="1F2D3D"/>
                </a:solidFill>
                <a:latin typeface="Segoe UI" panose="020B0502040204020203" pitchFamily="34" charset="0"/>
              </a:rPr>
              <a:t>Alternate cluster</a:t>
            </a:r>
          </a:p>
        </p:txBody>
      </p:sp>
      <p:sp>
        <p:nvSpPr>
          <p:cNvPr id="23" name="TextBox 22">
            <a:extLst>
              <a:ext uri="{FF2B5EF4-FFF2-40B4-BE49-F238E27FC236}">
                <a16:creationId xmlns:a16="http://schemas.microsoft.com/office/drawing/2014/main" id="{FE9FDEAA-87CD-4C6D-B905-490B5C92E6C8}"/>
              </a:ext>
            </a:extLst>
          </p:cNvPr>
          <p:cNvSpPr txBox="1"/>
          <p:nvPr/>
        </p:nvSpPr>
        <p:spPr>
          <a:xfrm>
            <a:off x="6324600" y="4229100"/>
            <a:ext cx="5080000" cy="553998"/>
          </a:xfrm>
          <a:prstGeom prst="rect">
            <a:avLst/>
          </a:prstGeom>
          <a:noFill/>
        </p:spPr>
        <p:txBody>
          <a:bodyPr vert="horz" wrap="square" rtlCol="0">
            <a:spAutoFit/>
          </a:bodyPr>
          <a:lstStyle/>
          <a:p>
            <a:r>
              <a:rPr lang="en-US" sz="1500">
                <a:solidFill>
                  <a:srgbClr val="5C6B66"/>
                </a:solidFill>
                <a:latin typeface="Segoe UI" panose="020B0502040204020203" pitchFamily="34" charset="0"/>
              </a:rPr>
              <a:t>Restore to a different cluster. This is how we validate with the -rst cluster.</a:t>
            </a:r>
          </a:p>
        </p:txBody>
      </p:sp>
      <p:sp>
        <p:nvSpPr>
          <p:cNvPr id="24" name="TextBox 23">
            <a:extLst>
              <a:ext uri="{FF2B5EF4-FFF2-40B4-BE49-F238E27FC236}">
                <a16:creationId xmlns:a16="http://schemas.microsoft.com/office/drawing/2014/main" id="{A6C6575F-80F9-40C7-9376-D565624AEF99}"/>
              </a:ext>
            </a:extLst>
          </p:cNvPr>
          <p:cNvSpPr txBox="1"/>
          <p:nvPr/>
        </p:nvSpPr>
        <p:spPr>
          <a:xfrm>
            <a:off x="635000" y="5715000"/>
            <a:ext cx="10922000" cy="276999"/>
          </a:xfrm>
          <a:prstGeom prst="rect">
            <a:avLst/>
          </a:prstGeom>
          <a:noFill/>
        </p:spPr>
        <p:txBody>
          <a:bodyPr vert="horz" wrap="square" rtlCol="0">
            <a:spAutoFit/>
          </a:bodyPr>
          <a:lstStyle/>
          <a:p>
            <a:r>
              <a:rPr lang="en-US" sz="1200">
                <a:solidFill>
                  <a:srgbClr val="5C6B66"/>
                </a:solidFill>
                <a:latin typeface="Segoe UI" panose="020B0502040204020203" pitchFamily="34" charset="0"/>
              </a:rPr>
              <a:t>Source: Microsoft Learn, Restore AKS using Azure Backup</a:t>
            </a:r>
          </a:p>
        </p:txBody>
      </p:sp>
    </p:spTree>
    <p:extLst>
      <p:ext uri="{BB962C8B-B14F-4D97-AF65-F5344CB8AC3E}">
        <p14:creationId xmlns:p14="http://schemas.microsoft.com/office/powerpoint/2010/main" val="2411021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299379D-E74C-4238-A355-40238CC91F5A}"/>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CE8395D-3CDB-42F6-929E-C17C75B08D32}"/>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70B0242-EB4C-4E82-8731-A775DFA0D611}"/>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Permissions behind backup and restore</a:t>
            </a:r>
          </a:p>
        </p:txBody>
      </p:sp>
      <p:sp>
        <p:nvSpPr>
          <p:cNvPr id="5" name="TextBox 4">
            <a:extLst>
              <a:ext uri="{FF2B5EF4-FFF2-40B4-BE49-F238E27FC236}">
                <a16:creationId xmlns:a16="http://schemas.microsoft.com/office/drawing/2014/main" id="{04872D72-32D1-415A-AA03-9CBA88940944}"/>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What backup.tf grants, and what the -rst cluster still needs</a:t>
            </a:r>
          </a:p>
        </p:txBody>
      </p:sp>
      <p:sp>
        <p:nvSpPr>
          <p:cNvPr id="6" name="TextBox 5">
            <a:extLst>
              <a:ext uri="{FF2B5EF4-FFF2-40B4-BE49-F238E27FC236}">
                <a16:creationId xmlns:a16="http://schemas.microsoft.com/office/drawing/2014/main" id="{1E317374-A5BD-4C64-A7F6-45AAE8E52765}"/>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272D8FD0-95CC-4707-85EA-0E91AAA96EFD}"/>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10</a:t>
            </a:r>
          </a:p>
        </p:txBody>
      </p:sp>
      <p:graphicFrame>
        <p:nvGraphicFramePr>
          <p:cNvPr id="10" name="Table 9">
            <a:extLst>
              <a:ext uri="{FF2B5EF4-FFF2-40B4-BE49-F238E27FC236}">
                <a16:creationId xmlns:a16="http://schemas.microsoft.com/office/drawing/2014/main" id="{9062D8A1-5ED9-428A-82FB-B0990289F1B5}"/>
              </a:ext>
            </a:extLst>
          </p:cNvPr>
          <p:cNvGraphicFramePr>
            <a:graphicFrameLocks noGrp="1"/>
          </p:cNvGraphicFramePr>
          <p:nvPr>
            <p:extLst>
              <p:ext uri="{D42A27DB-BD31-4B8C-83A1-F6EECF244321}">
                <p14:modId xmlns:p14="http://schemas.microsoft.com/office/powerpoint/2010/main" val="4252917263"/>
              </p:ext>
            </p:extLst>
          </p:nvPr>
        </p:nvGraphicFramePr>
        <p:xfrm>
          <a:off x="635000" y="1371600"/>
          <a:ext cx="10922000" cy="3428999"/>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2740444488"/>
                    </a:ext>
                  </a:extLst>
                </a:gridCol>
                <a:gridCol w="4191000">
                  <a:extLst>
                    <a:ext uri="{9D8B030D-6E8A-4147-A177-3AD203B41FA5}">
                      <a16:colId xmlns:a16="http://schemas.microsoft.com/office/drawing/2014/main" val="1301776173"/>
                    </a:ext>
                  </a:extLst>
                </a:gridCol>
                <a:gridCol w="3556000">
                  <a:extLst>
                    <a:ext uri="{9D8B030D-6E8A-4147-A177-3AD203B41FA5}">
                      <a16:colId xmlns:a16="http://schemas.microsoft.com/office/drawing/2014/main" val="3878483728"/>
                    </a:ext>
                  </a:extLst>
                </a:gridCol>
              </a:tblGrid>
              <a:tr h="489857">
                <a:tc>
                  <a:txBody>
                    <a:bodyPr/>
                    <a:lstStyle/>
                    <a:p>
                      <a:r>
                        <a:rPr lang="en-US" sz="1300" b="1">
                          <a:solidFill>
                            <a:srgbClr val="1F2D3D"/>
                          </a:solidFill>
                          <a:latin typeface="Segoe UI" panose="020B0502040204020203" pitchFamily="34" charset="0"/>
                        </a:rPr>
                        <a:t>Who</a:t>
                      </a:r>
                    </a:p>
                  </a:txBody>
                  <a:tcPr>
                    <a:solidFill>
                      <a:srgbClr val="59BEC9"/>
                    </a:solidFill>
                  </a:tcPr>
                </a:tc>
                <a:tc>
                  <a:txBody>
                    <a:bodyPr/>
                    <a:lstStyle/>
                    <a:p>
                      <a:r>
                        <a:rPr lang="en-US" sz="1300" b="1">
                          <a:solidFill>
                            <a:srgbClr val="1F2D3D"/>
                          </a:solidFill>
                          <a:latin typeface="Segoe UI" panose="020B0502040204020203" pitchFamily="34" charset="0"/>
                        </a:rPr>
                        <a:t>Role</a:t>
                      </a:r>
                    </a:p>
                  </a:txBody>
                  <a:tcPr>
                    <a:solidFill>
                      <a:srgbClr val="59BEC9"/>
                    </a:solidFill>
                  </a:tcPr>
                </a:tc>
                <a:tc>
                  <a:txBody>
                    <a:bodyPr/>
                    <a:lstStyle/>
                    <a:p>
                      <a:r>
                        <a:rPr lang="en-US" sz="1300" b="1">
                          <a:solidFill>
                            <a:srgbClr val="1F2D3D"/>
                          </a:solidFill>
                          <a:latin typeface="Segoe UI" panose="020B0502040204020203" pitchFamily="34" charset="0"/>
                        </a:rPr>
                        <a:t>On what</a:t>
                      </a:r>
                    </a:p>
                  </a:txBody>
                  <a:tcPr>
                    <a:solidFill>
                      <a:srgbClr val="59BEC9"/>
                    </a:solidFill>
                  </a:tcPr>
                </a:tc>
                <a:extLst>
                  <a:ext uri="{0D108BD9-81ED-4DB2-BD59-A6C34878D82A}">
                    <a16:rowId xmlns:a16="http://schemas.microsoft.com/office/drawing/2014/main" val="136021985"/>
                  </a:ext>
                </a:extLst>
              </a:tr>
              <a:tr h="489857">
                <a:tc>
                  <a:txBody>
                    <a:bodyPr/>
                    <a:lstStyle/>
                    <a:p>
                      <a:r>
                        <a:rPr lang="en-US" sz="1300">
                          <a:solidFill>
                            <a:srgbClr val="1F2D3D"/>
                          </a:solidFill>
                          <a:latin typeface="Segoe UI" panose="020B0502040204020203" pitchFamily="34" charset="0"/>
                        </a:rPr>
                        <a:t>AKS cluster identity</a:t>
                      </a:r>
                    </a:p>
                  </a:txBody>
                  <a:tcPr>
                    <a:solidFill>
                      <a:srgbClr val="E4F4F5"/>
                    </a:solidFill>
                  </a:tcPr>
                </a:tc>
                <a:tc>
                  <a:txBody>
                    <a:bodyPr/>
                    <a:lstStyle/>
                    <a:p>
                      <a:r>
                        <a:rPr lang="en-US" sz="1300">
                          <a:solidFill>
                            <a:srgbClr val="1F2D3D"/>
                          </a:solidFill>
                          <a:latin typeface="Segoe UI" panose="020B0502040204020203" pitchFamily="34" charset="0"/>
                        </a:rPr>
                        <a:t>Contributor</a:t>
                      </a:r>
                    </a:p>
                  </a:txBody>
                  <a:tcPr>
                    <a:solidFill>
                      <a:srgbClr val="E4F4F5"/>
                    </a:solidFill>
                  </a:tcPr>
                </a:tc>
                <a:tc>
                  <a:txBody>
                    <a:bodyPr/>
                    <a:lstStyle/>
                    <a:p>
                      <a:r>
                        <a:rPr lang="en-US" sz="1300">
                          <a:solidFill>
                            <a:srgbClr val="1F2D3D"/>
                          </a:solidFill>
                          <a:latin typeface="Segoe UI" panose="020B0502040204020203" pitchFamily="34" charset="0"/>
                        </a:rPr>
                        <a:t>Snapshot resource group</a:t>
                      </a:r>
                    </a:p>
                  </a:txBody>
                  <a:tcPr>
                    <a:solidFill>
                      <a:srgbClr val="E4F4F5"/>
                    </a:solidFill>
                  </a:tcPr>
                </a:tc>
                <a:extLst>
                  <a:ext uri="{0D108BD9-81ED-4DB2-BD59-A6C34878D82A}">
                    <a16:rowId xmlns:a16="http://schemas.microsoft.com/office/drawing/2014/main" val="498898341"/>
                  </a:ext>
                </a:extLst>
              </a:tr>
              <a:tr h="489857">
                <a:tc>
                  <a:txBody>
                    <a:bodyPr/>
                    <a:lstStyle/>
                    <a:p>
                      <a:r>
                        <a:rPr lang="en-US" sz="1300">
                          <a:solidFill>
                            <a:srgbClr val="1F2D3D"/>
                          </a:solidFill>
                          <a:latin typeface="Segoe UI" panose="020B0502040204020203" pitchFamily="34" charset="0"/>
                        </a:rPr>
                        <a:t>Backup vault</a:t>
                      </a:r>
                    </a:p>
                  </a:txBody>
                  <a:tcPr>
                    <a:solidFill>
                      <a:srgbClr val="FFFFFF"/>
                    </a:solidFill>
                  </a:tcPr>
                </a:tc>
                <a:tc>
                  <a:txBody>
                    <a:bodyPr/>
                    <a:lstStyle/>
                    <a:p>
                      <a:r>
                        <a:rPr lang="en-US" sz="1300">
                          <a:solidFill>
                            <a:srgbClr val="1F2D3D"/>
                          </a:solidFill>
                          <a:latin typeface="Segoe UI" panose="020B0502040204020203" pitchFamily="34" charset="0"/>
                        </a:rPr>
                        <a:t>Reader</a:t>
                      </a:r>
                    </a:p>
                  </a:txBody>
                  <a:tcPr>
                    <a:solidFill>
                      <a:srgbClr val="FFFFFF"/>
                    </a:solidFill>
                  </a:tcPr>
                </a:tc>
                <a:tc>
                  <a:txBody>
                    <a:bodyPr/>
                    <a:lstStyle/>
                    <a:p>
                      <a:r>
                        <a:rPr lang="en-US" sz="1300">
                          <a:solidFill>
                            <a:srgbClr val="1F2D3D"/>
                          </a:solidFill>
                          <a:latin typeface="Segoe UI" panose="020B0502040204020203" pitchFamily="34" charset="0"/>
                        </a:rPr>
                        <a:t>AKS cluster</a:t>
                      </a:r>
                    </a:p>
                  </a:txBody>
                  <a:tcPr>
                    <a:solidFill>
                      <a:srgbClr val="FFFFFF"/>
                    </a:solidFill>
                  </a:tcPr>
                </a:tc>
                <a:extLst>
                  <a:ext uri="{0D108BD9-81ED-4DB2-BD59-A6C34878D82A}">
                    <a16:rowId xmlns:a16="http://schemas.microsoft.com/office/drawing/2014/main" val="117559285"/>
                  </a:ext>
                </a:extLst>
              </a:tr>
              <a:tr h="489857">
                <a:tc>
                  <a:txBody>
                    <a:bodyPr/>
                    <a:lstStyle/>
                    <a:p>
                      <a:r>
                        <a:rPr lang="en-US" sz="1300">
                          <a:solidFill>
                            <a:srgbClr val="1F2D3D"/>
                          </a:solidFill>
                          <a:latin typeface="Segoe UI" panose="020B0502040204020203" pitchFamily="34" charset="0"/>
                        </a:rPr>
                        <a:t>Backup vault</a:t>
                      </a:r>
                    </a:p>
                  </a:txBody>
                  <a:tcPr>
                    <a:solidFill>
                      <a:srgbClr val="E4F4F5"/>
                    </a:solidFill>
                  </a:tcPr>
                </a:tc>
                <a:tc>
                  <a:txBody>
                    <a:bodyPr/>
                    <a:lstStyle/>
                    <a:p>
                      <a:r>
                        <a:rPr lang="en-US" sz="1300">
                          <a:solidFill>
                            <a:srgbClr val="1F2D3D"/>
                          </a:solidFill>
                          <a:latin typeface="Segoe UI" panose="020B0502040204020203" pitchFamily="34" charset="0"/>
                        </a:rPr>
                        <a:t>Reader, Disk Snapshot Contributor, Data Operator for Managed Disks</a:t>
                      </a:r>
                    </a:p>
                  </a:txBody>
                  <a:tcPr>
                    <a:solidFill>
                      <a:srgbClr val="E4F4F5"/>
                    </a:solidFill>
                  </a:tcPr>
                </a:tc>
                <a:tc>
                  <a:txBody>
                    <a:bodyPr/>
                    <a:lstStyle/>
                    <a:p>
                      <a:r>
                        <a:rPr lang="en-US" sz="1300">
                          <a:solidFill>
                            <a:srgbClr val="1F2D3D"/>
                          </a:solidFill>
                          <a:latin typeface="Segoe UI" panose="020B0502040204020203" pitchFamily="34" charset="0"/>
                        </a:rPr>
                        <a:t>Snapshot resource group</a:t>
                      </a:r>
                    </a:p>
                  </a:txBody>
                  <a:tcPr>
                    <a:solidFill>
                      <a:srgbClr val="E4F4F5"/>
                    </a:solidFill>
                  </a:tcPr>
                </a:tc>
                <a:extLst>
                  <a:ext uri="{0D108BD9-81ED-4DB2-BD59-A6C34878D82A}">
                    <a16:rowId xmlns:a16="http://schemas.microsoft.com/office/drawing/2014/main" val="523503254"/>
                  </a:ext>
                </a:extLst>
              </a:tr>
              <a:tr h="489857">
                <a:tc>
                  <a:txBody>
                    <a:bodyPr/>
                    <a:lstStyle/>
                    <a:p>
                      <a:r>
                        <a:rPr lang="en-US" sz="1300">
                          <a:solidFill>
                            <a:srgbClr val="1F2D3D"/>
                          </a:solidFill>
                          <a:latin typeface="Segoe UI" panose="020B0502040204020203" pitchFamily="34" charset="0"/>
                        </a:rPr>
                        <a:t>Backup vault</a:t>
                      </a:r>
                    </a:p>
                  </a:txBody>
                  <a:tcPr>
                    <a:solidFill>
                      <a:srgbClr val="FFFFFF"/>
                    </a:solidFill>
                  </a:tcPr>
                </a:tc>
                <a:tc>
                  <a:txBody>
                    <a:bodyPr/>
                    <a:lstStyle/>
                    <a:p>
                      <a:r>
                        <a:rPr lang="en-US" sz="1300">
                          <a:solidFill>
                            <a:srgbClr val="1F2D3D"/>
                          </a:solidFill>
                          <a:latin typeface="Segoe UI" panose="020B0502040204020203" pitchFamily="34" charset="0"/>
                        </a:rPr>
                        <a:t>Storage Blob Data Contributor</a:t>
                      </a:r>
                    </a:p>
                  </a:txBody>
                  <a:tcPr>
                    <a:solidFill>
                      <a:srgbClr val="FFFFFF"/>
                    </a:solidFill>
                  </a:tcPr>
                </a:tc>
                <a:tc>
                  <a:txBody>
                    <a:bodyPr/>
                    <a:lstStyle/>
                    <a:p>
                      <a:r>
                        <a:rPr lang="en-US" sz="1300">
                          <a:solidFill>
                            <a:srgbClr val="1F2D3D"/>
                          </a:solidFill>
                          <a:latin typeface="Segoe UI" panose="020B0502040204020203" pitchFamily="34" charset="0"/>
                        </a:rPr>
                        <a:t>Backup storage account</a:t>
                      </a:r>
                    </a:p>
                  </a:txBody>
                  <a:tcPr>
                    <a:solidFill>
                      <a:srgbClr val="FFFFFF"/>
                    </a:solidFill>
                  </a:tcPr>
                </a:tc>
                <a:extLst>
                  <a:ext uri="{0D108BD9-81ED-4DB2-BD59-A6C34878D82A}">
                    <a16:rowId xmlns:a16="http://schemas.microsoft.com/office/drawing/2014/main" val="1551658592"/>
                  </a:ext>
                </a:extLst>
              </a:tr>
              <a:tr h="489857">
                <a:tc>
                  <a:txBody>
                    <a:bodyPr/>
                    <a:lstStyle/>
                    <a:p>
                      <a:r>
                        <a:rPr lang="en-US" sz="1300">
                          <a:solidFill>
                            <a:srgbClr val="1F2D3D"/>
                          </a:solidFill>
                          <a:latin typeface="Segoe UI" panose="020B0502040204020203" pitchFamily="34" charset="0"/>
                        </a:rPr>
                        <a:t>Backup extension identity</a:t>
                      </a:r>
                    </a:p>
                  </a:txBody>
                  <a:tcPr>
                    <a:solidFill>
                      <a:srgbClr val="E4F4F5"/>
                    </a:solidFill>
                  </a:tcPr>
                </a:tc>
                <a:tc>
                  <a:txBody>
                    <a:bodyPr/>
                    <a:lstStyle/>
                    <a:p>
                      <a:r>
                        <a:rPr lang="en-US" sz="1300">
                          <a:solidFill>
                            <a:srgbClr val="1F2D3D"/>
                          </a:solidFill>
                          <a:latin typeface="Segoe UI" panose="020B0502040204020203" pitchFamily="34" charset="0"/>
                        </a:rPr>
                        <a:t>Storage Account Contributor</a:t>
                      </a:r>
                    </a:p>
                  </a:txBody>
                  <a:tcPr>
                    <a:solidFill>
                      <a:srgbClr val="E4F4F5"/>
                    </a:solidFill>
                  </a:tcPr>
                </a:tc>
                <a:tc>
                  <a:txBody>
                    <a:bodyPr/>
                    <a:lstStyle/>
                    <a:p>
                      <a:r>
                        <a:rPr lang="en-US" sz="1300">
                          <a:solidFill>
                            <a:srgbClr val="1F2D3D"/>
                          </a:solidFill>
                          <a:latin typeface="Segoe UI" panose="020B0502040204020203" pitchFamily="34" charset="0"/>
                        </a:rPr>
                        <a:t>Backup storage account</a:t>
                      </a:r>
                    </a:p>
                  </a:txBody>
                  <a:tcPr>
                    <a:solidFill>
                      <a:srgbClr val="E4F4F5"/>
                    </a:solidFill>
                  </a:tcPr>
                </a:tc>
                <a:extLst>
                  <a:ext uri="{0D108BD9-81ED-4DB2-BD59-A6C34878D82A}">
                    <a16:rowId xmlns:a16="http://schemas.microsoft.com/office/drawing/2014/main" val="3700258299"/>
                  </a:ext>
                </a:extLst>
              </a:tr>
              <a:tr h="489857">
                <a:tc>
                  <a:txBody>
                    <a:bodyPr/>
                    <a:lstStyle/>
                    <a:p>
                      <a:r>
                        <a:rPr lang="en-US" sz="1300">
                          <a:solidFill>
                            <a:srgbClr val="1F2D3D"/>
                          </a:solidFill>
                          <a:latin typeface="Segoe UI" panose="020B0502040204020203" pitchFamily="34" charset="0"/>
                        </a:rPr>
                        <a:t>Vault to AKS Trusted Access</a:t>
                      </a:r>
                    </a:p>
                  </a:txBody>
                  <a:tcPr>
                    <a:solidFill>
                      <a:srgbClr val="FFFFFF"/>
                    </a:solidFill>
                  </a:tcPr>
                </a:tc>
                <a:tc>
                  <a:txBody>
                    <a:bodyPr/>
                    <a:lstStyle/>
                    <a:p>
                      <a:r>
                        <a:rPr lang="en-US" sz="1300">
                          <a:solidFill>
                            <a:srgbClr val="1F2D3D"/>
                          </a:solidFill>
                          <a:latin typeface="Segoe UI" panose="020B0502040204020203" pitchFamily="34" charset="0"/>
                        </a:rPr>
                        <a:t>backup-operator</a:t>
                      </a:r>
                    </a:p>
                  </a:txBody>
                  <a:tcPr>
                    <a:solidFill>
                      <a:srgbClr val="FFFFFF"/>
                    </a:solidFill>
                  </a:tcPr>
                </a:tc>
                <a:tc>
                  <a:txBody>
                    <a:bodyPr/>
                    <a:lstStyle/>
                    <a:p>
                      <a:r>
                        <a:rPr lang="en-US" sz="1300">
                          <a:solidFill>
                            <a:srgbClr val="1F2D3D"/>
                          </a:solidFill>
                          <a:latin typeface="Segoe UI" panose="020B0502040204020203" pitchFamily="34" charset="0"/>
                        </a:rPr>
                        <a:t>AKS cluster</a:t>
                      </a:r>
                    </a:p>
                  </a:txBody>
                  <a:tcPr>
                    <a:solidFill>
                      <a:srgbClr val="FFFFFF"/>
                    </a:solidFill>
                  </a:tcPr>
                </a:tc>
                <a:extLst>
                  <a:ext uri="{0D108BD9-81ED-4DB2-BD59-A6C34878D82A}">
                    <a16:rowId xmlns:a16="http://schemas.microsoft.com/office/drawing/2014/main" val="1559535431"/>
                  </a:ext>
                </a:extLst>
              </a:tr>
            </a:tbl>
          </a:graphicData>
        </a:graphic>
      </p:graphicFrame>
      <p:sp>
        <p:nvSpPr>
          <p:cNvPr id="11" name="TextBox 10">
            <a:extLst>
              <a:ext uri="{FF2B5EF4-FFF2-40B4-BE49-F238E27FC236}">
                <a16:creationId xmlns:a16="http://schemas.microsoft.com/office/drawing/2014/main" id="{109AB8FE-D595-4C78-9F9C-6D4DE110C7B4}"/>
              </a:ext>
            </a:extLst>
          </p:cNvPr>
          <p:cNvSpPr txBox="1"/>
          <p:nvPr/>
        </p:nvSpPr>
        <p:spPr>
          <a:xfrm>
            <a:off x="635000" y="4978399"/>
            <a:ext cx="10922000" cy="492443"/>
          </a:xfrm>
          <a:prstGeom prst="rect">
            <a:avLst/>
          </a:prstGeom>
          <a:noFill/>
        </p:spPr>
        <p:txBody>
          <a:bodyPr vert="horz" wrap="square" rtlCol="0">
            <a:spAutoFit/>
          </a:bodyPr>
          <a:lstStyle/>
          <a:p>
            <a:r>
              <a:rPr lang="en-US" sz="1300">
                <a:solidFill>
                  <a:srgbClr val="5C6B66"/>
                </a:solidFill>
                <a:latin typeface="Segoe UI" panose="020B0502040204020203" pitchFamily="34" charset="0"/>
              </a:rPr>
              <a:t>backup.tf creates these for clusters that have a backup_instance, so only the original cluster. The -rst cluster has an extension but no backup instance, so Validate will ask you to grant them.</a:t>
            </a:r>
          </a:p>
        </p:txBody>
      </p:sp>
      <p:sp>
        <p:nvSpPr>
          <p:cNvPr id="12" name="TextBox 11">
            <a:extLst>
              <a:ext uri="{FF2B5EF4-FFF2-40B4-BE49-F238E27FC236}">
                <a16:creationId xmlns:a16="http://schemas.microsoft.com/office/drawing/2014/main" id="{596A796F-4BDB-46E9-9954-A25D25CF9186}"/>
              </a:ext>
            </a:extLst>
          </p:cNvPr>
          <p:cNvSpPr txBox="1"/>
          <p:nvPr/>
        </p:nvSpPr>
        <p:spPr>
          <a:xfrm>
            <a:off x="635000" y="5562599"/>
            <a:ext cx="10922000" cy="492443"/>
          </a:xfrm>
          <a:prstGeom prst="rect">
            <a:avLst/>
          </a:prstGeom>
          <a:noFill/>
        </p:spPr>
        <p:txBody>
          <a:bodyPr vert="horz" wrap="square" rtlCol="0">
            <a:spAutoFit/>
          </a:bodyPr>
          <a:lstStyle/>
          <a:p>
            <a:r>
              <a:rPr lang="en-US" sz="1300" b="1">
                <a:solidFill>
                  <a:srgbClr val="268C98"/>
                </a:solidFill>
                <a:latin typeface="Segoe UI" panose="020B0502040204020203" pitchFamily="34" charset="0"/>
              </a:rPr>
              <a:t>Worth checking: Microsoft's restore guidance lists Storage Blob Data Contributor for the extension identity, but backup.tf grants it Storage Account Contributor.</a:t>
            </a:r>
          </a:p>
        </p:txBody>
      </p:sp>
    </p:spTree>
    <p:extLst>
      <p:ext uri="{BB962C8B-B14F-4D97-AF65-F5344CB8AC3E}">
        <p14:creationId xmlns:p14="http://schemas.microsoft.com/office/powerpoint/2010/main" val="2866819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194A11F-C981-406B-A72F-59A509C966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07760"/>
            <a:ext cx="12192000" cy="650240"/>
          </a:xfrm>
          <a:prstGeom prst="rect">
            <a:avLst/>
          </a:prstGeom>
        </p:spPr>
      </p:pic>
      <p:pic>
        <p:nvPicPr>
          <p:cNvPr id="16" name="Picture 15">
            <a:extLst>
              <a:ext uri="{FF2B5EF4-FFF2-40B4-BE49-F238E27FC236}">
                <a16:creationId xmlns:a16="http://schemas.microsoft.com/office/drawing/2014/main" id="{CADF4569-3874-440A-8028-97440BA02E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558800"/>
            <a:ext cx="3556000" cy="643003"/>
          </a:xfrm>
          <a:prstGeom prst="rect">
            <a:avLst/>
          </a:prstGeom>
        </p:spPr>
      </p:pic>
      <p:sp>
        <p:nvSpPr>
          <p:cNvPr id="17" name="Rectangle 16">
            <a:extLst>
              <a:ext uri="{FF2B5EF4-FFF2-40B4-BE49-F238E27FC236}">
                <a16:creationId xmlns:a16="http://schemas.microsoft.com/office/drawing/2014/main" id="{30A924B1-2F55-4CAF-97A3-EC5E141E9F41}"/>
              </a:ext>
            </a:extLst>
          </p:cNvPr>
          <p:cNvSpPr/>
          <p:nvPr/>
        </p:nvSpPr>
        <p:spPr>
          <a:xfrm>
            <a:off x="1016000" y="2413000"/>
            <a:ext cx="1524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F98CF15-119E-4630-987C-96A5489C3807}"/>
              </a:ext>
            </a:extLst>
          </p:cNvPr>
          <p:cNvSpPr txBox="1"/>
          <p:nvPr/>
        </p:nvSpPr>
        <p:spPr>
          <a:xfrm>
            <a:off x="939800" y="2603500"/>
            <a:ext cx="10160000" cy="800219"/>
          </a:xfrm>
          <a:prstGeom prst="rect">
            <a:avLst/>
          </a:prstGeom>
          <a:noFill/>
        </p:spPr>
        <p:txBody>
          <a:bodyPr vert="horz" wrap="square" rtlCol="0">
            <a:spAutoFit/>
          </a:bodyPr>
          <a:lstStyle/>
          <a:p>
            <a:r>
              <a:rPr lang="en-US" sz="4600" b="1">
                <a:solidFill>
                  <a:srgbClr val="FFFFFF"/>
                </a:solidFill>
                <a:latin typeface="Segoe UI" panose="020B0502040204020203" pitchFamily="34" charset="0"/>
              </a:rPr>
              <a:t>Restoring a cluster</a:t>
            </a:r>
          </a:p>
        </p:txBody>
      </p:sp>
      <p:sp>
        <p:nvSpPr>
          <p:cNvPr id="19" name="TextBox 18">
            <a:extLst>
              <a:ext uri="{FF2B5EF4-FFF2-40B4-BE49-F238E27FC236}">
                <a16:creationId xmlns:a16="http://schemas.microsoft.com/office/drawing/2014/main" id="{FEE4C3C9-17F1-4A7A-9003-D2624BE5C9FB}"/>
              </a:ext>
            </a:extLst>
          </p:cNvPr>
          <p:cNvSpPr txBox="1"/>
          <p:nvPr/>
        </p:nvSpPr>
        <p:spPr>
          <a:xfrm>
            <a:off x="939800" y="3556000"/>
            <a:ext cx="10160000" cy="461665"/>
          </a:xfrm>
          <a:prstGeom prst="rect">
            <a:avLst/>
          </a:prstGeom>
          <a:noFill/>
        </p:spPr>
        <p:txBody>
          <a:bodyPr vert="horz" wrap="square" rtlCol="0">
            <a:spAutoFit/>
          </a:bodyPr>
          <a:lstStyle/>
          <a:p>
            <a:r>
              <a:rPr lang="en-US" sz="2400">
                <a:solidFill>
                  <a:srgbClr val="59BEC9"/>
                </a:solidFill>
                <a:latin typeface="Segoe UI" panose="020B0502040204020203" pitchFamily="34" charset="0"/>
              </a:rPr>
              <a:t>Azure Portal, step by step</a:t>
            </a:r>
          </a:p>
        </p:txBody>
      </p:sp>
    </p:spTree>
    <p:extLst>
      <p:ext uri="{BB962C8B-B14F-4D97-AF65-F5344CB8AC3E}">
        <p14:creationId xmlns:p14="http://schemas.microsoft.com/office/powerpoint/2010/main" val="556397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21DF33-AE27-42B9-8316-85B58E1058C9}"/>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AC3E63B-7D57-446D-9A68-3FCC67A084A3}"/>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58F1759-7C9F-4E54-8DEB-A87178624629}"/>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The restore in six moves</a:t>
            </a:r>
          </a:p>
        </p:txBody>
      </p:sp>
      <p:sp>
        <p:nvSpPr>
          <p:cNvPr id="5" name="TextBox 4">
            <a:extLst>
              <a:ext uri="{FF2B5EF4-FFF2-40B4-BE49-F238E27FC236}">
                <a16:creationId xmlns:a16="http://schemas.microsoft.com/office/drawing/2014/main" id="{94F20664-D227-4F87-9A1C-3112868959C5}"/>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Everything happens from the Backup vault of the environment</a:t>
            </a:r>
          </a:p>
        </p:txBody>
      </p:sp>
      <p:sp>
        <p:nvSpPr>
          <p:cNvPr id="6" name="TextBox 5">
            <a:extLst>
              <a:ext uri="{FF2B5EF4-FFF2-40B4-BE49-F238E27FC236}">
                <a16:creationId xmlns:a16="http://schemas.microsoft.com/office/drawing/2014/main" id="{FBA7D111-3EC3-4303-9D89-04AC46C0FCC0}"/>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6A9F20E3-7463-48D0-B4AF-54D5DB230374}"/>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12</a:t>
            </a:r>
          </a:p>
        </p:txBody>
      </p:sp>
      <p:sp>
        <p:nvSpPr>
          <p:cNvPr id="8" name="Arrow: Chevron 7">
            <a:extLst>
              <a:ext uri="{FF2B5EF4-FFF2-40B4-BE49-F238E27FC236}">
                <a16:creationId xmlns:a16="http://schemas.microsoft.com/office/drawing/2014/main" id="{503136E0-F4ED-4FCD-AFFA-A8A42CDFB6F5}"/>
              </a:ext>
            </a:extLst>
          </p:cNvPr>
          <p:cNvSpPr/>
          <p:nvPr/>
        </p:nvSpPr>
        <p:spPr>
          <a:xfrm>
            <a:off x="508000" y="1778000"/>
            <a:ext cx="1981200" cy="889000"/>
          </a:xfrm>
          <a:prstGeom prst="chevron">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2800" b="1">
                <a:solidFill>
                  <a:srgbClr val="1F2D3D"/>
                </a:solidFill>
                <a:latin typeface="Segoe UI" panose="020B0502040204020203" pitchFamily="34" charset="0"/>
              </a:rPr>
              <a:t>1</a:t>
            </a:r>
          </a:p>
        </p:txBody>
      </p:sp>
      <p:sp>
        <p:nvSpPr>
          <p:cNvPr id="9" name="TextBox 8">
            <a:extLst>
              <a:ext uri="{FF2B5EF4-FFF2-40B4-BE49-F238E27FC236}">
                <a16:creationId xmlns:a16="http://schemas.microsoft.com/office/drawing/2014/main" id="{334E4FE7-9549-4A2D-8D55-EC1C149365F9}"/>
              </a:ext>
            </a:extLst>
          </p:cNvPr>
          <p:cNvSpPr txBox="1"/>
          <p:nvPr/>
        </p:nvSpPr>
        <p:spPr>
          <a:xfrm>
            <a:off x="609600" y="2819400"/>
            <a:ext cx="1727200" cy="553998"/>
          </a:xfrm>
          <a:prstGeom prst="rect">
            <a:avLst/>
          </a:prstGeom>
          <a:noFill/>
        </p:spPr>
        <p:txBody>
          <a:bodyPr vert="horz" wrap="square" rtlCol="0">
            <a:spAutoFit/>
          </a:bodyPr>
          <a:lstStyle/>
          <a:p>
            <a:pPr algn="ctr"/>
            <a:r>
              <a:rPr lang="en-US" sz="1500" b="1">
                <a:solidFill>
                  <a:srgbClr val="1F2D3D"/>
                </a:solidFill>
                <a:latin typeface="Segoe UI" panose="020B0502040204020203" pitchFamily="34" charset="0"/>
              </a:rPr>
              <a:t>Open the Backup vault</a:t>
            </a:r>
          </a:p>
        </p:txBody>
      </p:sp>
      <p:sp>
        <p:nvSpPr>
          <p:cNvPr id="10" name="Arrow: Chevron 9">
            <a:extLst>
              <a:ext uri="{FF2B5EF4-FFF2-40B4-BE49-F238E27FC236}">
                <a16:creationId xmlns:a16="http://schemas.microsoft.com/office/drawing/2014/main" id="{4B495DF5-F1FE-4DD5-94E6-6761BA6FCC59}"/>
              </a:ext>
            </a:extLst>
          </p:cNvPr>
          <p:cNvSpPr/>
          <p:nvPr/>
        </p:nvSpPr>
        <p:spPr>
          <a:xfrm>
            <a:off x="2387600" y="1778000"/>
            <a:ext cx="1981200" cy="889000"/>
          </a:xfrm>
          <a:prstGeom prst="chevron">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2800" b="1">
                <a:solidFill>
                  <a:srgbClr val="1F2D3D"/>
                </a:solidFill>
                <a:latin typeface="Segoe UI" panose="020B0502040204020203" pitchFamily="34" charset="0"/>
              </a:rPr>
              <a:t>2</a:t>
            </a:r>
          </a:p>
        </p:txBody>
      </p:sp>
      <p:sp>
        <p:nvSpPr>
          <p:cNvPr id="11" name="TextBox 10">
            <a:extLst>
              <a:ext uri="{FF2B5EF4-FFF2-40B4-BE49-F238E27FC236}">
                <a16:creationId xmlns:a16="http://schemas.microsoft.com/office/drawing/2014/main" id="{8680D3CC-BC98-4A37-B956-9E0195DD0548}"/>
              </a:ext>
            </a:extLst>
          </p:cNvPr>
          <p:cNvSpPr txBox="1"/>
          <p:nvPr/>
        </p:nvSpPr>
        <p:spPr>
          <a:xfrm>
            <a:off x="2489200" y="2819400"/>
            <a:ext cx="1727200" cy="553998"/>
          </a:xfrm>
          <a:prstGeom prst="rect">
            <a:avLst/>
          </a:prstGeom>
          <a:noFill/>
        </p:spPr>
        <p:txBody>
          <a:bodyPr vert="horz" wrap="square" rtlCol="0">
            <a:spAutoFit/>
          </a:bodyPr>
          <a:lstStyle/>
          <a:p>
            <a:pPr algn="ctr"/>
            <a:r>
              <a:rPr lang="en-US" sz="1500" b="1">
                <a:solidFill>
                  <a:srgbClr val="1F2D3D"/>
                </a:solidFill>
                <a:latin typeface="Segoe UI" panose="020B0502040204020203" pitchFamily="34" charset="0"/>
              </a:rPr>
              <a:t>Select the backup instance</a:t>
            </a:r>
          </a:p>
        </p:txBody>
      </p:sp>
      <p:sp>
        <p:nvSpPr>
          <p:cNvPr id="12" name="Arrow: Chevron 11">
            <a:extLst>
              <a:ext uri="{FF2B5EF4-FFF2-40B4-BE49-F238E27FC236}">
                <a16:creationId xmlns:a16="http://schemas.microsoft.com/office/drawing/2014/main" id="{56005B5C-E08A-4827-AAC3-E79FBC4DACD4}"/>
              </a:ext>
            </a:extLst>
          </p:cNvPr>
          <p:cNvSpPr/>
          <p:nvPr/>
        </p:nvSpPr>
        <p:spPr>
          <a:xfrm>
            <a:off x="4267200" y="1778000"/>
            <a:ext cx="1981200" cy="889000"/>
          </a:xfrm>
          <a:prstGeom prst="chevron">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2800" b="1">
                <a:solidFill>
                  <a:srgbClr val="1F2D3D"/>
                </a:solidFill>
                <a:latin typeface="Segoe UI" panose="020B0502040204020203" pitchFamily="34" charset="0"/>
              </a:rPr>
              <a:t>3</a:t>
            </a:r>
          </a:p>
        </p:txBody>
      </p:sp>
      <p:sp>
        <p:nvSpPr>
          <p:cNvPr id="13" name="TextBox 12">
            <a:extLst>
              <a:ext uri="{FF2B5EF4-FFF2-40B4-BE49-F238E27FC236}">
                <a16:creationId xmlns:a16="http://schemas.microsoft.com/office/drawing/2014/main" id="{9E4B8B3F-FAFB-4CD6-8D1A-AAFD6858D748}"/>
              </a:ext>
            </a:extLst>
          </p:cNvPr>
          <p:cNvSpPr txBox="1"/>
          <p:nvPr/>
        </p:nvSpPr>
        <p:spPr>
          <a:xfrm>
            <a:off x="4368800" y="2819400"/>
            <a:ext cx="1727200" cy="323165"/>
          </a:xfrm>
          <a:prstGeom prst="rect">
            <a:avLst/>
          </a:prstGeom>
          <a:noFill/>
        </p:spPr>
        <p:txBody>
          <a:bodyPr vert="horz" wrap="square" rtlCol="0">
            <a:spAutoFit/>
          </a:bodyPr>
          <a:lstStyle/>
          <a:p>
            <a:pPr algn="ctr"/>
            <a:r>
              <a:rPr lang="en-US" sz="1500" b="1">
                <a:solidFill>
                  <a:srgbClr val="1F2D3D"/>
                </a:solidFill>
                <a:latin typeface="Segoe UI" panose="020B0502040204020203" pitchFamily="34" charset="0"/>
              </a:rPr>
              <a:t>Click Restore</a:t>
            </a:r>
          </a:p>
        </p:txBody>
      </p:sp>
      <p:sp>
        <p:nvSpPr>
          <p:cNvPr id="14" name="Arrow: Chevron 13">
            <a:extLst>
              <a:ext uri="{FF2B5EF4-FFF2-40B4-BE49-F238E27FC236}">
                <a16:creationId xmlns:a16="http://schemas.microsoft.com/office/drawing/2014/main" id="{6E18F185-4FD2-4B6A-A00D-8B14632F73C9}"/>
              </a:ext>
            </a:extLst>
          </p:cNvPr>
          <p:cNvSpPr/>
          <p:nvPr/>
        </p:nvSpPr>
        <p:spPr>
          <a:xfrm>
            <a:off x="6146800" y="1778000"/>
            <a:ext cx="1981200" cy="889000"/>
          </a:xfrm>
          <a:prstGeom prst="chevron">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2800" b="1">
                <a:solidFill>
                  <a:srgbClr val="1F2D3D"/>
                </a:solidFill>
                <a:latin typeface="Segoe UI" panose="020B0502040204020203" pitchFamily="34" charset="0"/>
              </a:rPr>
              <a:t>4</a:t>
            </a:r>
          </a:p>
        </p:txBody>
      </p:sp>
      <p:sp>
        <p:nvSpPr>
          <p:cNvPr id="15" name="TextBox 14">
            <a:extLst>
              <a:ext uri="{FF2B5EF4-FFF2-40B4-BE49-F238E27FC236}">
                <a16:creationId xmlns:a16="http://schemas.microsoft.com/office/drawing/2014/main" id="{4CD85DE7-9D22-413B-9446-A56660B980D3}"/>
              </a:ext>
            </a:extLst>
          </p:cNvPr>
          <p:cNvSpPr txBox="1"/>
          <p:nvPr/>
        </p:nvSpPr>
        <p:spPr>
          <a:xfrm>
            <a:off x="6248400" y="2819400"/>
            <a:ext cx="1727200" cy="553998"/>
          </a:xfrm>
          <a:prstGeom prst="rect">
            <a:avLst/>
          </a:prstGeom>
          <a:noFill/>
        </p:spPr>
        <p:txBody>
          <a:bodyPr vert="horz" wrap="square" rtlCol="0">
            <a:spAutoFit/>
          </a:bodyPr>
          <a:lstStyle/>
          <a:p>
            <a:pPr algn="ctr"/>
            <a:r>
              <a:rPr lang="en-US" sz="1500" b="1">
                <a:solidFill>
                  <a:srgbClr val="1F2D3D"/>
                </a:solidFill>
                <a:latin typeface="Segoe UI" panose="020B0502040204020203" pitchFamily="34" charset="0"/>
              </a:rPr>
              <a:t>Pick the restore point</a:t>
            </a:r>
          </a:p>
        </p:txBody>
      </p:sp>
      <p:sp>
        <p:nvSpPr>
          <p:cNvPr id="16" name="Arrow: Chevron 15">
            <a:extLst>
              <a:ext uri="{FF2B5EF4-FFF2-40B4-BE49-F238E27FC236}">
                <a16:creationId xmlns:a16="http://schemas.microsoft.com/office/drawing/2014/main" id="{0EFF81E8-A32A-4587-96F0-8D6BFE36BE79}"/>
              </a:ext>
            </a:extLst>
          </p:cNvPr>
          <p:cNvSpPr/>
          <p:nvPr/>
        </p:nvSpPr>
        <p:spPr>
          <a:xfrm>
            <a:off x="8026400" y="1778000"/>
            <a:ext cx="1981200" cy="889000"/>
          </a:xfrm>
          <a:prstGeom prst="chevron">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2800" b="1">
                <a:solidFill>
                  <a:srgbClr val="1F2D3D"/>
                </a:solidFill>
                <a:latin typeface="Segoe UI" panose="020B0502040204020203" pitchFamily="34" charset="0"/>
              </a:rPr>
              <a:t>5</a:t>
            </a:r>
          </a:p>
        </p:txBody>
      </p:sp>
      <p:sp>
        <p:nvSpPr>
          <p:cNvPr id="17" name="TextBox 16">
            <a:extLst>
              <a:ext uri="{FF2B5EF4-FFF2-40B4-BE49-F238E27FC236}">
                <a16:creationId xmlns:a16="http://schemas.microsoft.com/office/drawing/2014/main" id="{51AFFB94-4461-43C5-9375-D39C8C8DE823}"/>
              </a:ext>
            </a:extLst>
          </p:cNvPr>
          <p:cNvSpPr txBox="1"/>
          <p:nvPr/>
        </p:nvSpPr>
        <p:spPr>
          <a:xfrm>
            <a:off x="8128000" y="2819400"/>
            <a:ext cx="1727200" cy="553998"/>
          </a:xfrm>
          <a:prstGeom prst="rect">
            <a:avLst/>
          </a:prstGeom>
          <a:noFill/>
        </p:spPr>
        <p:txBody>
          <a:bodyPr vert="horz" wrap="square" rtlCol="0">
            <a:spAutoFit/>
          </a:bodyPr>
          <a:lstStyle/>
          <a:p>
            <a:pPr algn="ctr"/>
            <a:r>
              <a:rPr lang="en-US" sz="1500" b="1">
                <a:solidFill>
                  <a:srgbClr val="1F2D3D"/>
                </a:solidFill>
                <a:latin typeface="Segoe UI" panose="020B0502040204020203" pitchFamily="34" charset="0"/>
              </a:rPr>
              <a:t>Choose target and resources</a:t>
            </a:r>
          </a:p>
        </p:txBody>
      </p:sp>
      <p:sp>
        <p:nvSpPr>
          <p:cNvPr id="18" name="Arrow: Chevron 17">
            <a:extLst>
              <a:ext uri="{FF2B5EF4-FFF2-40B4-BE49-F238E27FC236}">
                <a16:creationId xmlns:a16="http://schemas.microsoft.com/office/drawing/2014/main" id="{B5CA0D11-357A-4049-AFD8-521FFEA728AB}"/>
              </a:ext>
            </a:extLst>
          </p:cNvPr>
          <p:cNvSpPr/>
          <p:nvPr/>
        </p:nvSpPr>
        <p:spPr>
          <a:xfrm>
            <a:off x="9906000" y="1778000"/>
            <a:ext cx="1981200" cy="889000"/>
          </a:xfrm>
          <a:prstGeom prst="chevron">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2800" b="1">
                <a:solidFill>
                  <a:srgbClr val="1F2D3D"/>
                </a:solidFill>
                <a:latin typeface="Segoe UI" panose="020B0502040204020203" pitchFamily="34" charset="0"/>
              </a:rPr>
              <a:t>6</a:t>
            </a:r>
          </a:p>
        </p:txBody>
      </p:sp>
      <p:sp>
        <p:nvSpPr>
          <p:cNvPr id="19" name="TextBox 18">
            <a:extLst>
              <a:ext uri="{FF2B5EF4-FFF2-40B4-BE49-F238E27FC236}">
                <a16:creationId xmlns:a16="http://schemas.microsoft.com/office/drawing/2014/main" id="{1BB00639-1BEA-413A-9A2D-F57D388493DE}"/>
              </a:ext>
            </a:extLst>
          </p:cNvPr>
          <p:cNvSpPr txBox="1"/>
          <p:nvPr/>
        </p:nvSpPr>
        <p:spPr>
          <a:xfrm>
            <a:off x="10007600" y="2819400"/>
            <a:ext cx="1727200" cy="553998"/>
          </a:xfrm>
          <a:prstGeom prst="rect">
            <a:avLst/>
          </a:prstGeom>
          <a:noFill/>
        </p:spPr>
        <p:txBody>
          <a:bodyPr vert="horz" wrap="square" rtlCol="0">
            <a:spAutoFit/>
          </a:bodyPr>
          <a:lstStyle/>
          <a:p>
            <a:pPr algn="ctr"/>
            <a:r>
              <a:rPr lang="en-US" sz="1500" b="1">
                <a:solidFill>
                  <a:srgbClr val="1F2D3D"/>
                </a:solidFill>
                <a:latin typeface="Segoe UI" panose="020B0502040204020203" pitchFamily="34" charset="0"/>
              </a:rPr>
              <a:t>Validate and restore</a:t>
            </a:r>
          </a:p>
        </p:txBody>
      </p:sp>
      <p:sp>
        <p:nvSpPr>
          <p:cNvPr id="20" name="Rectangle 19">
            <a:extLst>
              <a:ext uri="{FF2B5EF4-FFF2-40B4-BE49-F238E27FC236}">
                <a16:creationId xmlns:a16="http://schemas.microsoft.com/office/drawing/2014/main" id="{E3690645-1B08-45FD-9677-7EE8F6EBE5FC}"/>
              </a:ext>
            </a:extLst>
          </p:cNvPr>
          <p:cNvSpPr/>
          <p:nvPr/>
        </p:nvSpPr>
        <p:spPr>
          <a:xfrm>
            <a:off x="635000" y="4064000"/>
            <a:ext cx="10922000" cy="1397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37D0C43-B209-46C7-9024-0BC9D22A781E}"/>
              </a:ext>
            </a:extLst>
          </p:cNvPr>
          <p:cNvSpPr/>
          <p:nvPr/>
        </p:nvSpPr>
        <p:spPr>
          <a:xfrm>
            <a:off x="635000" y="4064000"/>
            <a:ext cx="76200" cy="1397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F9E3F7A-DE54-485B-BC47-DDCCA0B239D0}"/>
              </a:ext>
            </a:extLst>
          </p:cNvPr>
          <p:cNvSpPr txBox="1"/>
          <p:nvPr/>
        </p:nvSpPr>
        <p:spPr>
          <a:xfrm>
            <a:off x="863600" y="4191000"/>
            <a:ext cx="10541000" cy="584775"/>
          </a:xfrm>
          <a:prstGeom prst="rect">
            <a:avLst/>
          </a:prstGeom>
          <a:noFill/>
        </p:spPr>
        <p:txBody>
          <a:bodyPr vert="horz" wrap="square" rtlCol="0">
            <a:spAutoFit/>
          </a:bodyPr>
          <a:lstStyle/>
          <a:p>
            <a:r>
              <a:rPr lang="en-US" sz="1600">
                <a:solidFill>
                  <a:srgbClr val="1F2D3D"/>
                </a:solidFill>
                <a:latin typeface="Segoe UI" panose="020B0502040204020203" pitchFamily="34" charset="0"/>
              </a:rPr>
              <a:t>Use the vault that belongs to the environment you are restoring (dev, sit, uat and so on). The restore always needs the Backup extension installed on the target cluster and Trusted Access enabled between the vault and that cluster.</a:t>
            </a:r>
          </a:p>
        </p:txBody>
      </p:sp>
    </p:spTree>
    <p:extLst>
      <p:ext uri="{BB962C8B-B14F-4D97-AF65-F5344CB8AC3E}">
        <p14:creationId xmlns:p14="http://schemas.microsoft.com/office/powerpoint/2010/main" val="1011665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73CEEA-171F-4BF5-AAFD-3F52CDF728BA}"/>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A101F49-FC34-4D8C-BFBB-0BE865CAEDF5}"/>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0A0F106-7B23-47AC-83A3-78070DEE2838}"/>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Restore in the Portal: finding the backup</a:t>
            </a:r>
          </a:p>
        </p:txBody>
      </p:sp>
      <p:sp>
        <p:nvSpPr>
          <p:cNvPr id="5" name="TextBox 4">
            <a:extLst>
              <a:ext uri="{FF2B5EF4-FFF2-40B4-BE49-F238E27FC236}">
                <a16:creationId xmlns:a16="http://schemas.microsoft.com/office/drawing/2014/main" id="{CA218FE8-E615-4EB0-8ADC-73DFB2ABEE13}"/>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Steps 1 to 4</a:t>
            </a:r>
          </a:p>
        </p:txBody>
      </p:sp>
      <p:sp>
        <p:nvSpPr>
          <p:cNvPr id="6" name="TextBox 5">
            <a:extLst>
              <a:ext uri="{FF2B5EF4-FFF2-40B4-BE49-F238E27FC236}">
                <a16:creationId xmlns:a16="http://schemas.microsoft.com/office/drawing/2014/main" id="{7BF0BE2F-94C9-47D1-8C40-EEA114B686EF}"/>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7ACE7ECC-B556-415E-9114-2947B18D2A5B}"/>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13</a:t>
            </a:r>
          </a:p>
        </p:txBody>
      </p:sp>
      <p:sp>
        <p:nvSpPr>
          <p:cNvPr id="8" name="Oval 7">
            <a:extLst>
              <a:ext uri="{FF2B5EF4-FFF2-40B4-BE49-F238E27FC236}">
                <a16:creationId xmlns:a16="http://schemas.microsoft.com/office/drawing/2014/main" id="{28BEC901-69EB-4B30-91DA-9D81072EA1BA}"/>
              </a:ext>
            </a:extLst>
          </p:cNvPr>
          <p:cNvSpPr/>
          <p:nvPr/>
        </p:nvSpPr>
        <p:spPr>
          <a:xfrm>
            <a:off x="635000" y="1549400"/>
            <a:ext cx="584200" cy="584200"/>
          </a:xfrm>
          <a:prstGeom prst="ellipse">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a:solidFill>
                  <a:srgbClr val="1F2D3D"/>
                </a:solidFill>
                <a:latin typeface="Segoe UI" panose="020B0502040204020203" pitchFamily="34" charset="0"/>
              </a:rPr>
              <a:t>1</a:t>
            </a:r>
          </a:p>
        </p:txBody>
      </p:sp>
      <p:sp>
        <p:nvSpPr>
          <p:cNvPr id="9" name="TextBox 8">
            <a:extLst>
              <a:ext uri="{FF2B5EF4-FFF2-40B4-BE49-F238E27FC236}">
                <a16:creationId xmlns:a16="http://schemas.microsoft.com/office/drawing/2014/main" id="{1CE2B3D1-0A9C-4FDF-BD22-43361DBCA423}"/>
              </a:ext>
            </a:extLst>
          </p:cNvPr>
          <p:cNvSpPr txBox="1"/>
          <p:nvPr/>
        </p:nvSpPr>
        <p:spPr>
          <a:xfrm>
            <a:off x="1422400" y="1498600"/>
            <a:ext cx="5080000" cy="384721"/>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Open the vault</a:t>
            </a:r>
          </a:p>
        </p:txBody>
      </p:sp>
      <p:sp>
        <p:nvSpPr>
          <p:cNvPr id="10" name="TextBox 9">
            <a:extLst>
              <a:ext uri="{FF2B5EF4-FFF2-40B4-BE49-F238E27FC236}">
                <a16:creationId xmlns:a16="http://schemas.microsoft.com/office/drawing/2014/main" id="{08A5600C-556F-4DEA-B753-CBE24F7BF9E8}"/>
              </a:ext>
            </a:extLst>
          </p:cNvPr>
          <p:cNvSpPr txBox="1"/>
          <p:nvPr/>
        </p:nvSpPr>
        <p:spPr>
          <a:xfrm>
            <a:off x="1422400" y="1879600"/>
            <a:ext cx="5080000" cy="492443"/>
          </a:xfrm>
          <a:prstGeom prst="rect">
            <a:avLst/>
          </a:prstGeom>
          <a:noFill/>
        </p:spPr>
        <p:txBody>
          <a:bodyPr vert="horz" wrap="square" rtlCol="0">
            <a:spAutoFit/>
          </a:bodyPr>
          <a:lstStyle/>
          <a:p>
            <a:r>
              <a:rPr lang="en-US" sz="1300">
                <a:solidFill>
                  <a:srgbClr val="5C6B66"/>
                </a:solidFill>
                <a:latin typeface="Segoe UI" panose="020B0502040204020203" pitchFamily="34" charset="0"/>
              </a:rPr>
              <a:t>In the Azure Portal, search Backup vaults and open the vault for your environment.</a:t>
            </a:r>
          </a:p>
        </p:txBody>
      </p:sp>
      <p:sp>
        <p:nvSpPr>
          <p:cNvPr id="11" name="Oval 10">
            <a:extLst>
              <a:ext uri="{FF2B5EF4-FFF2-40B4-BE49-F238E27FC236}">
                <a16:creationId xmlns:a16="http://schemas.microsoft.com/office/drawing/2014/main" id="{1F34F921-3394-4A59-9AEF-C754C4DA9989}"/>
              </a:ext>
            </a:extLst>
          </p:cNvPr>
          <p:cNvSpPr/>
          <p:nvPr/>
        </p:nvSpPr>
        <p:spPr>
          <a:xfrm>
            <a:off x="635000" y="2717800"/>
            <a:ext cx="584200" cy="584200"/>
          </a:xfrm>
          <a:prstGeom prst="ellipse">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a:solidFill>
                  <a:srgbClr val="1F2D3D"/>
                </a:solidFill>
                <a:latin typeface="Segoe UI" panose="020B0502040204020203" pitchFamily="34" charset="0"/>
              </a:rPr>
              <a:t>2</a:t>
            </a:r>
          </a:p>
        </p:txBody>
      </p:sp>
      <p:sp>
        <p:nvSpPr>
          <p:cNvPr id="12" name="TextBox 11">
            <a:extLst>
              <a:ext uri="{FF2B5EF4-FFF2-40B4-BE49-F238E27FC236}">
                <a16:creationId xmlns:a16="http://schemas.microsoft.com/office/drawing/2014/main" id="{977BBDE5-5375-433A-820B-3EC021649DC3}"/>
              </a:ext>
            </a:extLst>
          </p:cNvPr>
          <p:cNvSpPr txBox="1"/>
          <p:nvPr/>
        </p:nvSpPr>
        <p:spPr>
          <a:xfrm>
            <a:off x="1422400" y="2667000"/>
            <a:ext cx="5080000" cy="384721"/>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Select the backup instance</a:t>
            </a:r>
          </a:p>
        </p:txBody>
      </p:sp>
      <p:sp>
        <p:nvSpPr>
          <p:cNvPr id="13" name="TextBox 12">
            <a:extLst>
              <a:ext uri="{FF2B5EF4-FFF2-40B4-BE49-F238E27FC236}">
                <a16:creationId xmlns:a16="http://schemas.microsoft.com/office/drawing/2014/main" id="{5257DCEB-3C47-4E98-9A4C-17155BB608D5}"/>
              </a:ext>
            </a:extLst>
          </p:cNvPr>
          <p:cNvSpPr txBox="1"/>
          <p:nvPr/>
        </p:nvSpPr>
        <p:spPr>
          <a:xfrm>
            <a:off x="1422400" y="3048000"/>
            <a:ext cx="5080000" cy="492443"/>
          </a:xfrm>
          <a:prstGeom prst="rect">
            <a:avLst/>
          </a:prstGeom>
          <a:noFill/>
        </p:spPr>
        <p:txBody>
          <a:bodyPr vert="horz" wrap="square" rtlCol="0">
            <a:spAutoFit/>
          </a:bodyPr>
          <a:lstStyle/>
          <a:p>
            <a:r>
              <a:rPr lang="en-US" sz="1300">
                <a:solidFill>
                  <a:srgbClr val="5C6B66"/>
                </a:solidFill>
                <a:latin typeface="Segoe UI" panose="020B0502040204020203" pitchFamily="34" charset="0"/>
              </a:rPr>
              <a:t>Open the AKS backup instance. You can also go to Resiliency, Recover, then Azure Kubernetes Services.</a:t>
            </a:r>
          </a:p>
        </p:txBody>
      </p:sp>
      <p:sp>
        <p:nvSpPr>
          <p:cNvPr id="14" name="Oval 13">
            <a:extLst>
              <a:ext uri="{FF2B5EF4-FFF2-40B4-BE49-F238E27FC236}">
                <a16:creationId xmlns:a16="http://schemas.microsoft.com/office/drawing/2014/main" id="{42347A36-7290-4E58-9950-ADC927A5094D}"/>
              </a:ext>
            </a:extLst>
          </p:cNvPr>
          <p:cNvSpPr/>
          <p:nvPr/>
        </p:nvSpPr>
        <p:spPr>
          <a:xfrm>
            <a:off x="635000" y="3886200"/>
            <a:ext cx="584200" cy="584200"/>
          </a:xfrm>
          <a:prstGeom prst="ellipse">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a:solidFill>
                  <a:srgbClr val="1F2D3D"/>
                </a:solidFill>
                <a:latin typeface="Segoe UI" panose="020B0502040204020203" pitchFamily="34" charset="0"/>
              </a:rPr>
              <a:t>3</a:t>
            </a:r>
          </a:p>
        </p:txBody>
      </p:sp>
      <p:sp>
        <p:nvSpPr>
          <p:cNvPr id="15" name="TextBox 14">
            <a:extLst>
              <a:ext uri="{FF2B5EF4-FFF2-40B4-BE49-F238E27FC236}">
                <a16:creationId xmlns:a16="http://schemas.microsoft.com/office/drawing/2014/main" id="{67823F43-CC19-4CD4-A4B5-C6544A38C7B7}"/>
              </a:ext>
            </a:extLst>
          </p:cNvPr>
          <p:cNvSpPr txBox="1"/>
          <p:nvPr/>
        </p:nvSpPr>
        <p:spPr>
          <a:xfrm>
            <a:off x="1422400" y="3835400"/>
            <a:ext cx="5080000" cy="384721"/>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Click Restore</a:t>
            </a:r>
          </a:p>
        </p:txBody>
      </p:sp>
      <p:sp>
        <p:nvSpPr>
          <p:cNvPr id="16" name="TextBox 15">
            <a:extLst>
              <a:ext uri="{FF2B5EF4-FFF2-40B4-BE49-F238E27FC236}">
                <a16:creationId xmlns:a16="http://schemas.microsoft.com/office/drawing/2014/main" id="{C1ADEA30-1C82-43E3-B7BA-C985130A395E}"/>
              </a:ext>
            </a:extLst>
          </p:cNvPr>
          <p:cNvSpPr txBox="1"/>
          <p:nvPr/>
        </p:nvSpPr>
        <p:spPr>
          <a:xfrm>
            <a:off x="1422400" y="4216400"/>
            <a:ext cx="5080000" cy="492443"/>
          </a:xfrm>
          <a:prstGeom prst="rect">
            <a:avLst/>
          </a:prstGeom>
          <a:noFill/>
        </p:spPr>
        <p:txBody>
          <a:bodyPr vert="horz" wrap="square" rtlCol="0">
            <a:spAutoFit/>
          </a:bodyPr>
          <a:lstStyle/>
          <a:p>
            <a:r>
              <a:rPr lang="en-US" sz="1300">
                <a:solidFill>
                  <a:srgbClr val="5C6B66"/>
                </a:solidFill>
                <a:latin typeface="Segoe UI" panose="020B0502040204020203" pitchFamily="34" charset="0"/>
              </a:rPr>
              <a:t>Click Restore on the backup instance, then continue to the Restore point tab.</a:t>
            </a:r>
          </a:p>
        </p:txBody>
      </p:sp>
      <p:sp>
        <p:nvSpPr>
          <p:cNvPr id="17" name="Oval 16">
            <a:extLst>
              <a:ext uri="{FF2B5EF4-FFF2-40B4-BE49-F238E27FC236}">
                <a16:creationId xmlns:a16="http://schemas.microsoft.com/office/drawing/2014/main" id="{AEE427EF-0825-46FC-99F1-08927AAC4543}"/>
              </a:ext>
            </a:extLst>
          </p:cNvPr>
          <p:cNvSpPr/>
          <p:nvPr/>
        </p:nvSpPr>
        <p:spPr>
          <a:xfrm>
            <a:off x="635000" y="5054600"/>
            <a:ext cx="584200" cy="584200"/>
          </a:xfrm>
          <a:prstGeom prst="ellipse">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a:solidFill>
                  <a:srgbClr val="1F2D3D"/>
                </a:solidFill>
                <a:latin typeface="Segoe UI" panose="020B0502040204020203" pitchFamily="34" charset="0"/>
              </a:rPr>
              <a:t>4</a:t>
            </a:r>
          </a:p>
        </p:txBody>
      </p:sp>
      <p:sp>
        <p:nvSpPr>
          <p:cNvPr id="18" name="TextBox 17">
            <a:extLst>
              <a:ext uri="{FF2B5EF4-FFF2-40B4-BE49-F238E27FC236}">
                <a16:creationId xmlns:a16="http://schemas.microsoft.com/office/drawing/2014/main" id="{36FBFDFD-C8DA-4AFF-A2CA-4247ADF7FED8}"/>
              </a:ext>
            </a:extLst>
          </p:cNvPr>
          <p:cNvSpPr txBox="1"/>
          <p:nvPr/>
        </p:nvSpPr>
        <p:spPr>
          <a:xfrm>
            <a:off x="1422400" y="5003800"/>
            <a:ext cx="5080000" cy="384721"/>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Select the restore point</a:t>
            </a:r>
          </a:p>
        </p:txBody>
      </p:sp>
      <p:sp>
        <p:nvSpPr>
          <p:cNvPr id="19" name="TextBox 18">
            <a:extLst>
              <a:ext uri="{FF2B5EF4-FFF2-40B4-BE49-F238E27FC236}">
                <a16:creationId xmlns:a16="http://schemas.microsoft.com/office/drawing/2014/main" id="{C2CB9B66-51E8-46B0-9425-CC2568096FEB}"/>
              </a:ext>
            </a:extLst>
          </p:cNvPr>
          <p:cNvSpPr txBox="1"/>
          <p:nvPr/>
        </p:nvSpPr>
        <p:spPr>
          <a:xfrm>
            <a:off x="1422400" y="5384800"/>
            <a:ext cx="5080000" cy="292388"/>
          </a:xfrm>
          <a:prstGeom prst="rect">
            <a:avLst/>
          </a:prstGeom>
          <a:noFill/>
        </p:spPr>
        <p:txBody>
          <a:bodyPr vert="horz" wrap="square" rtlCol="0">
            <a:spAutoFit/>
          </a:bodyPr>
          <a:lstStyle/>
          <a:p>
            <a:r>
              <a:rPr lang="en-US" sz="1300">
                <a:solidFill>
                  <a:srgbClr val="5C6B66"/>
                </a:solidFill>
                <a:latin typeface="Segoe UI" panose="020B0502040204020203" pitchFamily="34" charset="0"/>
              </a:rPr>
              <a:t>Pick the point in time you want to restore.</a:t>
            </a:r>
          </a:p>
        </p:txBody>
      </p:sp>
      <p:sp>
        <p:nvSpPr>
          <p:cNvPr id="20" name="Rectangle 19">
            <a:extLst>
              <a:ext uri="{FF2B5EF4-FFF2-40B4-BE49-F238E27FC236}">
                <a16:creationId xmlns:a16="http://schemas.microsoft.com/office/drawing/2014/main" id="{B2A12EB8-D7F2-48A0-B52A-1EC19DF1A2AE}"/>
              </a:ext>
            </a:extLst>
          </p:cNvPr>
          <p:cNvSpPr/>
          <p:nvPr/>
        </p:nvSpPr>
        <p:spPr>
          <a:xfrm>
            <a:off x="7112000" y="1498600"/>
            <a:ext cx="4445000" cy="4445000"/>
          </a:xfrm>
          <a:prstGeom prst="rect">
            <a:avLst/>
          </a:prstGeom>
          <a:solidFill>
            <a:srgbClr val="1F2D3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C6377E6-EBA6-45C0-85BC-D2073F3C7767}"/>
              </a:ext>
            </a:extLst>
          </p:cNvPr>
          <p:cNvSpPr txBox="1"/>
          <p:nvPr/>
        </p:nvSpPr>
        <p:spPr>
          <a:xfrm>
            <a:off x="7366000" y="1651000"/>
            <a:ext cx="3937000" cy="307777"/>
          </a:xfrm>
          <a:prstGeom prst="rect">
            <a:avLst/>
          </a:prstGeom>
          <a:noFill/>
        </p:spPr>
        <p:txBody>
          <a:bodyPr vert="horz" wrap="square" rtlCol="0">
            <a:spAutoFit/>
          </a:bodyPr>
          <a:lstStyle/>
          <a:p>
            <a:r>
              <a:rPr lang="en-US" sz="1400" b="1">
                <a:solidFill>
                  <a:srgbClr val="59BEC9"/>
                </a:solidFill>
                <a:latin typeface="Segoe UI" panose="020B0502040204020203" pitchFamily="34" charset="0"/>
              </a:rPr>
              <a:t>Portal path</a:t>
            </a:r>
          </a:p>
        </p:txBody>
      </p:sp>
      <p:sp>
        <p:nvSpPr>
          <p:cNvPr id="22" name="TextBox 21">
            <a:extLst>
              <a:ext uri="{FF2B5EF4-FFF2-40B4-BE49-F238E27FC236}">
                <a16:creationId xmlns:a16="http://schemas.microsoft.com/office/drawing/2014/main" id="{E767F798-45A0-44A5-90C3-FF048543EE92}"/>
              </a:ext>
            </a:extLst>
          </p:cNvPr>
          <p:cNvSpPr txBox="1"/>
          <p:nvPr/>
        </p:nvSpPr>
        <p:spPr>
          <a:xfrm>
            <a:off x="7366000" y="2095500"/>
            <a:ext cx="3937000" cy="2169825"/>
          </a:xfrm>
          <a:prstGeom prst="rect">
            <a:avLst/>
          </a:prstGeom>
          <a:noFill/>
        </p:spPr>
        <p:txBody>
          <a:bodyPr vert="horz" wrap="square" rtlCol="0">
            <a:spAutoFit/>
          </a:bodyPr>
          <a:lstStyle/>
          <a:p>
            <a:pPr>
              <a:spcAft>
                <a:spcPts val="600"/>
              </a:spcAft>
            </a:pPr>
            <a:r>
              <a:rPr lang="en-US" sz="1500">
                <a:solidFill>
                  <a:srgbClr val="FFFFFF"/>
                </a:solidFill>
                <a:latin typeface="Consolas" panose="020B0609020204030204" pitchFamily="49" charset="0"/>
              </a:rPr>
              <a:t>Azure Portal</a:t>
            </a:r>
          </a:p>
          <a:p>
            <a:pPr>
              <a:spcAft>
                <a:spcPts val="600"/>
              </a:spcAft>
            </a:pPr>
            <a:r>
              <a:rPr lang="en-US" sz="1500">
                <a:solidFill>
                  <a:srgbClr val="FFFFFF"/>
                </a:solidFill>
                <a:latin typeface="Consolas" panose="020B0609020204030204" pitchFamily="49" charset="0"/>
              </a:rPr>
              <a:t>  Backup vaults</a:t>
            </a:r>
          </a:p>
          <a:p>
            <a:pPr>
              <a:spcAft>
                <a:spcPts val="600"/>
              </a:spcAft>
            </a:pPr>
            <a:r>
              <a:rPr lang="en-US" sz="1500">
                <a:solidFill>
                  <a:srgbClr val="FFFFFF"/>
                </a:solidFill>
                <a:latin typeface="Consolas" panose="020B0609020204030204" pitchFamily="49" charset="0"/>
              </a:rPr>
              <a:t>    &lt;vault for the environment&gt;</a:t>
            </a:r>
          </a:p>
          <a:p>
            <a:pPr>
              <a:spcAft>
                <a:spcPts val="600"/>
              </a:spcAft>
            </a:pPr>
            <a:r>
              <a:rPr lang="en-US" sz="1500">
                <a:solidFill>
                  <a:srgbClr val="FFFFFF"/>
                </a:solidFill>
                <a:latin typeface="Consolas" panose="020B0609020204030204" pitchFamily="49" charset="0"/>
              </a:rPr>
              <a:t>      Backup instances</a:t>
            </a:r>
          </a:p>
          <a:p>
            <a:pPr>
              <a:spcAft>
                <a:spcPts val="600"/>
              </a:spcAft>
            </a:pPr>
            <a:r>
              <a:rPr lang="en-US" sz="1500">
                <a:solidFill>
                  <a:srgbClr val="FFFFFF"/>
                </a:solidFill>
                <a:latin typeface="Consolas" panose="020B0609020204030204" pitchFamily="49" charset="0"/>
              </a:rPr>
              <a:t>        &lt;AKS backup instance&gt;</a:t>
            </a:r>
          </a:p>
          <a:p>
            <a:pPr>
              <a:spcAft>
                <a:spcPts val="600"/>
              </a:spcAft>
            </a:pPr>
            <a:r>
              <a:rPr lang="en-US" sz="1500">
                <a:solidFill>
                  <a:srgbClr val="FFFFFF"/>
                </a:solidFill>
                <a:latin typeface="Consolas" panose="020B0609020204030204" pitchFamily="49" charset="0"/>
              </a:rPr>
              <a:t>          Restore</a:t>
            </a:r>
          </a:p>
          <a:p>
            <a:pPr>
              <a:spcAft>
                <a:spcPts val="600"/>
              </a:spcAft>
            </a:pPr>
            <a:r>
              <a:rPr lang="en-US" sz="1500">
                <a:solidFill>
                  <a:srgbClr val="FFFFFF"/>
                </a:solidFill>
                <a:latin typeface="Consolas" panose="020B0609020204030204" pitchFamily="49" charset="0"/>
              </a:rPr>
              <a:t>            Restore point</a:t>
            </a:r>
          </a:p>
        </p:txBody>
      </p:sp>
    </p:spTree>
    <p:extLst>
      <p:ext uri="{BB962C8B-B14F-4D97-AF65-F5344CB8AC3E}">
        <p14:creationId xmlns:p14="http://schemas.microsoft.com/office/powerpoint/2010/main" val="2436895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4E5127-A3B2-4523-B078-1AD6AE0B5A0F}"/>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B0D9874-D016-4AFD-981B-BDB29E3DB752}"/>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F3B4316-6152-4999-BA0D-FF0CED68C757}"/>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Restore in the Portal: running the restore</a:t>
            </a:r>
          </a:p>
        </p:txBody>
      </p:sp>
      <p:sp>
        <p:nvSpPr>
          <p:cNvPr id="5" name="TextBox 4">
            <a:extLst>
              <a:ext uri="{FF2B5EF4-FFF2-40B4-BE49-F238E27FC236}">
                <a16:creationId xmlns:a16="http://schemas.microsoft.com/office/drawing/2014/main" id="{43D9FC3F-2352-4D47-9663-BA2DB45D7675}"/>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Steps 5 to 8</a:t>
            </a:r>
          </a:p>
        </p:txBody>
      </p:sp>
      <p:sp>
        <p:nvSpPr>
          <p:cNvPr id="6" name="TextBox 5">
            <a:extLst>
              <a:ext uri="{FF2B5EF4-FFF2-40B4-BE49-F238E27FC236}">
                <a16:creationId xmlns:a16="http://schemas.microsoft.com/office/drawing/2014/main" id="{325F5301-584E-4294-9E4F-F28620CE45B2}"/>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C388AF92-4D0A-41AA-AB82-308E8E06C5F0}"/>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14</a:t>
            </a:r>
          </a:p>
        </p:txBody>
      </p:sp>
      <p:sp>
        <p:nvSpPr>
          <p:cNvPr id="8" name="Rectangle 7">
            <a:extLst>
              <a:ext uri="{FF2B5EF4-FFF2-40B4-BE49-F238E27FC236}">
                <a16:creationId xmlns:a16="http://schemas.microsoft.com/office/drawing/2014/main" id="{58596FD2-CAB0-4A04-B1D8-119D3310A2D0}"/>
              </a:ext>
            </a:extLst>
          </p:cNvPr>
          <p:cNvSpPr/>
          <p:nvPr/>
        </p:nvSpPr>
        <p:spPr>
          <a:xfrm>
            <a:off x="635000" y="1498600"/>
            <a:ext cx="5461000" cy="2032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2C8D129-CE96-40E8-9E23-AFE128BD1123}"/>
              </a:ext>
            </a:extLst>
          </p:cNvPr>
          <p:cNvSpPr/>
          <p:nvPr/>
        </p:nvSpPr>
        <p:spPr>
          <a:xfrm>
            <a:off x="635000" y="1498600"/>
            <a:ext cx="76200" cy="2032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B64B5E3-4AFD-453F-83A9-5605D0F5592A}"/>
              </a:ext>
            </a:extLst>
          </p:cNvPr>
          <p:cNvSpPr txBox="1"/>
          <p:nvPr/>
        </p:nvSpPr>
        <p:spPr>
          <a:xfrm>
            <a:off x="863600" y="1625600"/>
            <a:ext cx="5080000" cy="381000"/>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5. Target cluster</a:t>
            </a:r>
          </a:p>
        </p:txBody>
      </p:sp>
      <p:sp>
        <p:nvSpPr>
          <p:cNvPr id="11" name="TextBox 10">
            <a:extLst>
              <a:ext uri="{FF2B5EF4-FFF2-40B4-BE49-F238E27FC236}">
                <a16:creationId xmlns:a16="http://schemas.microsoft.com/office/drawing/2014/main" id="{425A0A4D-BB36-4C22-9759-45097CE210B9}"/>
              </a:ext>
            </a:extLst>
          </p:cNvPr>
          <p:cNvSpPr txBox="1"/>
          <p:nvPr/>
        </p:nvSpPr>
        <p:spPr>
          <a:xfrm>
            <a:off x="863600" y="2095500"/>
            <a:ext cx="5080000" cy="523220"/>
          </a:xfrm>
          <a:prstGeom prst="rect">
            <a:avLst/>
          </a:prstGeom>
          <a:noFill/>
        </p:spPr>
        <p:txBody>
          <a:bodyPr vert="horz" wrap="square" rtlCol="0">
            <a:spAutoFit/>
          </a:bodyPr>
          <a:lstStyle/>
          <a:p>
            <a:r>
              <a:rPr lang="en-US" sz="1400">
                <a:solidFill>
                  <a:srgbClr val="5C6B66"/>
                </a:solidFill>
                <a:latin typeface="Segoe UI" panose="020B0502040204020203" pitchFamily="34" charset="0"/>
              </a:rPr>
              <a:t>On Restore parameters, click Select Kubernetes Service and choose the target cluster, for example the -rst cluster.</a:t>
            </a:r>
          </a:p>
        </p:txBody>
      </p:sp>
      <p:sp>
        <p:nvSpPr>
          <p:cNvPr id="12" name="Rectangle 11">
            <a:extLst>
              <a:ext uri="{FF2B5EF4-FFF2-40B4-BE49-F238E27FC236}">
                <a16:creationId xmlns:a16="http://schemas.microsoft.com/office/drawing/2014/main" id="{35D85605-DDE4-4370-94EA-A1E02A326DF2}"/>
              </a:ext>
            </a:extLst>
          </p:cNvPr>
          <p:cNvSpPr/>
          <p:nvPr/>
        </p:nvSpPr>
        <p:spPr>
          <a:xfrm>
            <a:off x="6096000" y="1498600"/>
            <a:ext cx="5461000" cy="2032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F60DBDF-79D9-4AD4-AC93-54390CB18966}"/>
              </a:ext>
            </a:extLst>
          </p:cNvPr>
          <p:cNvSpPr/>
          <p:nvPr/>
        </p:nvSpPr>
        <p:spPr>
          <a:xfrm>
            <a:off x="6096000" y="1498600"/>
            <a:ext cx="76200" cy="2032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E9E2BFD-BF4C-4507-970C-3FD63D7FBD2B}"/>
              </a:ext>
            </a:extLst>
          </p:cNvPr>
          <p:cNvSpPr txBox="1"/>
          <p:nvPr/>
        </p:nvSpPr>
        <p:spPr>
          <a:xfrm>
            <a:off x="6324600" y="1625600"/>
            <a:ext cx="5080000" cy="381000"/>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6. Select resources</a:t>
            </a:r>
          </a:p>
        </p:txBody>
      </p:sp>
      <p:sp>
        <p:nvSpPr>
          <p:cNvPr id="15" name="TextBox 14">
            <a:extLst>
              <a:ext uri="{FF2B5EF4-FFF2-40B4-BE49-F238E27FC236}">
                <a16:creationId xmlns:a16="http://schemas.microsoft.com/office/drawing/2014/main" id="{B26D2B2A-269D-4CCD-ABA6-F78CC8A9AD6C}"/>
              </a:ext>
            </a:extLst>
          </p:cNvPr>
          <p:cNvSpPr txBox="1"/>
          <p:nvPr/>
        </p:nvSpPr>
        <p:spPr>
          <a:xfrm>
            <a:off x="6324600" y="2095500"/>
            <a:ext cx="5080000" cy="307777"/>
          </a:xfrm>
          <a:prstGeom prst="rect">
            <a:avLst/>
          </a:prstGeom>
          <a:noFill/>
        </p:spPr>
        <p:txBody>
          <a:bodyPr vert="horz" wrap="square" rtlCol="0">
            <a:spAutoFit/>
          </a:bodyPr>
          <a:lstStyle/>
          <a:p>
            <a:r>
              <a:rPr lang="en-US" sz="1400">
                <a:solidFill>
                  <a:srgbClr val="5C6B66"/>
                </a:solidFill>
                <a:latin typeface="Segoe UI" panose="020B0502040204020203" pitchFamily="34" charset="0"/>
              </a:rPr>
              <a:t>Choose which namespaces and resources to restore.</a:t>
            </a:r>
          </a:p>
        </p:txBody>
      </p:sp>
      <p:sp>
        <p:nvSpPr>
          <p:cNvPr id="16" name="Rectangle 15">
            <a:extLst>
              <a:ext uri="{FF2B5EF4-FFF2-40B4-BE49-F238E27FC236}">
                <a16:creationId xmlns:a16="http://schemas.microsoft.com/office/drawing/2014/main" id="{062D5BC4-7D52-4735-9F82-D19DB862A7A1}"/>
              </a:ext>
            </a:extLst>
          </p:cNvPr>
          <p:cNvSpPr/>
          <p:nvPr/>
        </p:nvSpPr>
        <p:spPr>
          <a:xfrm>
            <a:off x="635000" y="3683000"/>
            <a:ext cx="5461000" cy="2032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DF12368-3A1B-45C0-B365-DC020FD7C40F}"/>
              </a:ext>
            </a:extLst>
          </p:cNvPr>
          <p:cNvSpPr/>
          <p:nvPr/>
        </p:nvSpPr>
        <p:spPr>
          <a:xfrm>
            <a:off x="635000" y="3683000"/>
            <a:ext cx="76200" cy="2032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6010DF4-29A1-4BF4-B263-02A4052D8D57}"/>
              </a:ext>
            </a:extLst>
          </p:cNvPr>
          <p:cNvSpPr txBox="1"/>
          <p:nvPr/>
        </p:nvSpPr>
        <p:spPr>
          <a:xfrm>
            <a:off x="863600" y="3810000"/>
            <a:ext cx="5080000" cy="381000"/>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7. Validate and grant permission</a:t>
            </a:r>
          </a:p>
        </p:txBody>
      </p:sp>
      <p:sp>
        <p:nvSpPr>
          <p:cNvPr id="19" name="TextBox 18">
            <a:extLst>
              <a:ext uri="{FF2B5EF4-FFF2-40B4-BE49-F238E27FC236}">
                <a16:creationId xmlns:a16="http://schemas.microsoft.com/office/drawing/2014/main" id="{EF134A3E-35B4-4610-86BF-5FDC332CA679}"/>
              </a:ext>
            </a:extLst>
          </p:cNvPr>
          <p:cNvSpPr txBox="1"/>
          <p:nvPr/>
        </p:nvSpPr>
        <p:spPr>
          <a:xfrm>
            <a:off x="863600" y="4279900"/>
            <a:ext cx="5080000" cy="738664"/>
          </a:xfrm>
          <a:prstGeom prst="rect">
            <a:avLst/>
          </a:prstGeom>
          <a:noFill/>
        </p:spPr>
        <p:txBody>
          <a:bodyPr vert="horz" wrap="square" rtlCol="0">
            <a:spAutoFit/>
          </a:bodyPr>
          <a:lstStyle/>
          <a:p>
            <a:r>
              <a:rPr lang="en-US" sz="1400">
                <a:solidFill>
                  <a:srgbClr val="5C6B66"/>
                </a:solidFill>
                <a:latin typeface="Segoe UI" panose="020B0502040204020203" pitchFamily="34" charset="0"/>
              </a:rPr>
              <a:t>Click Validate. For the -rst cluster, backup.tf does not create Trusted Access or the role assignments, so expect it to ask for them. Grant what it asks for, then validate again until it passes.</a:t>
            </a:r>
          </a:p>
        </p:txBody>
      </p:sp>
      <p:sp>
        <p:nvSpPr>
          <p:cNvPr id="20" name="Rectangle 19">
            <a:extLst>
              <a:ext uri="{FF2B5EF4-FFF2-40B4-BE49-F238E27FC236}">
                <a16:creationId xmlns:a16="http://schemas.microsoft.com/office/drawing/2014/main" id="{016E5EF5-2977-4B6D-A662-891BEE59ADC3}"/>
              </a:ext>
            </a:extLst>
          </p:cNvPr>
          <p:cNvSpPr/>
          <p:nvPr/>
        </p:nvSpPr>
        <p:spPr>
          <a:xfrm>
            <a:off x="6096000" y="3683000"/>
            <a:ext cx="5461000" cy="2032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0EF75C0-4988-4057-8101-C5137A416B1A}"/>
              </a:ext>
            </a:extLst>
          </p:cNvPr>
          <p:cNvSpPr/>
          <p:nvPr/>
        </p:nvSpPr>
        <p:spPr>
          <a:xfrm>
            <a:off x="6096000" y="3683000"/>
            <a:ext cx="76200" cy="2032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6D98A30-C868-4ADA-905D-00A4A78BB487}"/>
              </a:ext>
            </a:extLst>
          </p:cNvPr>
          <p:cNvSpPr txBox="1"/>
          <p:nvPr/>
        </p:nvSpPr>
        <p:spPr>
          <a:xfrm>
            <a:off x="6324600" y="3810000"/>
            <a:ext cx="5080000" cy="381000"/>
          </a:xfrm>
          <a:prstGeom prst="rect">
            <a:avLst/>
          </a:prstGeom>
          <a:noFill/>
        </p:spPr>
        <p:txBody>
          <a:bodyPr vert="horz" wrap="square" rtlCol="0">
            <a:spAutoFit/>
          </a:bodyPr>
          <a:lstStyle/>
          <a:p>
            <a:r>
              <a:rPr lang="en-US" sz="1900" b="1">
                <a:solidFill>
                  <a:srgbClr val="1F2D3D"/>
                </a:solidFill>
                <a:latin typeface="Segoe UI" panose="020B0502040204020203" pitchFamily="34" charset="0"/>
              </a:rPr>
              <a:t>8. Review and restore</a:t>
            </a:r>
          </a:p>
        </p:txBody>
      </p:sp>
      <p:sp>
        <p:nvSpPr>
          <p:cNvPr id="23" name="TextBox 22">
            <a:extLst>
              <a:ext uri="{FF2B5EF4-FFF2-40B4-BE49-F238E27FC236}">
                <a16:creationId xmlns:a16="http://schemas.microsoft.com/office/drawing/2014/main" id="{28E4276E-88B1-451A-8872-C43071E0C9FE}"/>
              </a:ext>
            </a:extLst>
          </p:cNvPr>
          <p:cNvSpPr txBox="1"/>
          <p:nvPr/>
        </p:nvSpPr>
        <p:spPr>
          <a:xfrm>
            <a:off x="6324600" y="4279900"/>
            <a:ext cx="5080000" cy="523220"/>
          </a:xfrm>
          <a:prstGeom prst="rect">
            <a:avLst/>
          </a:prstGeom>
          <a:noFill/>
        </p:spPr>
        <p:txBody>
          <a:bodyPr vert="horz" wrap="square" rtlCol="0">
            <a:spAutoFit/>
          </a:bodyPr>
          <a:lstStyle/>
          <a:p>
            <a:r>
              <a:rPr lang="en-US" sz="1400">
                <a:solidFill>
                  <a:srgbClr val="5C6B66"/>
                </a:solidFill>
                <a:latin typeface="Segoe UI" panose="020B0502040204020203" pitchFamily="34" charset="0"/>
              </a:rPr>
              <a:t>Review the summary, click Restore, then follow progress under Backup jobs in the vault.</a:t>
            </a:r>
          </a:p>
        </p:txBody>
      </p:sp>
    </p:spTree>
    <p:extLst>
      <p:ext uri="{BB962C8B-B14F-4D97-AF65-F5344CB8AC3E}">
        <p14:creationId xmlns:p14="http://schemas.microsoft.com/office/powerpoint/2010/main" val="19986596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877BFA-CB2A-4BC3-9627-397B21E58A77}"/>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DB2B47A-C8BA-42CE-9366-53CD4B35783A}"/>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BA261EB-721E-4B20-8A62-848621C49DE8}"/>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Choosing what to restore</a:t>
            </a:r>
          </a:p>
        </p:txBody>
      </p:sp>
      <p:sp>
        <p:nvSpPr>
          <p:cNvPr id="5" name="TextBox 4">
            <a:extLst>
              <a:ext uri="{FF2B5EF4-FFF2-40B4-BE49-F238E27FC236}">
                <a16:creationId xmlns:a16="http://schemas.microsoft.com/office/drawing/2014/main" id="{E60000B8-5A5D-4CC6-B0D9-CCA1000D9122}"/>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Item-level filters and conflict handling</a:t>
            </a:r>
          </a:p>
        </p:txBody>
      </p:sp>
      <p:sp>
        <p:nvSpPr>
          <p:cNvPr id="6" name="TextBox 5">
            <a:extLst>
              <a:ext uri="{FF2B5EF4-FFF2-40B4-BE49-F238E27FC236}">
                <a16:creationId xmlns:a16="http://schemas.microsoft.com/office/drawing/2014/main" id="{079ECA24-A0C1-413F-A855-6F555EABEAE6}"/>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6759CB13-5066-4685-84C2-9E8BCF5EA2A6}"/>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15</a:t>
            </a:r>
          </a:p>
        </p:txBody>
      </p:sp>
      <p:sp>
        <p:nvSpPr>
          <p:cNvPr id="8" name="Rectangle 7">
            <a:extLst>
              <a:ext uri="{FF2B5EF4-FFF2-40B4-BE49-F238E27FC236}">
                <a16:creationId xmlns:a16="http://schemas.microsoft.com/office/drawing/2014/main" id="{C68D7306-7F7B-4955-BEAE-1AA7F4DE1E95}"/>
              </a:ext>
            </a:extLst>
          </p:cNvPr>
          <p:cNvSpPr/>
          <p:nvPr/>
        </p:nvSpPr>
        <p:spPr>
          <a:xfrm>
            <a:off x="635000" y="1498600"/>
            <a:ext cx="5461000" cy="4191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C715E13-680F-4868-87EB-C18E55294F6D}"/>
              </a:ext>
            </a:extLst>
          </p:cNvPr>
          <p:cNvSpPr/>
          <p:nvPr/>
        </p:nvSpPr>
        <p:spPr>
          <a:xfrm>
            <a:off x="635000" y="1498600"/>
            <a:ext cx="5461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0459B96-77DA-4816-A3D4-BD9460EC4836}"/>
              </a:ext>
            </a:extLst>
          </p:cNvPr>
          <p:cNvSpPr txBox="1"/>
          <p:nvPr/>
        </p:nvSpPr>
        <p:spPr>
          <a:xfrm>
            <a:off x="863600" y="1701800"/>
            <a:ext cx="5080000" cy="400110"/>
          </a:xfrm>
          <a:prstGeom prst="rect">
            <a:avLst/>
          </a:prstGeom>
          <a:noFill/>
        </p:spPr>
        <p:txBody>
          <a:bodyPr vert="horz" wrap="square" rtlCol="0">
            <a:spAutoFit/>
          </a:bodyPr>
          <a:lstStyle/>
          <a:p>
            <a:r>
              <a:rPr lang="en-US" sz="2000" b="1">
                <a:solidFill>
                  <a:srgbClr val="1F2D3D"/>
                </a:solidFill>
                <a:latin typeface="Segoe UI" panose="020B0502040204020203" pitchFamily="34" charset="0"/>
              </a:rPr>
              <a:t>Filters</a:t>
            </a:r>
          </a:p>
        </p:txBody>
      </p:sp>
      <p:sp>
        <p:nvSpPr>
          <p:cNvPr id="11" name="TextBox 10">
            <a:extLst>
              <a:ext uri="{FF2B5EF4-FFF2-40B4-BE49-F238E27FC236}">
                <a16:creationId xmlns:a16="http://schemas.microsoft.com/office/drawing/2014/main" id="{441B755F-594D-4460-9578-6407883CDF52}"/>
              </a:ext>
            </a:extLst>
          </p:cNvPr>
          <p:cNvSpPr txBox="1"/>
          <p:nvPr/>
        </p:nvSpPr>
        <p:spPr>
          <a:xfrm>
            <a:off x="863600" y="2159000"/>
            <a:ext cx="5080000" cy="2118529"/>
          </a:xfrm>
          <a:prstGeom prst="rect">
            <a:avLst/>
          </a:prstGeom>
          <a:noFill/>
        </p:spPr>
        <p:txBody>
          <a:bodyPr vert="horz" wrap="square" rtlCol="0">
            <a:spAutoFit/>
          </a:bodyPr>
          <a:lstStyle/>
          <a:p>
            <a:pPr marL="342900" indent="-342900">
              <a:spcAft>
                <a:spcPts val="800"/>
              </a:spcAft>
              <a:buFont typeface="+mj-lt"/>
              <a:buChar char="•"/>
            </a:pPr>
            <a:r>
              <a:rPr lang="en-US" sz="1500">
                <a:solidFill>
                  <a:srgbClr val="1F2D3D"/>
                </a:solidFill>
                <a:latin typeface="Segoe UI" panose="020B0502040204020203" pitchFamily="34" charset="0"/>
              </a:rPr>
              <a:t>Namespaces: pick from the backed-up list</a:t>
            </a:r>
          </a:p>
          <a:p>
            <a:pPr marL="342900" indent="-342900">
              <a:spcAft>
                <a:spcPts val="800"/>
              </a:spcAft>
              <a:buFont typeface="+mj-lt"/>
              <a:buChar char="•"/>
            </a:pPr>
            <a:r>
              <a:rPr lang="en-US" sz="1500">
                <a:solidFill>
                  <a:srgbClr val="1F2D3D"/>
                </a:solidFill>
                <a:latin typeface="Segoe UI" panose="020B0502040204020203" pitchFamily="34" charset="0"/>
              </a:rPr>
              <a:t>Cluster-scoped resources: tick to include</a:t>
            </a:r>
          </a:p>
          <a:p>
            <a:pPr marL="342900" indent="-342900">
              <a:spcAft>
                <a:spcPts val="800"/>
              </a:spcAft>
              <a:buFont typeface="+mj-lt"/>
              <a:buChar char="•"/>
            </a:pPr>
            <a:r>
              <a:rPr lang="en-US" sz="1500">
                <a:solidFill>
                  <a:srgbClr val="1F2D3D"/>
                </a:solidFill>
                <a:latin typeface="Segoe UI" panose="020B0502040204020203" pitchFamily="34" charset="0"/>
              </a:rPr>
              <a:t>Labels: restore only resources with matching labels</a:t>
            </a:r>
          </a:p>
          <a:p>
            <a:pPr marL="342900" indent="-342900">
              <a:spcAft>
                <a:spcPts val="800"/>
              </a:spcAft>
              <a:buFont typeface="+mj-lt"/>
              <a:buChar char="•"/>
            </a:pPr>
            <a:r>
              <a:rPr lang="en-US" sz="1500">
                <a:solidFill>
                  <a:srgbClr val="1F2D3D"/>
                </a:solidFill>
                <a:latin typeface="Segoe UI" panose="020B0502040204020203" pitchFamily="34" charset="0"/>
              </a:rPr>
              <a:t>API groups and kinds: restore specific types, such as Deployment</a:t>
            </a:r>
          </a:p>
          <a:p>
            <a:pPr marL="342900" indent="-342900">
              <a:spcAft>
                <a:spcPts val="800"/>
              </a:spcAft>
              <a:buFont typeface="+mj-lt"/>
              <a:buChar char="•"/>
            </a:pPr>
            <a:r>
              <a:rPr lang="en-US" sz="1500">
                <a:solidFill>
                  <a:srgbClr val="1F2D3D"/>
                </a:solidFill>
                <a:latin typeface="Segoe UI" panose="020B0502040204020203" pitchFamily="34" charset="0"/>
              </a:rPr>
              <a:t>Namespace mapping: restore into a different namespace (created if missing)</a:t>
            </a:r>
          </a:p>
        </p:txBody>
      </p:sp>
      <p:sp>
        <p:nvSpPr>
          <p:cNvPr id="12" name="TextBox 11">
            <a:extLst>
              <a:ext uri="{FF2B5EF4-FFF2-40B4-BE49-F238E27FC236}">
                <a16:creationId xmlns:a16="http://schemas.microsoft.com/office/drawing/2014/main" id="{1DC3BADF-35AA-40FB-B8E2-B4C40F3A27A4}"/>
              </a:ext>
            </a:extLst>
          </p:cNvPr>
          <p:cNvSpPr txBox="1"/>
          <p:nvPr/>
        </p:nvSpPr>
        <p:spPr>
          <a:xfrm>
            <a:off x="6350000" y="1498600"/>
            <a:ext cx="5207000" cy="400110"/>
          </a:xfrm>
          <a:prstGeom prst="rect">
            <a:avLst/>
          </a:prstGeom>
          <a:noFill/>
        </p:spPr>
        <p:txBody>
          <a:bodyPr vert="horz" wrap="square" rtlCol="0">
            <a:spAutoFit/>
          </a:bodyPr>
          <a:lstStyle/>
          <a:p>
            <a:r>
              <a:rPr lang="en-US" sz="2000" b="1">
                <a:solidFill>
                  <a:srgbClr val="1F2D3D"/>
                </a:solidFill>
                <a:latin typeface="Segoe UI" panose="020B0502040204020203" pitchFamily="34" charset="0"/>
              </a:rPr>
              <a:t>If a resource already exists</a:t>
            </a:r>
          </a:p>
        </p:txBody>
      </p:sp>
      <p:sp>
        <p:nvSpPr>
          <p:cNvPr id="13" name="Rectangle: Rounded Corners 12">
            <a:extLst>
              <a:ext uri="{FF2B5EF4-FFF2-40B4-BE49-F238E27FC236}">
                <a16:creationId xmlns:a16="http://schemas.microsoft.com/office/drawing/2014/main" id="{23C79B78-4733-484B-ACC6-AA23C47EFC99}"/>
              </a:ext>
            </a:extLst>
          </p:cNvPr>
          <p:cNvSpPr/>
          <p:nvPr/>
        </p:nvSpPr>
        <p:spPr>
          <a:xfrm>
            <a:off x="6350000" y="1955800"/>
            <a:ext cx="5207000" cy="1270000"/>
          </a:xfrm>
          <a:prstGeom prst="round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1F2D3D"/>
                </a:solidFill>
                <a:latin typeface="Segoe UI" panose="020B0502040204020203" pitchFamily="34" charset="0"/>
              </a:rPr>
              <a:t>Skip (default)</a:t>
            </a:r>
          </a:p>
          <a:p>
            <a:pPr algn="ctr"/>
            <a:r>
              <a:rPr lang="en-US" sz="1400">
                <a:solidFill>
                  <a:srgbClr val="1F2D3D"/>
                </a:solidFill>
                <a:latin typeface="Segoe UI" panose="020B0502040204020203" pitchFamily="34" charset="0"/>
              </a:rPr>
              <a:t>Leave the existing resource as it is. Delete it first if you want it restored.</a:t>
            </a:r>
          </a:p>
        </p:txBody>
      </p:sp>
      <p:sp>
        <p:nvSpPr>
          <p:cNvPr id="14" name="Rectangle: Rounded Corners 13">
            <a:extLst>
              <a:ext uri="{FF2B5EF4-FFF2-40B4-BE49-F238E27FC236}">
                <a16:creationId xmlns:a16="http://schemas.microsoft.com/office/drawing/2014/main" id="{FCC5DD66-A05D-47D1-8E43-D450F48F074B}"/>
              </a:ext>
            </a:extLst>
          </p:cNvPr>
          <p:cNvSpPr/>
          <p:nvPr/>
        </p:nvSpPr>
        <p:spPr>
          <a:xfrm>
            <a:off x="6350000" y="3378200"/>
            <a:ext cx="5207000" cy="1270000"/>
          </a:xfrm>
          <a:prstGeom prst="roundRect">
            <a:avLst/>
          </a:prstGeom>
          <a:solidFill>
            <a:srgbClr val="1F2D3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FFFFF"/>
                </a:solidFill>
                <a:latin typeface="Segoe UI" panose="020B0502040204020203" pitchFamily="34" charset="0"/>
              </a:rPr>
              <a:t>Patch</a:t>
            </a:r>
          </a:p>
          <a:p>
            <a:pPr algn="ctr"/>
            <a:r>
              <a:rPr lang="en-US" sz="1400">
                <a:solidFill>
                  <a:srgbClr val="FFFFFF"/>
                </a:solidFill>
                <a:latin typeface="Segoe UI" panose="020B0502040204020203" pitchFamily="34" charset="0"/>
              </a:rPr>
              <a:t>Update the mutable fields of the existing resource, for example the replica count.</a:t>
            </a:r>
          </a:p>
        </p:txBody>
      </p:sp>
      <p:sp>
        <p:nvSpPr>
          <p:cNvPr id="15" name="TextBox 14">
            <a:extLst>
              <a:ext uri="{FF2B5EF4-FFF2-40B4-BE49-F238E27FC236}">
                <a16:creationId xmlns:a16="http://schemas.microsoft.com/office/drawing/2014/main" id="{040B5F86-0673-45FD-9CEE-49942083F343}"/>
              </a:ext>
            </a:extLst>
          </p:cNvPr>
          <p:cNvSpPr txBox="1"/>
          <p:nvPr/>
        </p:nvSpPr>
        <p:spPr>
          <a:xfrm>
            <a:off x="6350000" y="4800600"/>
            <a:ext cx="5207000" cy="492443"/>
          </a:xfrm>
          <a:prstGeom prst="rect">
            <a:avLst/>
          </a:prstGeom>
          <a:noFill/>
        </p:spPr>
        <p:txBody>
          <a:bodyPr vert="horz" wrap="square" rtlCol="0">
            <a:spAutoFit/>
          </a:bodyPr>
          <a:lstStyle/>
          <a:p>
            <a:r>
              <a:rPr lang="en-US" sz="1300">
                <a:solidFill>
                  <a:srgbClr val="5C6B66"/>
                </a:solidFill>
                <a:latin typeface="Segoe UI" panose="020B0502040204020203" pitchFamily="34" charset="0"/>
              </a:rPr>
              <a:t>Optional: a Resource Modifier ConfigMap can change resource properties during restore.</a:t>
            </a:r>
          </a:p>
        </p:txBody>
      </p:sp>
    </p:spTree>
    <p:extLst>
      <p:ext uri="{BB962C8B-B14F-4D97-AF65-F5344CB8AC3E}">
        <p14:creationId xmlns:p14="http://schemas.microsoft.com/office/powerpoint/2010/main" val="4113897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5A4904-D6D5-4E86-BD4C-BBCD88BA8BBB}"/>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DB92AD8-D141-49BA-9C31-513B5794F6DE}"/>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E02A372-5477-49B6-90B7-E2F65BFCE34E}"/>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After the restore: verify the result</a:t>
            </a:r>
          </a:p>
        </p:txBody>
      </p:sp>
      <p:sp>
        <p:nvSpPr>
          <p:cNvPr id="5" name="TextBox 4">
            <a:extLst>
              <a:ext uri="{FF2B5EF4-FFF2-40B4-BE49-F238E27FC236}">
                <a16:creationId xmlns:a16="http://schemas.microsoft.com/office/drawing/2014/main" id="{5F5D7A6E-D949-4289-832E-82A260B727AB}"/>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Check the cluster and the restore job</a:t>
            </a:r>
          </a:p>
        </p:txBody>
      </p:sp>
      <p:sp>
        <p:nvSpPr>
          <p:cNvPr id="6" name="TextBox 5">
            <a:extLst>
              <a:ext uri="{FF2B5EF4-FFF2-40B4-BE49-F238E27FC236}">
                <a16:creationId xmlns:a16="http://schemas.microsoft.com/office/drawing/2014/main" id="{265BE0A2-F441-4151-83CA-8FF4586B68E4}"/>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9D2F1CDA-2203-45D9-A792-D13B934FFF46}"/>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16</a:t>
            </a:r>
          </a:p>
        </p:txBody>
      </p:sp>
      <p:sp>
        <p:nvSpPr>
          <p:cNvPr id="8" name="Rectangle 7">
            <a:extLst>
              <a:ext uri="{FF2B5EF4-FFF2-40B4-BE49-F238E27FC236}">
                <a16:creationId xmlns:a16="http://schemas.microsoft.com/office/drawing/2014/main" id="{BD641D13-3FEC-474C-91A6-D8AE5B49BCC4}"/>
              </a:ext>
            </a:extLst>
          </p:cNvPr>
          <p:cNvSpPr/>
          <p:nvPr/>
        </p:nvSpPr>
        <p:spPr>
          <a:xfrm>
            <a:off x="635000" y="1498600"/>
            <a:ext cx="5461000" cy="3175000"/>
          </a:xfrm>
          <a:prstGeom prst="rect">
            <a:avLst/>
          </a:prstGeom>
          <a:solidFill>
            <a:srgbClr val="1F2D3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D5D5CA1-8ED0-4896-B8C5-0FBF44D83D03}"/>
              </a:ext>
            </a:extLst>
          </p:cNvPr>
          <p:cNvSpPr txBox="1"/>
          <p:nvPr/>
        </p:nvSpPr>
        <p:spPr>
          <a:xfrm>
            <a:off x="863600" y="1651000"/>
            <a:ext cx="5080000" cy="369332"/>
          </a:xfrm>
          <a:prstGeom prst="rect">
            <a:avLst/>
          </a:prstGeom>
          <a:noFill/>
        </p:spPr>
        <p:txBody>
          <a:bodyPr vert="horz" wrap="square" rtlCol="0">
            <a:spAutoFit/>
          </a:bodyPr>
          <a:lstStyle/>
          <a:p>
            <a:r>
              <a:rPr lang="en-US" b="1">
                <a:solidFill>
                  <a:srgbClr val="59BEC9"/>
                </a:solidFill>
                <a:latin typeface="Segoe UI" panose="020B0502040204020203" pitchFamily="34" charset="0"/>
              </a:rPr>
              <a:t>Check the resources</a:t>
            </a:r>
          </a:p>
        </p:txBody>
      </p:sp>
      <p:sp>
        <p:nvSpPr>
          <p:cNvPr id="10" name="TextBox 9">
            <a:extLst>
              <a:ext uri="{FF2B5EF4-FFF2-40B4-BE49-F238E27FC236}">
                <a16:creationId xmlns:a16="http://schemas.microsoft.com/office/drawing/2014/main" id="{21C5FC98-F31A-4054-9E41-6F631196AE93}"/>
              </a:ext>
            </a:extLst>
          </p:cNvPr>
          <p:cNvSpPr txBox="1"/>
          <p:nvPr/>
        </p:nvSpPr>
        <p:spPr>
          <a:xfrm>
            <a:off x="863600" y="2222500"/>
            <a:ext cx="5080000" cy="738664"/>
          </a:xfrm>
          <a:prstGeom prst="rect">
            <a:avLst/>
          </a:prstGeom>
          <a:noFill/>
        </p:spPr>
        <p:txBody>
          <a:bodyPr vert="horz" wrap="square" rtlCol="0">
            <a:spAutoFit/>
          </a:bodyPr>
          <a:lstStyle/>
          <a:p>
            <a:pPr>
              <a:spcAft>
                <a:spcPts val="1200"/>
              </a:spcAft>
            </a:pPr>
            <a:r>
              <a:rPr lang="en-US" sz="1600" dirty="0" err="1">
                <a:solidFill>
                  <a:srgbClr val="FFFFFF"/>
                </a:solidFill>
                <a:latin typeface="Consolas" panose="020B0609020204030204" pitchFamily="49" charset="0"/>
              </a:rPr>
              <a:t>kubectl</a:t>
            </a:r>
            <a:r>
              <a:rPr lang="en-US" sz="1600" dirty="0">
                <a:solidFill>
                  <a:srgbClr val="FFFFFF"/>
                </a:solidFill>
                <a:latin typeface="Consolas" panose="020B0609020204030204" pitchFamily="49" charset="0"/>
              </a:rPr>
              <a:t> get pods -n &lt;namespace&gt;</a:t>
            </a:r>
          </a:p>
          <a:p>
            <a:pPr>
              <a:spcAft>
                <a:spcPts val="1200"/>
              </a:spcAft>
            </a:pPr>
            <a:r>
              <a:rPr lang="en-US" sz="1600" dirty="0" err="1">
                <a:solidFill>
                  <a:srgbClr val="FFFFFF"/>
                </a:solidFill>
                <a:latin typeface="Consolas" panose="020B0609020204030204" pitchFamily="49" charset="0"/>
              </a:rPr>
              <a:t>kubectl</a:t>
            </a:r>
            <a:r>
              <a:rPr lang="en-US" sz="1600" dirty="0">
                <a:solidFill>
                  <a:srgbClr val="FFFFFF"/>
                </a:solidFill>
                <a:latin typeface="Consolas" panose="020B0609020204030204" pitchFamily="49" charset="0"/>
              </a:rPr>
              <a:t> get deployments -n &lt;namespace&gt;</a:t>
            </a:r>
          </a:p>
        </p:txBody>
      </p:sp>
      <p:sp>
        <p:nvSpPr>
          <p:cNvPr id="11" name="TextBox 10">
            <a:extLst>
              <a:ext uri="{FF2B5EF4-FFF2-40B4-BE49-F238E27FC236}">
                <a16:creationId xmlns:a16="http://schemas.microsoft.com/office/drawing/2014/main" id="{0991C5F5-8A34-4B25-8029-0BFBD7E9DBF6}"/>
              </a:ext>
            </a:extLst>
          </p:cNvPr>
          <p:cNvSpPr txBox="1"/>
          <p:nvPr/>
        </p:nvSpPr>
        <p:spPr>
          <a:xfrm>
            <a:off x="863600" y="3937000"/>
            <a:ext cx="5080000" cy="307777"/>
          </a:xfrm>
          <a:prstGeom prst="rect">
            <a:avLst/>
          </a:prstGeom>
          <a:noFill/>
        </p:spPr>
        <p:txBody>
          <a:bodyPr vert="horz" wrap="square" rtlCol="0">
            <a:spAutoFit/>
          </a:bodyPr>
          <a:lstStyle/>
          <a:p>
            <a:r>
              <a:rPr lang="en-US" sz="1400">
                <a:solidFill>
                  <a:srgbClr val="BEC8D2"/>
                </a:solidFill>
                <a:latin typeface="Segoe UI" panose="020B0502040204020203" pitchFamily="34" charset="0"/>
              </a:rPr>
              <a:t>Pods running, workloads and services present.</a:t>
            </a:r>
          </a:p>
        </p:txBody>
      </p:sp>
      <p:sp>
        <p:nvSpPr>
          <p:cNvPr id="12" name="Rectangle 11">
            <a:extLst>
              <a:ext uri="{FF2B5EF4-FFF2-40B4-BE49-F238E27FC236}">
                <a16:creationId xmlns:a16="http://schemas.microsoft.com/office/drawing/2014/main" id="{33EBA31A-C106-4088-8782-828517F3FE01}"/>
              </a:ext>
            </a:extLst>
          </p:cNvPr>
          <p:cNvSpPr/>
          <p:nvPr/>
        </p:nvSpPr>
        <p:spPr>
          <a:xfrm>
            <a:off x="6350000" y="1498600"/>
            <a:ext cx="5207000" cy="14605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949DD30-5677-4818-B7C3-A7E13D0EF04A}"/>
              </a:ext>
            </a:extLst>
          </p:cNvPr>
          <p:cNvSpPr/>
          <p:nvPr/>
        </p:nvSpPr>
        <p:spPr>
          <a:xfrm>
            <a:off x="6350000" y="1498600"/>
            <a:ext cx="76200" cy="14605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DE69E66-81A5-4AF8-89CE-65106B8FD9C2}"/>
              </a:ext>
            </a:extLst>
          </p:cNvPr>
          <p:cNvSpPr txBox="1"/>
          <p:nvPr/>
        </p:nvSpPr>
        <p:spPr>
          <a:xfrm>
            <a:off x="6578600" y="1625600"/>
            <a:ext cx="4826000" cy="381000"/>
          </a:xfrm>
          <a:prstGeom prst="rect">
            <a:avLst/>
          </a:prstGeom>
          <a:noFill/>
        </p:spPr>
        <p:txBody>
          <a:bodyPr vert="horz" wrap="square" rtlCol="0">
            <a:spAutoFit/>
          </a:bodyPr>
          <a:lstStyle/>
          <a:p>
            <a:r>
              <a:rPr lang="en-US" b="1">
                <a:solidFill>
                  <a:srgbClr val="1F2D3D"/>
                </a:solidFill>
                <a:latin typeface="Segoe UI" panose="020B0502040204020203" pitchFamily="34" charset="0"/>
              </a:rPr>
              <a:t>Restore job</a:t>
            </a:r>
          </a:p>
        </p:txBody>
      </p:sp>
      <p:sp>
        <p:nvSpPr>
          <p:cNvPr id="15" name="TextBox 14">
            <a:extLst>
              <a:ext uri="{FF2B5EF4-FFF2-40B4-BE49-F238E27FC236}">
                <a16:creationId xmlns:a16="http://schemas.microsoft.com/office/drawing/2014/main" id="{0A35941F-9F9D-4E69-AE7B-6B1946BE8A7E}"/>
              </a:ext>
            </a:extLst>
          </p:cNvPr>
          <p:cNvSpPr txBox="1"/>
          <p:nvPr/>
        </p:nvSpPr>
        <p:spPr>
          <a:xfrm>
            <a:off x="6578600" y="2082800"/>
            <a:ext cx="4826000" cy="523220"/>
          </a:xfrm>
          <a:prstGeom prst="rect">
            <a:avLst/>
          </a:prstGeom>
          <a:noFill/>
        </p:spPr>
        <p:txBody>
          <a:bodyPr vert="horz" wrap="square" rtlCol="0">
            <a:spAutoFit/>
          </a:bodyPr>
          <a:lstStyle/>
          <a:p>
            <a:r>
              <a:rPr lang="en-US" sz="1400">
                <a:solidFill>
                  <a:srgbClr val="5C6B66"/>
                </a:solidFill>
                <a:latin typeface="Segoe UI" panose="020B0502040204020203" pitchFamily="34" charset="0"/>
              </a:rPr>
              <a:t>Follow the restore job under Backup jobs in the vault until it shows as completed.</a:t>
            </a:r>
          </a:p>
        </p:txBody>
      </p:sp>
      <p:sp>
        <p:nvSpPr>
          <p:cNvPr id="16" name="Rectangle 15">
            <a:extLst>
              <a:ext uri="{FF2B5EF4-FFF2-40B4-BE49-F238E27FC236}">
                <a16:creationId xmlns:a16="http://schemas.microsoft.com/office/drawing/2014/main" id="{22D00F6C-2AE3-429C-93E6-D6BBE7B65268}"/>
              </a:ext>
            </a:extLst>
          </p:cNvPr>
          <p:cNvSpPr/>
          <p:nvPr/>
        </p:nvSpPr>
        <p:spPr>
          <a:xfrm>
            <a:off x="6350000" y="3111500"/>
            <a:ext cx="5207000" cy="15621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4326AFA-B06F-4B33-B798-BBA8687C501C}"/>
              </a:ext>
            </a:extLst>
          </p:cNvPr>
          <p:cNvSpPr/>
          <p:nvPr/>
        </p:nvSpPr>
        <p:spPr>
          <a:xfrm>
            <a:off x="6350000" y="3111500"/>
            <a:ext cx="76200" cy="15621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1EB86C1-5E5D-41CB-B981-87BE56D82AB0}"/>
              </a:ext>
            </a:extLst>
          </p:cNvPr>
          <p:cNvSpPr txBox="1"/>
          <p:nvPr/>
        </p:nvSpPr>
        <p:spPr>
          <a:xfrm>
            <a:off x="6578600" y="3238500"/>
            <a:ext cx="4826000" cy="381000"/>
          </a:xfrm>
          <a:prstGeom prst="rect">
            <a:avLst/>
          </a:prstGeom>
          <a:noFill/>
        </p:spPr>
        <p:txBody>
          <a:bodyPr vert="horz" wrap="square" rtlCol="0">
            <a:spAutoFit/>
          </a:bodyPr>
          <a:lstStyle/>
          <a:p>
            <a:r>
              <a:rPr lang="en-US" b="1">
                <a:solidFill>
                  <a:srgbClr val="1F2D3D"/>
                </a:solidFill>
                <a:latin typeface="Segoe UI" panose="020B0502040204020203" pitchFamily="34" charset="0"/>
              </a:rPr>
              <a:t>Check the workloads</a:t>
            </a:r>
          </a:p>
        </p:txBody>
      </p:sp>
      <p:sp>
        <p:nvSpPr>
          <p:cNvPr id="19" name="TextBox 18">
            <a:extLst>
              <a:ext uri="{FF2B5EF4-FFF2-40B4-BE49-F238E27FC236}">
                <a16:creationId xmlns:a16="http://schemas.microsoft.com/office/drawing/2014/main" id="{0F18F695-96B7-44A5-8F69-81214719D2CB}"/>
              </a:ext>
            </a:extLst>
          </p:cNvPr>
          <p:cNvSpPr txBox="1"/>
          <p:nvPr/>
        </p:nvSpPr>
        <p:spPr>
          <a:xfrm>
            <a:off x="6578600" y="3695700"/>
            <a:ext cx="4826000" cy="523220"/>
          </a:xfrm>
          <a:prstGeom prst="rect">
            <a:avLst/>
          </a:prstGeom>
          <a:noFill/>
        </p:spPr>
        <p:txBody>
          <a:bodyPr vert="horz" wrap="square" rtlCol="0">
            <a:spAutoFit/>
          </a:bodyPr>
          <a:lstStyle/>
          <a:p>
            <a:r>
              <a:rPr lang="en-US" sz="1400">
                <a:solidFill>
                  <a:srgbClr val="5C6B66"/>
                </a:solidFill>
                <a:latin typeface="Segoe UI" panose="020B0502040204020203" pitchFamily="34" charset="0"/>
              </a:rPr>
              <a:t>Confirm the restored workloads start and respond as expected.</a:t>
            </a:r>
          </a:p>
        </p:txBody>
      </p:sp>
      <p:sp>
        <p:nvSpPr>
          <p:cNvPr id="20" name="Rectangle: Rounded Corners 19">
            <a:extLst>
              <a:ext uri="{FF2B5EF4-FFF2-40B4-BE49-F238E27FC236}">
                <a16:creationId xmlns:a16="http://schemas.microsoft.com/office/drawing/2014/main" id="{402A80BD-761F-4FF7-A150-C56B9AC84B90}"/>
              </a:ext>
            </a:extLst>
          </p:cNvPr>
          <p:cNvSpPr/>
          <p:nvPr/>
        </p:nvSpPr>
        <p:spPr>
          <a:xfrm>
            <a:off x="635000" y="5016500"/>
            <a:ext cx="10922000" cy="635000"/>
          </a:xfrm>
          <a:prstGeom prst="round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1F2D3D"/>
                </a:solidFill>
                <a:latin typeface="Segoe UI" panose="020B0502040204020203" pitchFamily="34" charset="0"/>
              </a:rPr>
              <a:t>Always test the restored workloads before calling the restore a success.</a:t>
            </a:r>
          </a:p>
        </p:txBody>
      </p:sp>
    </p:spTree>
    <p:extLst>
      <p:ext uri="{BB962C8B-B14F-4D97-AF65-F5344CB8AC3E}">
        <p14:creationId xmlns:p14="http://schemas.microsoft.com/office/powerpoint/2010/main" val="1060608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8B754D-ED8F-4E33-A374-E3448F4C270B}"/>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E40E242-F294-4089-9225-915D17C84E76}"/>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5D9D0F9-58BC-45C0-8112-32BEE4291F00}"/>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Things that trip people up</a:t>
            </a:r>
          </a:p>
        </p:txBody>
      </p:sp>
      <p:sp>
        <p:nvSpPr>
          <p:cNvPr id="5" name="TextBox 4">
            <a:extLst>
              <a:ext uri="{FF2B5EF4-FFF2-40B4-BE49-F238E27FC236}">
                <a16:creationId xmlns:a16="http://schemas.microsoft.com/office/drawing/2014/main" id="{CB3D4625-2E21-4D93-A816-606288AA4002}"/>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Read these before your first restore</a:t>
            </a:r>
          </a:p>
        </p:txBody>
      </p:sp>
      <p:sp>
        <p:nvSpPr>
          <p:cNvPr id="6" name="TextBox 5">
            <a:extLst>
              <a:ext uri="{FF2B5EF4-FFF2-40B4-BE49-F238E27FC236}">
                <a16:creationId xmlns:a16="http://schemas.microsoft.com/office/drawing/2014/main" id="{578D0E24-D263-477D-9143-9A2EC9C6A5F7}"/>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8C0CF97B-E413-4F64-9FAD-4019AB37C5BD}"/>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17</a:t>
            </a:r>
          </a:p>
        </p:txBody>
      </p:sp>
      <p:sp>
        <p:nvSpPr>
          <p:cNvPr id="8" name="Rectangle 7">
            <a:extLst>
              <a:ext uri="{FF2B5EF4-FFF2-40B4-BE49-F238E27FC236}">
                <a16:creationId xmlns:a16="http://schemas.microsoft.com/office/drawing/2014/main" id="{0A6B41AB-727C-45BD-B8BA-9299C155F9C0}"/>
              </a:ext>
            </a:extLst>
          </p:cNvPr>
          <p:cNvSpPr/>
          <p:nvPr/>
        </p:nvSpPr>
        <p:spPr>
          <a:xfrm>
            <a:off x="635000" y="1498600"/>
            <a:ext cx="3556000" cy="2159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F57B545-BC3A-4C38-B7AF-6C60DDF87F66}"/>
              </a:ext>
            </a:extLst>
          </p:cNvPr>
          <p:cNvSpPr/>
          <p:nvPr/>
        </p:nvSpPr>
        <p:spPr>
          <a:xfrm>
            <a:off x="635000" y="1498600"/>
            <a:ext cx="76200" cy="2159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DB84AFB-98A7-4609-B4E7-CE929CB51F8C}"/>
              </a:ext>
            </a:extLst>
          </p:cNvPr>
          <p:cNvSpPr txBox="1"/>
          <p:nvPr/>
        </p:nvSpPr>
        <p:spPr>
          <a:xfrm>
            <a:off x="863600" y="1625600"/>
            <a:ext cx="3175000" cy="353943"/>
          </a:xfrm>
          <a:prstGeom prst="rect">
            <a:avLst/>
          </a:prstGeom>
          <a:noFill/>
        </p:spPr>
        <p:txBody>
          <a:bodyPr vert="horz" wrap="square" rtlCol="0">
            <a:spAutoFit/>
          </a:bodyPr>
          <a:lstStyle/>
          <a:p>
            <a:r>
              <a:rPr lang="en-US" sz="1700" b="1">
                <a:solidFill>
                  <a:srgbClr val="1F2D3D"/>
                </a:solidFill>
                <a:latin typeface="Segoe UI" panose="020B0502040204020203" pitchFamily="34" charset="0"/>
              </a:rPr>
              <a:t>Existing resources</a:t>
            </a:r>
          </a:p>
        </p:txBody>
      </p:sp>
      <p:sp>
        <p:nvSpPr>
          <p:cNvPr id="11" name="TextBox 10">
            <a:extLst>
              <a:ext uri="{FF2B5EF4-FFF2-40B4-BE49-F238E27FC236}">
                <a16:creationId xmlns:a16="http://schemas.microsoft.com/office/drawing/2014/main" id="{79B18281-C830-461C-AA72-0495806C475D}"/>
              </a:ext>
            </a:extLst>
          </p:cNvPr>
          <p:cNvSpPr txBox="1"/>
          <p:nvPr/>
        </p:nvSpPr>
        <p:spPr>
          <a:xfrm>
            <a:off x="863600" y="2070100"/>
            <a:ext cx="3175000" cy="692497"/>
          </a:xfrm>
          <a:prstGeom prst="rect">
            <a:avLst/>
          </a:prstGeom>
          <a:noFill/>
        </p:spPr>
        <p:txBody>
          <a:bodyPr vert="horz" wrap="square" rtlCol="0">
            <a:spAutoFit/>
          </a:bodyPr>
          <a:lstStyle/>
          <a:p>
            <a:r>
              <a:rPr lang="en-US" sz="1300">
                <a:solidFill>
                  <a:srgbClr val="5C6B66"/>
                </a:solidFill>
                <a:latin typeface="Segoe UI" panose="020B0502040204020203" pitchFamily="34" charset="0"/>
              </a:rPr>
              <a:t>Backups do not delete and recreate resources. Delete the existing resource before restoring it in place.</a:t>
            </a:r>
          </a:p>
        </p:txBody>
      </p:sp>
      <p:sp>
        <p:nvSpPr>
          <p:cNvPr id="12" name="Rectangle 11">
            <a:extLst>
              <a:ext uri="{FF2B5EF4-FFF2-40B4-BE49-F238E27FC236}">
                <a16:creationId xmlns:a16="http://schemas.microsoft.com/office/drawing/2014/main" id="{E868E87B-2B5A-4FC6-8F09-4135E33D579F}"/>
              </a:ext>
            </a:extLst>
          </p:cNvPr>
          <p:cNvSpPr/>
          <p:nvPr/>
        </p:nvSpPr>
        <p:spPr>
          <a:xfrm>
            <a:off x="4318000" y="1498600"/>
            <a:ext cx="3556000" cy="2159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01C2D34-07F9-431F-A532-4E034649A3B8}"/>
              </a:ext>
            </a:extLst>
          </p:cNvPr>
          <p:cNvSpPr/>
          <p:nvPr/>
        </p:nvSpPr>
        <p:spPr>
          <a:xfrm>
            <a:off x="4318000" y="1498600"/>
            <a:ext cx="76200" cy="2159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FDD077B-0E66-44DF-B0F6-7D8CD1CEB02D}"/>
              </a:ext>
            </a:extLst>
          </p:cNvPr>
          <p:cNvSpPr txBox="1"/>
          <p:nvPr/>
        </p:nvSpPr>
        <p:spPr>
          <a:xfrm>
            <a:off x="4546600" y="1625600"/>
            <a:ext cx="3175000" cy="353943"/>
          </a:xfrm>
          <a:prstGeom prst="rect">
            <a:avLst/>
          </a:prstGeom>
          <a:noFill/>
        </p:spPr>
        <p:txBody>
          <a:bodyPr vert="horz" wrap="square" rtlCol="0">
            <a:spAutoFit/>
          </a:bodyPr>
          <a:lstStyle/>
          <a:p>
            <a:r>
              <a:rPr lang="en-US" sz="1700" b="1">
                <a:solidFill>
                  <a:srgbClr val="1F2D3D"/>
                </a:solidFill>
                <a:latin typeface="Segoe UI" panose="020B0502040204020203" pitchFamily="34" charset="0"/>
              </a:rPr>
              <a:t>Namespaces</a:t>
            </a:r>
          </a:p>
        </p:txBody>
      </p:sp>
      <p:sp>
        <p:nvSpPr>
          <p:cNvPr id="15" name="TextBox 14">
            <a:extLst>
              <a:ext uri="{FF2B5EF4-FFF2-40B4-BE49-F238E27FC236}">
                <a16:creationId xmlns:a16="http://schemas.microsoft.com/office/drawing/2014/main" id="{EDD99877-2BD5-4506-B15A-45915FA8D088}"/>
              </a:ext>
            </a:extLst>
          </p:cNvPr>
          <p:cNvSpPr txBox="1"/>
          <p:nvPr/>
        </p:nvSpPr>
        <p:spPr>
          <a:xfrm>
            <a:off x="4546600" y="2070100"/>
            <a:ext cx="3175000" cy="692497"/>
          </a:xfrm>
          <a:prstGeom prst="rect">
            <a:avLst/>
          </a:prstGeom>
          <a:noFill/>
        </p:spPr>
        <p:txBody>
          <a:bodyPr vert="horz" wrap="square" rtlCol="0">
            <a:spAutoFit/>
          </a:bodyPr>
          <a:lstStyle/>
          <a:p>
            <a:r>
              <a:rPr lang="en-US" sz="1300">
                <a:solidFill>
                  <a:srgbClr val="5C6B66"/>
                </a:solidFill>
                <a:latin typeface="Segoe UI" panose="020B0502040204020203" pitchFamily="34" charset="0"/>
              </a:rPr>
              <a:t>A namespace that does not exist is created during restore. Use namespace mapping to restore next to the original.</a:t>
            </a:r>
          </a:p>
        </p:txBody>
      </p:sp>
      <p:sp>
        <p:nvSpPr>
          <p:cNvPr id="16" name="Rectangle 15">
            <a:extLst>
              <a:ext uri="{FF2B5EF4-FFF2-40B4-BE49-F238E27FC236}">
                <a16:creationId xmlns:a16="http://schemas.microsoft.com/office/drawing/2014/main" id="{89C7543F-A62D-4D3F-8D57-C4480C0E0683}"/>
              </a:ext>
            </a:extLst>
          </p:cNvPr>
          <p:cNvSpPr/>
          <p:nvPr/>
        </p:nvSpPr>
        <p:spPr>
          <a:xfrm>
            <a:off x="8001000" y="1498600"/>
            <a:ext cx="3556000" cy="2159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BA10FE4-A3F5-481C-9EBC-CC8E2FB419A2}"/>
              </a:ext>
            </a:extLst>
          </p:cNvPr>
          <p:cNvSpPr/>
          <p:nvPr/>
        </p:nvSpPr>
        <p:spPr>
          <a:xfrm>
            <a:off x="8001000" y="1498600"/>
            <a:ext cx="76200" cy="2159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A4633D4-1C58-48BC-9365-BEE1679AE641}"/>
              </a:ext>
            </a:extLst>
          </p:cNvPr>
          <p:cNvSpPr txBox="1"/>
          <p:nvPr/>
        </p:nvSpPr>
        <p:spPr>
          <a:xfrm>
            <a:off x="8229600" y="1625600"/>
            <a:ext cx="3175000" cy="353943"/>
          </a:xfrm>
          <a:prstGeom prst="rect">
            <a:avLst/>
          </a:prstGeom>
          <a:noFill/>
        </p:spPr>
        <p:txBody>
          <a:bodyPr vert="horz" wrap="square" rtlCol="0">
            <a:spAutoFit/>
          </a:bodyPr>
          <a:lstStyle/>
          <a:p>
            <a:r>
              <a:rPr lang="en-US" sz="1700" b="1">
                <a:solidFill>
                  <a:srgbClr val="1F2D3D"/>
                </a:solidFill>
                <a:latin typeface="Segoe UI" panose="020B0502040204020203" pitchFamily="34" charset="0"/>
              </a:rPr>
              <a:t>Same region</a:t>
            </a:r>
          </a:p>
        </p:txBody>
      </p:sp>
      <p:sp>
        <p:nvSpPr>
          <p:cNvPr id="19" name="TextBox 18">
            <a:extLst>
              <a:ext uri="{FF2B5EF4-FFF2-40B4-BE49-F238E27FC236}">
                <a16:creationId xmlns:a16="http://schemas.microsoft.com/office/drawing/2014/main" id="{933616D2-25F4-4F24-BDED-3F7D73AFBD10}"/>
              </a:ext>
            </a:extLst>
          </p:cNvPr>
          <p:cNvSpPr txBox="1"/>
          <p:nvPr/>
        </p:nvSpPr>
        <p:spPr>
          <a:xfrm>
            <a:off x="8229600" y="2070100"/>
            <a:ext cx="3175000" cy="892552"/>
          </a:xfrm>
          <a:prstGeom prst="rect">
            <a:avLst/>
          </a:prstGeom>
          <a:noFill/>
        </p:spPr>
        <p:txBody>
          <a:bodyPr vert="horz" wrap="square" rtlCol="0">
            <a:spAutoFit/>
          </a:bodyPr>
          <a:lstStyle/>
          <a:p>
            <a:r>
              <a:rPr lang="en-US" sz="1300">
                <a:solidFill>
                  <a:srgbClr val="5C6B66"/>
                </a:solidFill>
                <a:latin typeface="Segoe UI" panose="020B0502040204020203" pitchFamily="34" charset="0"/>
              </a:rPr>
              <a:t>Backups are operational tier, so restore into the same region. Cross-region restore needs vault tier, which is not part of this setup.</a:t>
            </a:r>
          </a:p>
        </p:txBody>
      </p:sp>
      <p:sp>
        <p:nvSpPr>
          <p:cNvPr id="20" name="Rectangle 19">
            <a:extLst>
              <a:ext uri="{FF2B5EF4-FFF2-40B4-BE49-F238E27FC236}">
                <a16:creationId xmlns:a16="http://schemas.microsoft.com/office/drawing/2014/main" id="{F5E1D1FC-D753-4F47-B39A-BDC19D3B8C1E}"/>
              </a:ext>
            </a:extLst>
          </p:cNvPr>
          <p:cNvSpPr/>
          <p:nvPr/>
        </p:nvSpPr>
        <p:spPr>
          <a:xfrm>
            <a:off x="635000" y="3810000"/>
            <a:ext cx="3556000" cy="2159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BC2C7DB-7C32-4C89-8655-33BBB5C1B7B7}"/>
              </a:ext>
            </a:extLst>
          </p:cNvPr>
          <p:cNvSpPr/>
          <p:nvPr/>
        </p:nvSpPr>
        <p:spPr>
          <a:xfrm>
            <a:off x="635000" y="3810000"/>
            <a:ext cx="76200" cy="2159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DAA9BF4B-3EBD-474F-9133-48DA60E79BB7}"/>
              </a:ext>
            </a:extLst>
          </p:cNvPr>
          <p:cNvSpPr txBox="1"/>
          <p:nvPr/>
        </p:nvSpPr>
        <p:spPr>
          <a:xfrm>
            <a:off x="863600" y="3937000"/>
            <a:ext cx="3175000" cy="353943"/>
          </a:xfrm>
          <a:prstGeom prst="rect">
            <a:avLst/>
          </a:prstGeom>
          <a:noFill/>
        </p:spPr>
        <p:txBody>
          <a:bodyPr vert="horz" wrap="square" rtlCol="0">
            <a:spAutoFit/>
          </a:bodyPr>
          <a:lstStyle/>
          <a:p>
            <a:r>
              <a:rPr lang="en-US" sz="1700" b="1">
                <a:solidFill>
                  <a:srgbClr val="1F2D3D"/>
                </a:solidFill>
                <a:latin typeface="Segoe UI" panose="020B0502040204020203" pitchFamily="34" charset="0"/>
              </a:rPr>
              <a:t>No auto scaling</a:t>
            </a:r>
          </a:p>
        </p:txBody>
      </p:sp>
      <p:sp>
        <p:nvSpPr>
          <p:cNvPr id="23" name="TextBox 22">
            <a:extLst>
              <a:ext uri="{FF2B5EF4-FFF2-40B4-BE49-F238E27FC236}">
                <a16:creationId xmlns:a16="http://schemas.microsoft.com/office/drawing/2014/main" id="{F5E1F1FB-72D2-46B2-BE29-C050ECCFDB52}"/>
              </a:ext>
            </a:extLst>
          </p:cNvPr>
          <p:cNvSpPr txBox="1"/>
          <p:nvPr/>
        </p:nvSpPr>
        <p:spPr>
          <a:xfrm>
            <a:off x="863600" y="4381500"/>
            <a:ext cx="3175000" cy="492443"/>
          </a:xfrm>
          <a:prstGeom prst="rect">
            <a:avLst/>
          </a:prstGeom>
          <a:noFill/>
        </p:spPr>
        <p:txBody>
          <a:bodyPr vert="horz" wrap="square" rtlCol="0">
            <a:spAutoFit/>
          </a:bodyPr>
          <a:lstStyle/>
          <a:p>
            <a:r>
              <a:rPr lang="en-US" sz="1300">
                <a:solidFill>
                  <a:srgbClr val="5C6B66"/>
                </a:solidFill>
                <a:latin typeface="Segoe UI" panose="020B0502040204020203" pitchFamily="34" charset="0"/>
              </a:rPr>
              <a:t>Restore does not add nodes. Make sure the target cluster has enough capacity.</a:t>
            </a:r>
          </a:p>
        </p:txBody>
      </p:sp>
      <p:sp>
        <p:nvSpPr>
          <p:cNvPr id="24" name="Rectangle 23">
            <a:extLst>
              <a:ext uri="{FF2B5EF4-FFF2-40B4-BE49-F238E27FC236}">
                <a16:creationId xmlns:a16="http://schemas.microsoft.com/office/drawing/2014/main" id="{11C08D52-1108-4E33-9AAF-ADDB3F528D89}"/>
              </a:ext>
            </a:extLst>
          </p:cNvPr>
          <p:cNvSpPr/>
          <p:nvPr/>
        </p:nvSpPr>
        <p:spPr>
          <a:xfrm>
            <a:off x="4318000" y="3810000"/>
            <a:ext cx="3556000" cy="2159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CDA46D6-02D5-4983-9436-3A816079E8C2}"/>
              </a:ext>
            </a:extLst>
          </p:cNvPr>
          <p:cNvSpPr/>
          <p:nvPr/>
        </p:nvSpPr>
        <p:spPr>
          <a:xfrm>
            <a:off x="4318000" y="3810000"/>
            <a:ext cx="76200" cy="2159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06F36A3-27D4-442F-AD5C-2EC27366B575}"/>
              </a:ext>
            </a:extLst>
          </p:cNvPr>
          <p:cNvSpPr txBox="1"/>
          <p:nvPr/>
        </p:nvSpPr>
        <p:spPr>
          <a:xfrm>
            <a:off x="4546600" y="3937000"/>
            <a:ext cx="3175000" cy="353943"/>
          </a:xfrm>
          <a:prstGeom prst="rect">
            <a:avLst/>
          </a:prstGeom>
          <a:noFill/>
        </p:spPr>
        <p:txBody>
          <a:bodyPr vert="horz" wrap="square" rtlCol="0">
            <a:spAutoFit/>
          </a:bodyPr>
          <a:lstStyle/>
          <a:p>
            <a:r>
              <a:rPr lang="en-US" sz="1700" b="1">
                <a:solidFill>
                  <a:srgbClr val="1F2D3D"/>
                </a:solidFill>
                <a:latin typeface="Segoe UI" panose="020B0502040204020203" pitchFamily="34" charset="0"/>
              </a:rPr>
              <a:t>Same names clash</a:t>
            </a:r>
          </a:p>
        </p:txBody>
      </p:sp>
      <p:sp>
        <p:nvSpPr>
          <p:cNvPr id="27" name="TextBox 26">
            <a:extLst>
              <a:ext uri="{FF2B5EF4-FFF2-40B4-BE49-F238E27FC236}">
                <a16:creationId xmlns:a16="http://schemas.microsoft.com/office/drawing/2014/main" id="{44B8FFD9-94ED-4315-B9D2-BA8BE5B6E3B1}"/>
              </a:ext>
            </a:extLst>
          </p:cNvPr>
          <p:cNvSpPr txBox="1"/>
          <p:nvPr/>
        </p:nvSpPr>
        <p:spPr>
          <a:xfrm>
            <a:off x="4546600" y="4381500"/>
            <a:ext cx="3175000" cy="692497"/>
          </a:xfrm>
          <a:prstGeom prst="rect">
            <a:avLst/>
          </a:prstGeom>
          <a:noFill/>
        </p:spPr>
        <p:txBody>
          <a:bodyPr vert="horz" wrap="square" rtlCol="0">
            <a:spAutoFit/>
          </a:bodyPr>
          <a:lstStyle/>
          <a:p>
            <a:r>
              <a:rPr lang="en-US" sz="1300">
                <a:solidFill>
                  <a:srgbClr val="5C6B66"/>
                </a:solidFill>
                <a:latin typeface="Segoe UI" panose="020B0502040204020203" pitchFamily="34" charset="0"/>
              </a:rPr>
              <a:t>Resources with the same name are skipped by default. Choose Patch if you want them updated.</a:t>
            </a:r>
          </a:p>
        </p:txBody>
      </p:sp>
      <p:sp>
        <p:nvSpPr>
          <p:cNvPr id="28" name="Rectangle 27">
            <a:extLst>
              <a:ext uri="{FF2B5EF4-FFF2-40B4-BE49-F238E27FC236}">
                <a16:creationId xmlns:a16="http://schemas.microsoft.com/office/drawing/2014/main" id="{3394058A-A1FD-4417-AE11-C1020B6F8E49}"/>
              </a:ext>
            </a:extLst>
          </p:cNvPr>
          <p:cNvSpPr/>
          <p:nvPr/>
        </p:nvSpPr>
        <p:spPr>
          <a:xfrm>
            <a:off x="8001000" y="3810000"/>
            <a:ext cx="3556000" cy="2159000"/>
          </a:xfrm>
          <a:prstGeom prst="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DFDD2FF-58C3-4BC4-8316-F80F03548512}"/>
              </a:ext>
            </a:extLst>
          </p:cNvPr>
          <p:cNvSpPr/>
          <p:nvPr/>
        </p:nvSpPr>
        <p:spPr>
          <a:xfrm>
            <a:off x="8001000" y="3810000"/>
            <a:ext cx="76200" cy="2159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D3A5EEDF-6123-4002-93B0-D04B089FDB04}"/>
              </a:ext>
            </a:extLst>
          </p:cNvPr>
          <p:cNvSpPr txBox="1"/>
          <p:nvPr/>
        </p:nvSpPr>
        <p:spPr>
          <a:xfrm>
            <a:off x="8229600" y="3937000"/>
            <a:ext cx="3175000" cy="353943"/>
          </a:xfrm>
          <a:prstGeom prst="rect">
            <a:avLst/>
          </a:prstGeom>
          <a:noFill/>
        </p:spPr>
        <p:txBody>
          <a:bodyPr vert="horz" wrap="square" rtlCol="0">
            <a:spAutoFit/>
          </a:bodyPr>
          <a:lstStyle/>
          <a:p>
            <a:r>
              <a:rPr lang="en-US" sz="1700" b="1">
                <a:solidFill>
                  <a:srgbClr val="1F2D3D"/>
                </a:solidFill>
                <a:latin typeface="Segoe UI" panose="020B0502040204020203" pitchFamily="34" charset="0"/>
              </a:rPr>
              <a:t>Prerequisites</a:t>
            </a:r>
          </a:p>
        </p:txBody>
      </p:sp>
      <p:sp>
        <p:nvSpPr>
          <p:cNvPr id="31" name="TextBox 30">
            <a:extLst>
              <a:ext uri="{FF2B5EF4-FFF2-40B4-BE49-F238E27FC236}">
                <a16:creationId xmlns:a16="http://schemas.microsoft.com/office/drawing/2014/main" id="{B7B394AC-A2D9-49E1-AB47-F2FA4696A41E}"/>
              </a:ext>
            </a:extLst>
          </p:cNvPr>
          <p:cNvSpPr txBox="1"/>
          <p:nvPr/>
        </p:nvSpPr>
        <p:spPr>
          <a:xfrm>
            <a:off x="8229600" y="4381500"/>
            <a:ext cx="3175000" cy="692497"/>
          </a:xfrm>
          <a:prstGeom prst="rect">
            <a:avLst/>
          </a:prstGeom>
          <a:noFill/>
        </p:spPr>
        <p:txBody>
          <a:bodyPr vert="horz" wrap="square" rtlCol="0">
            <a:spAutoFit/>
          </a:bodyPr>
          <a:lstStyle/>
          <a:p>
            <a:r>
              <a:rPr lang="en-US" sz="1300">
                <a:solidFill>
                  <a:srgbClr val="5C6B66"/>
                </a:solidFill>
                <a:latin typeface="Segoe UI" panose="020B0502040204020203" pitchFamily="34" charset="0"/>
              </a:rPr>
              <a:t>The Backup extension must be installed on the target cluster and Trusted Access enabled.</a:t>
            </a:r>
          </a:p>
        </p:txBody>
      </p:sp>
    </p:spTree>
    <p:extLst>
      <p:ext uri="{BB962C8B-B14F-4D97-AF65-F5344CB8AC3E}">
        <p14:creationId xmlns:p14="http://schemas.microsoft.com/office/powerpoint/2010/main" val="1087670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875DD4-22A0-4E46-916E-A6DF88B7BBE1}"/>
              </a:ext>
            </a:extLst>
          </p:cNvPr>
          <p:cNvSpPr/>
          <p:nvPr/>
        </p:nvSpPr>
        <p:spPr>
          <a:xfrm>
            <a:off x="0" y="0"/>
            <a:ext cx="12192000" cy="1016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2EFD549-ED94-4AA9-9799-07F3D8D5C142}"/>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9C2F2D5-05F0-48DD-989C-6A8508D20F6C}"/>
              </a:ext>
            </a:extLst>
          </p:cNvPr>
          <p:cNvSpPr txBox="1"/>
          <p:nvPr/>
        </p:nvSpPr>
        <p:spPr>
          <a:xfrm>
            <a:off x="736600" y="330200"/>
            <a:ext cx="10922000" cy="523220"/>
          </a:xfrm>
          <a:prstGeom prst="rect">
            <a:avLst/>
          </a:prstGeom>
          <a:noFill/>
        </p:spPr>
        <p:txBody>
          <a:bodyPr vert="horz" wrap="square" rtlCol="0">
            <a:spAutoFit/>
          </a:bodyPr>
          <a:lstStyle/>
          <a:p>
            <a:r>
              <a:rPr lang="en-US" sz="2800" b="1">
                <a:solidFill>
                  <a:srgbClr val="1F2D3D"/>
                </a:solidFill>
                <a:latin typeface="Segoe UI" panose="020B0502040204020203" pitchFamily="34" charset="0"/>
              </a:rPr>
              <a:t>Our rollout, end to end</a:t>
            </a:r>
          </a:p>
        </p:txBody>
      </p:sp>
      <p:sp>
        <p:nvSpPr>
          <p:cNvPr id="5" name="TextBox 4">
            <a:extLst>
              <a:ext uri="{FF2B5EF4-FFF2-40B4-BE49-F238E27FC236}">
                <a16:creationId xmlns:a16="http://schemas.microsoft.com/office/drawing/2014/main" id="{D7E31E96-7944-4821-B47D-CE472C3A622A}"/>
              </a:ext>
            </a:extLst>
          </p:cNvPr>
          <p:cNvSpPr txBox="1"/>
          <p:nvPr/>
        </p:nvSpPr>
        <p:spPr>
          <a:xfrm>
            <a:off x="736600" y="889000"/>
            <a:ext cx="10922000" cy="323165"/>
          </a:xfrm>
          <a:prstGeom prst="rect">
            <a:avLst/>
          </a:prstGeom>
          <a:noFill/>
        </p:spPr>
        <p:txBody>
          <a:bodyPr vert="horz" wrap="square" rtlCol="0">
            <a:spAutoFit/>
          </a:bodyPr>
          <a:lstStyle/>
          <a:p>
            <a:r>
              <a:rPr lang="en-US" sz="1500">
                <a:solidFill>
                  <a:srgbClr val="5C6B66"/>
                </a:solidFill>
                <a:latin typeface="Segoe UI" panose="020B0502040204020203" pitchFamily="34" charset="0"/>
              </a:rPr>
              <a:t>From an empty subscription to a validated restore</a:t>
            </a:r>
          </a:p>
        </p:txBody>
      </p:sp>
      <p:sp>
        <p:nvSpPr>
          <p:cNvPr id="6" name="TextBox 5">
            <a:extLst>
              <a:ext uri="{FF2B5EF4-FFF2-40B4-BE49-F238E27FC236}">
                <a16:creationId xmlns:a16="http://schemas.microsoft.com/office/drawing/2014/main" id="{0759383A-8752-4402-99A2-E7C149192C2C}"/>
              </a:ext>
            </a:extLst>
          </p:cNvPr>
          <p:cNvSpPr txBox="1"/>
          <p:nvPr/>
        </p:nvSpPr>
        <p:spPr>
          <a:xfrm>
            <a:off x="508000" y="6477000"/>
            <a:ext cx="7620000" cy="246221"/>
          </a:xfrm>
          <a:prstGeom prst="rect">
            <a:avLst/>
          </a:prstGeom>
          <a:noFill/>
        </p:spPr>
        <p:txBody>
          <a:bodyPr vert="horz" wrap="square" rtlCol="0">
            <a:spAutoFit/>
          </a:bodyPr>
          <a:lstStyle/>
          <a:p>
            <a:r>
              <a:rPr lang="en-US" sz="1000">
                <a:solidFill>
                  <a:srgbClr val="5C6B66"/>
                </a:solidFill>
                <a:latin typeface="Segoe UI" panose="020B0502040204020203" pitchFamily="34" charset="0"/>
              </a:rPr>
              <a:t>AKS Backup &amp; Restore  |  BFH AKS IHUB Platform Team</a:t>
            </a:r>
          </a:p>
        </p:txBody>
      </p:sp>
      <p:sp>
        <p:nvSpPr>
          <p:cNvPr id="7" name="TextBox 6">
            <a:extLst>
              <a:ext uri="{FF2B5EF4-FFF2-40B4-BE49-F238E27FC236}">
                <a16:creationId xmlns:a16="http://schemas.microsoft.com/office/drawing/2014/main" id="{25BE5306-32D8-48A0-BB92-08BCE793E75A}"/>
              </a:ext>
            </a:extLst>
          </p:cNvPr>
          <p:cNvSpPr txBox="1"/>
          <p:nvPr/>
        </p:nvSpPr>
        <p:spPr>
          <a:xfrm>
            <a:off x="11176000" y="6477000"/>
            <a:ext cx="508000" cy="246221"/>
          </a:xfrm>
          <a:prstGeom prst="rect">
            <a:avLst/>
          </a:prstGeom>
          <a:noFill/>
        </p:spPr>
        <p:txBody>
          <a:bodyPr vert="horz" wrap="square" rtlCol="0">
            <a:spAutoFit/>
          </a:bodyPr>
          <a:lstStyle/>
          <a:p>
            <a:pPr algn="r"/>
            <a:r>
              <a:rPr lang="en-US" sz="1000" b="1">
                <a:solidFill>
                  <a:srgbClr val="5C6B66"/>
                </a:solidFill>
                <a:latin typeface="Segoe UI" panose="020B0502040204020203" pitchFamily="34" charset="0"/>
              </a:rPr>
              <a:t>18</a:t>
            </a:r>
          </a:p>
        </p:txBody>
      </p:sp>
      <p:sp>
        <p:nvSpPr>
          <p:cNvPr id="8" name="Rectangle 7">
            <a:extLst>
              <a:ext uri="{FF2B5EF4-FFF2-40B4-BE49-F238E27FC236}">
                <a16:creationId xmlns:a16="http://schemas.microsoft.com/office/drawing/2014/main" id="{A869DDDC-C2AA-4E71-BEAF-9D8B48F87534}"/>
              </a:ext>
            </a:extLst>
          </p:cNvPr>
          <p:cNvSpPr/>
          <p:nvPr/>
        </p:nvSpPr>
        <p:spPr>
          <a:xfrm>
            <a:off x="1016000" y="3175000"/>
            <a:ext cx="10160000" cy="762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1F86D26-31F4-4CBA-B923-45E5BCC258E8}"/>
              </a:ext>
            </a:extLst>
          </p:cNvPr>
          <p:cNvSpPr/>
          <p:nvPr/>
        </p:nvSpPr>
        <p:spPr>
          <a:xfrm>
            <a:off x="1206500" y="3009900"/>
            <a:ext cx="406400" cy="406400"/>
          </a:xfrm>
          <a:prstGeom prst="ellipse">
            <a:avLst/>
          </a:prstGeom>
          <a:solidFill>
            <a:srgbClr val="1F2D3D"/>
          </a:solidFill>
          <a:ln w="50800">
            <a:solidFill>
              <a:srgbClr val="59BE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78C50C1-7618-4574-B9FE-73396FEFE075}"/>
              </a:ext>
            </a:extLst>
          </p:cNvPr>
          <p:cNvSpPr txBox="1"/>
          <p:nvPr/>
        </p:nvSpPr>
        <p:spPr>
          <a:xfrm>
            <a:off x="889000" y="1905000"/>
            <a:ext cx="1651000" cy="323165"/>
          </a:xfrm>
          <a:prstGeom prst="rect">
            <a:avLst/>
          </a:prstGeom>
          <a:noFill/>
        </p:spPr>
        <p:txBody>
          <a:bodyPr vert="horz" wrap="square" rtlCol="0">
            <a:spAutoFit/>
          </a:bodyPr>
          <a:lstStyle/>
          <a:p>
            <a:r>
              <a:rPr lang="en-US" sz="1500" b="1">
                <a:solidFill>
                  <a:srgbClr val="1F2D3D"/>
                </a:solidFill>
                <a:latin typeface="Segoe UI" panose="020B0502040204020203" pitchFamily="34" charset="0"/>
              </a:rPr>
              <a:t>Storage account</a:t>
            </a:r>
          </a:p>
        </p:txBody>
      </p:sp>
      <p:sp>
        <p:nvSpPr>
          <p:cNvPr id="11" name="TextBox 10">
            <a:extLst>
              <a:ext uri="{FF2B5EF4-FFF2-40B4-BE49-F238E27FC236}">
                <a16:creationId xmlns:a16="http://schemas.microsoft.com/office/drawing/2014/main" id="{FCC2E480-3B23-4B9C-8F92-E07EF43A5E12}"/>
              </a:ext>
            </a:extLst>
          </p:cNvPr>
          <p:cNvSpPr txBox="1"/>
          <p:nvPr/>
        </p:nvSpPr>
        <p:spPr>
          <a:xfrm>
            <a:off x="889000" y="3683000"/>
            <a:ext cx="1714500" cy="461665"/>
          </a:xfrm>
          <a:prstGeom prst="rect">
            <a:avLst/>
          </a:prstGeom>
          <a:noFill/>
        </p:spPr>
        <p:txBody>
          <a:bodyPr vert="horz" wrap="square" rtlCol="0">
            <a:spAutoFit/>
          </a:bodyPr>
          <a:lstStyle/>
          <a:p>
            <a:r>
              <a:rPr lang="en-US" sz="1200">
                <a:solidFill>
                  <a:srgbClr val="5C6B66"/>
                </a:solidFill>
                <a:latin typeface="Segoe UI" panose="020B0502040204020203" pitchFamily="34" charset="0"/>
              </a:rPr>
              <a:t>Created from backup.tf</a:t>
            </a:r>
          </a:p>
        </p:txBody>
      </p:sp>
      <p:sp>
        <p:nvSpPr>
          <p:cNvPr id="12" name="Oval 11">
            <a:extLst>
              <a:ext uri="{FF2B5EF4-FFF2-40B4-BE49-F238E27FC236}">
                <a16:creationId xmlns:a16="http://schemas.microsoft.com/office/drawing/2014/main" id="{93772475-EA27-4F58-B611-098D49019B41}"/>
              </a:ext>
            </a:extLst>
          </p:cNvPr>
          <p:cNvSpPr/>
          <p:nvPr/>
        </p:nvSpPr>
        <p:spPr>
          <a:xfrm>
            <a:off x="3111500" y="3009900"/>
            <a:ext cx="406400" cy="406400"/>
          </a:xfrm>
          <a:prstGeom prst="ellipse">
            <a:avLst/>
          </a:prstGeom>
          <a:solidFill>
            <a:srgbClr val="1F2D3D"/>
          </a:solidFill>
          <a:ln w="50800">
            <a:solidFill>
              <a:srgbClr val="59BE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9C575E7-3A4D-406F-AB7D-3C468584AAD7}"/>
              </a:ext>
            </a:extLst>
          </p:cNvPr>
          <p:cNvSpPr txBox="1"/>
          <p:nvPr/>
        </p:nvSpPr>
        <p:spPr>
          <a:xfrm>
            <a:off x="2794000" y="1905000"/>
            <a:ext cx="1651000" cy="553998"/>
          </a:xfrm>
          <a:prstGeom prst="rect">
            <a:avLst/>
          </a:prstGeom>
          <a:noFill/>
        </p:spPr>
        <p:txBody>
          <a:bodyPr vert="horz" wrap="square" rtlCol="0">
            <a:spAutoFit/>
          </a:bodyPr>
          <a:lstStyle/>
          <a:p>
            <a:r>
              <a:rPr lang="en-US" sz="1500" b="1">
                <a:solidFill>
                  <a:srgbClr val="1F2D3D"/>
                </a:solidFill>
                <a:latin typeface="Segoe UI" panose="020B0502040204020203" pitchFamily="34" charset="0"/>
              </a:rPr>
              <a:t>Private endpoint</a:t>
            </a:r>
          </a:p>
        </p:txBody>
      </p:sp>
      <p:sp>
        <p:nvSpPr>
          <p:cNvPr id="14" name="TextBox 13">
            <a:extLst>
              <a:ext uri="{FF2B5EF4-FFF2-40B4-BE49-F238E27FC236}">
                <a16:creationId xmlns:a16="http://schemas.microsoft.com/office/drawing/2014/main" id="{00E29566-0C93-45F7-9998-DC903EEAA38A}"/>
              </a:ext>
            </a:extLst>
          </p:cNvPr>
          <p:cNvSpPr txBox="1"/>
          <p:nvPr/>
        </p:nvSpPr>
        <p:spPr>
          <a:xfrm>
            <a:off x="2794000" y="3683000"/>
            <a:ext cx="1714500" cy="461665"/>
          </a:xfrm>
          <a:prstGeom prst="rect">
            <a:avLst/>
          </a:prstGeom>
          <a:noFill/>
        </p:spPr>
        <p:txBody>
          <a:bodyPr vert="horz" wrap="square" rtlCol="0">
            <a:spAutoFit/>
          </a:bodyPr>
          <a:lstStyle/>
          <a:p>
            <a:r>
              <a:rPr lang="en-US" sz="1200">
                <a:solidFill>
                  <a:srgbClr val="5C6B66"/>
                </a:solidFill>
                <a:latin typeface="Segoe UI" panose="020B0502040204020203" pitchFamily="34" charset="0"/>
              </a:rPr>
              <a:t>Requested from the cloud team</a:t>
            </a:r>
          </a:p>
        </p:txBody>
      </p:sp>
      <p:sp>
        <p:nvSpPr>
          <p:cNvPr id="15" name="Oval 14">
            <a:extLst>
              <a:ext uri="{FF2B5EF4-FFF2-40B4-BE49-F238E27FC236}">
                <a16:creationId xmlns:a16="http://schemas.microsoft.com/office/drawing/2014/main" id="{8510170F-1512-48AF-8FA5-51B25027B0C0}"/>
              </a:ext>
            </a:extLst>
          </p:cNvPr>
          <p:cNvSpPr/>
          <p:nvPr/>
        </p:nvSpPr>
        <p:spPr>
          <a:xfrm>
            <a:off x="5016500" y="3009900"/>
            <a:ext cx="406400" cy="406400"/>
          </a:xfrm>
          <a:prstGeom prst="ellipse">
            <a:avLst/>
          </a:prstGeom>
          <a:solidFill>
            <a:srgbClr val="1F2D3D"/>
          </a:solidFill>
          <a:ln w="50800">
            <a:solidFill>
              <a:srgbClr val="59BE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7804A8F-05D1-4218-933F-2DBEF60B3D64}"/>
              </a:ext>
            </a:extLst>
          </p:cNvPr>
          <p:cNvSpPr txBox="1"/>
          <p:nvPr/>
        </p:nvSpPr>
        <p:spPr>
          <a:xfrm>
            <a:off x="4699000" y="1905000"/>
            <a:ext cx="1651000" cy="323165"/>
          </a:xfrm>
          <a:prstGeom prst="rect">
            <a:avLst/>
          </a:prstGeom>
          <a:noFill/>
        </p:spPr>
        <p:txBody>
          <a:bodyPr vert="horz" wrap="square" rtlCol="0">
            <a:spAutoFit/>
          </a:bodyPr>
          <a:lstStyle/>
          <a:p>
            <a:r>
              <a:rPr lang="en-US" sz="1500" b="1">
                <a:solidFill>
                  <a:srgbClr val="1F2D3D"/>
                </a:solidFill>
                <a:latin typeface="Segoe UI" panose="020B0502040204020203" pitchFamily="34" charset="0"/>
              </a:rPr>
              <a:t>conf.yaml</a:t>
            </a:r>
          </a:p>
        </p:txBody>
      </p:sp>
      <p:sp>
        <p:nvSpPr>
          <p:cNvPr id="17" name="TextBox 16">
            <a:extLst>
              <a:ext uri="{FF2B5EF4-FFF2-40B4-BE49-F238E27FC236}">
                <a16:creationId xmlns:a16="http://schemas.microsoft.com/office/drawing/2014/main" id="{906B0CD5-FABD-401B-9557-EA48027C43DB}"/>
              </a:ext>
            </a:extLst>
          </p:cNvPr>
          <p:cNvSpPr txBox="1"/>
          <p:nvPr/>
        </p:nvSpPr>
        <p:spPr>
          <a:xfrm>
            <a:off x="4699000" y="3683000"/>
            <a:ext cx="1714500" cy="461665"/>
          </a:xfrm>
          <a:prstGeom prst="rect">
            <a:avLst/>
          </a:prstGeom>
          <a:noFill/>
        </p:spPr>
        <p:txBody>
          <a:bodyPr vert="horz" wrap="square" rtlCol="0">
            <a:spAutoFit/>
          </a:bodyPr>
          <a:lstStyle/>
          <a:p>
            <a:r>
              <a:rPr lang="en-US" sz="1200">
                <a:solidFill>
                  <a:srgbClr val="5C6B66"/>
                </a:solidFill>
                <a:latin typeface="Segoe UI" panose="020B0502040204020203" pitchFamily="34" charset="0"/>
              </a:rPr>
              <a:t>Backup settings, and the -rst cluster</a:t>
            </a:r>
          </a:p>
        </p:txBody>
      </p:sp>
      <p:sp>
        <p:nvSpPr>
          <p:cNvPr id="18" name="Oval 17">
            <a:extLst>
              <a:ext uri="{FF2B5EF4-FFF2-40B4-BE49-F238E27FC236}">
                <a16:creationId xmlns:a16="http://schemas.microsoft.com/office/drawing/2014/main" id="{1B84A4A4-77E6-45FA-A87D-92A3C588261E}"/>
              </a:ext>
            </a:extLst>
          </p:cNvPr>
          <p:cNvSpPr/>
          <p:nvPr/>
        </p:nvSpPr>
        <p:spPr>
          <a:xfrm>
            <a:off x="6921500" y="3009900"/>
            <a:ext cx="406400" cy="406400"/>
          </a:xfrm>
          <a:prstGeom prst="ellipse">
            <a:avLst/>
          </a:prstGeom>
          <a:solidFill>
            <a:srgbClr val="1F2D3D"/>
          </a:solidFill>
          <a:ln w="50800">
            <a:solidFill>
              <a:srgbClr val="59BE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22E3615-1F90-47AA-8D96-A8796C555D82}"/>
              </a:ext>
            </a:extLst>
          </p:cNvPr>
          <p:cNvSpPr txBox="1"/>
          <p:nvPr/>
        </p:nvSpPr>
        <p:spPr>
          <a:xfrm>
            <a:off x="6604000" y="1905000"/>
            <a:ext cx="1651000" cy="323165"/>
          </a:xfrm>
          <a:prstGeom prst="rect">
            <a:avLst/>
          </a:prstGeom>
          <a:noFill/>
        </p:spPr>
        <p:txBody>
          <a:bodyPr vert="horz" wrap="square" rtlCol="0">
            <a:spAutoFit/>
          </a:bodyPr>
          <a:lstStyle/>
          <a:p>
            <a:r>
              <a:rPr lang="en-US" sz="1500" b="1">
                <a:solidFill>
                  <a:srgbClr val="1F2D3D"/>
                </a:solidFill>
                <a:latin typeface="Segoe UI" panose="020B0502040204020203" pitchFamily="34" charset="0"/>
              </a:rPr>
              <a:t>bfhaksplatform</a:t>
            </a:r>
          </a:p>
        </p:txBody>
      </p:sp>
      <p:sp>
        <p:nvSpPr>
          <p:cNvPr id="20" name="TextBox 19">
            <a:extLst>
              <a:ext uri="{FF2B5EF4-FFF2-40B4-BE49-F238E27FC236}">
                <a16:creationId xmlns:a16="http://schemas.microsoft.com/office/drawing/2014/main" id="{960280E5-8280-4BF8-B287-25071D2A3F70}"/>
              </a:ext>
            </a:extLst>
          </p:cNvPr>
          <p:cNvSpPr txBox="1"/>
          <p:nvPr/>
        </p:nvSpPr>
        <p:spPr>
          <a:xfrm>
            <a:off x="6604000" y="3683000"/>
            <a:ext cx="1714500" cy="461665"/>
          </a:xfrm>
          <a:prstGeom prst="rect">
            <a:avLst/>
          </a:prstGeom>
          <a:noFill/>
        </p:spPr>
        <p:txBody>
          <a:bodyPr vert="horz" wrap="square" rtlCol="0">
            <a:spAutoFit/>
          </a:bodyPr>
          <a:lstStyle/>
          <a:p>
            <a:r>
              <a:rPr lang="en-US" sz="1200">
                <a:solidFill>
                  <a:srgbClr val="5C6B66"/>
                </a:solidFill>
                <a:latin typeface="Segoe UI" panose="020B0502040204020203" pitchFamily="34" charset="0"/>
              </a:rPr>
              <a:t>Pipeline deploys everything</a:t>
            </a:r>
          </a:p>
        </p:txBody>
      </p:sp>
      <p:sp>
        <p:nvSpPr>
          <p:cNvPr id="21" name="Oval 20">
            <a:extLst>
              <a:ext uri="{FF2B5EF4-FFF2-40B4-BE49-F238E27FC236}">
                <a16:creationId xmlns:a16="http://schemas.microsoft.com/office/drawing/2014/main" id="{32B51871-1A02-4D8F-9F93-95A2832391A3}"/>
              </a:ext>
            </a:extLst>
          </p:cNvPr>
          <p:cNvSpPr/>
          <p:nvPr/>
        </p:nvSpPr>
        <p:spPr>
          <a:xfrm>
            <a:off x="8826500" y="3009900"/>
            <a:ext cx="406400" cy="406400"/>
          </a:xfrm>
          <a:prstGeom prst="ellipse">
            <a:avLst/>
          </a:prstGeom>
          <a:solidFill>
            <a:srgbClr val="1F2D3D"/>
          </a:solidFill>
          <a:ln w="50800">
            <a:solidFill>
              <a:srgbClr val="59BE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FF7D171-CAD5-411A-A2C2-132E188B89F9}"/>
              </a:ext>
            </a:extLst>
          </p:cNvPr>
          <p:cNvSpPr txBox="1"/>
          <p:nvPr/>
        </p:nvSpPr>
        <p:spPr>
          <a:xfrm>
            <a:off x="8509000" y="1905000"/>
            <a:ext cx="1651000" cy="323165"/>
          </a:xfrm>
          <a:prstGeom prst="rect">
            <a:avLst/>
          </a:prstGeom>
          <a:noFill/>
        </p:spPr>
        <p:txBody>
          <a:bodyPr vert="horz" wrap="square" rtlCol="0">
            <a:spAutoFit/>
          </a:bodyPr>
          <a:lstStyle/>
          <a:p>
            <a:r>
              <a:rPr lang="en-US" sz="1500" b="1">
                <a:solidFill>
                  <a:srgbClr val="1F2D3D"/>
                </a:solidFill>
                <a:latin typeface="Segoe UI" panose="020B0502040204020203" pitchFamily="34" charset="0"/>
              </a:rPr>
              <a:t>Verify</a:t>
            </a:r>
          </a:p>
        </p:txBody>
      </p:sp>
      <p:sp>
        <p:nvSpPr>
          <p:cNvPr id="23" name="TextBox 22">
            <a:extLst>
              <a:ext uri="{FF2B5EF4-FFF2-40B4-BE49-F238E27FC236}">
                <a16:creationId xmlns:a16="http://schemas.microsoft.com/office/drawing/2014/main" id="{F926C102-1B72-498B-9886-71E0FBDDE722}"/>
              </a:ext>
            </a:extLst>
          </p:cNvPr>
          <p:cNvSpPr txBox="1"/>
          <p:nvPr/>
        </p:nvSpPr>
        <p:spPr>
          <a:xfrm>
            <a:off x="8509000" y="3683000"/>
            <a:ext cx="1714500" cy="461665"/>
          </a:xfrm>
          <a:prstGeom prst="rect">
            <a:avLst/>
          </a:prstGeom>
          <a:noFill/>
        </p:spPr>
        <p:txBody>
          <a:bodyPr vert="horz" wrap="square" rtlCol="0">
            <a:spAutoFit/>
          </a:bodyPr>
          <a:lstStyle/>
          <a:p>
            <a:r>
              <a:rPr lang="en-US" sz="1200">
                <a:solidFill>
                  <a:srgbClr val="5C6B66"/>
                </a:solidFill>
                <a:latin typeface="Segoe UI" panose="020B0502040204020203" pitchFamily="34" charset="0"/>
              </a:rPr>
              <a:t>Check the vault and extensions</a:t>
            </a:r>
          </a:p>
        </p:txBody>
      </p:sp>
      <p:sp>
        <p:nvSpPr>
          <p:cNvPr id="24" name="Oval 23">
            <a:extLst>
              <a:ext uri="{FF2B5EF4-FFF2-40B4-BE49-F238E27FC236}">
                <a16:creationId xmlns:a16="http://schemas.microsoft.com/office/drawing/2014/main" id="{816A232C-4A24-4295-8897-C5BDE52D3D88}"/>
              </a:ext>
            </a:extLst>
          </p:cNvPr>
          <p:cNvSpPr/>
          <p:nvPr/>
        </p:nvSpPr>
        <p:spPr>
          <a:xfrm>
            <a:off x="10731500" y="3009900"/>
            <a:ext cx="406400" cy="406400"/>
          </a:xfrm>
          <a:prstGeom prst="ellipse">
            <a:avLst/>
          </a:prstGeom>
          <a:solidFill>
            <a:srgbClr val="1F2D3D"/>
          </a:solidFill>
          <a:ln w="50800">
            <a:solidFill>
              <a:srgbClr val="59BE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0F39C99-DF10-4291-818C-04749559AFEA}"/>
              </a:ext>
            </a:extLst>
          </p:cNvPr>
          <p:cNvSpPr txBox="1"/>
          <p:nvPr/>
        </p:nvSpPr>
        <p:spPr>
          <a:xfrm>
            <a:off x="10414000" y="1905000"/>
            <a:ext cx="1651000" cy="553998"/>
          </a:xfrm>
          <a:prstGeom prst="rect">
            <a:avLst/>
          </a:prstGeom>
          <a:noFill/>
        </p:spPr>
        <p:txBody>
          <a:bodyPr vert="horz" wrap="square" rtlCol="0">
            <a:spAutoFit/>
          </a:bodyPr>
          <a:lstStyle/>
          <a:p>
            <a:r>
              <a:rPr lang="en-US" sz="1500" b="1">
                <a:solidFill>
                  <a:srgbClr val="1F2D3D"/>
                </a:solidFill>
                <a:latin typeface="Segoe UI" panose="020B0502040204020203" pitchFamily="34" charset="0"/>
              </a:rPr>
              <a:t>workload-onboarding</a:t>
            </a:r>
          </a:p>
        </p:txBody>
      </p:sp>
      <p:sp>
        <p:nvSpPr>
          <p:cNvPr id="26" name="TextBox 25">
            <a:extLst>
              <a:ext uri="{FF2B5EF4-FFF2-40B4-BE49-F238E27FC236}">
                <a16:creationId xmlns:a16="http://schemas.microsoft.com/office/drawing/2014/main" id="{C99CD101-BEFD-42D5-A388-FCD223A925A9}"/>
              </a:ext>
            </a:extLst>
          </p:cNvPr>
          <p:cNvSpPr txBox="1"/>
          <p:nvPr/>
        </p:nvSpPr>
        <p:spPr>
          <a:xfrm>
            <a:off x="10414000" y="3683000"/>
            <a:ext cx="1714500" cy="461665"/>
          </a:xfrm>
          <a:prstGeom prst="rect">
            <a:avLst/>
          </a:prstGeom>
          <a:noFill/>
        </p:spPr>
        <p:txBody>
          <a:bodyPr vert="horz" wrap="square" rtlCol="0">
            <a:spAutoFit/>
          </a:bodyPr>
          <a:lstStyle/>
          <a:p>
            <a:r>
              <a:rPr lang="en-US" sz="1200">
                <a:solidFill>
                  <a:srgbClr val="5C6B66"/>
                </a:solidFill>
                <a:latin typeface="Segoe UI" panose="020B0502040204020203" pitchFamily="34" charset="0"/>
              </a:rPr>
              <a:t>Picks up the rst cluster automatically</a:t>
            </a:r>
          </a:p>
        </p:txBody>
      </p:sp>
      <p:sp>
        <p:nvSpPr>
          <p:cNvPr id="27" name="Rectangle: Rounded Corners 26">
            <a:extLst>
              <a:ext uri="{FF2B5EF4-FFF2-40B4-BE49-F238E27FC236}">
                <a16:creationId xmlns:a16="http://schemas.microsoft.com/office/drawing/2014/main" id="{9E82E572-E101-42EF-9FED-E68053B7A146}"/>
              </a:ext>
            </a:extLst>
          </p:cNvPr>
          <p:cNvSpPr/>
          <p:nvPr/>
        </p:nvSpPr>
        <p:spPr>
          <a:xfrm>
            <a:off x="635000" y="5207000"/>
            <a:ext cx="10922000" cy="635000"/>
          </a:xfrm>
          <a:prstGeom prst="roundRect">
            <a:avLst/>
          </a:prstGeom>
          <a:solidFill>
            <a:srgbClr val="E4F4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1F2D3D"/>
                </a:solidFill>
                <a:latin typeface="Segoe UI" panose="020B0502040204020203" pitchFamily="34" charset="0"/>
              </a:rPr>
              <a:t>The -rst cluster is optional. Skip it if you only need backups.</a:t>
            </a:r>
          </a:p>
        </p:txBody>
      </p:sp>
    </p:spTree>
    <p:extLst>
      <p:ext uri="{BB962C8B-B14F-4D97-AF65-F5344CB8AC3E}">
        <p14:creationId xmlns:p14="http://schemas.microsoft.com/office/powerpoint/2010/main" val="1795340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38FA9C0-AB92-47E1-A40A-ABC1C39F3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07760"/>
            <a:ext cx="12192000" cy="650240"/>
          </a:xfrm>
          <a:prstGeom prst="rect">
            <a:avLst/>
          </a:prstGeom>
        </p:spPr>
      </p:pic>
      <p:pic>
        <p:nvPicPr>
          <p:cNvPr id="17" name="Picture 16">
            <a:extLst>
              <a:ext uri="{FF2B5EF4-FFF2-40B4-BE49-F238E27FC236}">
                <a16:creationId xmlns:a16="http://schemas.microsoft.com/office/drawing/2014/main" id="{C2B5C9D4-C415-4EF6-9F82-B30FD710B5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36000" y="431800"/>
            <a:ext cx="2921000" cy="528181"/>
          </a:xfrm>
          <a:prstGeom prst="rect">
            <a:avLst/>
          </a:prstGeom>
        </p:spPr>
      </p:pic>
      <p:sp>
        <p:nvSpPr>
          <p:cNvPr id="18" name="Rectangle 17">
            <a:extLst>
              <a:ext uri="{FF2B5EF4-FFF2-40B4-BE49-F238E27FC236}">
                <a16:creationId xmlns:a16="http://schemas.microsoft.com/office/drawing/2014/main" id="{1758C7A7-2B10-431E-939A-E8D3C7E1709A}"/>
              </a:ext>
            </a:extLst>
          </p:cNvPr>
          <p:cNvSpPr/>
          <p:nvPr/>
        </p:nvSpPr>
        <p:spPr>
          <a:xfrm>
            <a:off x="508000" y="431800"/>
            <a:ext cx="101600" cy="5080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A0700763-F265-46CC-ABC4-13B317EAA6E0}"/>
              </a:ext>
            </a:extLst>
          </p:cNvPr>
          <p:cNvSpPr txBox="1"/>
          <p:nvPr/>
        </p:nvSpPr>
        <p:spPr>
          <a:xfrm>
            <a:off x="736600" y="330200"/>
            <a:ext cx="7620000" cy="553998"/>
          </a:xfrm>
          <a:prstGeom prst="rect">
            <a:avLst/>
          </a:prstGeom>
          <a:noFill/>
        </p:spPr>
        <p:txBody>
          <a:bodyPr vert="horz" wrap="square" rtlCol="0">
            <a:spAutoFit/>
          </a:bodyPr>
          <a:lstStyle/>
          <a:p>
            <a:r>
              <a:rPr lang="en-US" sz="3000" b="1">
                <a:solidFill>
                  <a:srgbClr val="FFFFFF"/>
                </a:solidFill>
                <a:latin typeface="Segoe UI" panose="020B0502040204020203" pitchFamily="34" charset="0"/>
              </a:rPr>
              <a:t>Summary and resources</a:t>
            </a:r>
          </a:p>
        </p:txBody>
      </p:sp>
      <p:sp>
        <p:nvSpPr>
          <p:cNvPr id="20" name="TextBox 19">
            <a:extLst>
              <a:ext uri="{FF2B5EF4-FFF2-40B4-BE49-F238E27FC236}">
                <a16:creationId xmlns:a16="http://schemas.microsoft.com/office/drawing/2014/main" id="{B0AA73D2-43BC-4CDE-A55A-2410CC9E281E}"/>
              </a:ext>
            </a:extLst>
          </p:cNvPr>
          <p:cNvSpPr txBox="1"/>
          <p:nvPr/>
        </p:nvSpPr>
        <p:spPr>
          <a:xfrm>
            <a:off x="736600" y="889000"/>
            <a:ext cx="7620000" cy="323165"/>
          </a:xfrm>
          <a:prstGeom prst="rect">
            <a:avLst/>
          </a:prstGeom>
          <a:noFill/>
        </p:spPr>
        <p:txBody>
          <a:bodyPr vert="horz" wrap="square" rtlCol="0">
            <a:spAutoFit/>
          </a:bodyPr>
          <a:lstStyle/>
          <a:p>
            <a:r>
              <a:rPr lang="en-US" sz="1500">
                <a:solidFill>
                  <a:srgbClr val="BEC8D7"/>
                </a:solidFill>
                <a:latin typeface="Segoe UI" panose="020B0502040204020203" pitchFamily="34" charset="0"/>
              </a:rPr>
              <a:t>Keep these handy</a:t>
            </a:r>
          </a:p>
        </p:txBody>
      </p:sp>
      <p:sp>
        <p:nvSpPr>
          <p:cNvPr id="21" name="TextBox 20">
            <a:extLst>
              <a:ext uri="{FF2B5EF4-FFF2-40B4-BE49-F238E27FC236}">
                <a16:creationId xmlns:a16="http://schemas.microsoft.com/office/drawing/2014/main" id="{6B0F5217-799A-4DD9-A1D9-A2760C4EB875}"/>
              </a:ext>
            </a:extLst>
          </p:cNvPr>
          <p:cNvSpPr txBox="1"/>
          <p:nvPr/>
        </p:nvSpPr>
        <p:spPr>
          <a:xfrm>
            <a:off x="762000" y="1587500"/>
            <a:ext cx="10668000" cy="1938992"/>
          </a:xfrm>
          <a:prstGeom prst="rect">
            <a:avLst/>
          </a:prstGeom>
          <a:noFill/>
        </p:spPr>
        <p:txBody>
          <a:bodyPr vert="horz" wrap="square" rtlCol="0">
            <a:spAutoFit/>
          </a:bodyPr>
          <a:lstStyle/>
          <a:p>
            <a:pPr marL="342900" indent="-342900">
              <a:spcAft>
                <a:spcPts val="1200"/>
              </a:spcAft>
              <a:buFont typeface="+mj-lt"/>
              <a:buChar char="•"/>
            </a:pPr>
            <a:r>
              <a:rPr lang="en-US">
                <a:solidFill>
                  <a:srgbClr val="FFFFFF"/>
                </a:solidFill>
                <a:latin typeface="Segoe UI" panose="020B0502040204020203" pitchFamily="34" charset="0"/>
              </a:rPr>
              <a:t>The vault reaches the cluster through the Backup extension and Trusted Access</a:t>
            </a:r>
          </a:p>
          <a:p>
            <a:pPr marL="342900" indent="-342900">
              <a:spcAft>
                <a:spcPts val="1200"/>
              </a:spcAft>
              <a:buFont typeface="+mj-lt"/>
              <a:buChar char="•"/>
            </a:pPr>
            <a:r>
              <a:rPr lang="en-US">
                <a:solidFill>
                  <a:srgbClr val="FFFFFF"/>
                </a:solidFill>
                <a:latin typeface="Segoe UI" panose="020B0502040204020203" pitchFamily="34" charset="0"/>
              </a:rPr>
              <a:t>Restore starts in the Backup vault of the environment: Restore, restore point, target, resources, validate</a:t>
            </a:r>
          </a:p>
          <a:p>
            <a:pPr marL="342900" indent="-342900">
              <a:spcAft>
                <a:spcPts val="1200"/>
              </a:spcAft>
              <a:buFont typeface="+mj-lt"/>
              <a:buChar char="•"/>
            </a:pPr>
            <a:r>
              <a:rPr lang="en-US">
                <a:solidFill>
                  <a:srgbClr val="FFFFFF"/>
                </a:solidFill>
                <a:latin typeface="Segoe UI" panose="020B0502040204020203" pitchFamily="34" charset="0"/>
              </a:rPr>
              <a:t>Grant the roles the validation asks for, then restore</a:t>
            </a:r>
          </a:p>
          <a:p>
            <a:pPr marL="342900" indent="-342900">
              <a:spcAft>
                <a:spcPts val="1200"/>
              </a:spcAft>
              <a:buFont typeface="+mj-lt"/>
              <a:buChar char="•"/>
            </a:pPr>
            <a:r>
              <a:rPr lang="en-US">
                <a:solidFill>
                  <a:srgbClr val="FFFFFF"/>
                </a:solidFill>
                <a:latin typeface="Segoe UI" panose="020B0502040204020203" pitchFamily="34" charset="0"/>
              </a:rPr>
              <a:t>Verify with kubectl and check the restore job</a:t>
            </a:r>
          </a:p>
        </p:txBody>
      </p:sp>
      <p:sp>
        <p:nvSpPr>
          <p:cNvPr id="22" name="Rectangle 21">
            <a:extLst>
              <a:ext uri="{FF2B5EF4-FFF2-40B4-BE49-F238E27FC236}">
                <a16:creationId xmlns:a16="http://schemas.microsoft.com/office/drawing/2014/main" id="{77EB2C85-F0BD-4394-BAE1-494E6E158452}"/>
              </a:ext>
            </a:extLst>
          </p:cNvPr>
          <p:cNvSpPr/>
          <p:nvPr/>
        </p:nvSpPr>
        <p:spPr>
          <a:xfrm>
            <a:off x="635000" y="4191000"/>
            <a:ext cx="10922000" cy="1714500"/>
          </a:xfrm>
          <a:prstGeom prst="rect">
            <a:avLst/>
          </a:prstGeom>
          <a:solidFill>
            <a:srgbClr val="213A6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AD64D0F-EA4A-4140-AE9F-92BA8CD63A56}"/>
              </a:ext>
            </a:extLst>
          </p:cNvPr>
          <p:cNvSpPr/>
          <p:nvPr/>
        </p:nvSpPr>
        <p:spPr>
          <a:xfrm>
            <a:off x="635000" y="4191000"/>
            <a:ext cx="76200" cy="1714500"/>
          </a:xfrm>
          <a:prstGeom prst="rect">
            <a:avLst/>
          </a:prstGeom>
          <a:solidFill>
            <a:srgbClr val="59BEC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EB6D040-40E9-4E77-BBF1-9C25F1A80414}"/>
              </a:ext>
            </a:extLst>
          </p:cNvPr>
          <p:cNvSpPr txBox="1"/>
          <p:nvPr/>
        </p:nvSpPr>
        <p:spPr>
          <a:xfrm>
            <a:off x="863600" y="4292600"/>
            <a:ext cx="5080000" cy="338554"/>
          </a:xfrm>
          <a:prstGeom prst="rect">
            <a:avLst/>
          </a:prstGeom>
          <a:noFill/>
        </p:spPr>
        <p:txBody>
          <a:bodyPr vert="horz" wrap="square" rtlCol="0">
            <a:spAutoFit/>
          </a:bodyPr>
          <a:lstStyle/>
          <a:p>
            <a:r>
              <a:rPr lang="en-US" sz="1600" b="1">
                <a:solidFill>
                  <a:srgbClr val="59BEC9"/>
                </a:solidFill>
                <a:latin typeface="Segoe UI" panose="020B0502040204020203" pitchFamily="34" charset="0"/>
              </a:rPr>
              <a:t>Microsoft Learn</a:t>
            </a:r>
          </a:p>
        </p:txBody>
      </p:sp>
      <p:sp>
        <p:nvSpPr>
          <p:cNvPr id="25" name="TextBox 24">
            <a:extLst>
              <a:ext uri="{FF2B5EF4-FFF2-40B4-BE49-F238E27FC236}">
                <a16:creationId xmlns:a16="http://schemas.microsoft.com/office/drawing/2014/main" id="{6CBEA8BC-E055-4A47-83EA-F0230B57F5F5}"/>
              </a:ext>
            </a:extLst>
          </p:cNvPr>
          <p:cNvSpPr txBox="1"/>
          <p:nvPr/>
        </p:nvSpPr>
        <p:spPr>
          <a:xfrm>
            <a:off x="863600" y="4673600"/>
            <a:ext cx="8128000" cy="795089"/>
          </a:xfrm>
          <a:prstGeom prst="rect">
            <a:avLst/>
          </a:prstGeom>
          <a:noFill/>
        </p:spPr>
        <p:txBody>
          <a:bodyPr vert="horz" wrap="square" rtlCol="0">
            <a:spAutoFit/>
          </a:bodyPr>
          <a:lstStyle/>
          <a:p>
            <a:pPr>
              <a:spcAft>
                <a:spcPts val="400"/>
              </a:spcAft>
            </a:pPr>
            <a:r>
              <a:rPr lang="en-US" sz="1300">
                <a:solidFill>
                  <a:srgbClr val="BEC8D7"/>
                </a:solidFill>
                <a:latin typeface="Segoe UI" panose="020B0502040204020203" pitchFamily="34" charset="0"/>
              </a:rPr>
              <a:t>learn.microsoft.com/azure/backup/azure-kubernetes-service-cluster-restore</a:t>
            </a:r>
          </a:p>
          <a:p>
            <a:pPr>
              <a:spcAft>
                <a:spcPts val="400"/>
              </a:spcAft>
            </a:pPr>
            <a:r>
              <a:rPr lang="en-US" sz="1300">
                <a:solidFill>
                  <a:srgbClr val="BEC8D7"/>
                </a:solidFill>
                <a:latin typeface="Segoe UI" panose="020B0502040204020203" pitchFamily="34" charset="0"/>
              </a:rPr>
              <a:t>learn.microsoft.com/azure/backup/azure-kubernetes-service-backup-overview</a:t>
            </a:r>
          </a:p>
          <a:p>
            <a:pPr>
              <a:spcAft>
                <a:spcPts val="400"/>
              </a:spcAft>
            </a:pPr>
            <a:r>
              <a:rPr lang="en-US" sz="1300">
                <a:solidFill>
                  <a:srgbClr val="BEC8D7"/>
                </a:solidFill>
                <a:latin typeface="Segoe UI" panose="020B0502040204020203" pitchFamily="34" charset="0"/>
              </a:rPr>
              <a:t>learn.microsoft.com/azure/backup/azure-kubernetes-service-cluster-backup-concept</a:t>
            </a:r>
          </a:p>
        </p:txBody>
      </p:sp>
      <p:sp>
        <p:nvSpPr>
          <p:cNvPr id="26" name="TextBox 25">
            <a:extLst>
              <a:ext uri="{FF2B5EF4-FFF2-40B4-BE49-F238E27FC236}">
                <a16:creationId xmlns:a16="http://schemas.microsoft.com/office/drawing/2014/main" id="{B02F6B38-6803-4DE9-A477-1B8FCF51231B}"/>
              </a:ext>
            </a:extLst>
          </p:cNvPr>
          <p:cNvSpPr txBox="1"/>
          <p:nvPr/>
        </p:nvSpPr>
        <p:spPr>
          <a:xfrm>
            <a:off x="8890000" y="4826000"/>
            <a:ext cx="2540000" cy="523220"/>
          </a:xfrm>
          <a:prstGeom prst="rect">
            <a:avLst/>
          </a:prstGeom>
          <a:noFill/>
        </p:spPr>
        <p:txBody>
          <a:bodyPr vert="horz" wrap="square" rtlCol="0">
            <a:spAutoFit/>
          </a:bodyPr>
          <a:lstStyle/>
          <a:p>
            <a:r>
              <a:rPr lang="en-US" sz="2800" b="1">
                <a:solidFill>
                  <a:srgbClr val="FFFFFF"/>
                </a:solidFill>
                <a:latin typeface="Segoe UI" panose="020B0502040204020203" pitchFamily="34" charset="0"/>
              </a:rPr>
              <a:t>Questions?</a:t>
            </a:r>
          </a:p>
        </p:txBody>
      </p:sp>
    </p:spTree>
    <p:extLst>
      <p:ext uri="{BB962C8B-B14F-4D97-AF65-F5344CB8AC3E}">
        <p14:creationId xmlns:p14="http://schemas.microsoft.com/office/powerpoint/2010/main" val="1005369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2283</Words>
  <Application>Microsoft Office PowerPoint</Application>
  <PresentationFormat>Custom</PresentationFormat>
  <Paragraphs>289</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abdullah bhatti</dc:creator>
  <cp:lastModifiedBy>abdullah bhatti</cp:lastModifiedBy>
  <cp:revision>17</cp:revision>
  <dcterms:created xsi:type="dcterms:W3CDTF">2026-10-08T10:22:15Z</dcterms:created>
  <dcterms:modified xsi:type="dcterms:W3CDTF">2026-10-08T10:41:50Z</dcterms:modified>
</cp:coreProperties>
</file>