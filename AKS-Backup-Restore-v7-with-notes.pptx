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2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everyone. Today I will walk you through AKS Backup and Restore.</a:t>
            </a:r>
          </a:p>
          <a:p/>
          <a:p>
            <a:r>
              <a:t>I will cover what it is, how we deploy it with our platform pipeline, and how you restore a cluster step by step in the Azure Portal.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AKS Backup is an Azure service that takes scheduled backups of an AKS cluster and keeps them in our own subscription. It is a backup of the cluster itself, not just of the code that built it.</a:t>
            </a:r>
          </a:p>
          <a:p/>
          <a:p>
            <a:r>
              <a:t>How does it work? A Backup extension runs inside the cluster. The Backup vault reaches the cluster through Trusted Access, and takes a backup every four hours.</a:t>
            </a:r>
          </a:p>
          <a:p/>
          <a:p>
            <a:r>
              <a:t>What does it contain? The cluster state: the namespaces and the workloads, configuration, services and access rules inside them. In our setup, volume data is not included.</a:t>
            </a:r>
          </a:p>
          <a:p/>
          <a:p>
            <a:r>
              <a:t>Look at the numbers at the bottom. A backup every 4 hours. Backups are kept 7 days in non-prod and 90 days in prod. And a restore takes about ten minutes. That ten minutes is indicative, and it depends on the size of the cluster.</a:t>
            </a:r>
          </a:p>
          <a:p/>
          <a:p>
            <a:r>
              <a:t>The amber card sums it up: better than stateless pipelines. We restore the real cluster state to a chosen point in time.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be precise about what is inside the backup.</a:t>
            </a:r>
          </a:p>
          <a:p/>
          <a:p>
            <a:r>
              <a:t>Workloads: deployments, stateful sets, daemon sets, jobs and cron jobs, with their replica counts and settings.</a:t>
            </a:r>
          </a:p>
          <a:p/>
          <a:p>
            <a:r>
              <a:t>Configuration: config maps, secrets, services and ingress, together with the namespaces they live in.</a:t>
            </a:r>
          </a:p>
          <a:p/>
          <a:p>
            <a:r>
              <a:t>Access and custom resources: RBAC roles and bindings, service accounts, and custom resources with their definitions. Cluster-scoped resources are included too.</a:t>
            </a:r>
          </a:p>
          <a:p/>
          <a:p>
            <a:r>
              <a:t>And the amber card is what is not included: volume data, because volume snapshots are off, and Azure resources outside the cluster. Our Terraform pipelines rebuild those.</a:t>
            </a:r>
          </a:p>
          <a:p/>
          <a:p>
            <a:r>
              <a:t>At the bottom: our setup is a full cluster backup with nothing excluded.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do we take a backup instead of only re-running the pipelines? Let me go row by row.</a:t>
            </a:r>
          </a:p>
          <a:p/>
          <a:p>
            <a:r>
              <a:t>What comes back: with pipelines, only what they last deployed. With AKS Backup, the real cluster state at the restore point.</a:t>
            </a:r>
          </a:p>
          <a:p/>
          <a:p>
            <a:r>
              <a:t>Manual changes in the cluster: with pipelines they are lost, because they are in no pipeline. With AKS Backup they are captured.</a:t>
            </a:r>
          </a:p>
          <a:p/>
          <a:p>
            <a:r>
              <a:t>Steps to recover: with pipelines you re-run each one, in the right order. With AKS Backup it is one restore from the Backup vault.</a:t>
            </a:r>
          </a:p>
          <a:p/>
          <a:p>
            <a:r>
              <a:t>Time to restore: with pipelines it depends on how many have to run. With AKS Backup it is about ten minutes, again indicative.</a:t>
            </a:r>
          </a:p>
          <a:p/>
          <a:p>
            <a:r>
              <a:t>Point in time: pipelines give you the latest committed version only. AKS Backup gives you a restore point every four hours, kept for seven days in non-prod and ninety days in prod.</a:t>
            </a:r>
          </a:p>
          <a:p/>
          <a:p>
            <a:r>
              <a:t>Test without risk: we can restore to the -rst cluster and the original is never touched.</a:t>
            </a:r>
          </a:p>
          <a:p/>
          <a:p>
            <a:r>
              <a:t>And the key message at the bottom: the two work together. Terraform builds the cluster and its Azure resources, and AKS Backup brings back what runs inside it.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plan for the rest of the session.</a:t>
            </a:r>
          </a:p>
          <a:p/>
          <a:p>
            <a:r>
              <a:t>One, how AKS Backup works. Two, our architecture. Three, what we built in code. Four, permissions. Five, restoring in the Portal. And six, how to verify and the common traps.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ideas to remember.</a:t>
            </a:r>
          </a:p>
          <a:p/>
          <a:p>
            <a:r>
              <a:t>First, the Backup extension. It is a component installed inside the cluster. The Backup vault talks to the cluster only through this extension, for both backup and restore.</a:t>
            </a:r>
          </a:p>
          <a:p/>
          <a:p>
            <a:r>
              <a:t>Second, Trusted Access. The vault reaches the cluster through Trusted Access, with a least-privilege role. No broad admin rights are handed to the vault.</a:t>
            </a:r>
          </a:p>
          <a:p/>
          <a:p>
            <a:r>
              <a:t>Third, the operational tier. Backups stay in our own subscription, in the backup storage account and the snapshot resource group. This is the tier we use.</a:t>
            </a:r>
          </a:p>
          <a:p/>
          <a:p>
            <a:r>
              <a:t>One more point from the note: it backs up cluster resources. Volume snapshots are off, so volume data is not included.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walk through the diagram from left to right.</a:t>
            </a:r>
          </a:p>
          <a:p/>
          <a:p>
            <a:r>
              <a:t>On the left is the Backup vault with its backup policy. Arrow number one is Trusted Access: the vault reaches the original cluster, which has the Backup extension installed.</a:t>
            </a:r>
          </a:p>
          <a:p/>
          <a:p>
            <a:r>
              <a:t>Arrow number two is the backup data. The extension writes the backup into the storage account and its container.</a:t>
            </a:r>
          </a:p>
          <a:p/>
          <a:p>
            <a:r>
              <a:t>Under the storage account you can see the private endpoint. The cloud team creates it. If there is no private endpoint, the storage account cannot talk to the cluster, and backups fail.</a:t>
            </a:r>
          </a:p>
          <a:p/>
          <a:p>
            <a:r>
              <a:t>Now the amber path, number three: restore. From the vault, we restore into the restore cluster, the one with the -rst suffix. This is an alternate-cluster restore, so the original cluster is never touched.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file, backup dot tf, builds the whole backup setup. Here is what the pipeline creates.</a:t>
            </a:r>
          </a:p>
          <a:p/>
          <a:p>
            <a:r>
              <a:t>The storage account and container: this is where backup data lives. Public network access is off, which is why the private endpoint is needed. Versioning is on.</a:t>
            </a:r>
          </a:p>
          <a:p/>
          <a:p>
            <a:r>
              <a:t>The Backup extension, installed on the cluster. It tells the cluster which storage account and container to write backups to.</a:t>
            </a:r>
          </a:p>
          <a:p/>
          <a:p>
            <a:r>
              <a:t>The Backup vault: zone redundant, soft delete always on, immutable, and protected by a delete lock.</a:t>
            </a:r>
          </a:p>
          <a:p/>
          <a:p>
            <a:r>
              <a:t>The Backup policy: a backup every four hours, kept seven days in non-prod and ninety days in prod.</a:t>
            </a:r>
          </a:p>
          <a:p/>
          <a:p>
            <a:r>
              <a:t>The Backup instance ties together the cluster, the vault and the policy. Full cluster backup, nothing excluded.</a:t>
            </a:r>
          </a:p>
          <a:p/>
          <a:p>
            <a:r>
              <a:t>And access and roles: Trusted Access from the vault to the cluster, plus the roles that the vault, the extension and the cluster identities need.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names are hard-coded. backup dot tf reads lists from conf dot yaml and builds one resource for every entry.</a:t>
            </a:r>
          </a:p>
          <a:p/>
          <a:p>
            <a:r>
              <a:t>So conf dot yaml holds our settings: lists of storage accounts, vaults, clusters and policies. backup dot tf reads each list. And the result is the Azure resources: storage, vault, extension, policy, instance and roles.</a:t>
            </a:r>
          </a:p>
          <a:p/>
          <a:p>
            <a:r>
              <a:t>You may ask: what is a local? A local is a named helper value that Terraform works out once and then reuses. For example, backup dot tf turns the storage account list into a lookup by name. Locals are internal helpers. They are not settings you pass in.</a:t>
            </a:r>
          </a:p>
          <a:p/>
          <a:p>
            <a:r>
              <a:t>Why it matters: add an entry to a list in conf dot yaml and the next pipeline run creates the matching resources. Retention is seven days everywhere except prd, which keeps ninety days.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Conf dot yaml has five blocks for backup. For each one you see what you put in, and what it creates.</a:t>
            </a:r>
          </a:p>
          <a:p/>
          <a:p>
            <a:r>
              <a:t>Storage account: you give a name and a container name, and it creates the storage account and blob container.</a:t>
            </a:r>
          </a:p>
          <a:p/>
          <a:p>
            <a:r>
              <a:t>Backup vault: a vault name, and it creates the vault with a delete lock.</a:t>
            </a:r>
          </a:p>
          <a:p/>
          <a:p>
            <a:r>
              <a:t>Backup extension: the cluster, the storage account and the container, and it creates the extension on that cluster.</a:t>
            </a:r>
          </a:p>
          <a:p/>
          <a:p>
            <a:r>
              <a:t>Backup policy: a name and the vault. Note that the interval and retention are set in backup dot tf, not here.</a:t>
            </a:r>
          </a:p>
          <a:p/>
          <a:p>
            <a:r>
              <a:t>Backup instance: the cluster and the policy. It creates the instance, plus Trusted Access and the role assignments for that cluster.</a:t>
            </a:r>
          </a:p>
          <a:p/>
          <a:p>
            <a:r>
              <a:t>A note on the -rst cluster. Every -rst entry is commented out in the dev conf dot yaml. It gets an extension but no backup instance, so it is a restore target and is not backed up itself.</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Deploying it takes four steps, all through code and the pipeline.</a:t>
            </a:r>
          </a:p>
          <a:p/>
          <a:p>
            <a:r>
              <a:t>Step one: update conf dot yaml with the backup settings for the environment you need: storage account, vault, policy and cluster.</a:t>
            </a:r>
          </a:p>
          <a:p/>
          <a:p>
            <a:r>
              <a:t>Step two: create a pull request and merge it to main after review.</a:t>
            </a:r>
          </a:p>
          <a:p/>
          <a:p>
            <a:r>
              <a:t>Step three: run the aksplatform release pipeline for that environment. It creates the backup resources.</a:t>
            </a:r>
          </a:p>
          <a:p/>
          <a:p>
            <a:r>
              <a:t>Step four: verify the resources.</a:t>
            </a:r>
          </a:p>
          <a:p/>
          <a:p>
            <a:r>
              <a:t>Use this checklist: the backup vault is created, the extension is on the cluster, the backup instance is configured, the first backup job completed, and the private endpoint has been requested from the cloud team.</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also made three changes in workload onboarding, so that the -rst cluster works without touching the original.</a:t>
            </a:r>
          </a:p>
          <a:p/>
          <a:p>
            <a:r>
              <a:t>Phase one: clusters with -rst- in the name are left out of the Prometheus alert list, so alert rule names no longer clash. The cluster-names output that phase two uses is the filtered list too, which fixed the workspace routing failure. The old hard-coded exclusion list was removed.</a:t>
            </a:r>
          </a:p>
          <a:p/>
          <a:p>
            <a:r>
              <a:t>Phase two: a hard-coded environment mapping was replaced by detection from conf dot yaml. Any cluster with -rst- in its name is treated as a restore target. The code looks it up in the same resource group and reads its OIDC issuer.</a:t>
            </a:r>
          </a:p>
          <a:p/>
          <a:p>
            <a:r>
              <a:t>The module: for each workload component that uses workload identity, we create an extra federated credential for the -rst cluster. Same identity, same subject, different issuer. Each cluster has its own issuer, so without it pods on the -rst cluster fail the token exchange and stick in Init. The original cluster's credentials are never changed.</a:t>
            </a:r>
          </a:p>
          <a:p/>
          <a:p>
            <a:r>
              <a:t>The result: the phase one plan showed only an output change and no resource changes for the original cluster.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to restoring. AKS Backup is flexible about what and where you restore.</a:t>
            </a:r>
          </a:p>
          <a:p/>
          <a:p>
            <a:r>
              <a:t>A full restore brings back everything that was backed up: the cluster resources. Volume data is not part of our backups.</a:t>
            </a:r>
          </a:p>
          <a:p/>
          <a:p>
            <a:r>
              <a:t>An item-level restore lets you pick only what you need: namespaces, labels or specific resource kinds.</a:t>
            </a:r>
          </a:p>
          <a:p/>
          <a:p>
            <a:r>
              <a:t>You can restore to the original cluster. Existing resources with the same name must be deleted first, or patched.</a:t>
            </a:r>
          </a:p>
          <a:p/>
          <a:p>
            <a:r>
              <a:t>Or you restore to an alternate cluster. This is how we validate, with the -rst cluster.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Permissions. This is what backup dot tf grants.</a:t>
            </a:r>
          </a:p>
          <a:p/>
          <a:p>
            <a:r>
              <a:t>The AKS cluster identity gets Contributor on the snapshot resource group.</a:t>
            </a:r>
          </a:p>
          <a:p/>
          <a:p>
            <a:r>
              <a:t>The Backup vault gets Reader on the AKS cluster. It also gets Reader, Disk Snapshot Contributor and Data Operator for Managed Disks on the snapshot resource group, and Storage Blob Data Contributor on the backup storage account.</a:t>
            </a:r>
          </a:p>
          <a:p/>
          <a:p>
            <a:r>
              <a:t>The Backup extension identity gets Storage Account Contributor on the backup storage account.</a:t>
            </a:r>
          </a:p>
          <a:p/>
          <a:p>
            <a:r>
              <a:t>And the Trusted Access binding from the vault to the cluster uses the backup-operator role.</a:t>
            </a:r>
          </a:p>
          <a:p/>
          <a:p>
            <a:r>
              <a:t>Two notes. backup dot tf creates these for clusters that have a backup instance, so only the original cluster. The -rst cluster has an extension but no backup instance, so Validate will ask you to grant them.</a:t>
            </a:r>
          </a:p>
          <a:p/>
          <a:p>
            <a:r>
              <a:t>And worth checking: Microsoft's restore guidance lists Storage Blob Data Contributor for the extension identity, but backup dot tf grants it Storage Account Contributor.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 us do it. Restoring a cluster in the Azure Portal, step by step.</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the whole restore in six moves. Everything happens from the Backup vault of the environment.</a:t>
            </a:r>
          </a:p>
          <a:p/>
          <a:p>
            <a:r>
              <a:t>One, open the Backup vault. Two, select the backup instance. Three, click Restore and pick the restore point. Four, select the target cluster. Five, select the resources. Six, validate, review and restore.</a:t>
            </a:r>
          </a:p>
          <a:p/>
          <a:p>
            <a:r>
              <a:t>Use the vault that belongs to the environment you are restoring: dev, sit, uat and so on. The restore needs the Backup extension installed on the target cluster, and Trusted Access enabled between the vault and that cluster.</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Moves one to three. Finding the backup.</a:t>
            </a:r>
          </a:p>
          <a:p/>
          <a:p>
            <a:r>
              <a:t>One: in the Azure Portal, search Backup vaults and open the vault for your environment.</a:t>
            </a:r>
          </a:p>
          <a:p/>
          <a:p>
            <a:r>
              <a:t>Two: open Backup instances and select the AKS backup instance.</a:t>
            </a:r>
          </a:p>
          <a:p/>
          <a:p>
            <a:r>
              <a:t>Three: click Restore, go to the Restore point tab, and choose the point in time you want to restore.</a:t>
            </a:r>
          </a:p>
          <a:p/>
          <a:p>
            <a:r>
              <a:t>The row of pills is the Portal path: Azure Portal, Backup vaults, your vault, Backup instances, the AKS backup instance, Restore, and then Restore point in amber.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Moves four to six. Running the restore.</a:t>
            </a:r>
          </a:p>
          <a:p/>
          <a:p>
            <a:r>
              <a:t>Four: on Restore parameters, click Select Kubernetes Service and choose the target cluster, for example the -rst cluster.</a:t>
            </a:r>
          </a:p>
          <a:p/>
          <a:p>
            <a:r>
              <a:t>Five: choose which namespaces and resources to restore.</a:t>
            </a:r>
          </a:p>
          <a:p/>
          <a:p>
            <a:r>
              <a:t>Six: click Validate. For the -rst cluster, backup dot tf does not create Trusted Access or the role assignments, so expect Validate to ask for them. Grant what it asks for, then validate again until it passes. Then review the summary, click Restore, and follow progress under Backup jobs in the vault.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 the left are the filters for an item-level restore. Namespaces: pick from the backed-up list. Cluster-scoped resources: tick to include them. Labels: restore only resources with matching labels. API groups and kinds: restore specific types, such as Deployment. Namespace mapping: restore into a different namespace, which is created if missing. And, optional, a Resource Modifier config map can change properties during restore.</a:t>
            </a:r>
          </a:p>
          <a:p/>
          <a:p>
            <a:r>
              <a:t>On the right is what happens if a resource already exists. Skip is the default: the existing resource is left as it is, so delete it first if you want it restored. Patch updates the mutable fields of the existing resource, for example the replica count.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the restore, verify the result.</a:t>
            </a:r>
          </a:p>
          <a:p/>
          <a:p>
            <a:r>
              <a:t>On the terminal: kubectl get pods with the namespace, kubectl get deployments with the namespace, kubectl get pods with the dash capital A flag to see all namespaces, and kubectl get ns to see the namespaces. You want namespaces back, pods running and services present.</a:t>
            </a:r>
          </a:p>
          <a:p/>
          <a:p>
            <a:r>
              <a:t>Also follow the restore job under Backup jobs in the vault until it shows as completed, and confirm the restored workloads start and respond as expected.</a:t>
            </a:r>
          </a:p>
          <a:p/>
          <a:p>
            <a:r>
              <a:t>And the rule in the amber bar: always test the restored workloads before calling the restore a success.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these before your first restore.</a:t>
            </a:r>
          </a:p>
          <a:p/>
          <a:p>
            <a:r>
              <a:t>Existing resources: backups do not delete and recreate resources, so delete the existing resource before restoring it in place.</a:t>
            </a:r>
          </a:p>
          <a:p/>
          <a:p>
            <a:r>
              <a:t>Namespaces: a namespace that does not exist is created during restore. Use namespace mapping to restore next to the original.</a:t>
            </a:r>
          </a:p>
          <a:p/>
          <a:p>
            <a:r>
              <a:t>Same region: backups are operational tier, so restore into the same region. Cross-region restore needs vault tier, which is not part of this setup.</a:t>
            </a:r>
          </a:p>
          <a:p/>
          <a:p>
            <a:r>
              <a:t>No auto scaling: restore does not add nodes. Make sure the target cluster has enough capacity.</a:t>
            </a:r>
          </a:p>
          <a:p/>
          <a:p>
            <a:r>
              <a:t>Same names clash: resources with the same name are skipped by default. Choose Patch if you want them updated.</a:t>
            </a:r>
          </a:p>
          <a:p/>
          <a:p>
            <a:r>
              <a:t>And prerequisites: the Backup extension must be installed on the target cluster, and Trusted Access enabled.</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is our rollout from start to finish.</a:t>
            </a:r>
          </a:p>
          <a:p/>
          <a:p>
            <a:r>
              <a:t>One, conf dot yaml: the backup settings for the environment. Two, a pull request, reviewed and merged to main. Three, the aksplatform pipeline, which creates storage, vault, extension, policy, instance and roles.</a:t>
            </a:r>
          </a:p>
          <a:p/>
          <a:p>
            <a:r>
              <a:t>Four, the private endpoint, which the cloud team adds for the storage account. Five, workload onboarding, which picks up the -rst cluster. And six, verify: the vault, the extension, the instance and the first backup.</a:t>
            </a:r>
          </a:p>
          <a:p/>
          <a:p>
            <a:r>
              <a:t>The -rst cluster is optional. Skip it if you only need backups.</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wrap up, four takeaways.</a:t>
            </a:r>
          </a:p>
          <a:p/>
          <a:p>
            <a:r>
              <a:t>One: the vault reaches the cluster through the Backup extension and Trusted Access.</a:t>
            </a:r>
          </a:p>
          <a:p/>
          <a:p>
            <a:r>
              <a:t>Two: restore starts in the Backup vault of the environment: Restore, restore point, target, resources, validate.</a:t>
            </a:r>
          </a:p>
          <a:p/>
          <a:p>
            <a:r>
              <a:t>Three: grant the roles the validation asks for, then restore.</a:t>
            </a:r>
          </a:p>
          <a:p/>
          <a:p>
            <a:r>
              <a:t>Four: verify with kubectl and check the restore job.</a:t>
            </a:r>
          </a:p>
          <a:p/>
          <a:p>
            <a:r>
              <a:t>The Microsoft Learn links are on the slide for the restore guide, the backup overview and the backup concepts. Thank you. Any questions?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10/29/2026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4.png"/><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15.png"/><Relationship Id="rId4" Type="http://schemas.openxmlformats.org/officeDocument/2006/relationships/image" Target="../media/image11.png"/><Relationship Id="rId5" Type="http://schemas.openxmlformats.org/officeDocument/2006/relationships/image" Target="../media/image16.png"/><Relationship Id="rId6" Type="http://schemas.openxmlformats.org/officeDocument/2006/relationships/image" Target="../media/image9.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12.png"/><Relationship Id="rId4" Type="http://schemas.openxmlformats.org/officeDocument/2006/relationships/image" Target="../media/image5.png"/><Relationship Id="rId5" Type="http://schemas.openxmlformats.org/officeDocument/2006/relationships/image" Target="../media/image19.png"/><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20.png"/><Relationship Id="rId5" Type="http://schemas.openxmlformats.org/officeDocument/2006/relationships/image" Target="../media/image21.png"/><Relationship Id="rId6" Type="http://schemas.openxmlformats.org/officeDocument/2006/relationships/image" Target="../media/image14.png"/><Relationship Id="rId7" Type="http://schemas.openxmlformats.org/officeDocument/2006/relationships/image" Target="../media/image22.png"/><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7.png"/><Relationship Id="rId4" Type="http://schemas.openxmlformats.org/officeDocument/2006/relationships/image" Target="../media/image23.png"/><Relationship Id="rId5" Type="http://schemas.openxmlformats.org/officeDocument/2006/relationships/image" Target="../media/image11.png"/><Relationship Id="rId6" Type="http://schemas.openxmlformats.org/officeDocument/2006/relationships/image" Target="../media/image6.png"/><Relationship Id="rId7" Type="http://schemas.openxmlformats.org/officeDocument/2006/relationships/image" Target="../media/image12.png"/><Relationship Id="rId8" Type="http://schemas.openxmlformats.org/officeDocument/2006/relationships/image" Target="../media/image24.png"/><Relationship Id="rId9"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image" Target="../media/image24.png"/><Relationship Id="rId4" Type="http://schemas.openxmlformats.org/officeDocument/2006/relationships/image" Target="../media/image4.png"/><Relationship Id="rId5" Type="http://schemas.openxmlformats.org/officeDocument/2006/relationships/image" Target="../media/image26.png"/><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image" Target="../media/image16.png"/><Relationship Id="rId4" Type="http://schemas.openxmlformats.org/officeDocument/2006/relationships/image" Target="../media/image28.png"/><Relationship Id="rId5" Type="http://schemas.openxmlformats.org/officeDocument/2006/relationships/image" Target="../media/image15.png"/><Relationship Id="rId6" Type="http://schemas.openxmlformats.org/officeDocument/2006/relationships/image" Target="../media/image29.png"/><Relationship Id="rId7"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30.png"/><Relationship Id="rId4" Type="http://schemas.openxmlformats.org/officeDocument/2006/relationships/image" Target="../media/image31.png"/><Relationship Id="rId5" Type="http://schemas.openxmlformats.org/officeDocument/2006/relationships/image" Target="../media/image27.png"/><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4.png"/><Relationship Id="rId4" Type="http://schemas.openxmlformats.org/officeDocument/2006/relationships/image" Target="../media/image22.png"/><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21.png"/><Relationship Id="rId5"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image" Target="../media/image17.png"/><Relationship Id="rId5" Type="http://schemas.openxmlformats.org/officeDocument/2006/relationships/image" Target="../media/image32.png"/><Relationship Id="rId6" Type="http://schemas.openxmlformats.org/officeDocument/2006/relationships/image" Target="../media/image30.png"/><Relationship Id="rId7" Type="http://schemas.openxmlformats.org/officeDocument/2006/relationships/image" Target="../media/image18.png"/><Relationship Id="rId8" Type="http://schemas.openxmlformats.org/officeDocument/2006/relationships/image" Target="../media/image14.png"/><Relationship Id="rId9"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30.png"/><Relationship Id="rId4" Type="http://schemas.openxmlformats.org/officeDocument/2006/relationships/image" Target="../media/image3.png"/><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6.png"/><Relationship Id="rId4" Type="http://schemas.openxmlformats.org/officeDocument/2006/relationships/image" Target="../media/image33.png"/><Relationship Id="rId5" Type="http://schemas.openxmlformats.org/officeDocument/2006/relationships/image" Target="../media/image24.png"/><Relationship Id="rId6" Type="http://schemas.openxmlformats.org/officeDocument/2006/relationships/image" Target="../media/image16.png"/><Relationship Id="rId7" Type="http://schemas.openxmlformats.org/officeDocument/2006/relationships/image" Target="../media/image34.png"/><Relationship Id="rId8" Type="http://schemas.openxmlformats.org/officeDocument/2006/relationships/image" Target="../media/image23.png"/><Relationship Id="rId9" Type="http://schemas.openxmlformats.org/officeDocument/2006/relationships/image" Target="../media/image11.png"/><Relationship Id="rId10"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15.pn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image" Target="../media/image8.png"/><Relationship Id="rId4" Type="http://schemas.openxmlformats.org/officeDocument/2006/relationships/image" Target="../media/image33.png"/><Relationship Id="rId5" Type="http://schemas.openxmlformats.org/officeDocument/2006/relationships/image" Target="../media/image36.png"/><Relationship Id="rId6" Type="http://schemas.openxmlformats.org/officeDocument/2006/relationships/image" Target="../media/image22.png"/><Relationship Id="rId7" Type="http://schemas.openxmlformats.org/officeDocument/2006/relationships/image" Target="../media/image15.png"/><Relationship Id="rId8"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 Id="rId3" Type="http://schemas.openxmlformats.org/officeDocument/2006/relationships/image" Target="../media/image16.png"/><Relationship Id="rId4" Type="http://schemas.openxmlformats.org/officeDocument/2006/relationships/image" Target="../media/image28.png"/><Relationship Id="rId5" Type="http://schemas.openxmlformats.org/officeDocument/2006/relationships/image" Target="../media/image20.png"/><Relationship Id="rId6" Type="http://schemas.openxmlformats.org/officeDocument/2006/relationships/image" Target="../media/image6.png"/><Relationship Id="rId7" Type="http://schemas.openxmlformats.org/officeDocument/2006/relationships/image" Target="../media/image29.png"/><Relationship Id="rId8" Type="http://schemas.openxmlformats.org/officeDocument/2006/relationships/image" Target="../media/image19.png"/><Relationship Id="rId9"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 Id="rId4"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4284B"/>
        </a:solidFill>
        <a:effectLst/>
      </p:bgPr>
    </p:bg>
    <p:spTree>
      <p:nvGrpSpPr>
        <p:cNvPr id="1" name=""/>
        <p:cNvGrpSpPr/>
        <p:nvPr/>
      </p:nvGrpSpPr>
      <p:grpSpPr>
        <a:xfrm>
          <a:off x="0" y="0"/>
          <a:ext cx="0" cy="0"/>
          <a:chOff x="0" y="0"/>
          <a:chExt cx="0" cy="0"/>
        </a:xfrm>
      </p:grpSpPr>
      <p:pic>
        <p:nvPicPr>
          <p:cNvPr id="2" name="anim|fade|0.1" descr="s15_Picture_15.png"/>
          <p:cNvPicPr>
            <a:picLocks noChangeAspect="1"/>
          </p:cNvPicPr>
          <p:nvPr/>
        </p:nvPicPr>
        <p:blipFill>
          <a:blip r:embed="rId2"/>
          <a:stretch>
            <a:fillRect/>
          </a:stretch>
        </p:blipFill>
        <p:spPr>
          <a:xfrm>
            <a:off x="571500" y="381000"/>
            <a:ext cx="2571750" cy="466725"/>
          </a:xfrm>
          <a:prstGeom prst="rect">
            <a:avLst/>
          </a:prstGeom>
        </p:spPr>
      </p:pic>
      <p:pic>
        <p:nvPicPr>
          <p:cNvPr id="3" name="Picture 2" descr="s15_Picture_13.png"/>
          <p:cNvPicPr>
            <a:picLocks noChangeAspect="1"/>
          </p:cNvPicPr>
          <p:nvPr/>
        </p:nvPicPr>
        <p:blipFill>
          <a:blip r:embed="rId3"/>
          <a:stretch>
            <a:fillRect/>
          </a:stretch>
        </p:blipFill>
        <p:spPr>
          <a:xfrm>
            <a:off x="0" y="6210300"/>
            <a:ext cx="12192000" cy="647700"/>
          </a:xfrm>
          <a:prstGeom prst="rect">
            <a:avLst/>
          </a:prstGeom>
        </p:spPr>
      </p:pic>
      <p:grpSp>
        <p:nvGrpSpPr>
          <p:cNvPr id="4" name="anim|zoom|0.2"/>
          <p:cNvGrpSpPr/>
          <p:nvPr/>
        </p:nvGrpSpPr>
        <p:grpSpPr>
          <a:xfrm>
            <a:off x="6286500" y="381000"/>
            <a:ext cx="5715000" cy="5715000"/>
            <a:chOff x="6286500" y="381000"/>
            <a:chExt cx="5715000" cy="5715000"/>
          </a:xfrm>
        </p:grpSpPr>
        <p:sp>
          <p:nvSpPr>
            <p:cNvPr id="5" name="Oval 4"/>
            <p:cNvSpPr/>
            <p:nvPr/>
          </p:nvSpPr>
          <p:spPr>
            <a:xfrm>
              <a:off x="6286500" y="381000"/>
              <a:ext cx="5715000" cy="5715000"/>
            </a:xfrm>
            <a:prstGeom prst="ellipse">
              <a:avLst/>
            </a:prstGeom>
            <a:noFill/>
            <a:ln w="19050">
              <a:solidFill>
                <a:srgbClr val="2E5286"/>
              </a:solidFill>
            </a:ln>
          </p:spPr>
          <p:txBody>
            <a:bodyPr rtlCol="0" anchor="ctr"/>
            <a:lstStyle/>
            <a:p>
              <a:pPr algn="ctr"/>
              <a:endParaRPr/>
            </a:p>
          </p:txBody>
        </p:sp>
        <p:sp>
          <p:nvSpPr>
            <p:cNvPr id="6" name="Oval 5"/>
            <p:cNvSpPr/>
            <p:nvPr/>
          </p:nvSpPr>
          <p:spPr>
            <a:xfrm>
              <a:off x="7105650" y="1200150"/>
              <a:ext cx="4076700" cy="4076700"/>
            </a:xfrm>
            <a:prstGeom prst="ellipse">
              <a:avLst/>
            </a:prstGeom>
            <a:noFill/>
            <a:ln w="19050">
              <a:solidFill>
                <a:srgbClr val="2E5286"/>
              </a:solidFill>
            </a:ln>
          </p:spPr>
          <p:txBody>
            <a:bodyPr rtlCol="0" anchor="ctr"/>
            <a:lstStyle/>
            <a:p>
              <a:pPr algn="ctr"/>
              <a:endParaRPr/>
            </a:p>
          </p:txBody>
        </p:sp>
        <p:sp>
          <p:nvSpPr>
            <p:cNvPr id="7" name="Oval 6"/>
            <p:cNvSpPr/>
            <p:nvPr/>
          </p:nvSpPr>
          <p:spPr>
            <a:xfrm>
              <a:off x="7924800" y="2019300"/>
              <a:ext cx="2438400" cy="2438400"/>
            </a:xfrm>
            <a:prstGeom prst="ellipse">
              <a:avLst/>
            </a:prstGeom>
            <a:noFill/>
            <a:ln w="19050">
              <a:solidFill>
                <a:srgbClr val="59BEC9"/>
              </a:solidFill>
            </a:ln>
          </p:spPr>
          <p:txBody>
            <a:bodyPr rtlCol="0" anchor="ctr"/>
            <a:lstStyle/>
            <a:p>
              <a:pPr algn="ctr"/>
              <a:endParaRPr/>
            </a:p>
          </p:txBody>
        </p:sp>
      </p:grpSp>
      <p:grpSp>
        <p:nvGrpSpPr>
          <p:cNvPr id="8" name="anim|zoom|0.5"/>
          <p:cNvGrpSpPr/>
          <p:nvPr/>
        </p:nvGrpSpPr>
        <p:grpSpPr>
          <a:xfrm>
            <a:off x="8267700" y="2362200"/>
            <a:ext cx="1752600" cy="1752600"/>
            <a:chOff x="8267700" y="2362200"/>
            <a:chExt cx="1752600" cy="1752600"/>
          </a:xfrm>
        </p:grpSpPr>
        <p:sp>
          <p:nvSpPr>
            <p:cNvPr id="9" name="Oval 8"/>
            <p:cNvSpPr/>
            <p:nvPr/>
          </p:nvSpPr>
          <p:spPr>
            <a:xfrm>
              <a:off x="8267700" y="2362200"/>
              <a:ext cx="1752600" cy="1752600"/>
            </a:xfrm>
            <a:prstGeom prst="ellipse">
              <a:avLst/>
            </a:prstGeom>
            <a:solidFill>
              <a:srgbClr val="1E3A68"/>
            </a:solidFill>
            <a:ln w="38100">
              <a:solidFill>
                <a:srgbClr val="FFB938"/>
              </a:solidFill>
            </a:ln>
          </p:spPr>
          <p:txBody>
            <a:bodyPr rtlCol="0" anchor="ctr"/>
            <a:lstStyle/>
            <a:p>
              <a:pPr algn="ctr"/>
              <a:endParaRPr/>
            </a:p>
          </p:txBody>
        </p:sp>
        <p:pic>
          <p:nvPicPr>
            <p:cNvPr id="10" name="Picture 9" descr="shield_amber.png"/>
            <p:cNvPicPr>
              <a:picLocks noChangeAspect="1"/>
            </p:cNvPicPr>
            <p:nvPr/>
          </p:nvPicPr>
          <p:blipFill>
            <a:blip r:embed="rId4"/>
            <a:stretch>
              <a:fillRect/>
            </a:stretch>
          </p:blipFill>
          <p:spPr>
            <a:xfrm>
              <a:off x="8553450" y="2647950"/>
              <a:ext cx="1181100" cy="1181100"/>
            </a:xfrm>
            <a:prstGeom prst="rect">
              <a:avLst/>
            </a:prstGeom>
          </p:spPr>
        </p:pic>
      </p:grpSp>
      <p:grpSp>
        <p:nvGrpSpPr>
          <p:cNvPr id="11" name="anim|rise|0.85"/>
          <p:cNvGrpSpPr/>
          <p:nvPr/>
        </p:nvGrpSpPr>
        <p:grpSpPr>
          <a:xfrm>
            <a:off x="10542616" y="611378"/>
            <a:ext cx="876300" cy="876300"/>
            <a:chOff x="10542616" y="611378"/>
            <a:chExt cx="876300" cy="876300"/>
          </a:xfrm>
        </p:grpSpPr>
        <p:sp>
          <p:nvSpPr>
            <p:cNvPr id="12" name="Oval 11"/>
            <p:cNvSpPr/>
            <p:nvPr/>
          </p:nvSpPr>
          <p:spPr>
            <a:xfrm>
              <a:off x="10542616" y="611378"/>
              <a:ext cx="876300" cy="876300"/>
            </a:xfrm>
            <a:prstGeom prst="ellipse">
              <a:avLst/>
            </a:prstGeom>
            <a:solidFill>
              <a:srgbClr val="1E3A68"/>
            </a:solidFill>
            <a:ln w="25400">
              <a:solidFill>
                <a:srgbClr val="59BEC9"/>
              </a:solidFill>
            </a:ln>
          </p:spPr>
          <p:txBody>
            <a:bodyPr rtlCol="0" anchor="ctr"/>
            <a:lstStyle/>
            <a:p>
              <a:pPr algn="ctr"/>
              <a:endParaRPr/>
            </a:p>
          </p:txBody>
        </p:sp>
        <p:pic>
          <p:nvPicPr>
            <p:cNvPr id="13" name="Picture 12" descr="cloud_teal.png"/>
            <p:cNvPicPr>
              <a:picLocks noChangeAspect="1"/>
            </p:cNvPicPr>
            <p:nvPr/>
          </p:nvPicPr>
          <p:blipFill>
            <a:blip r:embed="rId5"/>
            <a:stretch>
              <a:fillRect/>
            </a:stretch>
          </p:blipFill>
          <p:spPr>
            <a:xfrm>
              <a:off x="10733116" y="801878"/>
              <a:ext cx="495300" cy="495300"/>
            </a:xfrm>
            <a:prstGeom prst="rect">
              <a:avLst/>
            </a:prstGeom>
          </p:spPr>
        </p:pic>
      </p:grpSp>
      <p:grpSp>
        <p:nvGrpSpPr>
          <p:cNvPr id="14" name="anim|rise|1.03"/>
          <p:cNvGrpSpPr/>
          <p:nvPr/>
        </p:nvGrpSpPr>
        <p:grpSpPr>
          <a:xfrm>
            <a:off x="9683173" y="5485522"/>
            <a:ext cx="876300" cy="876300"/>
            <a:chOff x="9683173" y="5485522"/>
            <a:chExt cx="876300" cy="876300"/>
          </a:xfrm>
        </p:grpSpPr>
        <p:sp>
          <p:nvSpPr>
            <p:cNvPr id="15" name="Oval 14"/>
            <p:cNvSpPr/>
            <p:nvPr/>
          </p:nvSpPr>
          <p:spPr>
            <a:xfrm>
              <a:off x="9683173" y="5485522"/>
              <a:ext cx="876300" cy="876300"/>
            </a:xfrm>
            <a:prstGeom prst="ellipse">
              <a:avLst/>
            </a:prstGeom>
            <a:solidFill>
              <a:srgbClr val="1E3A68"/>
            </a:solidFill>
            <a:ln w="25400">
              <a:solidFill>
                <a:srgbClr val="59BEC9"/>
              </a:solidFill>
            </a:ln>
          </p:spPr>
          <p:txBody>
            <a:bodyPr rtlCol="0" anchor="ctr"/>
            <a:lstStyle/>
            <a:p>
              <a:pPr algn="ctr"/>
              <a:endParaRPr/>
            </a:p>
          </p:txBody>
        </p:sp>
        <p:pic>
          <p:nvPicPr>
            <p:cNvPr id="16" name="Picture 15" descr="database_teal.png"/>
            <p:cNvPicPr>
              <a:picLocks noChangeAspect="1"/>
            </p:cNvPicPr>
            <p:nvPr/>
          </p:nvPicPr>
          <p:blipFill>
            <a:blip r:embed="rId6"/>
            <a:stretch>
              <a:fillRect/>
            </a:stretch>
          </p:blipFill>
          <p:spPr>
            <a:xfrm>
              <a:off x="9873673" y="5676022"/>
              <a:ext cx="495300" cy="495300"/>
            </a:xfrm>
            <a:prstGeom prst="rect">
              <a:avLst/>
            </a:prstGeom>
          </p:spPr>
        </p:pic>
      </p:grpSp>
      <p:grpSp>
        <p:nvGrpSpPr>
          <p:cNvPr id="17" name="anim|rise|1.21"/>
          <p:cNvGrpSpPr/>
          <p:nvPr/>
        </p:nvGrpSpPr>
        <p:grpSpPr>
          <a:xfrm>
            <a:off x="5891762" y="2304150"/>
            <a:ext cx="876300" cy="876300"/>
            <a:chOff x="5891762" y="2304150"/>
            <a:chExt cx="876300" cy="876300"/>
          </a:xfrm>
        </p:grpSpPr>
        <p:sp>
          <p:nvSpPr>
            <p:cNvPr id="18" name="Oval 17"/>
            <p:cNvSpPr/>
            <p:nvPr/>
          </p:nvSpPr>
          <p:spPr>
            <a:xfrm>
              <a:off x="5891762" y="2304150"/>
              <a:ext cx="876300" cy="876300"/>
            </a:xfrm>
            <a:prstGeom prst="ellipse">
              <a:avLst/>
            </a:prstGeom>
            <a:solidFill>
              <a:srgbClr val="1E3A68"/>
            </a:solidFill>
            <a:ln w="25400">
              <a:solidFill>
                <a:srgbClr val="59BEC9"/>
              </a:solidFill>
            </a:ln>
          </p:spPr>
          <p:txBody>
            <a:bodyPr rtlCol="0" anchor="ctr"/>
            <a:lstStyle/>
            <a:p>
              <a:pPr algn="ctr"/>
              <a:endParaRPr/>
            </a:p>
          </p:txBody>
        </p:sp>
        <p:pic>
          <p:nvPicPr>
            <p:cNvPr id="19" name="Picture 18" descr="cluster_teal.png"/>
            <p:cNvPicPr>
              <a:picLocks noChangeAspect="1"/>
            </p:cNvPicPr>
            <p:nvPr/>
          </p:nvPicPr>
          <p:blipFill>
            <a:blip r:embed="rId7"/>
            <a:stretch>
              <a:fillRect/>
            </a:stretch>
          </p:blipFill>
          <p:spPr>
            <a:xfrm>
              <a:off x="6082262" y="2494650"/>
              <a:ext cx="495300" cy="495300"/>
            </a:xfrm>
            <a:prstGeom prst="rect">
              <a:avLst/>
            </a:prstGeom>
          </p:spPr>
        </p:pic>
      </p:grpSp>
      <p:sp>
        <p:nvSpPr>
          <p:cNvPr id="20" name="anim|wipeL|0.3"/>
          <p:cNvSpPr txBox="1"/>
          <p:nvPr/>
        </p:nvSpPr>
        <p:spPr>
          <a:xfrm>
            <a:off x="571500" y="1809750"/>
            <a:ext cx="6667500" cy="1047750"/>
          </a:xfrm>
          <a:prstGeom prst="rect">
            <a:avLst/>
          </a:prstGeom>
          <a:noFill/>
        </p:spPr>
        <p:txBody>
          <a:bodyPr wrap="square" lIns="0" tIns="0" rIns="0" bIns="0" anchor="t">
            <a:spAutoFit/>
          </a:bodyPr>
          <a:lstStyle/>
          <a:p>
            <a:pPr algn="l"/>
            <a:r>
              <a:rPr sz="6400" b="1">
                <a:solidFill>
                  <a:srgbClr val="FFFFFF"/>
                </a:solidFill>
                <a:latin typeface="Century Gothic"/>
              </a:rPr>
              <a:t>AKS Backup</a:t>
            </a:r>
          </a:p>
        </p:txBody>
      </p:sp>
      <p:sp>
        <p:nvSpPr>
          <p:cNvPr id="21" name="anim|wipeL|0.55"/>
          <p:cNvSpPr txBox="1"/>
          <p:nvPr/>
        </p:nvSpPr>
        <p:spPr>
          <a:xfrm>
            <a:off x="571500" y="2781300"/>
            <a:ext cx="6667500" cy="1047750"/>
          </a:xfrm>
          <a:prstGeom prst="rect">
            <a:avLst/>
          </a:prstGeom>
          <a:noFill/>
        </p:spPr>
        <p:txBody>
          <a:bodyPr wrap="square" lIns="0" tIns="0" rIns="0" bIns="0" anchor="t">
            <a:spAutoFit/>
          </a:bodyPr>
          <a:lstStyle/>
          <a:p>
            <a:pPr algn="l"/>
            <a:r>
              <a:rPr sz="6400" b="1">
                <a:solidFill>
                  <a:srgbClr val="FFB938"/>
                </a:solidFill>
                <a:latin typeface="Century Gothic"/>
              </a:rPr>
              <a:t>&amp; Restore</a:t>
            </a:r>
          </a:p>
        </p:txBody>
      </p:sp>
      <p:sp>
        <p:nvSpPr>
          <p:cNvPr id="22" name="anim|wipeL|0.9"/>
          <p:cNvSpPr/>
          <p:nvPr/>
        </p:nvSpPr>
        <p:spPr>
          <a:xfrm>
            <a:off x="571500" y="4038600"/>
            <a:ext cx="1143000" cy="57150"/>
          </a:xfrm>
          <a:prstGeom prst="rect">
            <a:avLst/>
          </a:prstGeom>
          <a:solidFill>
            <a:srgbClr val="59BEC9"/>
          </a:solidFill>
          <a:ln>
            <a:noFill/>
          </a:ln>
        </p:spPr>
        <p:txBody>
          <a:bodyPr rtlCol="0" anchor="ctr"/>
          <a:lstStyle/>
          <a:p>
            <a:pPr algn="ctr"/>
            <a:endParaRPr/>
          </a:p>
        </p:txBody>
      </p:sp>
      <p:sp>
        <p:nvSpPr>
          <p:cNvPr id="23" name="anim|fade|1.1"/>
          <p:cNvSpPr txBox="1"/>
          <p:nvPr/>
        </p:nvSpPr>
        <p:spPr>
          <a:xfrm>
            <a:off x="571500" y="4305300"/>
            <a:ext cx="6096000" cy="609600"/>
          </a:xfrm>
          <a:prstGeom prst="rect">
            <a:avLst/>
          </a:prstGeom>
          <a:noFill/>
        </p:spPr>
        <p:txBody>
          <a:bodyPr wrap="square" lIns="0" tIns="0" rIns="0" bIns="0" anchor="t">
            <a:spAutoFit/>
          </a:bodyPr>
          <a:lstStyle/>
          <a:p>
            <a:pPr algn="l"/>
            <a:r>
              <a:rPr sz="2000" b="0">
                <a:solidFill>
                  <a:srgbClr val="59BEC9"/>
                </a:solidFill>
                <a:latin typeface="Segoe UI"/>
              </a:rPr>
              <a:t>What it is, how we deploy it, and how to restore a cluster step by step</a:t>
            </a:r>
          </a:p>
        </p:txBody>
      </p:sp>
      <p:sp>
        <p:nvSpPr>
          <p:cNvPr id="24" name="anim|fade|1.3"/>
          <p:cNvSpPr txBox="1"/>
          <p:nvPr/>
        </p:nvSpPr>
        <p:spPr>
          <a:xfrm>
            <a:off x="571500" y="5219700"/>
            <a:ext cx="6096000" cy="228600"/>
          </a:xfrm>
          <a:prstGeom prst="rect">
            <a:avLst/>
          </a:prstGeom>
          <a:noFill/>
        </p:spPr>
        <p:txBody>
          <a:bodyPr wrap="square" lIns="0" tIns="0" rIns="0" bIns="0" anchor="t">
            <a:spAutoFit/>
          </a:bodyPr>
          <a:lstStyle/>
          <a:p>
            <a:pPr algn="l"/>
            <a:r>
              <a:rPr sz="1400" b="0">
                <a:solidFill>
                  <a:srgbClr val="B0C0D9"/>
                </a:solidFill>
                <a:latin typeface="Segoe UI"/>
              </a:rPr>
              <a:t>BFH AKS IHUB Platform Team</a:t>
            </a:r>
          </a:p>
        </p:txBody>
      </p:sp>
    </p:spTree>
  </p:cSld>
  <p:clrMapOvr>
    <a:masterClrMapping/>
  </p:clrMapOvr>
  <mc:AlternateContent xmlns:mc="http://schemas.openxmlformats.org/markup-compatibility/2006">
    <mc:Choice xmlns:p14="http://schemas.microsoft.com/office/powerpoint/2010/main" Requires="p14">
      <p:transition spd="slow" p14:dur="800">
        <p:fad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10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50"/>
                                        <p:tgtEl>
                                          <p:spTgt spid="2"/>
                                        </p:tgtEl>
                                      </p:cBhvr>
                                    </p:animEffect>
                                  </p:childTnLst>
                                </p:cTn>
                              </p:par>
                              <p:par>
                                <p:cTn id="8" presetID="23" presetClass="entr" presetSubtype="16" fill="hold" nodeType="withEffect">
                                  <p:stCondLst>
                                    <p:cond delay="200"/>
                                  </p:stCondLst>
                                  <p:childTnLst>
                                    <p:set>
                                      <p:cBhvr>
                                        <p:cTn id="9" dur="1" fill="hold">
                                          <p:stCondLst>
                                            <p:cond delay="0"/>
                                          </p:stCondLst>
                                        </p:cTn>
                                        <p:tgtEl>
                                          <p:spTgt spid="4"/>
                                        </p:tgtEl>
                                        <p:attrNameLst>
                                          <p:attrName>style.visibility</p:attrName>
                                        </p:attrNameLst>
                                      </p:cBhvr>
                                      <p:to>
                                        <p:strVal val="visible"/>
                                      </p:to>
                                    </p:set>
                                    <p:anim calcmode="lin" valueType="num">
                                      <p:cBhvr>
                                        <p:cTn id="10" dur="550" fill="hold"/>
                                        <p:tgtEl>
                                          <p:spTgt spid="4"/>
                                        </p:tgtEl>
                                        <p:attrNameLst>
                                          <p:attrName>ppt_w</p:attrName>
                                        </p:attrNameLst>
                                      </p:cBhvr>
                                      <p:tavLst>
                                        <p:tav tm="0">
                                          <p:val>
                                            <p:fltVal val="0"/>
                                          </p:val>
                                        </p:tav>
                                        <p:tav tm="100000">
                                          <p:val>
                                            <p:strVal val="#ppt_w"/>
                                          </p:val>
                                        </p:tav>
                                      </p:tavLst>
                                    </p:anim>
                                    <p:anim calcmode="lin" valueType="num">
                                      <p:cBhvr>
                                        <p:cTn id="11" dur="550" fill="hold"/>
                                        <p:tgtEl>
                                          <p:spTgt spid="4"/>
                                        </p:tgtEl>
                                        <p:attrNameLst>
                                          <p:attrName>ppt_h</p:attrName>
                                        </p:attrNameLst>
                                      </p:cBhvr>
                                      <p:tavLst>
                                        <p:tav tm="0">
                                          <p:val>
                                            <p:fltVal val="0"/>
                                          </p:val>
                                        </p:tav>
                                        <p:tav tm="100000">
                                          <p:val>
                                            <p:strVal val="#ppt_h"/>
                                          </p:val>
                                        </p:tav>
                                      </p:tavLst>
                                    </p:anim>
                                  </p:childTnLst>
                                </p:cTn>
                              </p:par>
                              <p:par>
                                <p:cTn id="12" presetID="22" presetClass="entr" presetSubtype="8" fill="hold" grpId="0" nodeType="withEffect">
                                  <p:stCondLst>
                                    <p:cond delay="300"/>
                                  </p:stCondLst>
                                  <p:childTnLst>
                                    <p:set>
                                      <p:cBhvr>
                                        <p:cTn id="13" dur="1" fill="hold">
                                          <p:stCondLst>
                                            <p:cond delay="0"/>
                                          </p:stCondLst>
                                        </p:cTn>
                                        <p:tgtEl>
                                          <p:spTgt spid="20"/>
                                        </p:tgtEl>
                                        <p:attrNameLst>
                                          <p:attrName>style.visibility</p:attrName>
                                        </p:attrNameLst>
                                      </p:cBhvr>
                                      <p:to>
                                        <p:strVal val="visible"/>
                                      </p:to>
                                    </p:set>
                                    <p:animEffect transition="in" filter="wipe(left)">
                                      <p:cBhvr>
                                        <p:cTn id="14" dur="700"/>
                                        <p:tgtEl>
                                          <p:spTgt spid="20"/>
                                        </p:tgtEl>
                                      </p:cBhvr>
                                    </p:animEffect>
                                  </p:childTnLst>
                                </p:cTn>
                              </p:par>
                              <p:par>
                                <p:cTn id="15" presetID="23" presetClass="entr" presetSubtype="16" fill="hold" nodeType="withEffect">
                                  <p:stCondLst>
                                    <p:cond delay="500"/>
                                  </p:stCondLst>
                                  <p:childTnLst>
                                    <p:set>
                                      <p:cBhvr>
                                        <p:cTn id="16" dur="1" fill="hold">
                                          <p:stCondLst>
                                            <p:cond delay="0"/>
                                          </p:stCondLst>
                                        </p:cTn>
                                        <p:tgtEl>
                                          <p:spTgt spid="8"/>
                                        </p:tgtEl>
                                        <p:attrNameLst>
                                          <p:attrName>style.visibility</p:attrName>
                                        </p:attrNameLst>
                                      </p:cBhvr>
                                      <p:to>
                                        <p:strVal val="visible"/>
                                      </p:to>
                                    </p:set>
                                    <p:anim calcmode="lin" valueType="num">
                                      <p:cBhvr>
                                        <p:cTn id="17" dur="550" fill="hold"/>
                                        <p:tgtEl>
                                          <p:spTgt spid="8"/>
                                        </p:tgtEl>
                                        <p:attrNameLst>
                                          <p:attrName>ppt_w</p:attrName>
                                        </p:attrNameLst>
                                      </p:cBhvr>
                                      <p:tavLst>
                                        <p:tav tm="0">
                                          <p:val>
                                            <p:fltVal val="0"/>
                                          </p:val>
                                        </p:tav>
                                        <p:tav tm="100000">
                                          <p:val>
                                            <p:strVal val="#ppt_w"/>
                                          </p:val>
                                        </p:tav>
                                      </p:tavLst>
                                    </p:anim>
                                    <p:anim calcmode="lin" valueType="num">
                                      <p:cBhvr>
                                        <p:cTn id="18" dur="550" fill="hold"/>
                                        <p:tgtEl>
                                          <p:spTgt spid="8"/>
                                        </p:tgtEl>
                                        <p:attrNameLst>
                                          <p:attrName>ppt_h</p:attrName>
                                        </p:attrNameLst>
                                      </p:cBhvr>
                                      <p:tavLst>
                                        <p:tav tm="0">
                                          <p:val>
                                            <p:fltVal val="0"/>
                                          </p:val>
                                        </p:tav>
                                        <p:tav tm="100000">
                                          <p:val>
                                            <p:strVal val="#ppt_h"/>
                                          </p:val>
                                        </p:tav>
                                      </p:tavLst>
                                    </p:anim>
                                  </p:childTnLst>
                                </p:cTn>
                              </p:par>
                              <p:par>
                                <p:cTn id="19" presetID="22" presetClass="entr" presetSubtype="8" fill="hold" grpId="0" nodeType="withEffect">
                                  <p:stCondLst>
                                    <p:cond delay="550"/>
                                  </p:stCondLst>
                                  <p:childTnLst>
                                    <p:set>
                                      <p:cBhvr>
                                        <p:cTn id="20" dur="1" fill="hold">
                                          <p:stCondLst>
                                            <p:cond delay="0"/>
                                          </p:stCondLst>
                                        </p:cTn>
                                        <p:tgtEl>
                                          <p:spTgt spid="21"/>
                                        </p:tgtEl>
                                        <p:attrNameLst>
                                          <p:attrName>style.visibility</p:attrName>
                                        </p:attrNameLst>
                                      </p:cBhvr>
                                      <p:to>
                                        <p:strVal val="visible"/>
                                      </p:to>
                                    </p:set>
                                    <p:animEffect transition="in" filter="wipe(left)">
                                      <p:cBhvr>
                                        <p:cTn id="21" dur="700"/>
                                        <p:tgtEl>
                                          <p:spTgt spid="21"/>
                                        </p:tgtEl>
                                      </p:cBhvr>
                                    </p:animEffect>
                                  </p:childTnLst>
                                </p:cTn>
                              </p:par>
                              <p:par>
                                <p:cTn id="22" presetID="37" presetClass="entr" presetSubtype="0" fill="hold" nodeType="withEffect">
                                  <p:stCondLst>
                                    <p:cond delay="85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550"/>
                                        <p:tgtEl>
                                          <p:spTgt spid="11"/>
                                        </p:tgtEl>
                                      </p:cBhvr>
                                    </p:animEffect>
                                    <p:anim calcmode="lin" valueType="num">
                                      <p:cBhvr>
                                        <p:cTn id="25" dur="550" fill="hold"/>
                                        <p:tgtEl>
                                          <p:spTgt spid="11"/>
                                        </p:tgtEl>
                                        <p:attrNameLst>
                                          <p:attrName>ppt_x</p:attrName>
                                        </p:attrNameLst>
                                      </p:cBhvr>
                                      <p:tavLst>
                                        <p:tav tm="0">
                                          <p:val>
                                            <p:strVal val="#ppt_x"/>
                                          </p:val>
                                        </p:tav>
                                        <p:tav tm="100000">
                                          <p:val>
                                            <p:strVal val="#ppt_x"/>
                                          </p:val>
                                        </p:tav>
                                      </p:tavLst>
                                    </p:anim>
                                    <p:anim calcmode="lin" valueType="num">
                                      <p:cBhvr>
                                        <p:cTn id="26" dur="495" decel="100000" fill="hold"/>
                                        <p:tgtEl>
                                          <p:spTgt spid="11"/>
                                        </p:tgtEl>
                                        <p:attrNameLst>
                                          <p:attrName>ppt_y</p:attrName>
                                        </p:attrNameLst>
                                      </p:cBhvr>
                                      <p:tavLst>
                                        <p:tav tm="0">
                                          <p:val>
                                            <p:strVal val="#ppt_y+1"/>
                                          </p:val>
                                        </p:tav>
                                        <p:tav tm="100000">
                                          <p:val>
                                            <p:strVal val="#ppt_y-.03"/>
                                          </p:val>
                                        </p:tav>
                                      </p:tavLst>
                                    </p:anim>
                                    <p:anim calcmode="lin" valueType="num">
                                      <p:cBhvr>
                                        <p:cTn id="27" dur="55" accel="100000" fill="hold">
                                          <p:stCondLst>
                                            <p:cond delay="495"/>
                                          </p:stCondLst>
                                        </p:cTn>
                                        <p:tgtEl>
                                          <p:spTgt spid="11"/>
                                        </p:tgtEl>
                                        <p:attrNameLst>
                                          <p:attrName>ppt_y</p:attrName>
                                        </p:attrNameLst>
                                      </p:cBhvr>
                                      <p:tavLst>
                                        <p:tav tm="0">
                                          <p:val>
                                            <p:strVal val="#ppt_y-.03"/>
                                          </p:val>
                                        </p:tav>
                                        <p:tav tm="100000">
                                          <p:val>
                                            <p:strVal val="#ppt_y"/>
                                          </p:val>
                                        </p:tav>
                                      </p:tavLst>
                                    </p:anim>
                                  </p:childTnLst>
                                </p:cTn>
                              </p:par>
                              <p:par>
                                <p:cTn id="28" presetID="22" presetClass="entr" presetSubtype="8" fill="hold" grpId="0" nodeType="withEffect">
                                  <p:stCondLst>
                                    <p:cond delay="900"/>
                                  </p:stCondLst>
                                  <p:childTnLst>
                                    <p:set>
                                      <p:cBhvr>
                                        <p:cTn id="29" dur="1" fill="hold">
                                          <p:stCondLst>
                                            <p:cond delay="0"/>
                                          </p:stCondLst>
                                        </p:cTn>
                                        <p:tgtEl>
                                          <p:spTgt spid="22"/>
                                        </p:tgtEl>
                                        <p:attrNameLst>
                                          <p:attrName>style.visibility</p:attrName>
                                        </p:attrNameLst>
                                      </p:cBhvr>
                                      <p:to>
                                        <p:strVal val="visible"/>
                                      </p:to>
                                    </p:set>
                                    <p:animEffect transition="in" filter="wipe(left)">
                                      <p:cBhvr>
                                        <p:cTn id="30" dur="550"/>
                                        <p:tgtEl>
                                          <p:spTgt spid="22"/>
                                        </p:tgtEl>
                                      </p:cBhvr>
                                    </p:animEffect>
                                  </p:childTnLst>
                                </p:cTn>
                              </p:par>
                              <p:par>
                                <p:cTn id="31" presetID="37" presetClass="entr" presetSubtype="0" fill="hold" nodeType="withEffect">
                                  <p:stCondLst>
                                    <p:cond delay="103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550"/>
                                        <p:tgtEl>
                                          <p:spTgt spid="14"/>
                                        </p:tgtEl>
                                      </p:cBhvr>
                                    </p:animEffect>
                                    <p:anim calcmode="lin" valueType="num">
                                      <p:cBhvr>
                                        <p:cTn id="34" dur="550" fill="hold"/>
                                        <p:tgtEl>
                                          <p:spTgt spid="14"/>
                                        </p:tgtEl>
                                        <p:attrNameLst>
                                          <p:attrName>ppt_x</p:attrName>
                                        </p:attrNameLst>
                                      </p:cBhvr>
                                      <p:tavLst>
                                        <p:tav tm="0">
                                          <p:val>
                                            <p:strVal val="#ppt_x"/>
                                          </p:val>
                                        </p:tav>
                                        <p:tav tm="100000">
                                          <p:val>
                                            <p:strVal val="#ppt_x"/>
                                          </p:val>
                                        </p:tav>
                                      </p:tavLst>
                                    </p:anim>
                                    <p:anim calcmode="lin" valueType="num">
                                      <p:cBhvr>
                                        <p:cTn id="35" dur="495" decel="100000" fill="hold"/>
                                        <p:tgtEl>
                                          <p:spTgt spid="14"/>
                                        </p:tgtEl>
                                        <p:attrNameLst>
                                          <p:attrName>ppt_y</p:attrName>
                                        </p:attrNameLst>
                                      </p:cBhvr>
                                      <p:tavLst>
                                        <p:tav tm="0">
                                          <p:val>
                                            <p:strVal val="#ppt_y+1"/>
                                          </p:val>
                                        </p:tav>
                                        <p:tav tm="100000">
                                          <p:val>
                                            <p:strVal val="#ppt_y-.03"/>
                                          </p:val>
                                        </p:tav>
                                      </p:tavLst>
                                    </p:anim>
                                    <p:anim calcmode="lin" valueType="num">
                                      <p:cBhvr>
                                        <p:cTn id="36" dur="55" accel="100000" fill="hold">
                                          <p:stCondLst>
                                            <p:cond delay="495"/>
                                          </p:stCondLst>
                                        </p:cTn>
                                        <p:tgtEl>
                                          <p:spTgt spid="14"/>
                                        </p:tgtEl>
                                        <p:attrNameLst>
                                          <p:attrName>ppt_y</p:attrName>
                                        </p:attrNameLst>
                                      </p:cBhvr>
                                      <p:tavLst>
                                        <p:tav tm="0">
                                          <p:val>
                                            <p:strVal val="#ppt_y-.03"/>
                                          </p:val>
                                        </p:tav>
                                        <p:tav tm="100000">
                                          <p:val>
                                            <p:strVal val="#ppt_y"/>
                                          </p:val>
                                        </p:tav>
                                      </p:tavLst>
                                    </p:anim>
                                  </p:childTnLst>
                                </p:cTn>
                              </p:par>
                              <p:par>
                                <p:cTn id="37" presetID="10" presetClass="entr" presetSubtype="0" fill="hold" grpId="0" nodeType="withEffect">
                                  <p:stCondLst>
                                    <p:cond delay="1100"/>
                                  </p:stCondLst>
                                  <p:childTnLst>
                                    <p:set>
                                      <p:cBhvr>
                                        <p:cTn id="38" dur="1" fill="hold">
                                          <p:stCondLst>
                                            <p:cond delay="0"/>
                                          </p:stCondLst>
                                        </p:cTn>
                                        <p:tgtEl>
                                          <p:spTgt spid="23"/>
                                        </p:tgtEl>
                                        <p:attrNameLst>
                                          <p:attrName>style.visibility</p:attrName>
                                        </p:attrNameLst>
                                      </p:cBhvr>
                                      <p:to>
                                        <p:strVal val="visible"/>
                                      </p:to>
                                    </p:set>
                                    <p:animEffect transition="in" filter="fade">
                                      <p:cBhvr>
                                        <p:cTn id="39" dur="550"/>
                                        <p:tgtEl>
                                          <p:spTgt spid="23"/>
                                        </p:tgtEl>
                                      </p:cBhvr>
                                    </p:animEffect>
                                  </p:childTnLst>
                                </p:cTn>
                              </p:par>
                              <p:par>
                                <p:cTn id="40" presetID="37" presetClass="entr" presetSubtype="0" fill="hold" nodeType="withEffect">
                                  <p:stCondLst>
                                    <p:cond delay="1210"/>
                                  </p:stCondLst>
                                  <p:childTnLst>
                                    <p:set>
                                      <p:cBhvr>
                                        <p:cTn id="41" dur="1" fill="hold">
                                          <p:stCondLst>
                                            <p:cond delay="0"/>
                                          </p:stCondLst>
                                        </p:cTn>
                                        <p:tgtEl>
                                          <p:spTgt spid="17"/>
                                        </p:tgtEl>
                                        <p:attrNameLst>
                                          <p:attrName>style.visibility</p:attrName>
                                        </p:attrNameLst>
                                      </p:cBhvr>
                                      <p:to>
                                        <p:strVal val="visible"/>
                                      </p:to>
                                    </p:set>
                                    <p:animEffect transition="in" filter="fade">
                                      <p:cBhvr>
                                        <p:cTn id="42" dur="550"/>
                                        <p:tgtEl>
                                          <p:spTgt spid="17"/>
                                        </p:tgtEl>
                                      </p:cBhvr>
                                    </p:animEffect>
                                    <p:anim calcmode="lin" valueType="num">
                                      <p:cBhvr>
                                        <p:cTn id="43" dur="550" fill="hold"/>
                                        <p:tgtEl>
                                          <p:spTgt spid="17"/>
                                        </p:tgtEl>
                                        <p:attrNameLst>
                                          <p:attrName>ppt_x</p:attrName>
                                        </p:attrNameLst>
                                      </p:cBhvr>
                                      <p:tavLst>
                                        <p:tav tm="0">
                                          <p:val>
                                            <p:strVal val="#ppt_x"/>
                                          </p:val>
                                        </p:tav>
                                        <p:tav tm="100000">
                                          <p:val>
                                            <p:strVal val="#ppt_x"/>
                                          </p:val>
                                        </p:tav>
                                      </p:tavLst>
                                    </p:anim>
                                    <p:anim calcmode="lin" valueType="num">
                                      <p:cBhvr>
                                        <p:cTn id="44" dur="495" decel="100000" fill="hold"/>
                                        <p:tgtEl>
                                          <p:spTgt spid="17"/>
                                        </p:tgtEl>
                                        <p:attrNameLst>
                                          <p:attrName>ppt_y</p:attrName>
                                        </p:attrNameLst>
                                      </p:cBhvr>
                                      <p:tavLst>
                                        <p:tav tm="0">
                                          <p:val>
                                            <p:strVal val="#ppt_y+1"/>
                                          </p:val>
                                        </p:tav>
                                        <p:tav tm="100000">
                                          <p:val>
                                            <p:strVal val="#ppt_y-.03"/>
                                          </p:val>
                                        </p:tav>
                                      </p:tavLst>
                                    </p:anim>
                                    <p:anim calcmode="lin" valueType="num">
                                      <p:cBhvr>
                                        <p:cTn id="45" dur="55" accel="100000" fill="hold">
                                          <p:stCondLst>
                                            <p:cond delay="495"/>
                                          </p:stCondLst>
                                        </p:cTn>
                                        <p:tgtEl>
                                          <p:spTgt spid="17"/>
                                        </p:tgtEl>
                                        <p:attrNameLst>
                                          <p:attrName>ppt_y</p:attrName>
                                        </p:attrNameLst>
                                      </p:cBhvr>
                                      <p:tavLst>
                                        <p:tav tm="0">
                                          <p:val>
                                            <p:strVal val="#ppt_y-.03"/>
                                          </p:val>
                                        </p:tav>
                                        <p:tav tm="100000">
                                          <p:val>
                                            <p:strVal val="#ppt_y"/>
                                          </p:val>
                                        </p:tav>
                                      </p:tavLst>
                                    </p:anim>
                                  </p:childTnLst>
                                </p:cTn>
                              </p:par>
                              <p:par>
                                <p:cTn id="46" presetID="10" presetClass="entr" presetSubtype="0" fill="hold" grpId="0" nodeType="withEffect">
                                  <p:stCondLst>
                                    <p:cond delay="1300"/>
                                  </p:stCondLst>
                                  <p:childTnLst>
                                    <p:set>
                                      <p:cBhvr>
                                        <p:cTn id="47" dur="1" fill="hold">
                                          <p:stCondLst>
                                            <p:cond delay="0"/>
                                          </p:stCondLst>
                                        </p:cTn>
                                        <p:tgtEl>
                                          <p:spTgt spid="24"/>
                                        </p:tgtEl>
                                        <p:attrNameLst>
                                          <p:attrName>style.visibility</p:attrName>
                                        </p:attrNameLst>
                                      </p:cBhvr>
                                      <p:to>
                                        <p:strVal val="visible"/>
                                      </p:to>
                                    </p:set>
                                    <p:animEffect transition="in" filter="fade">
                                      <p:cBhvr>
                                        <p:cTn id="48" dur="55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1" grpId="0"/>
      <p:bldP spid="22" grpId="0" animBg="1"/>
      <p:bldP spid="23" grpId="0"/>
      <p:bldP spid="24"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4284B"/>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57150"/>
          </a:xfrm>
          <a:prstGeom prst="rect">
            <a:avLst/>
          </a:prstGeom>
          <a:solidFill>
            <a:srgbClr val="59BEC9"/>
          </a:solidFill>
          <a:ln>
            <a:noFill/>
          </a:ln>
        </p:spPr>
        <p:txBody>
          <a:bodyPr rtlCol="0" anchor="ctr"/>
          <a:lstStyle/>
          <a:p>
            <a:pPr algn="ctr"/>
            <a:endParaRPr/>
          </a:p>
        </p:txBody>
      </p:sp>
      <p:grpSp>
        <p:nvGrpSpPr>
          <p:cNvPr id="3" name="anim|fade|0.05"/>
          <p:cNvGrpSpPr/>
          <p:nvPr/>
        </p:nvGrpSpPr>
        <p:grpSpPr>
          <a:xfrm>
            <a:off x="571500" y="266700"/>
            <a:ext cx="7105650" cy="190500"/>
            <a:chOff x="571500" y="266700"/>
            <a:chExt cx="7105650" cy="190500"/>
          </a:xfrm>
        </p:grpSpPr>
        <p:sp>
          <p:nvSpPr>
            <p:cNvPr id="4" name="Rectangle 3"/>
            <p:cNvSpPr/>
            <p:nvPr/>
          </p:nvSpPr>
          <p:spPr>
            <a:xfrm>
              <a:off x="571500" y="342900"/>
              <a:ext cx="342900" cy="47625"/>
            </a:xfrm>
            <a:prstGeom prst="rect">
              <a:avLst/>
            </a:prstGeom>
            <a:solidFill>
              <a:srgbClr val="FFB938"/>
            </a:solidFill>
            <a:ln>
              <a:noFill/>
            </a:ln>
          </p:spPr>
          <p:txBody>
            <a:bodyPr rtlCol="0" anchor="ctr"/>
            <a:lstStyle/>
            <a:p>
              <a:pPr algn="ctr"/>
              <a:endParaRPr/>
            </a:p>
          </p:txBody>
        </p:sp>
        <p:sp>
          <p:nvSpPr>
            <p:cNvPr id="5" name="TextBox 4"/>
            <p:cNvSpPr txBox="1"/>
            <p:nvPr/>
          </p:nvSpPr>
          <p:spPr>
            <a:xfrm>
              <a:off x="1009650" y="266700"/>
              <a:ext cx="6667500" cy="190500"/>
            </a:xfrm>
            <a:prstGeom prst="rect">
              <a:avLst/>
            </a:prstGeom>
            <a:noFill/>
          </p:spPr>
          <p:txBody>
            <a:bodyPr wrap="square" lIns="0" tIns="0" rIns="0" bIns="0" anchor="t">
              <a:spAutoFit/>
            </a:bodyPr>
            <a:lstStyle/>
            <a:p>
              <a:pPr algn="l"/>
              <a:r>
                <a:rPr sz="1100" b="1" spc="300">
                  <a:solidFill>
                    <a:srgbClr val="59BEC9"/>
                  </a:solidFill>
                  <a:latin typeface="Century Gothic"/>
                </a:rPr>
                <a:t>INTRODUCTION</a:t>
              </a:r>
            </a:p>
          </p:txBody>
        </p:sp>
      </p:grpSp>
      <p:sp>
        <p:nvSpPr>
          <p:cNvPr id="6" name="anim|wipeL|0.1"/>
          <p:cNvSpPr txBox="1"/>
          <p:nvPr/>
        </p:nvSpPr>
        <p:spPr>
          <a:xfrm>
            <a:off x="571500" y="533400"/>
            <a:ext cx="11049000" cy="533400"/>
          </a:xfrm>
          <a:prstGeom prst="rect">
            <a:avLst/>
          </a:prstGeom>
          <a:noFill/>
        </p:spPr>
        <p:txBody>
          <a:bodyPr wrap="square" lIns="0" tIns="0" rIns="0" bIns="0" anchor="t">
            <a:spAutoFit/>
          </a:bodyPr>
          <a:lstStyle/>
          <a:p>
            <a:pPr algn="l"/>
            <a:r>
              <a:rPr sz="3100" b="1">
                <a:solidFill>
                  <a:srgbClr val="FFFFFF"/>
                </a:solidFill>
                <a:latin typeface="Century Gothic"/>
              </a:rPr>
              <a:t>What is AKS Backup?</a:t>
            </a:r>
          </a:p>
        </p:txBody>
      </p:sp>
      <p:sp>
        <p:nvSpPr>
          <p:cNvPr id="7" name="anim|fade|0.45"/>
          <p:cNvSpPr txBox="1"/>
          <p:nvPr/>
        </p:nvSpPr>
        <p:spPr>
          <a:xfrm>
            <a:off x="571500" y="1028700"/>
            <a:ext cx="11049000" cy="247650"/>
          </a:xfrm>
          <a:prstGeom prst="rect">
            <a:avLst/>
          </a:prstGeom>
          <a:noFill/>
        </p:spPr>
        <p:txBody>
          <a:bodyPr wrap="square" lIns="0" tIns="0" rIns="0" bIns="0" anchor="t">
            <a:spAutoFit/>
          </a:bodyPr>
          <a:lstStyle/>
          <a:p>
            <a:pPr algn="l"/>
            <a:r>
              <a:rPr sz="1500" b="0">
                <a:solidFill>
                  <a:srgbClr val="B0C0D9"/>
                </a:solidFill>
                <a:latin typeface="Segoe UI"/>
              </a:rPr>
              <a:t>A backup of the cluster itself, not just of the code that built it</a:t>
            </a:r>
          </a:p>
        </p:txBody>
      </p:sp>
      <p:sp>
        <p:nvSpPr>
          <p:cNvPr id="8" name="TextBox 7"/>
          <p:cNvSpPr txBox="1"/>
          <p:nvPr/>
        </p:nvSpPr>
        <p:spPr>
          <a:xfrm>
            <a:off x="571500" y="6534150"/>
            <a:ext cx="6667500" cy="171450"/>
          </a:xfrm>
          <a:prstGeom prst="rect">
            <a:avLst/>
          </a:prstGeom>
          <a:noFill/>
        </p:spPr>
        <p:txBody>
          <a:bodyPr wrap="square" lIns="0" tIns="0" rIns="0" bIns="0" anchor="t">
            <a:spAutoFit/>
          </a:bodyPr>
          <a:lstStyle/>
          <a:p>
            <a:pPr algn="l"/>
            <a:r>
              <a:rPr sz="950" b="0">
                <a:solidFill>
                  <a:srgbClr val="B0C0D9"/>
                </a:solidFill>
                <a:latin typeface="Segoe UI"/>
              </a:rPr>
              <a:t>AKS Backup &amp; Restore  |  BFH AKS IHUB Platform Team</a:t>
            </a:r>
          </a:p>
        </p:txBody>
      </p:sp>
      <p:sp>
        <p:nvSpPr>
          <p:cNvPr id="9" name="TextBox 8"/>
          <p:cNvSpPr txBox="1"/>
          <p:nvPr/>
        </p:nvSpPr>
        <p:spPr>
          <a:xfrm>
            <a:off x="10668000" y="6534150"/>
            <a:ext cx="952500" cy="171450"/>
          </a:xfrm>
          <a:prstGeom prst="rect">
            <a:avLst/>
          </a:prstGeom>
          <a:noFill/>
        </p:spPr>
        <p:txBody>
          <a:bodyPr wrap="square" lIns="0" tIns="0" rIns="0" bIns="0" anchor="t">
            <a:spAutoFit/>
          </a:bodyPr>
          <a:lstStyle/>
          <a:p>
            <a:pPr algn="r"/>
            <a:r>
              <a:rPr sz="1000" b="1">
                <a:solidFill>
                  <a:srgbClr val="FFB938"/>
                </a:solidFill>
                <a:latin typeface="Century Gothic"/>
              </a:rPr>
              <a:t>2</a:t>
            </a:r>
          </a:p>
        </p:txBody>
      </p:sp>
      <p:grpSp>
        <p:nvGrpSpPr>
          <p:cNvPr id="10" name="anim|rise|0.55"/>
          <p:cNvGrpSpPr/>
          <p:nvPr/>
        </p:nvGrpSpPr>
        <p:grpSpPr>
          <a:xfrm>
            <a:off x="571500" y="1485900"/>
            <a:ext cx="3581400" cy="2495550"/>
            <a:chOff x="571500" y="1485900"/>
            <a:chExt cx="3581400" cy="2495550"/>
          </a:xfrm>
        </p:grpSpPr>
        <p:sp>
          <p:nvSpPr>
            <p:cNvPr id="11" name="Rounded Rectangle 10"/>
            <p:cNvSpPr/>
            <p:nvPr/>
          </p:nvSpPr>
          <p:spPr>
            <a:xfrm>
              <a:off x="571500" y="1485900"/>
              <a:ext cx="3581400" cy="2495550"/>
            </a:xfrm>
            <a:prstGeom prst="roundRect">
              <a:avLst>
                <a:gd name="adj" fmla="val 6870"/>
              </a:avLst>
            </a:prstGeom>
            <a:solidFill>
              <a:srgbClr val="1E3A68"/>
            </a:solidFill>
            <a:ln>
              <a:noFill/>
            </a:ln>
          </p:spPr>
          <p:txBody>
            <a:bodyPr rtlCol="0" anchor="ctr"/>
            <a:lstStyle/>
            <a:p>
              <a:pPr algn="ctr"/>
              <a:endParaRPr/>
            </a:p>
          </p:txBody>
        </p:sp>
        <p:sp>
          <p:nvSpPr>
            <p:cNvPr id="12" name="Oval 11"/>
            <p:cNvSpPr/>
            <p:nvPr/>
          </p:nvSpPr>
          <p:spPr>
            <a:xfrm>
              <a:off x="819150" y="1733550"/>
              <a:ext cx="571500" cy="571500"/>
            </a:xfrm>
            <a:prstGeom prst="ellipse">
              <a:avLst/>
            </a:prstGeom>
            <a:solidFill>
              <a:srgbClr val="14284B"/>
            </a:solidFill>
            <a:ln>
              <a:noFill/>
            </a:ln>
          </p:spPr>
          <p:txBody>
            <a:bodyPr rtlCol="0" anchor="ctr"/>
            <a:lstStyle/>
            <a:p>
              <a:pPr algn="ctr"/>
              <a:endParaRPr/>
            </a:p>
          </p:txBody>
        </p:sp>
        <p:pic>
          <p:nvPicPr>
            <p:cNvPr id="13" name="Picture 12" descr="cloud_teal.png"/>
            <p:cNvPicPr>
              <a:picLocks noChangeAspect="1"/>
            </p:cNvPicPr>
            <p:nvPr/>
          </p:nvPicPr>
          <p:blipFill>
            <a:blip r:embed="rId2"/>
            <a:stretch>
              <a:fillRect/>
            </a:stretch>
          </p:blipFill>
          <p:spPr>
            <a:xfrm>
              <a:off x="950595" y="1864995"/>
              <a:ext cx="308610" cy="308610"/>
            </a:xfrm>
            <a:prstGeom prst="rect">
              <a:avLst/>
            </a:prstGeom>
          </p:spPr>
        </p:pic>
        <p:sp>
          <p:nvSpPr>
            <p:cNvPr id="14" name="TextBox 13"/>
            <p:cNvSpPr txBox="1"/>
            <p:nvPr/>
          </p:nvSpPr>
          <p:spPr>
            <a:xfrm>
              <a:off x="819150" y="2476500"/>
              <a:ext cx="3086100" cy="533400"/>
            </a:xfrm>
            <a:prstGeom prst="rect">
              <a:avLst/>
            </a:prstGeom>
            <a:noFill/>
          </p:spPr>
          <p:txBody>
            <a:bodyPr wrap="square" lIns="0" tIns="0" rIns="0" bIns="0" anchor="t">
              <a:spAutoFit/>
            </a:bodyPr>
            <a:lstStyle/>
            <a:p>
              <a:pPr algn="l"/>
              <a:r>
                <a:rPr sz="1900" b="1">
                  <a:solidFill>
                    <a:srgbClr val="FFFFFF"/>
                  </a:solidFill>
                  <a:latin typeface="Century Gothic"/>
                </a:rPr>
                <a:t>What it is</a:t>
              </a:r>
            </a:p>
          </p:txBody>
        </p:sp>
        <p:sp>
          <p:nvSpPr>
            <p:cNvPr id="15" name="TextBox 14"/>
            <p:cNvSpPr txBox="1"/>
            <p:nvPr/>
          </p:nvSpPr>
          <p:spPr>
            <a:xfrm>
              <a:off x="819150" y="2819400"/>
              <a:ext cx="3086100" cy="1028700"/>
            </a:xfrm>
            <a:prstGeom prst="rect">
              <a:avLst/>
            </a:prstGeom>
            <a:noFill/>
          </p:spPr>
          <p:txBody>
            <a:bodyPr wrap="square" lIns="0" tIns="0" rIns="0" bIns="0" anchor="t">
              <a:spAutoFit/>
            </a:bodyPr>
            <a:lstStyle/>
            <a:p>
              <a:pPr algn="l"/>
              <a:r>
                <a:rPr sz="1450" b="0">
                  <a:solidFill>
                    <a:srgbClr val="B0C0D9"/>
                  </a:solidFill>
                  <a:latin typeface="Segoe UI"/>
                </a:rPr>
                <a:t>An Azure service that takes scheduled backups of an AKS cluster and keeps them in our own subscription.</a:t>
              </a:r>
            </a:p>
          </p:txBody>
        </p:sp>
      </p:grpSp>
      <p:grpSp>
        <p:nvGrpSpPr>
          <p:cNvPr id="16" name="anim|rise|0.71"/>
          <p:cNvGrpSpPr/>
          <p:nvPr/>
        </p:nvGrpSpPr>
        <p:grpSpPr>
          <a:xfrm>
            <a:off x="4305300" y="1485900"/>
            <a:ext cx="3581400" cy="2495550"/>
            <a:chOff x="4305300" y="1485900"/>
            <a:chExt cx="3581400" cy="2495550"/>
          </a:xfrm>
        </p:grpSpPr>
        <p:sp>
          <p:nvSpPr>
            <p:cNvPr id="17" name="Rounded Rectangle 16"/>
            <p:cNvSpPr/>
            <p:nvPr/>
          </p:nvSpPr>
          <p:spPr>
            <a:xfrm>
              <a:off x="4305300" y="1485900"/>
              <a:ext cx="3581400" cy="2495550"/>
            </a:xfrm>
            <a:prstGeom prst="roundRect">
              <a:avLst>
                <a:gd name="adj" fmla="val 6870"/>
              </a:avLst>
            </a:prstGeom>
            <a:solidFill>
              <a:srgbClr val="1E3A68"/>
            </a:solidFill>
            <a:ln>
              <a:noFill/>
            </a:ln>
          </p:spPr>
          <p:txBody>
            <a:bodyPr rtlCol="0" anchor="ctr"/>
            <a:lstStyle/>
            <a:p>
              <a:pPr algn="ctr"/>
              <a:endParaRPr/>
            </a:p>
          </p:txBody>
        </p:sp>
        <p:sp>
          <p:nvSpPr>
            <p:cNvPr id="18" name="Oval 17"/>
            <p:cNvSpPr/>
            <p:nvPr/>
          </p:nvSpPr>
          <p:spPr>
            <a:xfrm>
              <a:off x="4552950" y="1733550"/>
              <a:ext cx="571500" cy="571500"/>
            </a:xfrm>
            <a:prstGeom prst="ellipse">
              <a:avLst/>
            </a:prstGeom>
            <a:solidFill>
              <a:srgbClr val="14284B"/>
            </a:solidFill>
            <a:ln>
              <a:noFill/>
            </a:ln>
          </p:spPr>
          <p:txBody>
            <a:bodyPr rtlCol="0" anchor="ctr"/>
            <a:lstStyle/>
            <a:p>
              <a:pPr algn="ctr"/>
              <a:endParaRPr/>
            </a:p>
          </p:txBody>
        </p:sp>
        <p:pic>
          <p:nvPicPr>
            <p:cNvPr id="19" name="Picture 18" descr="cube_teal.png"/>
            <p:cNvPicPr>
              <a:picLocks noChangeAspect="1"/>
            </p:cNvPicPr>
            <p:nvPr/>
          </p:nvPicPr>
          <p:blipFill>
            <a:blip r:embed="rId3"/>
            <a:stretch>
              <a:fillRect/>
            </a:stretch>
          </p:blipFill>
          <p:spPr>
            <a:xfrm>
              <a:off x="4684395" y="1864995"/>
              <a:ext cx="308610" cy="308610"/>
            </a:xfrm>
            <a:prstGeom prst="rect">
              <a:avLst/>
            </a:prstGeom>
          </p:spPr>
        </p:pic>
        <p:sp>
          <p:nvSpPr>
            <p:cNvPr id="20" name="TextBox 19"/>
            <p:cNvSpPr txBox="1"/>
            <p:nvPr/>
          </p:nvSpPr>
          <p:spPr>
            <a:xfrm>
              <a:off x="4552950" y="2476500"/>
              <a:ext cx="3086100" cy="533400"/>
            </a:xfrm>
            <a:prstGeom prst="rect">
              <a:avLst/>
            </a:prstGeom>
            <a:noFill/>
          </p:spPr>
          <p:txBody>
            <a:bodyPr wrap="square" lIns="0" tIns="0" rIns="0" bIns="0" anchor="t">
              <a:spAutoFit/>
            </a:bodyPr>
            <a:lstStyle/>
            <a:p>
              <a:pPr algn="l"/>
              <a:r>
                <a:rPr sz="1900" b="1">
                  <a:solidFill>
                    <a:srgbClr val="FFFFFF"/>
                  </a:solidFill>
                  <a:latin typeface="Century Gothic"/>
                </a:rPr>
                <a:t>How it works</a:t>
              </a:r>
            </a:p>
          </p:txBody>
        </p:sp>
        <p:sp>
          <p:nvSpPr>
            <p:cNvPr id="21" name="TextBox 20"/>
            <p:cNvSpPr txBox="1"/>
            <p:nvPr/>
          </p:nvSpPr>
          <p:spPr>
            <a:xfrm>
              <a:off x="4552950" y="2819400"/>
              <a:ext cx="3086100" cy="1028700"/>
            </a:xfrm>
            <a:prstGeom prst="rect">
              <a:avLst/>
            </a:prstGeom>
            <a:noFill/>
          </p:spPr>
          <p:txBody>
            <a:bodyPr wrap="square" lIns="0" tIns="0" rIns="0" bIns="0" anchor="t">
              <a:spAutoFit/>
            </a:bodyPr>
            <a:lstStyle/>
            <a:p>
              <a:pPr algn="l"/>
              <a:r>
                <a:rPr sz="1450" b="0">
                  <a:solidFill>
                    <a:srgbClr val="B0C0D9"/>
                  </a:solidFill>
                  <a:latin typeface="Segoe UI"/>
                </a:rPr>
                <a:t>A Backup extension runs in the cluster. The Backup vault reaches it through Trusted Access and takes a backup every 4 hours.</a:t>
              </a:r>
            </a:p>
          </p:txBody>
        </p:sp>
      </p:grpSp>
      <p:grpSp>
        <p:nvGrpSpPr>
          <p:cNvPr id="22" name="anim|rise|0.87"/>
          <p:cNvGrpSpPr/>
          <p:nvPr/>
        </p:nvGrpSpPr>
        <p:grpSpPr>
          <a:xfrm>
            <a:off x="8039100" y="1485900"/>
            <a:ext cx="3581400" cy="2495550"/>
            <a:chOff x="8039100" y="1485900"/>
            <a:chExt cx="3581400" cy="2495550"/>
          </a:xfrm>
        </p:grpSpPr>
        <p:sp>
          <p:nvSpPr>
            <p:cNvPr id="23" name="Rounded Rectangle 22"/>
            <p:cNvSpPr/>
            <p:nvPr/>
          </p:nvSpPr>
          <p:spPr>
            <a:xfrm>
              <a:off x="8039100" y="1485900"/>
              <a:ext cx="3581400" cy="2495550"/>
            </a:xfrm>
            <a:prstGeom prst="roundRect">
              <a:avLst>
                <a:gd name="adj" fmla="val 6870"/>
              </a:avLst>
            </a:prstGeom>
            <a:solidFill>
              <a:srgbClr val="1E3A68"/>
            </a:solidFill>
            <a:ln>
              <a:noFill/>
            </a:ln>
          </p:spPr>
          <p:txBody>
            <a:bodyPr rtlCol="0" anchor="ctr"/>
            <a:lstStyle/>
            <a:p>
              <a:pPr algn="ctr"/>
              <a:endParaRPr/>
            </a:p>
          </p:txBody>
        </p:sp>
        <p:sp>
          <p:nvSpPr>
            <p:cNvPr id="24" name="Oval 23"/>
            <p:cNvSpPr/>
            <p:nvPr/>
          </p:nvSpPr>
          <p:spPr>
            <a:xfrm>
              <a:off x="8286750" y="1733550"/>
              <a:ext cx="571500" cy="571500"/>
            </a:xfrm>
            <a:prstGeom prst="ellipse">
              <a:avLst/>
            </a:prstGeom>
            <a:solidFill>
              <a:srgbClr val="14284B"/>
            </a:solidFill>
            <a:ln>
              <a:noFill/>
            </a:ln>
          </p:spPr>
          <p:txBody>
            <a:bodyPr rtlCol="0" anchor="ctr"/>
            <a:lstStyle/>
            <a:p>
              <a:pPr algn="ctr"/>
              <a:endParaRPr/>
            </a:p>
          </p:txBody>
        </p:sp>
        <p:pic>
          <p:nvPicPr>
            <p:cNvPr id="25" name="Picture 24" descr="layers_teal.png"/>
            <p:cNvPicPr>
              <a:picLocks noChangeAspect="1"/>
            </p:cNvPicPr>
            <p:nvPr/>
          </p:nvPicPr>
          <p:blipFill>
            <a:blip r:embed="rId4"/>
            <a:stretch>
              <a:fillRect/>
            </a:stretch>
          </p:blipFill>
          <p:spPr>
            <a:xfrm>
              <a:off x="8418195" y="1864995"/>
              <a:ext cx="308610" cy="308610"/>
            </a:xfrm>
            <a:prstGeom prst="rect">
              <a:avLst/>
            </a:prstGeom>
          </p:spPr>
        </p:pic>
        <p:sp>
          <p:nvSpPr>
            <p:cNvPr id="26" name="TextBox 25"/>
            <p:cNvSpPr txBox="1"/>
            <p:nvPr/>
          </p:nvSpPr>
          <p:spPr>
            <a:xfrm>
              <a:off x="8286750" y="2476500"/>
              <a:ext cx="3086100" cy="533400"/>
            </a:xfrm>
            <a:prstGeom prst="rect">
              <a:avLst/>
            </a:prstGeom>
            <a:noFill/>
          </p:spPr>
          <p:txBody>
            <a:bodyPr wrap="square" lIns="0" tIns="0" rIns="0" bIns="0" anchor="t">
              <a:spAutoFit/>
            </a:bodyPr>
            <a:lstStyle/>
            <a:p>
              <a:pPr algn="l"/>
              <a:r>
                <a:rPr sz="1900" b="1">
                  <a:solidFill>
                    <a:srgbClr val="FFFFFF"/>
                  </a:solidFill>
                  <a:latin typeface="Century Gothic"/>
                </a:rPr>
                <a:t>What it contains</a:t>
              </a:r>
            </a:p>
          </p:txBody>
        </p:sp>
        <p:sp>
          <p:nvSpPr>
            <p:cNvPr id="27" name="TextBox 26"/>
            <p:cNvSpPr txBox="1"/>
            <p:nvPr/>
          </p:nvSpPr>
          <p:spPr>
            <a:xfrm>
              <a:off x="8286750" y="2819400"/>
              <a:ext cx="3086100" cy="1028700"/>
            </a:xfrm>
            <a:prstGeom prst="rect">
              <a:avLst/>
            </a:prstGeom>
            <a:noFill/>
          </p:spPr>
          <p:txBody>
            <a:bodyPr wrap="square" lIns="0" tIns="0" rIns="0" bIns="0" anchor="t">
              <a:spAutoFit/>
            </a:bodyPr>
            <a:lstStyle/>
            <a:p>
              <a:pPr algn="l"/>
              <a:r>
                <a:rPr sz="1450" b="0">
                  <a:solidFill>
                    <a:srgbClr val="B0C0D9"/>
                  </a:solidFill>
                  <a:latin typeface="Segoe UI"/>
                </a:rPr>
                <a:t>The cluster state: namespaces and the workloads, configuration, services and access rules inside them. Volume data is not included.</a:t>
              </a:r>
            </a:p>
          </p:txBody>
        </p:sp>
      </p:grpSp>
      <p:grpSp>
        <p:nvGrpSpPr>
          <p:cNvPr id="28" name="anim|rise|1.03"/>
          <p:cNvGrpSpPr/>
          <p:nvPr/>
        </p:nvGrpSpPr>
        <p:grpSpPr>
          <a:xfrm>
            <a:off x="571500" y="4133850"/>
            <a:ext cx="3581400" cy="1962150"/>
            <a:chOff x="571500" y="4133850"/>
            <a:chExt cx="3581400" cy="1962150"/>
          </a:xfrm>
        </p:grpSpPr>
        <p:sp>
          <p:nvSpPr>
            <p:cNvPr id="29" name="Rounded Rectangle 28"/>
            <p:cNvSpPr/>
            <p:nvPr/>
          </p:nvSpPr>
          <p:spPr>
            <a:xfrm>
              <a:off x="571500" y="4133850"/>
              <a:ext cx="3581400" cy="1962150"/>
            </a:xfrm>
            <a:prstGeom prst="roundRect">
              <a:avLst>
                <a:gd name="adj" fmla="val 8737"/>
              </a:avLst>
            </a:prstGeom>
            <a:solidFill>
              <a:srgbClr val="FFB938"/>
            </a:solidFill>
            <a:ln>
              <a:noFill/>
            </a:ln>
          </p:spPr>
          <p:txBody>
            <a:bodyPr rtlCol="0" anchor="ctr"/>
            <a:lstStyle/>
            <a:p>
              <a:pPr algn="ctr"/>
              <a:endParaRPr/>
            </a:p>
          </p:txBody>
        </p:sp>
        <p:sp>
          <p:nvSpPr>
            <p:cNvPr id="30" name="TextBox 29"/>
            <p:cNvSpPr txBox="1"/>
            <p:nvPr/>
          </p:nvSpPr>
          <p:spPr>
            <a:xfrm>
              <a:off x="819150" y="4362450"/>
              <a:ext cx="3086100" cy="857250"/>
            </a:xfrm>
            <a:prstGeom prst="rect">
              <a:avLst/>
            </a:prstGeom>
            <a:noFill/>
          </p:spPr>
          <p:txBody>
            <a:bodyPr wrap="square" lIns="0" tIns="0" rIns="0" bIns="0" anchor="t">
              <a:spAutoFit/>
            </a:bodyPr>
            <a:lstStyle/>
            <a:p>
              <a:pPr algn="l"/>
              <a:r>
                <a:rPr sz="2200" b="1">
                  <a:solidFill>
                    <a:srgbClr val="14284B"/>
                  </a:solidFill>
                  <a:latin typeface="Century Gothic"/>
                </a:rPr>
                <a:t>Better than stateless pipelines</a:t>
              </a:r>
            </a:p>
          </p:txBody>
        </p:sp>
        <p:sp>
          <p:nvSpPr>
            <p:cNvPr id="31" name="TextBox 30"/>
            <p:cNvSpPr txBox="1"/>
            <p:nvPr/>
          </p:nvSpPr>
          <p:spPr>
            <a:xfrm>
              <a:off x="819150" y="5391150"/>
              <a:ext cx="3086100" cy="571500"/>
            </a:xfrm>
            <a:prstGeom prst="rect">
              <a:avLst/>
            </a:prstGeom>
            <a:noFill/>
          </p:spPr>
          <p:txBody>
            <a:bodyPr wrap="square" lIns="0" tIns="0" rIns="0" bIns="0" anchor="t">
              <a:spAutoFit/>
            </a:bodyPr>
            <a:lstStyle/>
            <a:p>
              <a:pPr algn="l"/>
              <a:r>
                <a:rPr sz="1500" b="0">
                  <a:solidFill>
                    <a:srgbClr val="14284B"/>
                  </a:solidFill>
                  <a:latin typeface="Segoe UI"/>
                </a:rPr>
                <a:t>Restore the real cluster state to a chosen point in time.</a:t>
              </a:r>
            </a:p>
          </p:txBody>
        </p:sp>
      </p:grpSp>
      <p:grpSp>
        <p:nvGrpSpPr>
          <p:cNvPr id="32" name="anim|zoom|1.19"/>
          <p:cNvGrpSpPr/>
          <p:nvPr/>
        </p:nvGrpSpPr>
        <p:grpSpPr>
          <a:xfrm>
            <a:off x="4305300" y="4133850"/>
            <a:ext cx="2336800" cy="1962150"/>
            <a:chOff x="4305300" y="4133850"/>
            <a:chExt cx="2336800" cy="1962150"/>
          </a:xfrm>
        </p:grpSpPr>
        <p:sp>
          <p:nvSpPr>
            <p:cNvPr id="33" name="Rounded Rectangle 32"/>
            <p:cNvSpPr/>
            <p:nvPr/>
          </p:nvSpPr>
          <p:spPr>
            <a:xfrm>
              <a:off x="4305300" y="4133850"/>
              <a:ext cx="2336800" cy="1962150"/>
            </a:xfrm>
            <a:prstGeom prst="roundRect">
              <a:avLst>
                <a:gd name="adj" fmla="val 8737"/>
              </a:avLst>
            </a:prstGeom>
            <a:solidFill>
              <a:srgbClr val="1E3A68"/>
            </a:solidFill>
            <a:ln>
              <a:noFill/>
            </a:ln>
          </p:spPr>
          <p:txBody>
            <a:bodyPr rtlCol="0" anchor="ctr"/>
            <a:lstStyle/>
            <a:p>
              <a:pPr algn="ctr"/>
              <a:endParaRPr/>
            </a:p>
          </p:txBody>
        </p:sp>
        <p:pic>
          <p:nvPicPr>
            <p:cNvPr id="34" name="Picture 33" descr="clock_teal.png"/>
            <p:cNvPicPr>
              <a:picLocks noChangeAspect="1"/>
            </p:cNvPicPr>
            <p:nvPr/>
          </p:nvPicPr>
          <p:blipFill>
            <a:blip r:embed="rId5"/>
            <a:stretch>
              <a:fillRect/>
            </a:stretch>
          </p:blipFill>
          <p:spPr>
            <a:xfrm>
              <a:off x="4533900" y="4343400"/>
              <a:ext cx="323850" cy="323850"/>
            </a:xfrm>
            <a:prstGeom prst="rect">
              <a:avLst/>
            </a:prstGeom>
          </p:spPr>
        </p:pic>
        <p:sp>
          <p:nvSpPr>
            <p:cNvPr id="35" name="TextBox 34"/>
            <p:cNvSpPr txBox="1"/>
            <p:nvPr/>
          </p:nvSpPr>
          <p:spPr>
            <a:xfrm>
              <a:off x="4533900" y="4819650"/>
              <a:ext cx="1955800" cy="533400"/>
            </a:xfrm>
            <a:prstGeom prst="rect">
              <a:avLst/>
            </a:prstGeom>
            <a:noFill/>
          </p:spPr>
          <p:txBody>
            <a:bodyPr wrap="square" lIns="0" tIns="0" rIns="0" bIns="0" anchor="t">
              <a:spAutoFit/>
            </a:bodyPr>
            <a:lstStyle/>
            <a:p>
              <a:pPr algn="l"/>
              <a:r>
                <a:rPr sz="3400" b="1">
                  <a:solidFill>
                    <a:srgbClr val="FFB938"/>
                  </a:solidFill>
                  <a:latin typeface="Century Gothic"/>
                </a:rPr>
                <a:t>4 h</a:t>
              </a:r>
            </a:p>
          </p:txBody>
        </p:sp>
        <p:sp>
          <p:nvSpPr>
            <p:cNvPr id="36" name="TextBox 35"/>
            <p:cNvSpPr txBox="1"/>
            <p:nvPr/>
          </p:nvSpPr>
          <p:spPr>
            <a:xfrm>
              <a:off x="4533900" y="5410200"/>
              <a:ext cx="1955800" cy="533400"/>
            </a:xfrm>
            <a:prstGeom prst="rect">
              <a:avLst/>
            </a:prstGeom>
            <a:noFill/>
          </p:spPr>
          <p:txBody>
            <a:bodyPr wrap="square" lIns="0" tIns="0" rIns="0" bIns="0" anchor="t">
              <a:spAutoFit/>
            </a:bodyPr>
            <a:lstStyle/>
            <a:p>
              <a:pPr algn="l"/>
              <a:r>
                <a:rPr sz="1350" b="0">
                  <a:solidFill>
                    <a:srgbClr val="B0C0D9"/>
                  </a:solidFill>
                  <a:latin typeface="Segoe UI"/>
                </a:rPr>
                <a:t>Backup schedule: every 4 hours</a:t>
              </a:r>
            </a:p>
          </p:txBody>
        </p:sp>
      </p:grpSp>
      <p:grpSp>
        <p:nvGrpSpPr>
          <p:cNvPr id="37" name="anim|zoom|1.35"/>
          <p:cNvGrpSpPr/>
          <p:nvPr/>
        </p:nvGrpSpPr>
        <p:grpSpPr>
          <a:xfrm>
            <a:off x="6794500" y="4133850"/>
            <a:ext cx="2336800" cy="1962150"/>
            <a:chOff x="6794500" y="4133850"/>
            <a:chExt cx="2336800" cy="1962150"/>
          </a:xfrm>
        </p:grpSpPr>
        <p:sp>
          <p:nvSpPr>
            <p:cNvPr id="38" name="Rounded Rectangle 37"/>
            <p:cNvSpPr/>
            <p:nvPr/>
          </p:nvSpPr>
          <p:spPr>
            <a:xfrm>
              <a:off x="6794500" y="4133850"/>
              <a:ext cx="2336800" cy="1962150"/>
            </a:xfrm>
            <a:prstGeom prst="roundRect">
              <a:avLst>
                <a:gd name="adj" fmla="val 8737"/>
              </a:avLst>
            </a:prstGeom>
            <a:solidFill>
              <a:srgbClr val="1E3A68"/>
            </a:solidFill>
            <a:ln>
              <a:noFill/>
            </a:ln>
          </p:spPr>
          <p:txBody>
            <a:bodyPr rtlCol="0" anchor="ctr"/>
            <a:lstStyle/>
            <a:p>
              <a:pPr algn="ctr"/>
              <a:endParaRPr/>
            </a:p>
          </p:txBody>
        </p:sp>
        <p:pic>
          <p:nvPicPr>
            <p:cNvPr id="39" name="Picture 38" descr="layers_teal.png"/>
            <p:cNvPicPr>
              <a:picLocks noChangeAspect="1"/>
            </p:cNvPicPr>
            <p:nvPr/>
          </p:nvPicPr>
          <p:blipFill>
            <a:blip r:embed="rId4"/>
            <a:stretch>
              <a:fillRect/>
            </a:stretch>
          </p:blipFill>
          <p:spPr>
            <a:xfrm>
              <a:off x="7023100" y="4343400"/>
              <a:ext cx="323850" cy="323850"/>
            </a:xfrm>
            <a:prstGeom prst="rect">
              <a:avLst/>
            </a:prstGeom>
          </p:spPr>
        </p:pic>
        <p:sp>
          <p:nvSpPr>
            <p:cNvPr id="40" name="TextBox 39"/>
            <p:cNvSpPr txBox="1"/>
            <p:nvPr/>
          </p:nvSpPr>
          <p:spPr>
            <a:xfrm>
              <a:off x="7023100" y="4819650"/>
              <a:ext cx="1955800" cy="533400"/>
            </a:xfrm>
            <a:prstGeom prst="rect">
              <a:avLst/>
            </a:prstGeom>
            <a:noFill/>
          </p:spPr>
          <p:txBody>
            <a:bodyPr wrap="square" lIns="0" tIns="0" rIns="0" bIns="0" anchor="t">
              <a:spAutoFit/>
            </a:bodyPr>
            <a:lstStyle/>
            <a:p>
              <a:pPr algn="l"/>
              <a:r>
                <a:rPr sz="3400" b="1">
                  <a:solidFill>
                    <a:srgbClr val="FFB938"/>
                  </a:solidFill>
                  <a:latin typeface="Century Gothic"/>
                </a:rPr>
                <a:t>7 / 90</a:t>
              </a:r>
            </a:p>
          </p:txBody>
        </p:sp>
        <p:sp>
          <p:nvSpPr>
            <p:cNvPr id="41" name="TextBox 40"/>
            <p:cNvSpPr txBox="1"/>
            <p:nvPr/>
          </p:nvSpPr>
          <p:spPr>
            <a:xfrm>
              <a:off x="7023100" y="5410200"/>
              <a:ext cx="1955800" cy="533400"/>
            </a:xfrm>
            <a:prstGeom prst="rect">
              <a:avLst/>
            </a:prstGeom>
            <a:noFill/>
          </p:spPr>
          <p:txBody>
            <a:bodyPr wrap="square" lIns="0" tIns="0" rIns="0" bIns="0" anchor="t">
              <a:spAutoFit/>
            </a:bodyPr>
            <a:lstStyle/>
            <a:p>
              <a:pPr algn="l"/>
              <a:r>
                <a:rPr sz="1350" b="0">
                  <a:solidFill>
                    <a:srgbClr val="B0C0D9"/>
                  </a:solidFill>
                  <a:latin typeface="Segoe UI"/>
                </a:rPr>
                <a:t>Days kept: non-prod / prod</a:t>
              </a:r>
            </a:p>
          </p:txBody>
        </p:sp>
      </p:grpSp>
      <p:grpSp>
        <p:nvGrpSpPr>
          <p:cNvPr id="42" name="anim|zoom|1.51"/>
          <p:cNvGrpSpPr/>
          <p:nvPr/>
        </p:nvGrpSpPr>
        <p:grpSpPr>
          <a:xfrm>
            <a:off x="9283700" y="4133850"/>
            <a:ext cx="2336800" cy="1962150"/>
            <a:chOff x="9283700" y="4133850"/>
            <a:chExt cx="2336800" cy="1962150"/>
          </a:xfrm>
        </p:grpSpPr>
        <p:sp>
          <p:nvSpPr>
            <p:cNvPr id="43" name="Rounded Rectangle 42"/>
            <p:cNvSpPr/>
            <p:nvPr/>
          </p:nvSpPr>
          <p:spPr>
            <a:xfrm>
              <a:off x="9283700" y="4133850"/>
              <a:ext cx="2336800" cy="1962150"/>
            </a:xfrm>
            <a:prstGeom prst="roundRect">
              <a:avLst>
                <a:gd name="adj" fmla="val 8737"/>
              </a:avLst>
            </a:prstGeom>
            <a:solidFill>
              <a:srgbClr val="1E3A68"/>
            </a:solidFill>
            <a:ln>
              <a:noFill/>
            </a:ln>
          </p:spPr>
          <p:txBody>
            <a:bodyPr rtlCol="0" anchor="ctr"/>
            <a:lstStyle/>
            <a:p>
              <a:pPr algn="ctr"/>
              <a:endParaRPr/>
            </a:p>
          </p:txBody>
        </p:sp>
        <p:pic>
          <p:nvPicPr>
            <p:cNvPr id="44" name="Picture 43" descr="bolt_teal.png"/>
            <p:cNvPicPr>
              <a:picLocks noChangeAspect="1"/>
            </p:cNvPicPr>
            <p:nvPr/>
          </p:nvPicPr>
          <p:blipFill>
            <a:blip r:embed="rId6"/>
            <a:stretch>
              <a:fillRect/>
            </a:stretch>
          </p:blipFill>
          <p:spPr>
            <a:xfrm>
              <a:off x="9512300" y="4343400"/>
              <a:ext cx="323850" cy="323850"/>
            </a:xfrm>
            <a:prstGeom prst="rect">
              <a:avLst/>
            </a:prstGeom>
          </p:spPr>
        </p:pic>
        <p:sp>
          <p:nvSpPr>
            <p:cNvPr id="45" name="TextBox 44"/>
            <p:cNvSpPr txBox="1"/>
            <p:nvPr/>
          </p:nvSpPr>
          <p:spPr>
            <a:xfrm>
              <a:off x="9512300" y="4819650"/>
              <a:ext cx="1955800" cy="533400"/>
            </a:xfrm>
            <a:prstGeom prst="rect">
              <a:avLst/>
            </a:prstGeom>
            <a:noFill/>
          </p:spPr>
          <p:txBody>
            <a:bodyPr wrap="square" lIns="0" tIns="0" rIns="0" bIns="0" anchor="t">
              <a:spAutoFit/>
            </a:bodyPr>
            <a:lstStyle/>
            <a:p>
              <a:pPr algn="l"/>
              <a:r>
                <a:rPr sz="3400" b="1">
                  <a:solidFill>
                    <a:srgbClr val="FFB938"/>
                  </a:solidFill>
                  <a:latin typeface="Century Gothic"/>
                </a:rPr>
                <a:t>~10 min</a:t>
              </a:r>
            </a:p>
          </p:txBody>
        </p:sp>
        <p:sp>
          <p:nvSpPr>
            <p:cNvPr id="46" name="TextBox 45"/>
            <p:cNvSpPr txBox="1"/>
            <p:nvPr/>
          </p:nvSpPr>
          <p:spPr>
            <a:xfrm>
              <a:off x="9512300" y="5410200"/>
              <a:ext cx="1955800" cy="533400"/>
            </a:xfrm>
            <a:prstGeom prst="rect">
              <a:avLst/>
            </a:prstGeom>
            <a:noFill/>
          </p:spPr>
          <p:txBody>
            <a:bodyPr wrap="square" lIns="0" tIns="0" rIns="0" bIns="0" anchor="t">
              <a:spAutoFit/>
            </a:bodyPr>
            <a:lstStyle/>
            <a:p>
              <a:pPr algn="l"/>
              <a:r>
                <a:rPr sz="1350" b="0">
                  <a:solidFill>
                    <a:srgbClr val="B0C0D9"/>
                  </a:solidFill>
                  <a:latin typeface="Segoe UI"/>
                </a:rPr>
                <a:t>To restore (indicative)</a:t>
              </a:r>
            </a:p>
          </p:txBody>
        </p:sp>
      </p:grpSp>
    </p:spTree>
  </p:cSld>
  <p:clrMapOvr>
    <a:masterClrMapping/>
  </p:clrMapOvr>
  <mc:AlternateContent xmlns:mc="http://schemas.openxmlformats.org/markup-compatibility/2006">
    <mc:Choice xmlns:p14="http://schemas.microsoft.com/office/powerpoint/2010/main" Requires="p14">
      <p:transition spd="slow" p14:dur="800">
        <p:fad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5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50"/>
                                        <p:tgtEl>
                                          <p:spTgt spid="3"/>
                                        </p:tgtEl>
                                      </p:cBhvr>
                                    </p:animEffect>
                                  </p:childTnLst>
                                </p:cTn>
                              </p:par>
                              <p:par>
                                <p:cTn id="8" presetID="22" presetClass="entr" presetSubtype="8" fill="hold" grpId="0" nodeType="withEffect">
                                  <p:stCondLst>
                                    <p:cond delay="100"/>
                                  </p:stCondLst>
                                  <p:childTnLst>
                                    <p:set>
                                      <p:cBhvr>
                                        <p:cTn id="9" dur="1" fill="hold">
                                          <p:stCondLst>
                                            <p:cond delay="0"/>
                                          </p:stCondLst>
                                        </p:cTn>
                                        <p:tgtEl>
                                          <p:spTgt spid="6"/>
                                        </p:tgtEl>
                                        <p:attrNameLst>
                                          <p:attrName>style.visibility</p:attrName>
                                        </p:attrNameLst>
                                      </p:cBhvr>
                                      <p:to>
                                        <p:strVal val="visible"/>
                                      </p:to>
                                    </p:set>
                                    <p:animEffect transition="in" filter="wipe(left)">
                                      <p:cBhvr>
                                        <p:cTn id="10" dur="700"/>
                                        <p:tgtEl>
                                          <p:spTgt spid="6"/>
                                        </p:tgtEl>
                                      </p:cBhvr>
                                    </p:animEffect>
                                  </p:childTnLst>
                                </p:cTn>
                              </p:par>
                              <p:par>
                                <p:cTn id="11" presetID="10" presetClass="entr" presetSubtype="0" fill="hold" grpId="0" nodeType="withEffect">
                                  <p:stCondLst>
                                    <p:cond delay="45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50"/>
                                        <p:tgtEl>
                                          <p:spTgt spid="7"/>
                                        </p:tgtEl>
                                      </p:cBhvr>
                                    </p:animEffect>
                                  </p:childTnLst>
                                </p:cTn>
                              </p:par>
                              <p:par>
                                <p:cTn id="14" presetID="37" presetClass="entr" presetSubtype="0" fill="hold" nodeType="withEffect">
                                  <p:stCondLst>
                                    <p:cond delay="55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50"/>
                                        <p:tgtEl>
                                          <p:spTgt spid="10"/>
                                        </p:tgtEl>
                                      </p:cBhvr>
                                    </p:animEffect>
                                    <p:anim calcmode="lin" valueType="num">
                                      <p:cBhvr>
                                        <p:cTn id="17" dur="550" fill="hold"/>
                                        <p:tgtEl>
                                          <p:spTgt spid="10"/>
                                        </p:tgtEl>
                                        <p:attrNameLst>
                                          <p:attrName>ppt_x</p:attrName>
                                        </p:attrNameLst>
                                      </p:cBhvr>
                                      <p:tavLst>
                                        <p:tav tm="0">
                                          <p:val>
                                            <p:strVal val="#ppt_x"/>
                                          </p:val>
                                        </p:tav>
                                        <p:tav tm="100000">
                                          <p:val>
                                            <p:strVal val="#ppt_x"/>
                                          </p:val>
                                        </p:tav>
                                      </p:tavLst>
                                    </p:anim>
                                    <p:anim calcmode="lin" valueType="num">
                                      <p:cBhvr>
                                        <p:cTn id="18" dur="495" decel="100000" fill="hold"/>
                                        <p:tgtEl>
                                          <p:spTgt spid="10"/>
                                        </p:tgtEl>
                                        <p:attrNameLst>
                                          <p:attrName>ppt_y</p:attrName>
                                        </p:attrNameLst>
                                      </p:cBhvr>
                                      <p:tavLst>
                                        <p:tav tm="0">
                                          <p:val>
                                            <p:strVal val="#ppt_y+1"/>
                                          </p:val>
                                        </p:tav>
                                        <p:tav tm="100000">
                                          <p:val>
                                            <p:strVal val="#ppt_y-.03"/>
                                          </p:val>
                                        </p:tav>
                                      </p:tavLst>
                                    </p:anim>
                                    <p:anim calcmode="lin" valueType="num">
                                      <p:cBhvr>
                                        <p:cTn id="19" dur="55" accel="100000" fill="hold">
                                          <p:stCondLst>
                                            <p:cond delay="495"/>
                                          </p:stCondLst>
                                        </p:cTn>
                                        <p:tgtEl>
                                          <p:spTgt spid="10"/>
                                        </p:tgtEl>
                                        <p:attrNameLst>
                                          <p:attrName>ppt_y</p:attrName>
                                        </p:attrNameLst>
                                      </p:cBhvr>
                                      <p:tavLst>
                                        <p:tav tm="0">
                                          <p:val>
                                            <p:strVal val="#ppt_y-.03"/>
                                          </p:val>
                                        </p:tav>
                                        <p:tav tm="100000">
                                          <p:val>
                                            <p:strVal val="#ppt_y"/>
                                          </p:val>
                                        </p:tav>
                                      </p:tavLst>
                                    </p:anim>
                                  </p:childTnLst>
                                </p:cTn>
                              </p:par>
                              <p:par>
                                <p:cTn id="20" presetID="37" presetClass="entr" presetSubtype="0" fill="hold" nodeType="withEffect">
                                  <p:stCondLst>
                                    <p:cond delay="71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550"/>
                                        <p:tgtEl>
                                          <p:spTgt spid="16"/>
                                        </p:tgtEl>
                                      </p:cBhvr>
                                    </p:animEffect>
                                    <p:anim calcmode="lin" valueType="num">
                                      <p:cBhvr>
                                        <p:cTn id="23" dur="550" fill="hold"/>
                                        <p:tgtEl>
                                          <p:spTgt spid="16"/>
                                        </p:tgtEl>
                                        <p:attrNameLst>
                                          <p:attrName>ppt_x</p:attrName>
                                        </p:attrNameLst>
                                      </p:cBhvr>
                                      <p:tavLst>
                                        <p:tav tm="0">
                                          <p:val>
                                            <p:strVal val="#ppt_x"/>
                                          </p:val>
                                        </p:tav>
                                        <p:tav tm="100000">
                                          <p:val>
                                            <p:strVal val="#ppt_x"/>
                                          </p:val>
                                        </p:tav>
                                      </p:tavLst>
                                    </p:anim>
                                    <p:anim calcmode="lin" valueType="num">
                                      <p:cBhvr>
                                        <p:cTn id="24" dur="495" decel="100000" fill="hold"/>
                                        <p:tgtEl>
                                          <p:spTgt spid="16"/>
                                        </p:tgtEl>
                                        <p:attrNameLst>
                                          <p:attrName>ppt_y</p:attrName>
                                        </p:attrNameLst>
                                      </p:cBhvr>
                                      <p:tavLst>
                                        <p:tav tm="0">
                                          <p:val>
                                            <p:strVal val="#ppt_y+1"/>
                                          </p:val>
                                        </p:tav>
                                        <p:tav tm="100000">
                                          <p:val>
                                            <p:strVal val="#ppt_y-.03"/>
                                          </p:val>
                                        </p:tav>
                                      </p:tavLst>
                                    </p:anim>
                                    <p:anim calcmode="lin" valueType="num">
                                      <p:cBhvr>
                                        <p:cTn id="25" dur="55" accel="100000" fill="hold">
                                          <p:stCondLst>
                                            <p:cond delay="495"/>
                                          </p:stCondLst>
                                        </p:cTn>
                                        <p:tgtEl>
                                          <p:spTgt spid="16"/>
                                        </p:tgtEl>
                                        <p:attrNameLst>
                                          <p:attrName>ppt_y</p:attrName>
                                        </p:attrNameLst>
                                      </p:cBhvr>
                                      <p:tavLst>
                                        <p:tav tm="0">
                                          <p:val>
                                            <p:strVal val="#ppt_y-.03"/>
                                          </p:val>
                                        </p:tav>
                                        <p:tav tm="100000">
                                          <p:val>
                                            <p:strVal val="#ppt_y"/>
                                          </p:val>
                                        </p:tav>
                                      </p:tavLst>
                                    </p:anim>
                                  </p:childTnLst>
                                </p:cTn>
                              </p:par>
                              <p:par>
                                <p:cTn id="26" presetID="37" presetClass="entr" presetSubtype="0" fill="hold" nodeType="withEffect">
                                  <p:stCondLst>
                                    <p:cond delay="870"/>
                                  </p:stCondLst>
                                  <p:childTnLst>
                                    <p:set>
                                      <p:cBhvr>
                                        <p:cTn id="27" dur="1" fill="hold">
                                          <p:stCondLst>
                                            <p:cond delay="0"/>
                                          </p:stCondLst>
                                        </p:cTn>
                                        <p:tgtEl>
                                          <p:spTgt spid="22"/>
                                        </p:tgtEl>
                                        <p:attrNameLst>
                                          <p:attrName>style.visibility</p:attrName>
                                        </p:attrNameLst>
                                      </p:cBhvr>
                                      <p:to>
                                        <p:strVal val="visible"/>
                                      </p:to>
                                    </p:set>
                                    <p:animEffect transition="in" filter="fade">
                                      <p:cBhvr>
                                        <p:cTn id="28" dur="550"/>
                                        <p:tgtEl>
                                          <p:spTgt spid="22"/>
                                        </p:tgtEl>
                                      </p:cBhvr>
                                    </p:animEffect>
                                    <p:anim calcmode="lin" valueType="num">
                                      <p:cBhvr>
                                        <p:cTn id="29" dur="550" fill="hold"/>
                                        <p:tgtEl>
                                          <p:spTgt spid="22"/>
                                        </p:tgtEl>
                                        <p:attrNameLst>
                                          <p:attrName>ppt_x</p:attrName>
                                        </p:attrNameLst>
                                      </p:cBhvr>
                                      <p:tavLst>
                                        <p:tav tm="0">
                                          <p:val>
                                            <p:strVal val="#ppt_x"/>
                                          </p:val>
                                        </p:tav>
                                        <p:tav tm="100000">
                                          <p:val>
                                            <p:strVal val="#ppt_x"/>
                                          </p:val>
                                        </p:tav>
                                      </p:tavLst>
                                    </p:anim>
                                    <p:anim calcmode="lin" valueType="num">
                                      <p:cBhvr>
                                        <p:cTn id="30" dur="495" decel="100000" fill="hold"/>
                                        <p:tgtEl>
                                          <p:spTgt spid="22"/>
                                        </p:tgtEl>
                                        <p:attrNameLst>
                                          <p:attrName>ppt_y</p:attrName>
                                        </p:attrNameLst>
                                      </p:cBhvr>
                                      <p:tavLst>
                                        <p:tav tm="0">
                                          <p:val>
                                            <p:strVal val="#ppt_y+1"/>
                                          </p:val>
                                        </p:tav>
                                        <p:tav tm="100000">
                                          <p:val>
                                            <p:strVal val="#ppt_y-.03"/>
                                          </p:val>
                                        </p:tav>
                                      </p:tavLst>
                                    </p:anim>
                                    <p:anim calcmode="lin" valueType="num">
                                      <p:cBhvr>
                                        <p:cTn id="31" dur="55" accel="100000" fill="hold">
                                          <p:stCondLst>
                                            <p:cond delay="495"/>
                                          </p:stCondLst>
                                        </p:cTn>
                                        <p:tgtEl>
                                          <p:spTgt spid="22"/>
                                        </p:tgtEl>
                                        <p:attrNameLst>
                                          <p:attrName>ppt_y</p:attrName>
                                        </p:attrNameLst>
                                      </p:cBhvr>
                                      <p:tavLst>
                                        <p:tav tm="0">
                                          <p:val>
                                            <p:strVal val="#ppt_y-.03"/>
                                          </p:val>
                                        </p:tav>
                                        <p:tav tm="100000">
                                          <p:val>
                                            <p:strVal val="#ppt_y"/>
                                          </p:val>
                                        </p:tav>
                                      </p:tavLst>
                                    </p:anim>
                                  </p:childTnLst>
                                </p:cTn>
                              </p:par>
                              <p:par>
                                <p:cTn id="32" presetID="37" presetClass="entr" presetSubtype="0" fill="hold" nodeType="withEffect">
                                  <p:stCondLst>
                                    <p:cond delay="1030"/>
                                  </p:stCondLst>
                                  <p:childTnLst>
                                    <p:set>
                                      <p:cBhvr>
                                        <p:cTn id="33" dur="1" fill="hold">
                                          <p:stCondLst>
                                            <p:cond delay="0"/>
                                          </p:stCondLst>
                                        </p:cTn>
                                        <p:tgtEl>
                                          <p:spTgt spid="28"/>
                                        </p:tgtEl>
                                        <p:attrNameLst>
                                          <p:attrName>style.visibility</p:attrName>
                                        </p:attrNameLst>
                                      </p:cBhvr>
                                      <p:to>
                                        <p:strVal val="visible"/>
                                      </p:to>
                                    </p:set>
                                    <p:animEffect transition="in" filter="fade">
                                      <p:cBhvr>
                                        <p:cTn id="34" dur="550"/>
                                        <p:tgtEl>
                                          <p:spTgt spid="28"/>
                                        </p:tgtEl>
                                      </p:cBhvr>
                                    </p:animEffect>
                                    <p:anim calcmode="lin" valueType="num">
                                      <p:cBhvr>
                                        <p:cTn id="35" dur="550" fill="hold"/>
                                        <p:tgtEl>
                                          <p:spTgt spid="28"/>
                                        </p:tgtEl>
                                        <p:attrNameLst>
                                          <p:attrName>ppt_x</p:attrName>
                                        </p:attrNameLst>
                                      </p:cBhvr>
                                      <p:tavLst>
                                        <p:tav tm="0">
                                          <p:val>
                                            <p:strVal val="#ppt_x"/>
                                          </p:val>
                                        </p:tav>
                                        <p:tav tm="100000">
                                          <p:val>
                                            <p:strVal val="#ppt_x"/>
                                          </p:val>
                                        </p:tav>
                                      </p:tavLst>
                                    </p:anim>
                                    <p:anim calcmode="lin" valueType="num">
                                      <p:cBhvr>
                                        <p:cTn id="36" dur="495" decel="100000" fill="hold"/>
                                        <p:tgtEl>
                                          <p:spTgt spid="28"/>
                                        </p:tgtEl>
                                        <p:attrNameLst>
                                          <p:attrName>ppt_y</p:attrName>
                                        </p:attrNameLst>
                                      </p:cBhvr>
                                      <p:tavLst>
                                        <p:tav tm="0">
                                          <p:val>
                                            <p:strVal val="#ppt_y+1"/>
                                          </p:val>
                                        </p:tav>
                                        <p:tav tm="100000">
                                          <p:val>
                                            <p:strVal val="#ppt_y-.03"/>
                                          </p:val>
                                        </p:tav>
                                      </p:tavLst>
                                    </p:anim>
                                    <p:anim calcmode="lin" valueType="num">
                                      <p:cBhvr>
                                        <p:cTn id="37" dur="55" accel="100000" fill="hold">
                                          <p:stCondLst>
                                            <p:cond delay="495"/>
                                          </p:stCondLst>
                                        </p:cTn>
                                        <p:tgtEl>
                                          <p:spTgt spid="28"/>
                                        </p:tgtEl>
                                        <p:attrNameLst>
                                          <p:attrName>ppt_y</p:attrName>
                                        </p:attrNameLst>
                                      </p:cBhvr>
                                      <p:tavLst>
                                        <p:tav tm="0">
                                          <p:val>
                                            <p:strVal val="#ppt_y-.03"/>
                                          </p:val>
                                        </p:tav>
                                        <p:tav tm="100000">
                                          <p:val>
                                            <p:strVal val="#ppt_y"/>
                                          </p:val>
                                        </p:tav>
                                      </p:tavLst>
                                    </p:anim>
                                  </p:childTnLst>
                                </p:cTn>
                              </p:par>
                              <p:par>
                                <p:cTn id="38" presetID="23" presetClass="entr" presetSubtype="16" fill="hold" nodeType="withEffect">
                                  <p:stCondLst>
                                    <p:cond delay="1190"/>
                                  </p:stCondLst>
                                  <p:childTnLst>
                                    <p:set>
                                      <p:cBhvr>
                                        <p:cTn id="39" dur="1" fill="hold">
                                          <p:stCondLst>
                                            <p:cond delay="0"/>
                                          </p:stCondLst>
                                        </p:cTn>
                                        <p:tgtEl>
                                          <p:spTgt spid="32"/>
                                        </p:tgtEl>
                                        <p:attrNameLst>
                                          <p:attrName>style.visibility</p:attrName>
                                        </p:attrNameLst>
                                      </p:cBhvr>
                                      <p:to>
                                        <p:strVal val="visible"/>
                                      </p:to>
                                    </p:set>
                                    <p:anim calcmode="lin" valueType="num">
                                      <p:cBhvr>
                                        <p:cTn id="40" dur="550" fill="hold"/>
                                        <p:tgtEl>
                                          <p:spTgt spid="32"/>
                                        </p:tgtEl>
                                        <p:attrNameLst>
                                          <p:attrName>ppt_w</p:attrName>
                                        </p:attrNameLst>
                                      </p:cBhvr>
                                      <p:tavLst>
                                        <p:tav tm="0">
                                          <p:val>
                                            <p:fltVal val="0"/>
                                          </p:val>
                                        </p:tav>
                                        <p:tav tm="100000">
                                          <p:val>
                                            <p:strVal val="#ppt_w"/>
                                          </p:val>
                                        </p:tav>
                                      </p:tavLst>
                                    </p:anim>
                                    <p:anim calcmode="lin" valueType="num">
                                      <p:cBhvr>
                                        <p:cTn id="41" dur="550" fill="hold"/>
                                        <p:tgtEl>
                                          <p:spTgt spid="32"/>
                                        </p:tgtEl>
                                        <p:attrNameLst>
                                          <p:attrName>ppt_h</p:attrName>
                                        </p:attrNameLst>
                                      </p:cBhvr>
                                      <p:tavLst>
                                        <p:tav tm="0">
                                          <p:val>
                                            <p:fltVal val="0"/>
                                          </p:val>
                                        </p:tav>
                                        <p:tav tm="100000">
                                          <p:val>
                                            <p:strVal val="#ppt_h"/>
                                          </p:val>
                                        </p:tav>
                                      </p:tavLst>
                                    </p:anim>
                                  </p:childTnLst>
                                </p:cTn>
                              </p:par>
                              <p:par>
                                <p:cTn id="42" presetID="23" presetClass="entr" presetSubtype="16" fill="hold" nodeType="withEffect">
                                  <p:stCondLst>
                                    <p:cond delay="1350"/>
                                  </p:stCondLst>
                                  <p:childTnLst>
                                    <p:set>
                                      <p:cBhvr>
                                        <p:cTn id="43" dur="1" fill="hold">
                                          <p:stCondLst>
                                            <p:cond delay="0"/>
                                          </p:stCondLst>
                                        </p:cTn>
                                        <p:tgtEl>
                                          <p:spTgt spid="37"/>
                                        </p:tgtEl>
                                        <p:attrNameLst>
                                          <p:attrName>style.visibility</p:attrName>
                                        </p:attrNameLst>
                                      </p:cBhvr>
                                      <p:to>
                                        <p:strVal val="visible"/>
                                      </p:to>
                                    </p:set>
                                    <p:anim calcmode="lin" valueType="num">
                                      <p:cBhvr>
                                        <p:cTn id="44" dur="550" fill="hold"/>
                                        <p:tgtEl>
                                          <p:spTgt spid="37"/>
                                        </p:tgtEl>
                                        <p:attrNameLst>
                                          <p:attrName>ppt_w</p:attrName>
                                        </p:attrNameLst>
                                      </p:cBhvr>
                                      <p:tavLst>
                                        <p:tav tm="0">
                                          <p:val>
                                            <p:fltVal val="0"/>
                                          </p:val>
                                        </p:tav>
                                        <p:tav tm="100000">
                                          <p:val>
                                            <p:strVal val="#ppt_w"/>
                                          </p:val>
                                        </p:tav>
                                      </p:tavLst>
                                    </p:anim>
                                    <p:anim calcmode="lin" valueType="num">
                                      <p:cBhvr>
                                        <p:cTn id="45" dur="550" fill="hold"/>
                                        <p:tgtEl>
                                          <p:spTgt spid="37"/>
                                        </p:tgtEl>
                                        <p:attrNameLst>
                                          <p:attrName>ppt_h</p:attrName>
                                        </p:attrNameLst>
                                      </p:cBhvr>
                                      <p:tavLst>
                                        <p:tav tm="0">
                                          <p:val>
                                            <p:fltVal val="0"/>
                                          </p:val>
                                        </p:tav>
                                        <p:tav tm="100000">
                                          <p:val>
                                            <p:strVal val="#ppt_h"/>
                                          </p:val>
                                        </p:tav>
                                      </p:tavLst>
                                    </p:anim>
                                  </p:childTnLst>
                                </p:cTn>
                              </p:par>
                              <p:par>
                                <p:cTn id="46" presetID="23" presetClass="entr" presetSubtype="16" fill="hold" nodeType="withEffect">
                                  <p:stCondLst>
                                    <p:cond delay="1510"/>
                                  </p:stCondLst>
                                  <p:childTnLst>
                                    <p:set>
                                      <p:cBhvr>
                                        <p:cTn id="47" dur="1" fill="hold">
                                          <p:stCondLst>
                                            <p:cond delay="0"/>
                                          </p:stCondLst>
                                        </p:cTn>
                                        <p:tgtEl>
                                          <p:spTgt spid="42"/>
                                        </p:tgtEl>
                                        <p:attrNameLst>
                                          <p:attrName>style.visibility</p:attrName>
                                        </p:attrNameLst>
                                      </p:cBhvr>
                                      <p:to>
                                        <p:strVal val="visible"/>
                                      </p:to>
                                    </p:set>
                                    <p:anim calcmode="lin" valueType="num">
                                      <p:cBhvr>
                                        <p:cTn id="48" dur="550" fill="hold"/>
                                        <p:tgtEl>
                                          <p:spTgt spid="42"/>
                                        </p:tgtEl>
                                        <p:attrNameLst>
                                          <p:attrName>ppt_w</p:attrName>
                                        </p:attrNameLst>
                                      </p:cBhvr>
                                      <p:tavLst>
                                        <p:tav tm="0">
                                          <p:val>
                                            <p:fltVal val="0"/>
                                          </p:val>
                                        </p:tav>
                                        <p:tav tm="100000">
                                          <p:val>
                                            <p:strVal val="#ppt_w"/>
                                          </p:val>
                                        </p:tav>
                                      </p:tavLst>
                                    </p:anim>
                                    <p:anim calcmode="lin" valueType="num">
                                      <p:cBhvr>
                                        <p:cTn id="49" dur="550" fill="hold"/>
                                        <p:tgtEl>
                                          <p:spTgt spid="42"/>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4284B"/>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57150"/>
          </a:xfrm>
          <a:prstGeom prst="rect">
            <a:avLst/>
          </a:prstGeom>
          <a:solidFill>
            <a:srgbClr val="59BEC9"/>
          </a:solidFill>
          <a:ln>
            <a:noFill/>
          </a:ln>
        </p:spPr>
        <p:txBody>
          <a:bodyPr rtlCol="0" anchor="ctr"/>
          <a:lstStyle/>
          <a:p>
            <a:pPr algn="ctr"/>
            <a:endParaRPr/>
          </a:p>
        </p:txBody>
      </p:sp>
      <p:grpSp>
        <p:nvGrpSpPr>
          <p:cNvPr id="3" name="anim|fade|0.05"/>
          <p:cNvGrpSpPr/>
          <p:nvPr/>
        </p:nvGrpSpPr>
        <p:grpSpPr>
          <a:xfrm>
            <a:off x="571500" y="266700"/>
            <a:ext cx="7105650" cy="190500"/>
            <a:chOff x="571500" y="266700"/>
            <a:chExt cx="7105650" cy="190500"/>
          </a:xfrm>
        </p:grpSpPr>
        <p:sp>
          <p:nvSpPr>
            <p:cNvPr id="4" name="Rectangle 3"/>
            <p:cNvSpPr/>
            <p:nvPr/>
          </p:nvSpPr>
          <p:spPr>
            <a:xfrm>
              <a:off x="571500" y="342900"/>
              <a:ext cx="342900" cy="47625"/>
            </a:xfrm>
            <a:prstGeom prst="rect">
              <a:avLst/>
            </a:prstGeom>
            <a:solidFill>
              <a:srgbClr val="FFB938"/>
            </a:solidFill>
            <a:ln>
              <a:noFill/>
            </a:ln>
          </p:spPr>
          <p:txBody>
            <a:bodyPr rtlCol="0" anchor="ctr"/>
            <a:lstStyle/>
            <a:p>
              <a:pPr algn="ctr"/>
              <a:endParaRPr/>
            </a:p>
          </p:txBody>
        </p:sp>
        <p:sp>
          <p:nvSpPr>
            <p:cNvPr id="5" name="TextBox 4"/>
            <p:cNvSpPr txBox="1"/>
            <p:nvPr/>
          </p:nvSpPr>
          <p:spPr>
            <a:xfrm>
              <a:off x="1009650" y="266700"/>
              <a:ext cx="6667500" cy="190500"/>
            </a:xfrm>
            <a:prstGeom prst="rect">
              <a:avLst/>
            </a:prstGeom>
            <a:noFill/>
          </p:spPr>
          <p:txBody>
            <a:bodyPr wrap="square" lIns="0" tIns="0" rIns="0" bIns="0" anchor="t">
              <a:spAutoFit/>
            </a:bodyPr>
            <a:lstStyle/>
            <a:p>
              <a:pPr algn="l"/>
              <a:r>
                <a:rPr sz="1100" b="1" spc="300">
                  <a:solidFill>
                    <a:srgbClr val="59BEC9"/>
                  </a:solidFill>
                  <a:latin typeface="Century Gothic"/>
                </a:rPr>
                <a:t>INTRODUCTION</a:t>
              </a:r>
            </a:p>
          </p:txBody>
        </p:sp>
      </p:grpSp>
      <p:sp>
        <p:nvSpPr>
          <p:cNvPr id="6" name="anim|wipeL|0.1"/>
          <p:cNvSpPr txBox="1"/>
          <p:nvPr/>
        </p:nvSpPr>
        <p:spPr>
          <a:xfrm>
            <a:off x="571500" y="533400"/>
            <a:ext cx="11049000" cy="533400"/>
          </a:xfrm>
          <a:prstGeom prst="rect">
            <a:avLst/>
          </a:prstGeom>
          <a:noFill/>
        </p:spPr>
        <p:txBody>
          <a:bodyPr wrap="square" lIns="0" tIns="0" rIns="0" bIns="0" anchor="t">
            <a:spAutoFit/>
          </a:bodyPr>
          <a:lstStyle/>
          <a:p>
            <a:pPr algn="l"/>
            <a:r>
              <a:rPr sz="3100" b="1">
                <a:solidFill>
                  <a:srgbClr val="FFFFFF"/>
                </a:solidFill>
                <a:latin typeface="Century Gothic"/>
              </a:rPr>
              <a:t>What is in the cluster state</a:t>
            </a:r>
          </a:p>
        </p:txBody>
      </p:sp>
      <p:sp>
        <p:nvSpPr>
          <p:cNvPr id="7" name="anim|fade|0.45"/>
          <p:cNvSpPr txBox="1"/>
          <p:nvPr/>
        </p:nvSpPr>
        <p:spPr>
          <a:xfrm>
            <a:off x="571500" y="1028700"/>
            <a:ext cx="11049000" cy="247650"/>
          </a:xfrm>
          <a:prstGeom prst="rect">
            <a:avLst/>
          </a:prstGeom>
          <a:noFill/>
        </p:spPr>
        <p:txBody>
          <a:bodyPr wrap="square" lIns="0" tIns="0" rIns="0" bIns="0" anchor="t">
            <a:spAutoFit/>
          </a:bodyPr>
          <a:lstStyle/>
          <a:p>
            <a:pPr algn="l"/>
            <a:r>
              <a:rPr sz="1500" b="0">
                <a:solidFill>
                  <a:srgbClr val="B0C0D9"/>
                </a:solidFill>
                <a:latin typeface="Segoe UI"/>
              </a:rPr>
              <a:t>What gets backed up, and what does not</a:t>
            </a:r>
          </a:p>
        </p:txBody>
      </p:sp>
      <p:sp>
        <p:nvSpPr>
          <p:cNvPr id="8" name="TextBox 7"/>
          <p:cNvSpPr txBox="1"/>
          <p:nvPr/>
        </p:nvSpPr>
        <p:spPr>
          <a:xfrm>
            <a:off x="571500" y="6534150"/>
            <a:ext cx="6667500" cy="171450"/>
          </a:xfrm>
          <a:prstGeom prst="rect">
            <a:avLst/>
          </a:prstGeom>
          <a:noFill/>
        </p:spPr>
        <p:txBody>
          <a:bodyPr wrap="square" lIns="0" tIns="0" rIns="0" bIns="0" anchor="t">
            <a:spAutoFit/>
          </a:bodyPr>
          <a:lstStyle/>
          <a:p>
            <a:pPr algn="l"/>
            <a:r>
              <a:rPr sz="950" b="0">
                <a:solidFill>
                  <a:srgbClr val="B0C0D9"/>
                </a:solidFill>
                <a:latin typeface="Segoe UI"/>
              </a:rPr>
              <a:t>AKS Backup &amp; Restore  |  BFH AKS IHUB Platform Team</a:t>
            </a:r>
          </a:p>
        </p:txBody>
      </p:sp>
      <p:sp>
        <p:nvSpPr>
          <p:cNvPr id="9" name="TextBox 8"/>
          <p:cNvSpPr txBox="1"/>
          <p:nvPr/>
        </p:nvSpPr>
        <p:spPr>
          <a:xfrm>
            <a:off x="10668000" y="6534150"/>
            <a:ext cx="952500" cy="171450"/>
          </a:xfrm>
          <a:prstGeom prst="rect">
            <a:avLst/>
          </a:prstGeom>
          <a:noFill/>
        </p:spPr>
        <p:txBody>
          <a:bodyPr wrap="square" lIns="0" tIns="0" rIns="0" bIns="0" anchor="t">
            <a:spAutoFit/>
          </a:bodyPr>
          <a:lstStyle/>
          <a:p>
            <a:pPr algn="r"/>
            <a:r>
              <a:rPr sz="1000" b="1">
                <a:solidFill>
                  <a:srgbClr val="FFB938"/>
                </a:solidFill>
                <a:latin typeface="Century Gothic"/>
              </a:rPr>
              <a:t>3</a:t>
            </a:r>
          </a:p>
        </p:txBody>
      </p:sp>
      <p:grpSp>
        <p:nvGrpSpPr>
          <p:cNvPr id="10" name="anim|rise|0.55"/>
          <p:cNvGrpSpPr/>
          <p:nvPr/>
        </p:nvGrpSpPr>
        <p:grpSpPr>
          <a:xfrm>
            <a:off x="571500" y="1485900"/>
            <a:ext cx="5448300" cy="2114550"/>
            <a:chOff x="571500" y="1485900"/>
            <a:chExt cx="5448300" cy="2114550"/>
          </a:xfrm>
        </p:grpSpPr>
        <p:sp>
          <p:nvSpPr>
            <p:cNvPr id="11" name="Rounded Rectangle 10"/>
            <p:cNvSpPr/>
            <p:nvPr/>
          </p:nvSpPr>
          <p:spPr>
            <a:xfrm>
              <a:off x="571500" y="1485900"/>
              <a:ext cx="5448300" cy="2114550"/>
            </a:xfrm>
            <a:prstGeom prst="roundRect">
              <a:avLst>
                <a:gd name="adj" fmla="val 8108"/>
              </a:avLst>
            </a:prstGeom>
            <a:solidFill>
              <a:srgbClr val="1E3A68"/>
            </a:solidFill>
            <a:ln>
              <a:noFill/>
            </a:ln>
          </p:spPr>
          <p:txBody>
            <a:bodyPr rtlCol="0" anchor="ctr"/>
            <a:lstStyle/>
            <a:p>
              <a:pPr algn="ctr"/>
              <a:endParaRPr/>
            </a:p>
          </p:txBody>
        </p:sp>
        <p:sp>
          <p:nvSpPr>
            <p:cNvPr id="12" name="Oval 11"/>
            <p:cNvSpPr/>
            <p:nvPr/>
          </p:nvSpPr>
          <p:spPr>
            <a:xfrm>
              <a:off x="819150" y="1733550"/>
              <a:ext cx="609600" cy="609600"/>
            </a:xfrm>
            <a:prstGeom prst="ellipse">
              <a:avLst/>
            </a:prstGeom>
            <a:solidFill>
              <a:srgbClr val="14284B"/>
            </a:solidFill>
            <a:ln>
              <a:noFill/>
            </a:ln>
          </p:spPr>
          <p:txBody>
            <a:bodyPr rtlCol="0" anchor="ctr"/>
            <a:lstStyle/>
            <a:p>
              <a:pPr algn="ctr"/>
              <a:endParaRPr/>
            </a:p>
          </p:txBody>
        </p:sp>
        <p:pic>
          <p:nvPicPr>
            <p:cNvPr id="13" name="Picture 12" descr="cube_teal.png"/>
            <p:cNvPicPr>
              <a:picLocks noChangeAspect="1"/>
            </p:cNvPicPr>
            <p:nvPr/>
          </p:nvPicPr>
          <p:blipFill>
            <a:blip r:embed="rId2"/>
            <a:stretch>
              <a:fillRect/>
            </a:stretch>
          </p:blipFill>
          <p:spPr>
            <a:xfrm>
              <a:off x="959358" y="1873758"/>
              <a:ext cx="329184" cy="329184"/>
            </a:xfrm>
            <a:prstGeom prst="rect">
              <a:avLst/>
            </a:prstGeom>
          </p:spPr>
        </p:pic>
        <p:sp>
          <p:nvSpPr>
            <p:cNvPr id="14" name="TextBox 13"/>
            <p:cNvSpPr txBox="1"/>
            <p:nvPr/>
          </p:nvSpPr>
          <p:spPr>
            <a:xfrm>
              <a:off x="1638300" y="1771650"/>
              <a:ext cx="4114800" cy="266700"/>
            </a:xfrm>
            <a:prstGeom prst="rect">
              <a:avLst/>
            </a:prstGeom>
            <a:noFill/>
          </p:spPr>
          <p:txBody>
            <a:bodyPr wrap="square" lIns="0" tIns="0" rIns="0" bIns="0" anchor="t">
              <a:spAutoFit/>
            </a:bodyPr>
            <a:lstStyle/>
            <a:p>
              <a:pPr algn="l"/>
              <a:r>
                <a:rPr sz="1900" b="1">
                  <a:solidFill>
                    <a:srgbClr val="FFFFFF"/>
                  </a:solidFill>
                  <a:latin typeface="Century Gothic"/>
                </a:rPr>
                <a:t>Workloads</a:t>
              </a:r>
            </a:p>
          </p:txBody>
        </p:sp>
        <p:sp>
          <p:nvSpPr>
            <p:cNvPr id="15" name="TextBox 14"/>
            <p:cNvSpPr txBox="1"/>
            <p:nvPr/>
          </p:nvSpPr>
          <p:spPr>
            <a:xfrm>
              <a:off x="1638300" y="2133600"/>
              <a:ext cx="4114800" cy="1352550"/>
            </a:xfrm>
            <a:prstGeom prst="rect">
              <a:avLst/>
            </a:prstGeom>
            <a:noFill/>
          </p:spPr>
          <p:txBody>
            <a:bodyPr wrap="square" lIns="0" tIns="0" rIns="0" bIns="0" anchor="t">
              <a:spAutoFit/>
            </a:bodyPr>
            <a:lstStyle/>
            <a:p>
              <a:pPr algn="l"/>
              <a:r>
                <a:rPr sz="1550" b="0">
                  <a:solidFill>
                    <a:srgbClr val="B0C0D9"/>
                  </a:solidFill>
                  <a:latin typeface="Segoe UI"/>
                </a:rPr>
                <a:t>Deployments, StatefulSets, DaemonSets, Jobs and CronJobs, with their replica counts and settings.</a:t>
              </a:r>
            </a:p>
          </p:txBody>
        </p:sp>
      </p:grpSp>
      <p:grpSp>
        <p:nvGrpSpPr>
          <p:cNvPr id="16" name="anim|rise|0.71"/>
          <p:cNvGrpSpPr/>
          <p:nvPr/>
        </p:nvGrpSpPr>
        <p:grpSpPr>
          <a:xfrm>
            <a:off x="6172200" y="1485900"/>
            <a:ext cx="5448300" cy="2114550"/>
            <a:chOff x="6172200" y="1485900"/>
            <a:chExt cx="5448300" cy="2114550"/>
          </a:xfrm>
        </p:grpSpPr>
        <p:sp>
          <p:nvSpPr>
            <p:cNvPr id="17" name="Rounded Rectangle 16"/>
            <p:cNvSpPr/>
            <p:nvPr/>
          </p:nvSpPr>
          <p:spPr>
            <a:xfrm>
              <a:off x="6172200" y="1485900"/>
              <a:ext cx="5448300" cy="2114550"/>
            </a:xfrm>
            <a:prstGeom prst="roundRect">
              <a:avLst>
                <a:gd name="adj" fmla="val 8108"/>
              </a:avLst>
            </a:prstGeom>
            <a:solidFill>
              <a:srgbClr val="1E3A68"/>
            </a:solidFill>
            <a:ln>
              <a:noFill/>
            </a:ln>
          </p:spPr>
          <p:txBody>
            <a:bodyPr rtlCol="0" anchor="ctr"/>
            <a:lstStyle/>
            <a:p>
              <a:pPr algn="ctr"/>
              <a:endParaRPr/>
            </a:p>
          </p:txBody>
        </p:sp>
        <p:sp>
          <p:nvSpPr>
            <p:cNvPr id="18" name="Oval 17"/>
            <p:cNvSpPr/>
            <p:nvPr/>
          </p:nvSpPr>
          <p:spPr>
            <a:xfrm>
              <a:off x="6419850" y="1733550"/>
              <a:ext cx="609600" cy="609600"/>
            </a:xfrm>
            <a:prstGeom prst="ellipse">
              <a:avLst/>
            </a:prstGeom>
            <a:solidFill>
              <a:srgbClr val="14284B"/>
            </a:solidFill>
            <a:ln>
              <a:noFill/>
            </a:ln>
          </p:spPr>
          <p:txBody>
            <a:bodyPr rtlCol="0" anchor="ctr"/>
            <a:lstStyle/>
            <a:p>
              <a:pPr algn="ctr"/>
              <a:endParaRPr/>
            </a:p>
          </p:txBody>
        </p:sp>
        <p:pic>
          <p:nvPicPr>
            <p:cNvPr id="19" name="Picture 18" descr="sliders_teal.png"/>
            <p:cNvPicPr>
              <a:picLocks noChangeAspect="1"/>
            </p:cNvPicPr>
            <p:nvPr/>
          </p:nvPicPr>
          <p:blipFill>
            <a:blip r:embed="rId3"/>
            <a:stretch>
              <a:fillRect/>
            </a:stretch>
          </p:blipFill>
          <p:spPr>
            <a:xfrm>
              <a:off x="6560058" y="1873758"/>
              <a:ext cx="329184" cy="329184"/>
            </a:xfrm>
            <a:prstGeom prst="rect">
              <a:avLst/>
            </a:prstGeom>
          </p:spPr>
        </p:pic>
        <p:sp>
          <p:nvSpPr>
            <p:cNvPr id="20" name="TextBox 19"/>
            <p:cNvSpPr txBox="1"/>
            <p:nvPr/>
          </p:nvSpPr>
          <p:spPr>
            <a:xfrm>
              <a:off x="7239000" y="1771650"/>
              <a:ext cx="4114800" cy="266700"/>
            </a:xfrm>
            <a:prstGeom prst="rect">
              <a:avLst/>
            </a:prstGeom>
            <a:noFill/>
          </p:spPr>
          <p:txBody>
            <a:bodyPr wrap="square" lIns="0" tIns="0" rIns="0" bIns="0" anchor="t">
              <a:spAutoFit/>
            </a:bodyPr>
            <a:lstStyle/>
            <a:p>
              <a:pPr algn="l"/>
              <a:r>
                <a:rPr sz="1900" b="1">
                  <a:solidFill>
                    <a:srgbClr val="FFFFFF"/>
                  </a:solidFill>
                  <a:latin typeface="Century Gothic"/>
                </a:rPr>
                <a:t>Configuration</a:t>
              </a:r>
            </a:p>
          </p:txBody>
        </p:sp>
        <p:sp>
          <p:nvSpPr>
            <p:cNvPr id="21" name="TextBox 20"/>
            <p:cNvSpPr txBox="1"/>
            <p:nvPr/>
          </p:nvSpPr>
          <p:spPr>
            <a:xfrm>
              <a:off x="7239000" y="2133600"/>
              <a:ext cx="4114800" cy="1352550"/>
            </a:xfrm>
            <a:prstGeom prst="rect">
              <a:avLst/>
            </a:prstGeom>
            <a:noFill/>
          </p:spPr>
          <p:txBody>
            <a:bodyPr wrap="square" lIns="0" tIns="0" rIns="0" bIns="0" anchor="t">
              <a:spAutoFit/>
            </a:bodyPr>
            <a:lstStyle/>
            <a:p>
              <a:pPr algn="l"/>
              <a:r>
                <a:rPr sz="1550" b="0">
                  <a:solidFill>
                    <a:srgbClr val="B0C0D9"/>
                  </a:solidFill>
                  <a:latin typeface="Segoe UI"/>
                </a:rPr>
                <a:t>ConfigMaps, Secrets, Services and Ingress, together with the namespaces they live in.</a:t>
              </a:r>
            </a:p>
          </p:txBody>
        </p:sp>
      </p:grpSp>
      <p:grpSp>
        <p:nvGrpSpPr>
          <p:cNvPr id="22" name="anim|rise|0.87"/>
          <p:cNvGrpSpPr/>
          <p:nvPr/>
        </p:nvGrpSpPr>
        <p:grpSpPr>
          <a:xfrm>
            <a:off x="571500" y="3752850"/>
            <a:ext cx="5448300" cy="2114550"/>
            <a:chOff x="571500" y="3752850"/>
            <a:chExt cx="5448300" cy="2114550"/>
          </a:xfrm>
        </p:grpSpPr>
        <p:sp>
          <p:nvSpPr>
            <p:cNvPr id="23" name="Rounded Rectangle 22"/>
            <p:cNvSpPr/>
            <p:nvPr/>
          </p:nvSpPr>
          <p:spPr>
            <a:xfrm>
              <a:off x="571500" y="3752850"/>
              <a:ext cx="5448300" cy="2114550"/>
            </a:xfrm>
            <a:prstGeom prst="roundRect">
              <a:avLst>
                <a:gd name="adj" fmla="val 8108"/>
              </a:avLst>
            </a:prstGeom>
            <a:solidFill>
              <a:srgbClr val="1E3A68"/>
            </a:solidFill>
            <a:ln>
              <a:noFill/>
            </a:ln>
          </p:spPr>
          <p:txBody>
            <a:bodyPr rtlCol="0" anchor="ctr"/>
            <a:lstStyle/>
            <a:p>
              <a:pPr algn="ctr"/>
              <a:endParaRPr/>
            </a:p>
          </p:txBody>
        </p:sp>
        <p:sp>
          <p:nvSpPr>
            <p:cNvPr id="24" name="Oval 23"/>
            <p:cNvSpPr/>
            <p:nvPr/>
          </p:nvSpPr>
          <p:spPr>
            <a:xfrm>
              <a:off x="819150" y="4000500"/>
              <a:ext cx="609600" cy="609600"/>
            </a:xfrm>
            <a:prstGeom prst="ellipse">
              <a:avLst/>
            </a:prstGeom>
            <a:solidFill>
              <a:srgbClr val="14284B"/>
            </a:solidFill>
            <a:ln>
              <a:noFill/>
            </a:ln>
          </p:spPr>
          <p:txBody>
            <a:bodyPr rtlCol="0" anchor="ctr"/>
            <a:lstStyle/>
            <a:p>
              <a:pPr algn="ctr"/>
              <a:endParaRPr/>
            </a:p>
          </p:txBody>
        </p:sp>
        <p:pic>
          <p:nvPicPr>
            <p:cNvPr id="25" name="Picture 24" descr="key_teal.png"/>
            <p:cNvPicPr>
              <a:picLocks noChangeAspect="1"/>
            </p:cNvPicPr>
            <p:nvPr/>
          </p:nvPicPr>
          <p:blipFill>
            <a:blip r:embed="rId4"/>
            <a:stretch>
              <a:fillRect/>
            </a:stretch>
          </p:blipFill>
          <p:spPr>
            <a:xfrm>
              <a:off x="959358" y="4140708"/>
              <a:ext cx="329184" cy="329184"/>
            </a:xfrm>
            <a:prstGeom prst="rect">
              <a:avLst/>
            </a:prstGeom>
          </p:spPr>
        </p:pic>
        <p:sp>
          <p:nvSpPr>
            <p:cNvPr id="26" name="TextBox 25"/>
            <p:cNvSpPr txBox="1"/>
            <p:nvPr/>
          </p:nvSpPr>
          <p:spPr>
            <a:xfrm>
              <a:off x="1638300" y="4038600"/>
              <a:ext cx="4114800" cy="266700"/>
            </a:xfrm>
            <a:prstGeom prst="rect">
              <a:avLst/>
            </a:prstGeom>
            <a:noFill/>
          </p:spPr>
          <p:txBody>
            <a:bodyPr wrap="square" lIns="0" tIns="0" rIns="0" bIns="0" anchor="t">
              <a:spAutoFit/>
            </a:bodyPr>
            <a:lstStyle/>
            <a:p>
              <a:pPr algn="l"/>
              <a:r>
                <a:rPr sz="1900" b="1">
                  <a:solidFill>
                    <a:srgbClr val="FFFFFF"/>
                  </a:solidFill>
                  <a:latin typeface="Century Gothic"/>
                </a:rPr>
                <a:t>Access and custom resources</a:t>
              </a:r>
            </a:p>
          </p:txBody>
        </p:sp>
        <p:sp>
          <p:nvSpPr>
            <p:cNvPr id="27" name="TextBox 26"/>
            <p:cNvSpPr txBox="1"/>
            <p:nvPr/>
          </p:nvSpPr>
          <p:spPr>
            <a:xfrm>
              <a:off x="1638300" y="4400550"/>
              <a:ext cx="4114800" cy="1352550"/>
            </a:xfrm>
            <a:prstGeom prst="rect">
              <a:avLst/>
            </a:prstGeom>
            <a:noFill/>
          </p:spPr>
          <p:txBody>
            <a:bodyPr wrap="square" lIns="0" tIns="0" rIns="0" bIns="0" anchor="t">
              <a:spAutoFit/>
            </a:bodyPr>
            <a:lstStyle/>
            <a:p>
              <a:pPr algn="l"/>
              <a:r>
                <a:rPr sz="1550" b="0">
                  <a:solidFill>
                    <a:srgbClr val="B0C0D9"/>
                  </a:solidFill>
                  <a:latin typeface="Segoe UI"/>
                </a:rPr>
                <a:t>RBAC roles and bindings, service accounts, and custom resources with their definitions. Cluster-scoped resources are included.</a:t>
              </a:r>
            </a:p>
          </p:txBody>
        </p:sp>
      </p:grpSp>
      <p:grpSp>
        <p:nvGrpSpPr>
          <p:cNvPr id="28" name="anim|rise|1.03"/>
          <p:cNvGrpSpPr/>
          <p:nvPr/>
        </p:nvGrpSpPr>
        <p:grpSpPr>
          <a:xfrm>
            <a:off x="6172200" y="3752850"/>
            <a:ext cx="5448300" cy="2114550"/>
            <a:chOff x="6172200" y="3752850"/>
            <a:chExt cx="5448300" cy="2114550"/>
          </a:xfrm>
        </p:grpSpPr>
        <p:sp>
          <p:nvSpPr>
            <p:cNvPr id="29" name="Rounded Rectangle 28"/>
            <p:cNvSpPr/>
            <p:nvPr/>
          </p:nvSpPr>
          <p:spPr>
            <a:xfrm>
              <a:off x="6172200" y="3752850"/>
              <a:ext cx="5448300" cy="2114550"/>
            </a:xfrm>
            <a:prstGeom prst="roundRect">
              <a:avLst>
                <a:gd name="adj" fmla="val 8108"/>
              </a:avLst>
            </a:prstGeom>
            <a:solidFill>
              <a:srgbClr val="1E3A68"/>
            </a:solidFill>
            <a:ln w="19050">
              <a:solidFill>
                <a:srgbClr val="FFB938"/>
              </a:solidFill>
            </a:ln>
          </p:spPr>
          <p:txBody>
            <a:bodyPr rtlCol="0" anchor="ctr"/>
            <a:lstStyle/>
            <a:p>
              <a:pPr algn="ctr"/>
              <a:endParaRPr/>
            </a:p>
          </p:txBody>
        </p:sp>
        <p:sp>
          <p:nvSpPr>
            <p:cNvPr id="30" name="Oval 29"/>
            <p:cNvSpPr/>
            <p:nvPr/>
          </p:nvSpPr>
          <p:spPr>
            <a:xfrm>
              <a:off x="6419850" y="4000500"/>
              <a:ext cx="609600" cy="609600"/>
            </a:xfrm>
            <a:prstGeom prst="ellipse">
              <a:avLst/>
            </a:prstGeom>
            <a:solidFill>
              <a:srgbClr val="14284B"/>
            </a:solidFill>
            <a:ln>
              <a:noFill/>
            </a:ln>
          </p:spPr>
          <p:txBody>
            <a:bodyPr rtlCol="0" anchor="ctr"/>
            <a:lstStyle/>
            <a:p>
              <a:pPr algn="ctr"/>
              <a:endParaRPr/>
            </a:p>
          </p:txBody>
        </p:sp>
        <p:pic>
          <p:nvPicPr>
            <p:cNvPr id="31" name="Picture 30" descr="ban_amber.png"/>
            <p:cNvPicPr>
              <a:picLocks noChangeAspect="1"/>
            </p:cNvPicPr>
            <p:nvPr/>
          </p:nvPicPr>
          <p:blipFill>
            <a:blip r:embed="rId5"/>
            <a:stretch>
              <a:fillRect/>
            </a:stretch>
          </p:blipFill>
          <p:spPr>
            <a:xfrm>
              <a:off x="6560058" y="4140708"/>
              <a:ext cx="329184" cy="329184"/>
            </a:xfrm>
            <a:prstGeom prst="rect">
              <a:avLst/>
            </a:prstGeom>
          </p:spPr>
        </p:pic>
        <p:sp>
          <p:nvSpPr>
            <p:cNvPr id="32" name="TextBox 31"/>
            <p:cNvSpPr txBox="1"/>
            <p:nvPr/>
          </p:nvSpPr>
          <p:spPr>
            <a:xfrm>
              <a:off x="7239000" y="4038600"/>
              <a:ext cx="4114800" cy="266700"/>
            </a:xfrm>
            <a:prstGeom prst="rect">
              <a:avLst/>
            </a:prstGeom>
            <a:noFill/>
          </p:spPr>
          <p:txBody>
            <a:bodyPr wrap="square" lIns="0" tIns="0" rIns="0" bIns="0" anchor="t">
              <a:spAutoFit/>
            </a:bodyPr>
            <a:lstStyle/>
            <a:p>
              <a:pPr algn="l"/>
              <a:r>
                <a:rPr sz="1900" b="1">
                  <a:solidFill>
                    <a:srgbClr val="FFFFFF"/>
                  </a:solidFill>
                  <a:latin typeface="Century Gothic"/>
                </a:rPr>
                <a:t>Not included</a:t>
              </a:r>
            </a:p>
          </p:txBody>
        </p:sp>
        <p:sp>
          <p:nvSpPr>
            <p:cNvPr id="33" name="TextBox 32"/>
            <p:cNvSpPr txBox="1"/>
            <p:nvPr/>
          </p:nvSpPr>
          <p:spPr>
            <a:xfrm>
              <a:off x="7239000" y="4400550"/>
              <a:ext cx="4114800" cy="1352550"/>
            </a:xfrm>
            <a:prstGeom prst="rect">
              <a:avLst/>
            </a:prstGeom>
            <a:noFill/>
          </p:spPr>
          <p:txBody>
            <a:bodyPr wrap="square" lIns="0" tIns="0" rIns="0" bIns="0" anchor="t">
              <a:spAutoFit/>
            </a:bodyPr>
            <a:lstStyle/>
            <a:p>
              <a:pPr algn="l"/>
              <a:r>
                <a:rPr sz="1550" b="0">
                  <a:solidFill>
                    <a:srgbClr val="B0C0D9"/>
                  </a:solidFill>
                  <a:latin typeface="Segoe UI"/>
                </a:rPr>
                <a:t>Volume data (volume snapshots are off) and Azure resources outside the cluster. The Terraform pipelines rebuild those.</a:t>
              </a:r>
            </a:p>
          </p:txBody>
        </p:sp>
      </p:grpSp>
      <p:grpSp>
        <p:nvGrpSpPr>
          <p:cNvPr id="34" name="anim|rise|1.19"/>
          <p:cNvGrpSpPr/>
          <p:nvPr/>
        </p:nvGrpSpPr>
        <p:grpSpPr>
          <a:xfrm>
            <a:off x="571500" y="6019800"/>
            <a:ext cx="11049000" cy="381000"/>
            <a:chOff x="571500" y="6019800"/>
            <a:chExt cx="11049000" cy="381000"/>
          </a:xfrm>
        </p:grpSpPr>
        <p:sp>
          <p:nvSpPr>
            <p:cNvPr id="35" name="Rounded Rectangle 34"/>
            <p:cNvSpPr/>
            <p:nvPr/>
          </p:nvSpPr>
          <p:spPr>
            <a:xfrm>
              <a:off x="571500" y="6019800"/>
              <a:ext cx="11049000" cy="381000"/>
            </a:xfrm>
            <a:prstGeom prst="roundRect">
              <a:avLst>
                <a:gd name="adj" fmla="val 50000"/>
              </a:avLst>
            </a:prstGeom>
            <a:solidFill>
              <a:srgbClr val="1E3A68"/>
            </a:solidFill>
            <a:ln w="19050">
              <a:solidFill>
                <a:srgbClr val="2E5286"/>
              </a:solidFill>
            </a:ln>
          </p:spPr>
          <p:txBody>
            <a:bodyPr rtlCol="0" anchor="ctr"/>
            <a:lstStyle/>
            <a:p>
              <a:pPr algn="ctr"/>
              <a:endParaRPr/>
            </a:p>
          </p:txBody>
        </p:sp>
        <p:pic>
          <p:nvPicPr>
            <p:cNvPr id="36" name="Picture 35" descr="info_teal.png"/>
            <p:cNvPicPr>
              <a:picLocks noChangeAspect="1"/>
            </p:cNvPicPr>
            <p:nvPr/>
          </p:nvPicPr>
          <p:blipFill>
            <a:blip r:embed="rId6"/>
            <a:stretch>
              <a:fillRect/>
            </a:stretch>
          </p:blipFill>
          <p:spPr>
            <a:xfrm>
              <a:off x="781050" y="6067425"/>
              <a:ext cx="285750" cy="285750"/>
            </a:xfrm>
            <a:prstGeom prst="rect">
              <a:avLst/>
            </a:prstGeom>
          </p:spPr>
        </p:pic>
        <p:sp>
          <p:nvSpPr>
            <p:cNvPr id="37" name="TextBox 36"/>
            <p:cNvSpPr txBox="1"/>
            <p:nvPr/>
          </p:nvSpPr>
          <p:spPr>
            <a:xfrm>
              <a:off x="1200150" y="6019800"/>
              <a:ext cx="10191750" cy="381000"/>
            </a:xfrm>
            <a:prstGeom prst="rect">
              <a:avLst/>
            </a:prstGeom>
            <a:noFill/>
          </p:spPr>
          <p:txBody>
            <a:bodyPr wrap="square" lIns="0" tIns="0" rIns="0" bIns="0" anchor="ctr">
              <a:spAutoFit/>
            </a:bodyPr>
            <a:lstStyle/>
            <a:p>
              <a:pPr algn="l"/>
              <a:r>
                <a:rPr sz="1350" b="0">
                  <a:solidFill>
                    <a:srgbClr val="FFFFFF"/>
                  </a:solidFill>
                  <a:latin typeface="Segoe UI"/>
                </a:rPr>
                <a:t>Our setup: full cluster backup, nothing excluded, cluster-scoped resources on (backup.tf).</a:t>
              </a:r>
            </a:p>
          </p:txBody>
        </p:sp>
      </p:grpSp>
    </p:spTree>
  </p:cSld>
  <p:clrMapOvr>
    <a:masterClrMapping/>
  </p:clrMapOvr>
  <mc:AlternateContent xmlns:mc="http://schemas.openxmlformats.org/markup-compatibility/2006">
    <mc:Choice xmlns:p14="http://schemas.microsoft.com/office/powerpoint/2010/main" Requires="p14">
      <p:transition spd="slow" p14:dur="800">
        <p:fad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5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50"/>
                                        <p:tgtEl>
                                          <p:spTgt spid="3"/>
                                        </p:tgtEl>
                                      </p:cBhvr>
                                    </p:animEffect>
                                  </p:childTnLst>
                                </p:cTn>
                              </p:par>
                              <p:par>
                                <p:cTn id="8" presetID="22" presetClass="entr" presetSubtype="8" fill="hold" grpId="0" nodeType="withEffect">
                                  <p:stCondLst>
                                    <p:cond delay="100"/>
                                  </p:stCondLst>
                                  <p:childTnLst>
                                    <p:set>
                                      <p:cBhvr>
                                        <p:cTn id="9" dur="1" fill="hold">
                                          <p:stCondLst>
                                            <p:cond delay="0"/>
                                          </p:stCondLst>
                                        </p:cTn>
                                        <p:tgtEl>
                                          <p:spTgt spid="6"/>
                                        </p:tgtEl>
                                        <p:attrNameLst>
                                          <p:attrName>style.visibility</p:attrName>
                                        </p:attrNameLst>
                                      </p:cBhvr>
                                      <p:to>
                                        <p:strVal val="visible"/>
                                      </p:to>
                                    </p:set>
                                    <p:animEffect transition="in" filter="wipe(left)">
                                      <p:cBhvr>
                                        <p:cTn id="10" dur="700"/>
                                        <p:tgtEl>
                                          <p:spTgt spid="6"/>
                                        </p:tgtEl>
                                      </p:cBhvr>
                                    </p:animEffect>
                                  </p:childTnLst>
                                </p:cTn>
                              </p:par>
                              <p:par>
                                <p:cTn id="11" presetID="10" presetClass="entr" presetSubtype="0" fill="hold" grpId="0" nodeType="withEffect">
                                  <p:stCondLst>
                                    <p:cond delay="45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50"/>
                                        <p:tgtEl>
                                          <p:spTgt spid="7"/>
                                        </p:tgtEl>
                                      </p:cBhvr>
                                    </p:animEffect>
                                  </p:childTnLst>
                                </p:cTn>
                              </p:par>
                              <p:par>
                                <p:cTn id="14" presetID="37" presetClass="entr" presetSubtype="0" fill="hold" nodeType="withEffect">
                                  <p:stCondLst>
                                    <p:cond delay="55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50"/>
                                        <p:tgtEl>
                                          <p:spTgt spid="10"/>
                                        </p:tgtEl>
                                      </p:cBhvr>
                                    </p:animEffect>
                                    <p:anim calcmode="lin" valueType="num">
                                      <p:cBhvr>
                                        <p:cTn id="17" dur="550" fill="hold"/>
                                        <p:tgtEl>
                                          <p:spTgt spid="10"/>
                                        </p:tgtEl>
                                        <p:attrNameLst>
                                          <p:attrName>ppt_x</p:attrName>
                                        </p:attrNameLst>
                                      </p:cBhvr>
                                      <p:tavLst>
                                        <p:tav tm="0">
                                          <p:val>
                                            <p:strVal val="#ppt_x"/>
                                          </p:val>
                                        </p:tav>
                                        <p:tav tm="100000">
                                          <p:val>
                                            <p:strVal val="#ppt_x"/>
                                          </p:val>
                                        </p:tav>
                                      </p:tavLst>
                                    </p:anim>
                                    <p:anim calcmode="lin" valueType="num">
                                      <p:cBhvr>
                                        <p:cTn id="18" dur="495" decel="100000" fill="hold"/>
                                        <p:tgtEl>
                                          <p:spTgt spid="10"/>
                                        </p:tgtEl>
                                        <p:attrNameLst>
                                          <p:attrName>ppt_y</p:attrName>
                                        </p:attrNameLst>
                                      </p:cBhvr>
                                      <p:tavLst>
                                        <p:tav tm="0">
                                          <p:val>
                                            <p:strVal val="#ppt_y+1"/>
                                          </p:val>
                                        </p:tav>
                                        <p:tav tm="100000">
                                          <p:val>
                                            <p:strVal val="#ppt_y-.03"/>
                                          </p:val>
                                        </p:tav>
                                      </p:tavLst>
                                    </p:anim>
                                    <p:anim calcmode="lin" valueType="num">
                                      <p:cBhvr>
                                        <p:cTn id="19" dur="55" accel="100000" fill="hold">
                                          <p:stCondLst>
                                            <p:cond delay="495"/>
                                          </p:stCondLst>
                                        </p:cTn>
                                        <p:tgtEl>
                                          <p:spTgt spid="10"/>
                                        </p:tgtEl>
                                        <p:attrNameLst>
                                          <p:attrName>ppt_y</p:attrName>
                                        </p:attrNameLst>
                                      </p:cBhvr>
                                      <p:tavLst>
                                        <p:tav tm="0">
                                          <p:val>
                                            <p:strVal val="#ppt_y-.03"/>
                                          </p:val>
                                        </p:tav>
                                        <p:tav tm="100000">
                                          <p:val>
                                            <p:strVal val="#ppt_y"/>
                                          </p:val>
                                        </p:tav>
                                      </p:tavLst>
                                    </p:anim>
                                  </p:childTnLst>
                                </p:cTn>
                              </p:par>
                              <p:par>
                                <p:cTn id="20" presetID="37" presetClass="entr" presetSubtype="0" fill="hold" nodeType="withEffect">
                                  <p:stCondLst>
                                    <p:cond delay="71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550"/>
                                        <p:tgtEl>
                                          <p:spTgt spid="16"/>
                                        </p:tgtEl>
                                      </p:cBhvr>
                                    </p:animEffect>
                                    <p:anim calcmode="lin" valueType="num">
                                      <p:cBhvr>
                                        <p:cTn id="23" dur="550" fill="hold"/>
                                        <p:tgtEl>
                                          <p:spTgt spid="16"/>
                                        </p:tgtEl>
                                        <p:attrNameLst>
                                          <p:attrName>ppt_x</p:attrName>
                                        </p:attrNameLst>
                                      </p:cBhvr>
                                      <p:tavLst>
                                        <p:tav tm="0">
                                          <p:val>
                                            <p:strVal val="#ppt_x"/>
                                          </p:val>
                                        </p:tav>
                                        <p:tav tm="100000">
                                          <p:val>
                                            <p:strVal val="#ppt_x"/>
                                          </p:val>
                                        </p:tav>
                                      </p:tavLst>
                                    </p:anim>
                                    <p:anim calcmode="lin" valueType="num">
                                      <p:cBhvr>
                                        <p:cTn id="24" dur="495" decel="100000" fill="hold"/>
                                        <p:tgtEl>
                                          <p:spTgt spid="16"/>
                                        </p:tgtEl>
                                        <p:attrNameLst>
                                          <p:attrName>ppt_y</p:attrName>
                                        </p:attrNameLst>
                                      </p:cBhvr>
                                      <p:tavLst>
                                        <p:tav tm="0">
                                          <p:val>
                                            <p:strVal val="#ppt_y+1"/>
                                          </p:val>
                                        </p:tav>
                                        <p:tav tm="100000">
                                          <p:val>
                                            <p:strVal val="#ppt_y-.03"/>
                                          </p:val>
                                        </p:tav>
                                      </p:tavLst>
                                    </p:anim>
                                    <p:anim calcmode="lin" valueType="num">
                                      <p:cBhvr>
                                        <p:cTn id="25" dur="55" accel="100000" fill="hold">
                                          <p:stCondLst>
                                            <p:cond delay="495"/>
                                          </p:stCondLst>
                                        </p:cTn>
                                        <p:tgtEl>
                                          <p:spTgt spid="16"/>
                                        </p:tgtEl>
                                        <p:attrNameLst>
                                          <p:attrName>ppt_y</p:attrName>
                                        </p:attrNameLst>
                                      </p:cBhvr>
                                      <p:tavLst>
                                        <p:tav tm="0">
                                          <p:val>
                                            <p:strVal val="#ppt_y-.03"/>
                                          </p:val>
                                        </p:tav>
                                        <p:tav tm="100000">
                                          <p:val>
                                            <p:strVal val="#ppt_y"/>
                                          </p:val>
                                        </p:tav>
                                      </p:tavLst>
                                    </p:anim>
                                  </p:childTnLst>
                                </p:cTn>
                              </p:par>
                              <p:par>
                                <p:cTn id="26" presetID="37" presetClass="entr" presetSubtype="0" fill="hold" nodeType="withEffect">
                                  <p:stCondLst>
                                    <p:cond delay="870"/>
                                  </p:stCondLst>
                                  <p:childTnLst>
                                    <p:set>
                                      <p:cBhvr>
                                        <p:cTn id="27" dur="1" fill="hold">
                                          <p:stCondLst>
                                            <p:cond delay="0"/>
                                          </p:stCondLst>
                                        </p:cTn>
                                        <p:tgtEl>
                                          <p:spTgt spid="22"/>
                                        </p:tgtEl>
                                        <p:attrNameLst>
                                          <p:attrName>style.visibility</p:attrName>
                                        </p:attrNameLst>
                                      </p:cBhvr>
                                      <p:to>
                                        <p:strVal val="visible"/>
                                      </p:to>
                                    </p:set>
                                    <p:animEffect transition="in" filter="fade">
                                      <p:cBhvr>
                                        <p:cTn id="28" dur="550"/>
                                        <p:tgtEl>
                                          <p:spTgt spid="22"/>
                                        </p:tgtEl>
                                      </p:cBhvr>
                                    </p:animEffect>
                                    <p:anim calcmode="lin" valueType="num">
                                      <p:cBhvr>
                                        <p:cTn id="29" dur="550" fill="hold"/>
                                        <p:tgtEl>
                                          <p:spTgt spid="22"/>
                                        </p:tgtEl>
                                        <p:attrNameLst>
                                          <p:attrName>ppt_x</p:attrName>
                                        </p:attrNameLst>
                                      </p:cBhvr>
                                      <p:tavLst>
                                        <p:tav tm="0">
                                          <p:val>
                                            <p:strVal val="#ppt_x"/>
                                          </p:val>
                                        </p:tav>
                                        <p:tav tm="100000">
                                          <p:val>
                                            <p:strVal val="#ppt_x"/>
                                          </p:val>
                                        </p:tav>
                                      </p:tavLst>
                                    </p:anim>
                                    <p:anim calcmode="lin" valueType="num">
                                      <p:cBhvr>
                                        <p:cTn id="30" dur="495" decel="100000" fill="hold"/>
                                        <p:tgtEl>
                                          <p:spTgt spid="22"/>
                                        </p:tgtEl>
                                        <p:attrNameLst>
                                          <p:attrName>ppt_y</p:attrName>
                                        </p:attrNameLst>
                                      </p:cBhvr>
                                      <p:tavLst>
                                        <p:tav tm="0">
                                          <p:val>
                                            <p:strVal val="#ppt_y+1"/>
                                          </p:val>
                                        </p:tav>
                                        <p:tav tm="100000">
                                          <p:val>
                                            <p:strVal val="#ppt_y-.03"/>
                                          </p:val>
                                        </p:tav>
                                      </p:tavLst>
                                    </p:anim>
                                    <p:anim calcmode="lin" valueType="num">
                                      <p:cBhvr>
                                        <p:cTn id="31" dur="55" accel="100000" fill="hold">
                                          <p:stCondLst>
                                            <p:cond delay="495"/>
                                          </p:stCondLst>
                                        </p:cTn>
                                        <p:tgtEl>
                                          <p:spTgt spid="22"/>
                                        </p:tgtEl>
                                        <p:attrNameLst>
                                          <p:attrName>ppt_y</p:attrName>
                                        </p:attrNameLst>
                                      </p:cBhvr>
                                      <p:tavLst>
                                        <p:tav tm="0">
                                          <p:val>
                                            <p:strVal val="#ppt_y-.03"/>
                                          </p:val>
                                        </p:tav>
                                        <p:tav tm="100000">
                                          <p:val>
                                            <p:strVal val="#ppt_y"/>
                                          </p:val>
                                        </p:tav>
                                      </p:tavLst>
                                    </p:anim>
                                  </p:childTnLst>
                                </p:cTn>
                              </p:par>
                              <p:par>
                                <p:cTn id="32" presetID="37" presetClass="entr" presetSubtype="0" fill="hold" nodeType="withEffect">
                                  <p:stCondLst>
                                    <p:cond delay="1030"/>
                                  </p:stCondLst>
                                  <p:childTnLst>
                                    <p:set>
                                      <p:cBhvr>
                                        <p:cTn id="33" dur="1" fill="hold">
                                          <p:stCondLst>
                                            <p:cond delay="0"/>
                                          </p:stCondLst>
                                        </p:cTn>
                                        <p:tgtEl>
                                          <p:spTgt spid="28"/>
                                        </p:tgtEl>
                                        <p:attrNameLst>
                                          <p:attrName>style.visibility</p:attrName>
                                        </p:attrNameLst>
                                      </p:cBhvr>
                                      <p:to>
                                        <p:strVal val="visible"/>
                                      </p:to>
                                    </p:set>
                                    <p:animEffect transition="in" filter="fade">
                                      <p:cBhvr>
                                        <p:cTn id="34" dur="550"/>
                                        <p:tgtEl>
                                          <p:spTgt spid="28"/>
                                        </p:tgtEl>
                                      </p:cBhvr>
                                    </p:animEffect>
                                    <p:anim calcmode="lin" valueType="num">
                                      <p:cBhvr>
                                        <p:cTn id="35" dur="550" fill="hold"/>
                                        <p:tgtEl>
                                          <p:spTgt spid="28"/>
                                        </p:tgtEl>
                                        <p:attrNameLst>
                                          <p:attrName>ppt_x</p:attrName>
                                        </p:attrNameLst>
                                      </p:cBhvr>
                                      <p:tavLst>
                                        <p:tav tm="0">
                                          <p:val>
                                            <p:strVal val="#ppt_x"/>
                                          </p:val>
                                        </p:tav>
                                        <p:tav tm="100000">
                                          <p:val>
                                            <p:strVal val="#ppt_x"/>
                                          </p:val>
                                        </p:tav>
                                      </p:tavLst>
                                    </p:anim>
                                    <p:anim calcmode="lin" valueType="num">
                                      <p:cBhvr>
                                        <p:cTn id="36" dur="495" decel="100000" fill="hold"/>
                                        <p:tgtEl>
                                          <p:spTgt spid="28"/>
                                        </p:tgtEl>
                                        <p:attrNameLst>
                                          <p:attrName>ppt_y</p:attrName>
                                        </p:attrNameLst>
                                      </p:cBhvr>
                                      <p:tavLst>
                                        <p:tav tm="0">
                                          <p:val>
                                            <p:strVal val="#ppt_y+1"/>
                                          </p:val>
                                        </p:tav>
                                        <p:tav tm="100000">
                                          <p:val>
                                            <p:strVal val="#ppt_y-.03"/>
                                          </p:val>
                                        </p:tav>
                                      </p:tavLst>
                                    </p:anim>
                                    <p:anim calcmode="lin" valueType="num">
                                      <p:cBhvr>
                                        <p:cTn id="37" dur="55" accel="100000" fill="hold">
                                          <p:stCondLst>
                                            <p:cond delay="495"/>
                                          </p:stCondLst>
                                        </p:cTn>
                                        <p:tgtEl>
                                          <p:spTgt spid="28"/>
                                        </p:tgtEl>
                                        <p:attrNameLst>
                                          <p:attrName>ppt_y</p:attrName>
                                        </p:attrNameLst>
                                      </p:cBhvr>
                                      <p:tavLst>
                                        <p:tav tm="0">
                                          <p:val>
                                            <p:strVal val="#ppt_y-.03"/>
                                          </p:val>
                                        </p:tav>
                                        <p:tav tm="100000">
                                          <p:val>
                                            <p:strVal val="#ppt_y"/>
                                          </p:val>
                                        </p:tav>
                                      </p:tavLst>
                                    </p:anim>
                                  </p:childTnLst>
                                </p:cTn>
                              </p:par>
                              <p:par>
                                <p:cTn id="38" presetID="37" presetClass="entr" presetSubtype="0" fill="hold" nodeType="withEffect">
                                  <p:stCondLst>
                                    <p:cond delay="1190"/>
                                  </p:stCondLst>
                                  <p:childTnLst>
                                    <p:set>
                                      <p:cBhvr>
                                        <p:cTn id="39" dur="1" fill="hold">
                                          <p:stCondLst>
                                            <p:cond delay="0"/>
                                          </p:stCondLst>
                                        </p:cTn>
                                        <p:tgtEl>
                                          <p:spTgt spid="34"/>
                                        </p:tgtEl>
                                        <p:attrNameLst>
                                          <p:attrName>style.visibility</p:attrName>
                                        </p:attrNameLst>
                                      </p:cBhvr>
                                      <p:to>
                                        <p:strVal val="visible"/>
                                      </p:to>
                                    </p:set>
                                    <p:animEffect transition="in" filter="fade">
                                      <p:cBhvr>
                                        <p:cTn id="40" dur="550"/>
                                        <p:tgtEl>
                                          <p:spTgt spid="34"/>
                                        </p:tgtEl>
                                      </p:cBhvr>
                                    </p:animEffect>
                                    <p:anim calcmode="lin" valueType="num">
                                      <p:cBhvr>
                                        <p:cTn id="41" dur="550" fill="hold"/>
                                        <p:tgtEl>
                                          <p:spTgt spid="34"/>
                                        </p:tgtEl>
                                        <p:attrNameLst>
                                          <p:attrName>ppt_x</p:attrName>
                                        </p:attrNameLst>
                                      </p:cBhvr>
                                      <p:tavLst>
                                        <p:tav tm="0">
                                          <p:val>
                                            <p:strVal val="#ppt_x"/>
                                          </p:val>
                                        </p:tav>
                                        <p:tav tm="100000">
                                          <p:val>
                                            <p:strVal val="#ppt_x"/>
                                          </p:val>
                                        </p:tav>
                                      </p:tavLst>
                                    </p:anim>
                                    <p:anim calcmode="lin" valueType="num">
                                      <p:cBhvr>
                                        <p:cTn id="42" dur="495" decel="100000" fill="hold"/>
                                        <p:tgtEl>
                                          <p:spTgt spid="34"/>
                                        </p:tgtEl>
                                        <p:attrNameLst>
                                          <p:attrName>ppt_y</p:attrName>
                                        </p:attrNameLst>
                                      </p:cBhvr>
                                      <p:tavLst>
                                        <p:tav tm="0">
                                          <p:val>
                                            <p:strVal val="#ppt_y+1"/>
                                          </p:val>
                                        </p:tav>
                                        <p:tav tm="100000">
                                          <p:val>
                                            <p:strVal val="#ppt_y-.03"/>
                                          </p:val>
                                        </p:tav>
                                      </p:tavLst>
                                    </p:anim>
                                    <p:anim calcmode="lin" valueType="num">
                                      <p:cBhvr>
                                        <p:cTn id="43" dur="55" accel="100000" fill="hold">
                                          <p:stCondLst>
                                            <p:cond delay="495"/>
                                          </p:stCondLst>
                                        </p:cTn>
                                        <p:tgtEl>
                                          <p:spTgt spid="34"/>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4284B"/>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57150"/>
          </a:xfrm>
          <a:prstGeom prst="rect">
            <a:avLst/>
          </a:prstGeom>
          <a:solidFill>
            <a:srgbClr val="59BEC9"/>
          </a:solidFill>
          <a:ln>
            <a:noFill/>
          </a:ln>
        </p:spPr>
        <p:txBody>
          <a:bodyPr rtlCol="0" anchor="ctr"/>
          <a:lstStyle/>
          <a:p>
            <a:pPr algn="ctr"/>
            <a:endParaRPr/>
          </a:p>
        </p:txBody>
      </p:sp>
      <p:grpSp>
        <p:nvGrpSpPr>
          <p:cNvPr id="3" name="anim|fade|0.05"/>
          <p:cNvGrpSpPr/>
          <p:nvPr/>
        </p:nvGrpSpPr>
        <p:grpSpPr>
          <a:xfrm>
            <a:off x="571500" y="266700"/>
            <a:ext cx="7105650" cy="190500"/>
            <a:chOff x="571500" y="266700"/>
            <a:chExt cx="7105650" cy="190500"/>
          </a:xfrm>
        </p:grpSpPr>
        <p:sp>
          <p:nvSpPr>
            <p:cNvPr id="4" name="Rectangle 3"/>
            <p:cNvSpPr/>
            <p:nvPr/>
          </p:nvSpPr>
          <p:spPr>
            <a:xfrm>
              <a:off x="571500" y="342900"/>
              <a:ext cx="342900" cy="47625"/>
            </a:xfrm>
            <a:prstGeom prst="rect">
              <a:avLst/>
            </a:prstGeom>
            <a:solidFill>
              <a:srgbClr val="FFB938"/>
            </a:solidFill>
            <a:ln>
              <a:noFill/>
            </a:ln>
          </p:spPr>
          <p:txBody>
            <a:bodyPr rtlCol="0" anchor="ctr"/>
            <a:lstStyle/>
            <a:p>
              <a:pPr algn="ctr"/>
              <a:endParaRPr/>
            </a:p>
          </p:txBody>
        </p:sp>
        <p:sp>
          <p:nvSpPr>
            <p:cNvPr id="5" name="TextBox 4"/>
            <p:cNvSpPr txBox="1"/>
            <p:nvPr/>
          </p:nvSpPr>
          <p:spPr>
            <a:xfrm>
              <a:off x="1009650" y="266700"/>
              <a:ext cx="6667500" cy="190500"/>
            </a:xfrm>
            <a:prstGeom prst="rect">
              <a:avLst/>
            </a:prstGeom>
            <a:noFill/>
          </p:spPr>
          <p:txBody>
            <a:bodyPr wrap="square" lIns="0" tIns="0" rIns="0" bIns="0" anchor="t">
              <a:spAutoFit/>
            </a:bodyPr>
            <a:lstStyle/>
            <a:p>
              <a:pPr algn="l"/>
              <a:r>
                <a:rPr sz="1100" b="1" spc="300">
                  <a:solidFill>
                    <a:srgbClr val="59BEC9"/>
                  </a:solidFill>
                  <a:latin typeface="Century Gothic"/>
                </a:rPr>
                <a:t>INTRODUCTION</a:t>
              </a:r>
            </a:p>
          </p:txBody>
        </p:sp>
      </p:grpSp>
      <p:sp>
        <p:nvSpPr>
          <p:cNvPr id="6" name="anim|wipeL|0.1"/>
          <p:cNvSpPr txBox="1"/>
          <p:nvPr/>
        </p:nvSpPr>
        <p:spPr>
          <a:xfrm>
            <a:off x="571500" y="533400"/>
            <a:ext cx="11049000" cy="533400"/>
          </a:xfrm>
          <a:prstGeom prst="rect">
            <a:avLst/>
          </a:prstGeom>
          <a:noFill/>
        </p:spPr>
        <p:txBody>
          <a:bodyPr wrap="square" lIns="0" tIns="0" rIns="0" bIns="0" anchor="t">
            <a:spAutoFit/>
          </a:bodyPr>
          <a:lstStyle/>
          <a:p>
            <a:pPr algn="l"/>
            <a:r>
              <a:rPr sz="3100" b="1">
                <a:solidFill>
                  <a:srgbClr val="FFFFFF"/>
                </a:solidFill>
                <a:latin typeface="Century Gothic"/>
              </a:rPr>
              <a:t>AKS Backup versus stateless pipelines</a:t>
            </a:r>
          </a:p>
        </p:txBody>
      </p:sp>
      <p:sp>
        <p:nvSpPr>
          <p:cNvPr id="7" name="anim|fade|0.45"/>
          <p:cNvSpPr txBox="1"/>
          <p:nvPr/>
        </p:nvSpPr>
        <p:spPr>
          <a:xfrm>
            <a:off x="571500" y="1028700"/>
            <a:ext cx="11049000" cy="247650"/>
          </a:xfrm>
          <a:prstGeom prst="rect">
            <a:avLst/>
          </a:prstGeom>
          <a:noFill/>
        </p:spPr>
        <p:txBody>
          <a:bodyPr wrap="square" lIns="0" tIns="0" rIns="0" bIns="0" anchor="t">
            <a:spAutoFit/>
          </a:bodyPr>
          <a:lstStyle/>
          <a:p>
            <a:pPr algn="l"/>
            <a:r>
              <a:rPr sz="1500" b="0">
                <a:solidFill>
                  <a:srgbClr val="B0C0D9"/>
                </a:solidFill>
                <a:latin typeface="Segoe UI"/>
              </a:rPr>
              <a:t>Why we take a backup instead of only re-running the pipelines</a:t>
            </a:r>
          </a:p>
        </p:txBody>
      </p:sp>
      <p:sp>
        <p:nvSpPr>
          <p:cNvPr id="8" name="TextBox 7"/>
          <p:cNvSpPr txBox="1"/>
          <p:nvPr/>
        </p:nvSpPr>
        <p:spPr>
          <a:xfrm>
            <a:off x="571500" y="6534150"/>
            <a:ext cx="6667500" cy="171450"/>
          </a:xfrm>
          <a:prstGeom prst="rect">
            <a:avLst/>
          </a:prstGeom>
          <a:noFill/>
        </p:spPr>
        <p:txBody>
          <a:bodyPr wrap="square" lIns="0" tIns="0" rIns="0" bIns="0" anchor="t">
            <a:spAutoFit/>
          </a:bodyPr>
          <a:lstStyle/>
          <a:p>
            <a:pPr algn="l"/>
            <a:r>
              <a:rPr sz="950" b="0">
                <a:solidFill>
                  <a:srgbClr val="B0C0D9"/>
                </a:solidFill>
                <a:latin typeface="Segoe UI"/>
              </a:rPr>
              <a:t>AKS Backup &amp; Restore  |  BFH AKS IHUB Platform Team</a:t>
            </a:r>
          </a:p>
        </p:txBody>
      </p:sp>
      <p:sp>
        <p:nvSpPr>
          <p:cNvPr id="9" name="TextBox 8"/>
          <p:cNvSpPr txBox="1"/>
          <p:nvPr/>
        </p:nvSpPr>
        <p:spPr>
          <a:xfrm>
            <a:off x="10668000" y="6534150"/>
            <a:ext cx="952500" cy="171450"/>
          </a:xfrm>
          <a:prstGeom prst="rect">
            <a:avLst/>
          </a:prstGeom>
          <a:noFill/>
        </p:spPr>
        <p:txBody>
          <a:bodyPr wrap="square" lIns="0" tIns="0" rIns="0" bIns="0" anchor="t">
            <a:spAutoFit/>
          </a:bodyPr>
          <a:lstStyle/>
          <a:p>
            <a:pPr algn="r"/>
            <a:r>
              <a:rPr sz="1000" b="1">
                <a:solidFill>
                  <a:srgbClr val="FFB938"/>
                </a:solidFill>
                <a:latin typeface="Century Gothic"/>
              </a:rPr>
              <a:t>4</a:t>
            </a:r>
          </a:p>
        </p:txBody>
      </p:sp>
      <p:grpSp>
        <p:nvGrpSpPr>
          <p:cNvPr id="10" name="anim|fade|0.55"/>
          <p:cNvGrpSpPr/>
          <p:nvPr/>
        </p:nvGrpSpPr>
        <p:grpSpPr>
          <a:xfrm>
            <a:off x="2895600" y="1485900"/>
            <a:ext cx="8724900" cy="419100"/>
            <a:chOff x="2895600" y="1485900"/>
            <a:chExt cx="8724900" cy="419100"/>
          </a:xfrm>
        </p:grpSpPr>
        <p:sp>
          <p:nvSpPr>
            <p:cNvPr id="11" name="Rounded Rectangle 10"/>
            <p:cNvSpPr/>
            <p:nvPr/>
          </p:nvSpPr>
          <p:spPr>
            <a:xfrm>
              <a:off x="2895600" y="1485900"/>
              <a:ext cx="3619500" cy="419100"/>
            </a:xfrm>
            <a:prstGeom prst="roundRect">
              <a:avLst>
                <a:gd name="adj" fmla="val 27272"/>
              </a:avLst>
            </a:prstGeom>
            <a:solidFill>
              <a:srgbClr val="2E5286"/>
            </a:solidFill>
            <a:ln>
              <a:noFill/>
            </a:ln>
          </p:spPr>
          <p:txBody>
            <a:bodyPr rtlCol="0" anchor="ctr"/>
            <a:lstStyle/>
            <a:p>
              <a:pPr algn="ctr"/>
              <a:endParaRPr/>
            </a:p>
          </p:txBody>
        </p:sp>
        <p:sp>
          <p:nvSpPr>
            <p:cNvPr id="12" name="TextBox 11"/>
            <p:cNvSpPr txBox="1"/>
            <p:nvPr/>
          </p:nvSpPr>
          <p:spPr>
            <a:xfrm>
              <a:off x="2895600" y="1485900"/>
              <a:ext cx="3619500" cy="419100"/>
            </a:xfrm>
            <a:prstGeom prst="rect">
              <a:avLst/>
            </a:prstGeom>
            <a:noFill/>
          </p:spPr>
          <p:txBody>
            <a:bodyPr wrap="square" lIns="0" tIns="0" rIns="0" bIns="0" anchor="ctr">
              <a:spAutoFit/>
            </a:bodyPr>
            <a:lstStyle/>
            <a:p>
              <a:pPr algn="ctr"/>
              <a:r>
                <a:rPr sz="1500" b="1">
                  <a:solidFill>
                    <a:srgbClr val="FFFFFF"/>
                  </a:solidFill>
                  <a:latin typeface="Century Gothic"/>
                </a:rPr>
                <a:t>Stateless pipelines</a:t>
              </a:r>
            </a:p>
          </p:txBody>
        </p:sp>
        <p:sp>
          <p:nvSpPr>
            <p:cNvPr id="13" name="Rounded Rectangle 12"/>
            <p:cNvSpPr/>
            <p:nvPr/>
          </p:nvSpPr>
          <p:spPr>
            <a:xfrm>
              <a:off x="6629400" y="1485900"/>
              <a:ext cx="4991100" cy="419100"/>
            </a:xfrm>
            <a:prstGeom prst="roundRect">
              <a:avLst>
                <a:gd name="adj" fmla="val 27272"/>
              </a:avLst>
            </a:prstGeom>
            <a:solidFill>
              <a:srgbClr val="59BEC9"/>
            </a:solidFill>
            <a:ln>
              <a:noFill/>
            </a:ln>
          </p:spPr>
          <p:txBody>
            <a:bodyPr rtlCol="0" anchor="ctr"/>
            <a:lstStyle/>
            <a:p>
              <a:pPr algn="ctr"/>
              <a:endParaRPr/>
            </a:p>
          </p:txBody>
        </p:sp>
        <p:sp>
          <p:nvSpPr>
            <p:cNvPr id="14" name="TextBox 13"/>
            <p:cNvSpPr txBox="1"/>
            <p:nvPr/>
          </p:nvSpPr>
          <p:spPr>
            <a:xfrm>
              <a:off x="6629400" y="1485900"/>
              <a:ext cx="4991100" cy="419100"/>
            </a:xfrm>
            <a:prstGeom prst="rect">
              <a:avLst/>
            </a:prstGeom>
            <a:noFill/>
          </p:spPr>
          <p:txBody>
            <a:bodyPr wrap="square" lIns="0" tIns="0" rIns="0" bIns="0" anchor="ctr">
              <a:spAutoFit/>
            </a:bodyPr>
            <a:lstStyle/>
            <a:p>
              <a:pPr algn="ctr"/>
              <a:r>
                <a:rPr sz="1500" b="1">
                  <a:solidFill>
                    <a:srgbClr val="14284B"/>
                  </a:solidFill>
                  <a:latin typeface="Century Gothic"/>
                </a:rPr>
                <a:t>AKS Backup</a:t>
              </a:r>
            </a:p>
          </p:txBody>
        </p:sp>
      </p:grpSp>
      <p:grpSp>
        <p:nvGrpSpPr>
          <p:cNvPr id="15" name="anim|rise|0.68"/>
          <p:cNvGrpSpPr/>
          <p:nvPr/>
        </p:nvGrpSpPr>
        <p:grpSpPr>
          <a:xfrm>
            <a:off x="609600" y="2019300"/>
            <a:ext cx="11010900" cy="514350"/>
            <a:chOff x="609600" y="2019300"/>
            <a:chExt cx="11010900" cy="514350"/>
          </a:xfrm>
        </p:grpSpPr>
        <p:pic>
          <p:nvPicPr>
            <p:cNvPr id="16" name="Picture 15" descr="layers_teal.png"/>
            <p:cNvPicPr>
              <a:picLocks noChangeAspect="1"/>
            </p:cNvPicPr>
            <p:nvPr/>
          </p:nvPicPr>
          <p:blipFill>
            <a:blip r:embed="rId2"/>
            <a:stretch>
              <a:fillRect/>
            </a:stretch>
          </p:blipFill>
          <p:spPr>
            <a:xfrm>
              <a:off x="609600" y="2133600"/>
              <a:ext cx="285750" cy="285750"/>
            </a:xfrm>
            <a:prstGeom prst="rect">
              <a:avLst/>
            </a:prstGeom>
          </p:spPr>
        </p:pic>
        <p:sp>
          <p:nvSpPr>
            <p:cNvPr id="17" name="TextBox 16"/>
            <p:cNvSpPr txBox="1"/>
            <p:nvPr/>
          </p:nvSpPr>
          <p:spPr>
            <a:xfrm>
              <a:off x="1028700" y="2019300"/>
              <a:ext cx="1771650" cy="514350"/>
            </a:xfrm>
            <a:prstGeom prst="rect">
              <a:avLst/>
            </a:prstGeom>
            <a:noFill/>
          </p:spPr>
          <p:txBody>
            <a:bodyPr wrap="square" lIns="0" tIns="0" rIns="0" bIns="0" anchor="ctr">
              <a:spAutoFit/>
            </a:bodyPr>
            <a:lstStyle/>
            <a:p>
              <a:pPr algn="l"/>
              <a:r>
                <a:rPr sz="1400" b="1">
                  <a:solidFill>
                    <a:srgbClr val="FFFFFF"/>
                  </a:solidFill>
                  <a:latin typeface="Segoe UI"/>
                </a:rPr>
                <a:t>What comes back</a:t>
              </a:r>
            </a:p>
          </p:txBody>
        </p:sp>
        <p:sp>
          <p:nvSpPr>
            <p:cNvPr id="18" name="Rounded Rectangle 17"/>
            <p:cNvSpPr/>
            <p:nvPr/>
          </p:nvSpPr>
          <p:spPr>
            <a:xfrm>
              <a:off x="2895600" y="2019300"/>
              <a:ext cx="3619500" cy="514350"/>
            </a:xfrm>
            <a:prstGeom prst="roundRect">
              <a:avLst>
                <a:gd name="adj" fmla="val 22222"/>
              </a:avLst>
            </a:prstGeom>
            <a:solidFill>
              <a:srgbClr val="1E3A68"/>
            </a:solidFill>
            <a:ln>
              <a:noFill/>
            </a:ln>
          </p:spPr>
          <p:txBody>
            <a:bodyPr rtlCol="0" anchor="ctr"/>
            <a:lstStyle/>
            <a:p>
              <a:pPr algn="ctr"/>
              <a:endParaRPr/>
            </a:p>
          </p:txBody>
        </p:sp>
        <p:sp>
          <p:nvSpPr>
            <p:cNvPr id="19" name="TextBox 18"/>
            <p:cNvSpPr txBox="1"/>
            <p:nvPr/>
          </p:nvSpPr>
          <p:spPr>
            <a:xfrm>
              <a:off x="3067050" y="2019300"/>
              <a:ext cx="3295650" cy="514350"/>
            </a:xfrm>
            <a:prstGeom prst="rect">
              <a:avLst/>
            </a:prstGeom>
            <a:noFill/>
          </p:spPr>
          <p:txBody>
            <a:bodyPr wrap="square" lIns="0" tIns="0" rIns="0" bIns="0" anchor="ctr">
              <a:spAutoFit/>
            </a:bodyPr>
            <a:lstStyle/>
            <a:p>
              <a:pPr algn="l"/>
              <a:r>
                <a:rPr sz="1350" b="0">
                  <a:solidFill>
                    <a:srgbClr val="B0C0D9"/>
                  </a:solidFill>
                  <a:latin typeface="Segoe UI"/>
                </a:rPr>
                <a:t>Only what the pipelines last deployed</a:t>
              </a:r>
            </a:p>
          </p:txBody>
        </p:sp>
        <p:sp>
          <p:nvSpPr>
            <p:cNvPr id="20" name="Rounded Rectangle 19"/>
            <p:cNvSpPr/>
            <p:nvPr/>
          </p:nvSpPr>
          <p:spPr>
            <a:xfrm>
              <a:off x="6629400" y="2019300"/>
              <a:ext cx="4991100" cy="514350"/>
            </a:xfrm>
            <a:prstGeom prst="roundRect">
              <a:avLst>
                <a:gd name="adj" fmla="val 22222"/>
              </a:avLst>
            </a:prstGeom>
            <a:solidFill>
              <a:srgbClr val="1E3A68"/>
            </a:solidFill>
            <a:ln w="20320">
              <a:solidFill>
                <a:srgbClr val="59BEC9"/>
              </a:solidFill>
            </a:ln>
          </p:spPr>
          <p:txBody>
            <a:bodyPr rtlCol="0" anchor="ctr"/>
            <a:lstStyle/>
            <a:p>
              <a:pPr algn="ctr"/>
              <a:endParaRPr/>
            </a:p>
          </p:txBody>
        </p:sp>
        <p:sp>
          <p:nvSpPr>
            <p:cNvPr id="21" name="TextBox 20"/>
            <p:cNvSpPr txBox="1"/>
            <p:nvPr/>
          </p:nvSpPr>
          <p:spPr>
            <a:xfrm>
              <a:off x="6800850" y="2019300"/>
              <a:ext cx="4191000" cy="514350"/>
            </a:xfrm>
            <a:prstGeom prst="rect">
              <a:avLst/>
            </a:prstGeom>
            <a:noFill/>
          </p:spPr>
          <p:txBody>
            <a:bodyPr wrap="square" lIns="0" tIns="0" rIns="0" bIns="0" anchor="ctr">
              <a:spAutoFit/>
            </a:bodyPr>
            <a:lstStyle/>
            <a:p>
              <a:pPr algn="l"/>
              <a:r>
                <a:rPr sz="1400" b="0">
                  <a:solidFill>
                    <a:srgbClr val="FFFFFF"/>
                  </a:solidFill>
                  <a:latin typeface="Segoe UI"/>
                </a:rPr>
                <a:t>The real cluster state at the restore point</a:t>
              </a:r>
            </a:p>
          </p:txBody>
        </p:sp>
        <p:pic>
          <p:nvPicPr>
            <p:cNvPr id="22" name="Picture 21" descr="check_teal.png"/>
            <p:cNvPicPr>
              <a:picLocks noChangeAspect="1"/>
            </p:cNvPicPr>
            <p:nvPr/>
          </p:nvPicPr>
          <p:blipFill>
            <a:blip r:embed="rId3"/>
            <a:stretch>
              <a:fillRect/>
            </a:stretch>
          </p:blipFill>
          <p:spPr>
            <a:xfrm>
              <a:off x="11201400" y="2133600"/>
              <a:ext cx="285750" cy="285750"/>
            </a:xfrm>
            <a:prstGeom prst="rect">
              <a:avLst/>
            </a:prstGeom>
          </p:spPr>
        </p:pic>
      </p:grpSp>
      <p:grpSp>
        <p:nvGrpSpPr>
          <p:cNvPr id="23" name="anim|rise|0.81"/>
          <p:cNvGrpSpPr/>
          <p:nvPr/>
        </p:nvGrpSpPr>
        <p:grpSpPr>
          <a:xfrm>
            <a:off x="609600" y="2609850"/>
            <a:ext cx="11010900" cy="514350"/>
            <a:chOff x="609600" y="2609850"/>
            <a:chExt cx="11010900" cy="514350"/>
          </a:xfrm>
        </p:grpSpPr>
        <p:pic>
          <p:nvPicPr>
            <p:cNvPr id="24" name="Picture 23" descr="sliders_teal.png"/>
            <p:cNvPicPr>
              <a:picLocks noChangeAspect="1"/>
            </p:cNvPicPr>
            <p:nvPr/>
          </p:nvPicPr>
          <p:blipFill>
            <a:blip r:embed="rId4"/>
            <a:stretch>
              <a:fillRect/>
            </a:stretch>
          </p:blipFill>
          <p:spPr>
            <a:xfrm>
              <a:off x="609600" y="2724150"/>
              <a:ext cx="285750" cy="285750"/>
            </a:xfrm>
            <a:prstGeom prst="rect">
              <a:avLst/>
            </a:prstGeom>
          </p:spPr>
        </p:pic>
        <p:sp>
          <p:nvSpPr>
            <p:cNvPr id="25" name="TextBox 24"/>
            <p:cNvSpPr txBox="1"/>
            <p:nvPr/>
          </p:nvSpPr>
          <p:spPr>
            <a:xfrm>
              <a:off x="1028700" y="2609850"/>
              <a:ext cx="1771650" cy="514350"/>
            </a:xfrm>
            <a:prstGeom prst="rect">
              <a:avLst/>
            </a:prstGeom>
            <a:noFill/>
          </p:spPr>
          <p:txBody>
            <a:bodyPr wrap="square" lIns="0" tIns="0" rIns="0" bIns="0" anchor="ctr">
              <a:spAutoFit/>
            </a:bodyPr>
            <a:lstStyle/>
            <a:p>
              <a:pPr algn="l"/>
              <a:r>
                <a:rPr sz="1400" b="1">
                  <a:solidFill>
                    <a:srgbClr val="FFFFFF"/>
                  </a:solidFill>
                  <a:latin typeface="Segoe UI"/>
                </a:rPr>
                <a:t>Manual changes in the cluster</a:t>
              </a:r>
            </a:p>
          </p:txBody>
        </p:sp>
        <p:sp>
          <p:nvSpPr>
            <p:cNvPr id="26" name="Rounded Rectangle 25"/>
            <p:cNvSpPr/>
            <p:nvPr/>
          </p:nvSpPr>
          <p:spPr>
            <a:xfrm>
              <a:off x="2895600" y="2609850"/>
              <a:ext cx="3619500" cy="514350"/>
            </a:xfrm>
            <a:prstGeom prst="roundRect">
              <a:avLst>
                <a:gd name="adj" fmla="val 22222"/>
              </a:avLst>
            </a:prstGeom>
            <a:solidFill>
              <a:srgbClr val="1E3A68"/>
            </a:solidFill>
            <a:ln>
              <a:noFill/>
            </a:ln>
          </p:spPr>
          <p:txBody>
            <a:bodyPr rtlCol="0" anchor="ctr"/>
            <a:lstStyle/>
            <a:p>
              <a:pPr algn="ctr"/>
              <a:endParaRPr/>
            </a:p>
          </p:txBody>
        </p:sp>
        <p:sp>
          <p:nvSpPr>
            <p:cNvPr id="27" name="TextBox 26"/>
            <p:cNvSpPr txBox="1"/>
            <p:nvPr/>
          </p:nvSpPr>
          <p:spPr>
            <a:xfrm>
              <a:off x="3067050" y="2609850"/>
              <a:ext cx="3295650" cy="514350"/>
            </a:xfrm>
            <a:prstGeom prst="rect">
              <a:avLst/>
            </a:prstGeom>
            <a:noFill/>
          </p:spPr>
          <p:txBody>
            <a:bodyPr wrap="square" lIns="0" tIns="0" rIns="0" bIns="0" anchor="ctr">
              <a:spAutoFit/>
            </a:bodyPr>
            <a:lstStyle/>
            <a:p>
              <a:pPr algn="l"/>
              <a:r>
                <a:rPr sz="1350" b="0">
                  <a:solidFill>
                    <a:srgbClr val="B0C0D9"/>
                  </a:solidFill>
                  <a:latin typeface="Segoe UI"/>
                </a:rPr>
                <a:t>Lost, because they are in no pipeline</a:t>
              </a:r>
            </a:p>
          </p:txBody>
        </p:sp>
        <p:sp>
          <p:nvSpPr>
            <p:cNvPr id="28" name="Rounded Rectangle 27"/>
            <p:cNvSpPr/>
            <p:nvPr/>
          </p:nvSpPr>
          <p:spPr>
            <a:xfrm>
              <a:off x="6629400" y="2609850"/>
              <a:ext cx="4991100" cy="514350"/>
            </a:xfrm>
            <a:prstGeom prst="roundRect">
              <a:avLst>
                <a:gd name="adj" fmla="val 22222"/>
              </a:avLst>
            </a:prstGeom>
            <a:solidFill>
              <a:srgbClr val="1E3A68"/>
            </a:solidFill>
            <a:ln w="20320">
              <a:solidFill>
                <a:srgbClr val="59BEC9"/>
              </a:solidFill>
            </a:ln>
          </p:spPr>
          <p:txBody>
            <a:bodyPr rtlCol="0" anchor="ctr"/>
            <a:lstStyle/>
            <a:p>
              <a:pPr algn="ctr"/>
              <a:endParaRPr/>
            </a:p>
          </p:txBody>
        </p:sp>
        <p:sp>
          <p:nvSpPr>
            <p:cNvPr id="29" name="TextBox 28"/>
            <p:cNvSpPr txBox="1"/>
            <p:nvPr/>
          </p:nvSpPr>
          <p:spPr>
            <a:xfrm>
              <a:off x="6800850" y="2609850"/>
              <a:ext cx="4191000" cy="514350"/>
            </a:xfrm>
            <a:prstGeom prst="rect">
              <a:avLst/>
            </a:prstGeom>
            <a:noFill/>
          </p:spPr>
          <p:txBody>
            <a:bodyPr wrap="square" lIns="0" tIns="0" rIns="0" bIns="0" anchor="ctr">
              <a:spAutoFit/>
            </a:bodyPr>
            <a:lstStyle/>
            <a:p>
              <a:pPr algn="l"/>
              <a:r>
                <a:rPr sz="1400" b="0">
                  <a:solidFill>
                    <a:srgbClr val="FFFFFF"/>
                  </a:solidFill>
                  <a:latin typeface="Segoe UI"/>
                </a:rPr>
                <a:t>Captured in the backup</a:t>
              </a:r>
            </a:p>
          </p:txBody>
        </p:sp>
        <p:pic>
          <p:nvPicPr>
            <p:cNvPr id="30" name="Picture 29" descr="check_teal.png"/>
            <p:cNvPicPr>
              <a:picLocks noChangeAspect="1"/>
            </p:cNvPicPr>
            <p:nvPr/>
          </p:nvPicPr>
          <p:blipFill>
            <a:blip r:embed="rId3"/>
            <a:stretch>
              <a:fillRect/>
            </a:stretch>
          </p:blipFill>
          <p:spPr>
            <a:xfrm>
              <a:off x="11201400" y="2724150"/>
              <a:ext cx="285750" cy="285750"/>
            </a:xfrm>
            <a:prstGeom prst="rect">
              <a:avLst/>
            </a:prstGeom>
          </p:spPr>
        </p:pic>
      </p:grpSp>
      <p:grpSp>
        <p:nvGrpSpPr>
          <p:cNvPr id="31" name="anim|rise|0.94"/>
          <p:cNvGrpSpPr/>
          <p:nvPr/>
        </p:nvGrpSpPr>
        <p:grpSpPr>
          <a:xfrm>
            <a:off x="609600" y="3200400"/>
            <a:ext cx="11010900" cy="514350"/>
            <a:chOff x="609600" y="3200400"/>
            <a:chExt cx="11010900" cy="514350"/>
          </a:xfrm>
        </p:grpSpPr>
        <p:pic>
          <p:nvPicPr>
            <p:cNvPr id="32" name="Picture 31" descr="branch_teal.png"/>
            <p:cNvPicPr>
              <a:picLocks noChangeAspect="1"/>
            </p:cNvPicPr>
            <p:nvPr/>
          </p:nvPicPr>
          <p:blipFill>
            <a:blip r:embed="rId5"/>
            <a:stretch>
              <a:fillRect/>
            </a:stretch>
          </p:blipFill>
          <p:spPr>
            <a:xfrm>
              <a:off x="609600" y="3314700"/>
              <a:ext cx="285750" cy="285750"/>
            </a:xfrm>
            <a:prstGeom prst="rect">
              <a:avLst/>
            </a:prstGeom>
          </p:spPr>
        </p:pic>
        <p:sp>
          <p:nvSpPr>
            <p:cNvPr id="33" name="TextBox 32"/>
            <p:cNvSpPr txBox="1"/>
            <p:nvPr/>
          </p:nvSpPr>
          <p:spPr>
            <a:xfrm>
              <a:off x="1028700" y="3200400"/>
              <a:ext cx="1771650" cy="514350"/>
            </a:xfrm>
            <a:prstGeom prst="rect">
              <a:avLst/>
            </a:prstGeom>
            <a:noFill/>
          </p:spPr>
          <p:txBody>
            <a:bodyPr wrap="square" lIns="0" tIns="0" rIns="0" bIns="0" anchor="ctr">
              <a:spAutoFit/>
            </a:bodyPr>
            <a:lstStyle/>
            <a:p>
              <a:pPr algn="l"/>
              <a:r>
                <a:rPr sz="1400" b="1">
                  <a:solidFill>
                    <a:srgbClr val="FFFFFF"/>
                  </a:solidFill>
                  <a:latin typeface="Segoe UI"/>
                </a:rPr>
                <a:t>Steps to recover</a:t>
              </a:r>
            </a:p>
          </p:txBody>
        </p:sp>
        <p:sp>
          <p:nvSpPr>
            <p:cNvPr id="34" name="Rounded Rectangle 33"/>
            <p:cNvSpPr/>
            <p:nvPr/>
          </p:nvSpPr>
          <p:spPr>
            <a:xfrm>
              <a:off x="2895600" y="3200400"/>
              <a:ext cx="3619500" cy="514350"/>
            </a:xfrm>
            <a:prstGeom prst="roundRect">
              <a:avLst>
                <a:gd name="adj" fmla="val 22222"/>
              </a:avLst>
            </a:prstGeom>
            <a:solidFill>
              <a:srgbClr val="1E3A68"/>
            </a:solidFill>
            <a:ln>
              <a:noFill/>
            </a:ln>
          </p:spPr>
          <p:txBody>
            <a:bodyPr rtlCol="0" anchor="ctr"/>
            <a:lstStyle/>
            <a:p>
              <a:pPr algn="ctr"/>
              <a:endParaRPr/>
            </a:p>
          </p:txBody>
        </p:sp>
        <p:sp>
          <p:nvSpPr>
            <p:cNvPr id="35" name="TextBox 34"/>
            <p:cNvSpPr txBox="1"/>
            <p:nvPr/>
          </p:nvSpPr>
          <p:spPr>
            <a:xfrm>
              <a:off x="3067050" y="3200400"/>
              <a:ext cx="3295650" cy="514350"/>
            </a:xfrm>
            <a:prstGeom prst="rect">
              <a:avLst/>
            </a:prstGeom>
            <a:noFill/>
          </p:spPr>
          <p:txBody>
            <a:bodyPr wrap="square" lIns="0" tIns="0" rIns="0" bIns="0" anchor="ctr">
              <a:spAutoFit/>
            </a:bodyPr>
            <a:lstStyle/>
            <a:p>
              <a:pPr algn="l"/>
              <a:r>
                <a:rPr sz="1350" b="0">
                  <a:solidFill>
                    <a:srgbClr val="B0C0D9"/>
                  </a:solidFill>
                  <a:latin typeface="Segoe UI"/>
                </a:rPr>
                <a:t>Re-run each pipeline, in the right order</a:t>
              </a:r>
            </a:p>
          </p:txBody>
        </p:sp>
        <p:sp>
          <p:nvSpPr>
            <p:cNvPr id="36" name="Rounded Rectangle 35"/>
            <p:cNvSpPr/>
            <p:nvPr/>
          </p:nvSpPr>
          <p:spPr>
            <a:xfrm>
              <a:off x="6629400" y="3200400"/>
              <a:ext cx="4991100" cy="514350"/>
            </a:xfrm>
            <a:prstGeom prst="roundRect">
              <a:avLst>
                <a:gd name="adj" fmla="val 22222"/>
              </a:avLst>
            </a:prstGeom>
            <a:solidFill>
              <a:srgbClr val="1E3A68"/>
            </a:solidFill>
            <a:ln w="20320">
              <a:solidFill>
                <a:srgbClr val="59BEC9"/>
              </a:solidFill>
            </a:ln>
          </p:spPr>
          <p:txBody>
            <a:bodyPr rtlCol="0" anchor="ctr"/>
            <a:lstStyle/>
            <a:p>
              <a:pPr algn="ctr"/>
              <a:endParaRPr/>
            </a:p>
          </p:txBody>
        </p:sp>
        <p:sp>
          <p:nvSpPr>
            <p:cNvPr id="37" name="TextBox 36"/>
            <p:cNvSpPr txBox="1"/>
            <p:nvPr/>
          </p:nvSpPr>
          <p:spPr>
            <a:xfrm>
              <a:off x="6800850" y="3200400"/>
              <a:ext cx="4191000" cy="514350"/>
            </a:xfrm>
            <a:prstGeom prst="rect">
              <a:avLst/>
            </a:prstGeom>
            <a:noFill/>
          </p:spPr>
          <p:txBody>
            <a:bodyPr wrap="square" lIns="0" tIns="0" rIns="0" bIns="0" anchor="ctr">
              <a:spAutoFit/>
            </a:bodyPr>
            <a:lstStyle/>
            <a:p>
              <a:pPr algn="l"/>
              <a:r>
                <a:rPr sz="1400" b="0">
                  <a:solidFill>
                    <a:srgbClr val="FFFFFF"/>
                  </a:solidFill>
                  <a:latin typeface="Segoe UI"/>
                </a:rPr>
                <a:t>One restore from the Backup vault</a:t>
              </a:r>
            </a:p>
          </p:txBody>
        </p:sp>
        <p:pic>
          <p:nvPicPr>
            <p:cNvPr id="38" name="Picture 37" descr="check_teal.png"/>
            <p:cNvPicPr>
              <a:picLocks noChangeAspect="1"/>
            </p:cNvPicPr>
            <p:nvPr/>
          </p:nvPicPr>
          <p:blipFill>
            <a:blip r:embed="rId3"/>
            <a:stretch>
              <a:fillRect/>
            </a:stretch>
          </p:blipFill>
          <p:spPr>
            <a:xfrm>
              <a:off x="11201400" y="3314700"/>
              <a:ext cx="285750" cy="285750"/>
            </a:xfrm>
            <a:prstGeom prst="rect">
              <a:avLst/>
            </a:prstGeom>
          </p:spPr>
        </p:pic>
      </p:grpSp>
      <p:grpSp>
        <p:nvGrpSpPr>
          <p:cNvPr id="39" name="anim|rise|1.07"/>
          <p:cNvGrpSpPr/>
          <p:nvPr/>
        </p:nvGrpSpPr>
        <p:grpSpPr>
          <a:xfrm>
            <a:off x="609600" y="3790950"/>
            <a:ext cx="11010900" cy="514350"/>
            <a:chOff x="609600" y="3790950"/>
            <a:chExt cx="11010900" cy="514350"/>
          </a:xfrm>
        </p:grpSpPr>
        <p:pic>
          <p:nvPicPr>
            <p:cNvPr id="40" name="Picture 39" descr="clock_teal.png"/>
            <p:cNvPicPr>
              <a:picLocks noChangeAspect="1"/>
            </p:cNvPicPr>
            <p:nvPr/>
          </p:nvPicPr>
          <p:blipFill>
            <a:blip r:embed="rId6"/>
            <a:stretch>
              <a:fillRect/>
            </a:stretch>
          </p:blipFill>
          <p:spPr>
            <a:xfrm>
              <a:off x="609600" y="3905250"/>
              <a:ext cx="285750" cy="285750"/>
            </a:xfrm>
            <a:prstGeom prst="rect">
              <a:avLst/>
            </a:prstGeom>
          </p:spPr>
        </p:pic>
        <p:sp>
          <p:nvSpPr>
            <p:cNvPr id="41" name="TextBox 40"/>
            <p:cNvSpPr txBox="1"/>
            <p:nvPr/>
          </p:nvSpPr>
          <p:spPr>
            <a:xfrm>
              <a:off x="1028700" y="3790950"/>
              <a:ext cx="1771650" cy="514350"/>
            </a:xfrm>
            <a:prstGeom prst="rect">
              <a:avLst/>
            </a:prstGeom>
            <a:noFill/>
          </p:spPr>
          <p:txBody>
            <a:bodyPr wrap="square" lIns="0" tIns="0" rIns="0" bIns="0" anchor="ctr">
              <a:spAutoFit/>
            </a:bodyPr>
            <a:lstStyle/>
            <a:p>
              <a:pPr algn="l"/>
              <a:r>
                <a:rPr sz="1400" b="1">
                  <a:solidFill>
                    <a:srgbClr val="FFFFFF"/>
                  </a:solidFill>
                  <a:latin typeface="Segoe UI"/>
                </a:rPr>
                <a:t>Time to restore</a:t>
              </a:r>
            </a:p>
          </p:txBody>
        </p:sp>
        <p:sp>
          <p:nvSpPr>
            <p:cNvPr id="42" name="Rounded Rectangle 41"/>
            <p:cNvSpPr/>
            <p:nvPr/>
          </p:nvSpPr>
          <p:spPr>
            <a:xfrm>
              <a:off x="2895600" y="3790950"/>
              <a:ext cx="3619500" cy="514350"/>
            </a:xfrm>
            <a:prstGeom prst="roundRect">
              <a:avLst>
                <a:gd name="adj" fmla="val 22222"/>
              </a:avLst>
            </a:prstGeom>
            <a:solidFill>
              <a:srgbClr val="1E3A68"/>
            </a:solidFill>
            <a:ln>
              <a:noFill/>
            </a:ln>
          </p:spPr>
          <p:txBody>
            <a:bodyPr rtlCol="0" anchor="ctr"/>
            <a:lstStyle/>
            <a:p>
              <a:pPr algn="ctr"/>
              <a:endParaRPr/>
            </a:p>
          </p:txBody>
        </p:sp>
        <p:sp>
          <p:nvSpPr>
            <p:cNvPr id="43" name="TextBox 42"/>
            <p:cNvSpPr txBox="1"/>
            <p:nvPr/>
          </p:nvSpPr>
          <p:spPr>
            <a:xfrm>
              <a:off x="3067050" y="3790950"/>
              <a:ext cx="3295650" cy="514350"/>
            </a:xfrm>
            <a:prstGeom prst="rect">
              <a:avLst/>
            </a:prstGeom>
            <a:noFill/>
          </p:spPr>
          <p:txBody>
            <a:bodyPr wrap="square" lIns="0" tIns="0" rIns="0" bIns="0" anchor="ctr">
              <a:spAutoFit/>
            </a:bodyPr>
            <a:lstStyle/>
            <a:p>
              <a:pPr algn="l"/>
              <a:r>
                <a:rPr sz="1350" b="0">
                  <a:solidFill>
                    <a:srgbClr val="B0C0D9"/>
                  </a:solidFill>
                  <a:latin typeface="Segoe UI"/>
                </a:rPr>
                <a:t>Depends on how many pipelines must run</a:t>
              </a:r>
            </a:p>
          </p:txBody>
        </p:sp>
        <p:sp>
          <p:nvSpPr>
            <p:cNvPr id="44" name="Rounded Rectangle 43"/>
            <p:cNvSpPr/>
            <p:nvPr/>
          </p:nvSpPr>
          <p:spPr>
            <a:xfrm>
              <a:off x="6629400" y="3790950"/>
              <a:ext cx="4991100" cy="514350"/>
            </a:xfrm>
            <a:prstGeom prst="roundRect">
              <a:avLst>
                <a:gd name="adj" fmla="val 22222"/>
              </a:avLst>
            </a:prstGeom>
            <a:solidFill>
              <a:srgbClr val="1E3A68"/>
            </a:solidFill>
            <a:ln w="20320">
              <a:solidFill>
                <a:srgbClr val="59BEC9"/>
              </a:solidFill>
            </a:ln>
          </p:spPr>
          <p:txBody>
            <a:bodyPr rtlCol="0" anchor="ctr"/>
            <a:lstStyle/>
            <a:p>
              <a:pPr algn="ctr"/>
              <a:endParaRPr/>
            </a:p>
          </p:txBody>
        </p:sp>
        <p:sp>
          <p:nvSpPr>
            <p:cNvPr id="45" name="TextBox 44"/>
            <p:cNvSpPr txBox="1"/>
            <p:nvPr/>
          </p:nvSpPr>
          <p:spPr>
            <a:xfrm>
              <a:off x="6800850" y="3790950"/>
              <a:ext cx="4191000" cy="514350"/>
            </a:xfrm>
            <a:prstGeom prst="rect">
              <a:avLst/>
            </a:prstGeom>
            <a:noFill/>
          </p:spPr>
          <p:txBody>
            <a:bodyPr wrap="square" lIns="0" tIns="0" rIns="0" bIns="0" anchor="ctr">
              <a:spAutoFit/>
            </a:bodyPr>
            <a:lstStyle/>
            <a:p>
              <a:pPr algn="l"/>
              <a:r>
                <a:rPr sz="1400" b="0">
                  <a:solidFill>
                    <a:srgbClr val="FFFFFF"/>
                  </a:solidFill>
                  <a:latin typeface="Segoe UI"/>
                </a:rPr>
                <a:t>About 10 minutes (indicative, depends on cluster size)</a:t>
              </a:r>
            </a:p>
          </p:txBody>
        </p:sp>
        <p:pic>
          <p:nvPicPr>
            <p:cNvPr id="46" name="Picture 45" descr="check_teal.png"/>
            <p:cNvPicPr>
              <a:picLocks noChangeAspect="1"/>
            </p:cNvPicPr>
            <p:nvPr/>
          </p:nvPicPr>
          <p:blipFill>
            <a:blip r:embed="rId3"/>
            <a:stretch>
              <a:fillRect/>
            </a:stretch>
          </p:blipFill>
          <p:spPr>
            <a:xfrm>
              <a:off x="11201400" y="3905250"/>
              <a:ext cx="285750" cy="285750"/>
            </a:xfrm>
            <a:prstGeom prst="rect">
              <a:avLst/>
            </a:prstGeom>
          </p:spPr>
        </p:pic>
      </p:grpSp>
      <p:grpSp>
        <p:nvGrpSpPr>
          <p:cNvPr id="47" name="anim|rise|1.2"/>
          <p:cNvGrpSpPr/>
          <p:nvPr/>
        </p:nvGrpSpPr>
        <p:grpSpPr>
          <a:xfrm>
            <a:off x="609600" y="4381500"/>
            <a:ext cx="11010900" cy="514350"/>
            <a:chOff x="609600" y="4381500"/>
            <a:chExt cx="11010900" cy="514350"/>
          </a:xfrm>
        </p:grpSpPr>
        <p:pic>
          <p:nvPicPr>
            <p:cNvPr id="48" name="Picture 47" descr="restore_teal.png"/>
            <p:cNvPicPr>
              <a:picLocks noChangeAspect="1"/>
            </p:cNvPicPr>
            <p:nvPr/>
          </p:nvPicPr>
          <p:blipFill>
            <a:blip r:embed="rId7"/>
            <a:stretch>
              <a:fillRect/>
            </a:stretch>
          </p:blipFill>
          <p:spPr>
            <a:xfrm>
              <a:off x="609600" y="4495800"/>
              <a:ext cx="285750" cy="285750"/>
            </a:xfrm>
            <a:prstGeom prst="rect">
              <a:avLst/>
            </a:prstGeom>
          </p:spPr>
        </p:pic>
        <p:sp>
          <p:nvSpPr>
            <p:cNvPr id="49" name="TextBox 48"/>
            <p:cNvSpPr txBox="1"/>
            <p:nvPr/>
          </p:nvSpPr>
          <p:spPr>
            <a:xfrm>
              <a:off x="1028700" y="4381500"/>
              <a:ext cx="1771650" cy="514350"/>
            </a:xfrm>
            <a:prstGeom prst="rect">
              <a:avLst/>
            </a:prstGeom>
            <a:noFill/>
          </p:spPr>
          <p:txBody>
            <a:bodyPr wrap="square" lIns="0" tIns="0" rIns="0" bIns="0" anchor="ctr">
              <a:spAutoFit/>
            </a:bodyPr>
            <a:lstStyle/>
            <a:p>
              <a:pPr algn="l"/>
              <a:r>
                <a:rPr sz="1400" b="1">
                  <a:solidFill>
                    <a:srgbClr val="FFFFFF"/>
                  </a:solidFill>
                  <a:latin typeface="Segoe UI"/>
                </a:rPr>
                <a:t>Point in time</a:t>
              </a:r>
            </a:p>
          </p:txBody>
        </p:sp>
        <p:sp>
          <p:nvSpPr>
            <p:cNvPr id="50" name="Rounded Rectangle 49"/>
            <p:cNvSpPr/>
            <p:nvPr/>
          </p:nvSpPr>
          <p:spPr>
            <a:xfrm>
              <a:off x="2895600" y="4381500"/>
              <a:ext cx="3619500" cy="514350"/>
            </a:xfrm>
            <a:prstGeom prst="roundRect">
              <a:avLst>
                <a:gd name="adj" fmla="val 22222"/>
              </a:avLst>
            </a:prstGeom>
            <a:solidFill>
              <a:srgbClr val="1E3A68"/>
            </a:solidFill>
            <a:ln>
              <a:noFill/>
            </a:ln>
          </p:spPr>
          <p:txBody>
            <a:bodyPr rtlCol="0" anchor="ctr"/>
            <a:lstStyle/>
            <a:p>
              <a:pPr algn="ctr"/>
              <a:endParaRPr/>
            </a:p>
          </p:txBody>
        </p:sp>
        <p:sp>
          <p:nvSpPr>
            <p:cNvPr id="51" name="TextBox 50"/>
            <p:cNvSpPr txBox="1"/>
            <p:nvPr/>
          </p:nvSpPr>
          <p:spPr>
            <a:xfrm>
              <a:off x="3067050" y="4381500"/>
              <a:ext cx="3295650" cy="514350"/>
            </a:xfrm>
            <a:prstGeom prst="rect">
              <a:avLst/>
            </a:prstGeom>
            <a:noFill/>
          </p:spPr>
          <p:txBody>
            <a:bodyPr wrap="square" lIns="0" tIns="0" rIns="0" bIns="0" anchor="ctr">
              <a:spAutoFit/>
            </a:bodyPr>
            <a:lstStyle/>
            <a:p>
              <a:pPr algn="l"/>
              <a:r>
                <a:rPr sz="1350" b="0">
                  <a:solidFill>
                    <a:srgbClr val="B0C0D9"/>
                  </a:solidFill>
                  <a:latin typeface="Segoe UI"/>
                </a:rPr>
                <a:t>The latest committed version only</a:t>
              </a:r>
            </a:p>
          </p:txBody>
        </p:sp>
        <p:sp>
          <p:nvSpPr>
            <p:cNvPr id="52" name="Rounded Rectangle 51"/>
            <p:cNvSpPr/>
            <p:nvPr/>
          </p:nvSpPr>
          <p:spPr>
            <a:xfrm>
              <a:off x="6629400" y="4381500"/>
              <a:ext cx="4991100" cy="514350"/>
            </a:xfrm>
            <a:prstGeom prst="roundRect">
              <a:avLst>
                <a:gd name="adj" fmla="val 22222"/>
              </a:avLst>
            </a:prstGeom>
            <a:solidFill>
              <a:srgbClr val="1E3A68"/>
            </a:solidFill>
            <a:ln w="20320">
              <a:solidFill>
                <a:srgbClr val="59BEC9"/>
              </a:solidFill>
            </a:ln>
          </p:spPr>
          <p:txBody>
            <a:bodyPr rtlCol="0" anchor="ctr"/>
            <a:lstStyle/>
            <a:p>
              <a:pPr algn="ctr"/>
              <a:endParaRPr/>
            </a:p>
          </p:txBody>
        </p:sp>
        <p:sp>
          <p:nvSpPr>
            <p:cNvPr id="53" name="TextBox 52"/>
            <p:cNvSpPr txBox="1"/>
            <p:nvPr/>
          </p:nvSpPr>
          <p:spPr>
            <a:xfrm>
              <a:off x="6800850" y="4381500"/>
              <a:ext cx="4191000" cy="514350"/>
            </a:xfrm>
            <a:prstGeom prst="rect">
              <a:avLst/>
            </a:prstGeom>
            <a:noFill/>
          </p:spPr>
          <p:txBody>
            <a:bodyPr wrap="square" lIns="0" tIns="0" rIns="0" bIns="0" anchor="ctr">
              <a:spAutoFit/>
            </a:bodyPr>
            <a:lstStyle/>
            <a:p>
              <a:pPr algn="l"/>
              <a:r>
                <a:rPr sz="1400" b="0">
                  <a:solidFill>
                    <a:srgbClr val="FFFFFF"/>
                  </a:solidFill>
                  <a:latin typeface="Segoe UI"/>
                </a:rPr>
                <a:t>Every 4 hours: 7 days in non-prod, 90 days in prod</a:t>
              </a:r>
            </a:p>
          </p:txBody>
        </p:sp>
        <p:pic>
          <p:nvPicPr>
            <p:cNvPr id="54" name="Picture 53" descr="check_teal.png"/>
            <p:cNvPicPr>
              <a:picLocks noChangeAspect="1"/>
            </p:cNvPicPr>
            <p:nvPr/>
          </p:nvPicPr>
          <p:blipFill>
            <a:blip r:embed="rId3"/>
            <a:stretch>
              <a:fillRect/>
            </a:stretch>
          </p:blipFill>
          <p:spPr>
            <a:xfrm>
              <a:off x="11201400" y="4495800"/>
              <a:ext cx="285750" cy="285750"/>
            </a:xfrm>
            <a:prstGeom prst="rect">
              <a:avLst/>
            </a:prstGeom>
          </p:spPr>
        </p:pic>
      </p:grpSp>
      <p:grpSp>
        <p:nvGrpSpPr>
          <p:cNvPr id="55" name="anim|rise|1.33"/>
          <p:cNvGrpSpPr/>
          <p:nvPr/>
        </p:nvGrpSpPr>
        <p:grpSpPr>
          <a:xfrm>
            <a:off x="609600" y="4972050"/>
            <a:ext cx="11010900" cy="514350"/>
            <a:chOff x="609600" y="4972050"/>
            <a:chExt cx="11010900" cy="514350"/>
          </a:xfrm>
        </p:grpSpPr>
        <p:pic>
          <p:nvPicPr>
            <p:cNvPr id="56" name="Picture 55" descr="shield_teal.png"/>
            <p:cNvPicPr>
              <a:picLocks noChangeAspect="1"/>
            </p:cNvPicPr>
            <p:nvPr/>
          </p:nvPicPr>
          <p:blipFill>
            <a:blip r:embed="rId8"/>
            <a:stretch>
              <a:fillRect/>
            </a:stretch>
          </p:blipFill>
          <p:spPr>
            <a:xfrm>
              <a:off x="609600" y="5086350"/>
              <a:ext cx="285750" cy="285750"/>
            </a:xfrm>
            <a:prstGeom prst="rect">
              <a:avLst/>
            </a:prstGeom>
          </p:spPr>
        </p:pic>
        <p:sp>
          <p:nvSpPr>
            <p:cNvPr id="57" name="TextBox 56"/>
            <p:cNvSpPr txBox="1"/>
            <p:nvPr/>
          </p:nvSpPr>
          <p:spPr>
            <a:xfrm>
              <a:off x="1028700" y="4972050"/>
              <a:ext cx="1771650" cy="514350"/>
            </a:xfrm>
            <a:prstGeom prst="rect">
              <a:avLst/>
            </a:prstGeom>
            <a:noFill/>
          </p:spPr>
          <p:txBody>
            <a:bodyPr wrap="square" lIns="0" tIns="0" rIns="0" bIns="0" anchor="ctr">
              <a:spAutoFit/>
            </a:bodyPr>
            <a:lstStyle/>
            <a:p>
              <a:pPr algn="l"/>
              <a:r>
                <a:rPr sz="1400" b="1">
                  <a:solidFill>
                    <a:srgbClr val="FFFFFF"/>
                  </a:solidFill>
                  <a:latin typeface="Segoe UI"/>
                </a:rPr>
                <a:t>Test without risk</a:t>
              </a:r>
            </a:p>
          </p:txBody>
        </p:sp>
        <p:sp>
          <p:nvSpPr>
            <p:cNvPr id="58" name="Rounded Rectangle 57"/>
            <p:cNvSpPr/>
            <p:nvPr/>
          </p:nvSpPr>
          <p:spPr>
            <a:xfrm>
              <a:off x="2895600" y="4972050"/>
              <a:ext cx="3619500" cy="514350"/>
            </a:xfrm>
            <a:prstGeom prst="roundRect">
              <a:avLst>
                <a:gd name="adj" fmla="val 22222"/>
              </a:avLst>
            </a:prstGeom>
            <a:solidFill>
              <a:srgbClr val="1E3A68"/>
            </a:solidFill>
            <a:ln>
              <a:noFill/>
            </a:ln>
          </p:spPr>
          <p:txBody>
            <a:bodyPr rtlCol="0" anchor="ctr"/>
            <a:lstStyle/>
            <a:p>
              <a:pPr algn="ctr"/>
              <a:endParaRPr/>
            </a:p>
          </p:txBody>
        </p:sp>
        <p:sp>
          <p:nvSpPr>
            <p:cNvPr id="59" name="TextBox 58"/>
            <p:cNvSpPr txBox="1"/>
            <p:nvPr/>
          </p:nvSpPr>
          <p:spPr>
            <a:xfrm>
              <a:off x="3067050" y="4972050"/>
              <a:ext cx="3295650" cy="514350"/>
            </a:xfrm>
            <a:prstGeom prst="rect">
              <a:avLst/>
            </a:prstGeom>
            <a:noFill/>
          </p:spPr>
          <p:txBody>
            <a:bodyPr wrap="square" lIns="0" tIns="0" rIns="0" bIns="0" anchor="ctr">
              <a:spAutoFit/>
            </a:bodyPr>
            <a:lstStyle/>
            <a:p>
              <a:pPr algn="l"/>
              <a:r>
                <a:rPr sz="1350" b="0">
                  <a:solidFill>
                    <a:srgbClr val="B0C0D9"/>
                  </a:solidFill>
                  <a:latin typeface="Segoe UI"/>
                </a:rPr>
                <a:t>Needs a separate environment</a:t>
              </a:r>
            </a:p>
          </p:txBody>
        </p:sp>
        <p:sp>
          <p:nvSpPr>
            <p:cNvPr id="60" name="Rounded Rectangle 59"/>
            <p:cNvSpPr/>
            <p:nvPr/>
          </p:nvSpPr>
          <p:spPr>
            <a:xfrm>
              <a:off x="6629400" y="4972050"/>
              <a:ext cx="4991100" cy="514350"/>
            </a:xfrm>
            <a:prstGeom prst="roundRect">
              <a:avLst>
                <a:gd name="adj" fmla="val 22222"/>
              </a:avLst>
            </a:prstGeom>
            <a:solidFill>
              <a:srgbClr val="1E3A68"/>
            </a:solidFill>
            <a:ln w="20320">
              <a:solidFill>
                <a:srgbClr val="59BEC9"/>
              </a:solidFill>
            </a:ln>
          </p:spPr>
          <p:txBody>
            <a:bodyPr rtlCol="0" anchor="ctr"/>
            <a:lstStyle/>
            <a:p>
              <a:pPr algn="ctr"/>
              <a:endParaRPr/>
            </a:p>
          </p:txBody>
        </p:sp>
        <p:sp>
          <p:nvSpPr>
            <p:cNvPr id="61" name="TextBox 60"/>
            <p:cNvSpPr txBox="1"/>
            <p:nvPr/>
          </p:nvSpPr>
          <p:spPr>
            <a:xfrm>
              <a:off x="6800850" y="4972050"/>
              <a:ext cx="4191000" cy="514350"/>
            </a:xfrm>
            <a:prstGeom prst="rect">
              <a:avLst/>
            </a:prstGeom>
            <a:noFill/>
          </p:spPr>
          <p:txBody>
            <a:bodyPr wrap="square" lIns="0" tIns="0" rIns="0" bIns="0" anchor="ctr">
              <a:spAutoFit/>
            </a:bodyPr>
            <a:lstStyle/>
            <a:p>
              <a:pPr algn="l"/>
              <a:r>
                <a:rPr sz="1400" b="0">
                  <a:solidFill>
                    <a:srgbClr val="FFFFFF"/>
                  </a:solidFill>
                  <a:latin typeface="Segoe UI"/>
                </a:rPr>
                <a:t>Restore to the -rst cluster; the original is never touched</a:t>
              </a:r>
            </a:p>
          </p:txBody>
        </p:sp>
        <p:pic>
          <p:nvPicPr>
            <p:cNvPr id="62" name="Picture 61" descr="check_teal.png"/>
            <p:cNvPicPr>
              <a:picLocks noChangeAspect="1"/>
            </p:cNvPicPr>
            <p:nvPr/>
          </p:nvPicPr>
          <p:blipFill>
            <a:blip r:embed="rId3"/>
            <a:stretch>
              <a:fillRect/>
            </a:stretch>
          </p:blipFill>
          <p:spPr>
            <a:xfrm>
              <a:off x="11201400" y="5086350"/>
              <a:ext cx="285750" cy="285750"/>
            </a:xfrm>
            <a:prstGeom prst="rect">
              <a:avLst/>
            </a:prstGeom>
          </p:spPr>
        </p:pic>
      </p:grpSp>
      <p:grpSp>
        <p:nvGrpSpPr>
          <p:cNvPr id="63" name="anim|rise|1.46"/>
          <p:cNvGrpSpPr/>
          <p:nvPr/>
        </p:nvGrpSpPr>
        <p:grpSpPr>
          <a:xfrm>
            <a:off x="571500" y="5715000"/>
            <a:ext cx="11049000" cy="533400"/>
            <a:chOff x="571500" y="5715000"/>
            <a:chExt cx="11049000" cy="533400"/>
          </a:xfrm>
        </p:grpSpPr>
        <p:sp>
          <p:nvSpPr>
            <p:cNvPr id="64" name="Rounded Rectangle 63"/>
            <p:cNvSpPr/>
            <p:nvPr/>
          </p:nvSpPr>
          <p:spPr>
            <a:xfrm>
              <a:off x="571500" y="5715000"/>
              <a:ext cx="11049000" cy="533400"/>
            </a:xfrm>
            <a:prstGeom prst="roundRect">
              <a:avLst>
                <a:gd name="adj" fmla="val 50000"/>
              </a:avLst>
            </a:prstGeom>
            <a:solidFill>
              <a:srgbClr val="1E3A68"/>
            </a:solidFill>
            <a:ln w="19050">
              <a:solidFill>
                <a:srgbClr val="FFB938"/>
              </a:solidFill>
            </a:ln>
          </p:spPr>
          <p:txBody>
            <a:bodyPr rtlCol="0" anchor="ctr"/>
            <a:lstStyle/>
            <a:p>
              <a:pPr algn="ctr"/>
              <a:endParaRPr/>
            </a:p>
          </p:txBody>
        </p:sp>
        <p:pic>
          <p:nvPicPr>
            <p:cNvPr id="65" name="Picture 64" descr="info_amber.png"/>
            <p:cNvPicPr>
              <a:picLocks noChangeAspect="1"/>
            </p:cNvPicPr>
            <p:nvPr/>
          </p:nvPicPr>
          <p:blipFill>
            <a:blip r:embed="rId9"/>
            <a:stretch>
              <a:fillRect/>
            </a:stretch>
          </p:blipFill>
          <p:spPr>
            <a:xfrm>
              <a:off x="781050" y="5838825"/>
              <a:ext cx="285750" cy="285750"/>
            </a:xfrm>
            <a:prstGeom prst="rect">
              <a:avLst/>
            </a:prstGeom>
          </p:spPr>
        </p:pic>
        <p:sp>
          <p:nvSpPr>
            <p:cNvPr id="66" name="TextBox 65"/>
            <p:cNvSpPr txBox="1"/>
            <p:nvPr/>
          </p:nvSpPr>
          <p:spPr>
            <a:xfrm>
              <a:off x="1200150" y="5715000"/>
              <a:ext cx="10191750" cy="533400"/>
            </a:xfrm>
            <a:prstGeom prst="rect">
              <a:avLst/>
            </a:prstGeom>
            <a:noFill/>
          </p:spPr>
          <p:txBody>
            <a:bodyPr wrap="square" lIns="0" tIns="0" rIns="0" bIns="0" anchor="ctr">
              <a:spAutoFit/>
            </a:bodyPr>
            <a:lstStyle/>
            <a:p>
              <a:pPr algn="l"/>
              <a:r>
                <a:rPr sz="1400" b="0">
                  <a:solidFill>
                    <a:srgbClr val="FFFFFF"/>
                  </a:solidFill>
                  <a:latin typeface="Segoe UI"/>
                </a:rPr>
                <a:t>The two work together: Terraform builds the cluster and its Azure resources, and AKS Backup brings back what runs inside it.</a:t>
              </a:r>
            </a:p>
          </p:txBody>
        </p:sp>
      </p:grpSp>
    </p:spTree>
  </p:cSld>
  <p:clrMapOvr>
    <a:masterClrMapping/>
  </p:clrMapOvr>
  <mc:AlternateContent xmlns:mc="http://schemas.openxmlformats.org/markup-compatibility/2006">
    <mc:Choice xmlns:p14="http://schemas.microsoft.com/office/powerpoint/2010/main" Requires="p14">
      <p:transition spd="slow" p14:dur="800">
        <p:fad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5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50"/>
                                        <p:tgtEl>
                                          <p:spTgt spid="3"/>
                                        </p:tgtEl>
                                      </p:cBhvr>
                                    </p:animEffect>
                                  </p:childTnLst>
                                </p:cTn>
                              </p:par>
                              <p:par>
                                <p:cTn id="8" presetID="22" presetClass="entr" presetSubtype="8" fill="hold" grpId="0" nodeType="withEffect">
                                  <p:stCondLst>
                                    <p:cond delay="100"/>
                                  </p:stCondLst>
                                  <p:childTnLst>
                                    <p:set>
                                      <p:cBhvr>
                                        <p:cTn id="9" dur="1" fill="hold">
                                          <p:stCondLst>
                                            <p:cond delay="0"/>
                                          </p:stCondLst>
                                        </p:cTn>
                                        <p:tgtEl>
                                          <p:spTgt spid="6"/>
                                        </p:tgtEl>
                                        <p:attrNameLst>
                                          <p:attrName>style.visibility</p:attrName>
                                        </p:attrNameLst>
                                      </p:cBhvr>
                                      <p:to>
                                        <p:strVal val="visible"/>
                                      </p:to>
                                    </p:set>
                                    <p:animEffect transition="in" filter="wipe(left)">
                                      <p:cBhvr>
                                        <p:cTn id="10" dur="700"/>
                                        <p:tgtEl>
                                          <p:spTgt spid="6"/>
                                        </p:tgtEl>
                                      </p:cBhvr>
                                    </p:animEffect>
                                  </p:childTnLst>
                                </p:cTn>
                              </p:par>
                              <p:par>
                                <p:cTn id="11" presetID="10" presetClass="entr" presetSubtype="0" fill="hold" grpId="0" nodeType="withEffect">
                                  <p:stCondLst>
                                    <p:cond delay="45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50"/>
                                        <p:tgtEl>
                                          <p:spTgt spid="7"/>
                                        </p:tgtEl>
                                      </p:cBhvr>
                                    </p:animEffect>
                                  </p:childTnLst>
                                </p:cTn>
                              </p:par>
                              <p:par>
                                <p:cTn id="14" presetID="10" presetClass="entr" presetSubtype="0" fill="hold" nodeType="withEffect">
                                  <p:stCondLst>
                                    <p:cond delay="55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50"/>
                                        <p:tgtEl>
                                          <p:spTgt spid="10"/>
                                        </p:tgtEl>
                                      </p:cBhvr>
                                    </p:animEffect>
                                  </p:childTnLst>
                                </p:cTn>
                              </p:par>
                              <p:par>
                                <p:cTn id="17" presetID="37" presetClass="entr" presetSubtype="0" fill="hold" nodeType="withEffect">
                                  <p:stCondLst>
                                    <p:cond delay="680"/>
                                  </p:stCondLst>
                                  <p:childTnLst>
                                    <p:set>
                                      <p:cBhvr>
                                        <p:cTn id="18" dur="1" fill="hold">
                                          <p:stCondLst>
                                            <p:cond delay="0"/>
                                          </p:stCondLst>
                                        </p:cTn>
                                        <p:tgtEl>
                                          <p:spTgt spid="15"/>
                                        </p:tgtEl>
                                        <p:attrNameLst>
                                          <p:attrName>style.visibility</p:attrName>
                                        </p:attrNameLst>
                                      </p:cBhvr>
                                      <p:to>
                                        <p:strVal val="visible"/>
                                      </p:to>
                                    </p:set>
                                    <p:animEffect transition="in" filter="fade">
                                      <p:cBhvr>
                                        <p:cTn id="19" dur="550"/>
                                        <p:tgtEl>
                                          <p:spTgt spid="15"/>
                                        </p:tgtEl>
                                      </p:cBhvr>
                                    </p:animEffect>
                                    <p:anim calcmode="lin" valueType="num">
                                      <p:cBhvr>
                                        <p:cTn id="20" dur="550" fill="hold"/>
                                        <p:tgtEl>
                                          <p:spTgt spid="15"/>
                                        </p:tgtEl>
                                        <p:attrNameLst>
                                          <p:attrName>ppt_x</p:attrName>
                                        </p:attrNameLst>
                                      </p:cBhvr>
                                      <p:tavLst>
                                        <p:tav tm="0">
                                          <p:val>
                                            <p:strVal val="#ppt_x"/>
                                          </p:val>
                                        </p:tav>
                                        <p:tav tm="100000">
                                          <p:val>
                                            <p:strVal val="#ppt_x"/>
                                          </p:val>
                                        </p:tav>
                                      </p:tavLst>
                                    </p:anim>
                                    <p:anim calcmode="lin" valueType="num">
                                      <p:cBhvr>
                                        <p:cTn id="21" dur="495" decel="100000" fill="hold"/>
                                        <p:tgtEl>
                                          <p:spTgt spid="15"/>
                                        </p:tgtEl>
                                        <p:attrNameLst>
                                          <p:attrName>ppt_y</p:attrName>
                                        </p:attrNameLst>
                                      </p:cBhvr>
                                      <p:tavLst>
                                        <p:tav tm="0">
                                          <p:val>
                                            <p:strVal val="#ppt_y+1"/>
                                          </p:val>
                                        </p:tav>
                                        <p:tav tm="100000">
                                          <p:val>
                                            <p:strVal val="#ppt_y-.03"/>
                                          </p:val>
                                        </p:tav>
                                      </p:tavLst>
                                    </p:anim>
                                    <p:anim calcmode="lin" valueType="num">
                                      <p:cBhvr>
                                        <p:cTn id="22" dur="55" accel="100000" fill="hold">
                                          <p:stCondLst>
                                            <p:cond delay="495"/>
                                          </p:stCondLst>
                                        </p:cTn>
                                        <p:tgtEl>
                                          <p:spTgt spid="15"/>
                                        </p:tgtEl>
                                        <p:attrNameLst>
                                          <p:attrName>ppt_y</p:attrName>
                                        </p:attrNameLst>
                                      </p:cBhvr>
                                      <p:tavLst>
                                        <p:tav tm="0">
                                          <p:val>
                                            <p:strVal val="#ppt_y-.03"/>
                                          </p:val>
                                        </p:tav>
                                        <p:tav tm="100000">
                                          <p:val>
                                            <p:strVal val="#ppt_y"/>
                                          </p:val>
                                        </p:tav>
                                      </p:tavLst>
                                    </p:anim>
                                  </p:childTnLst>
                                </p:cTn>
                              </p:par>
                              <p:par>
                                <p:cTn id="23" presetID="37" presetClass="entr" presetSubtype="0" fill="hold" nodeType="withEffect">
                                  <p:stCondLst>
                                    <p:cond delay="810"/>
                                  </p:stCondLst>
                                  <p:childTnLst>
                                    <p:set>
                                      <p:cBhvr>
                                        <p:cTn id="24" dur="1" fill="hold">
                                          <p:stCondLst>
                                            <p:cond delay="0"/>
                                          </p:stCondLst>
                                        </p:cTn>
                                        <p:tgtEl>
                                          <p:spTgt spid="23"/>
                                        </p:tgtEl>
                                        <p:attrNameLst>
                                          <p:attrName>style.visibility</p:attrName>
                                        </p:attrNameLst>
                                      </p:cBhvr>
                                      <p:to>
                                        <p:strVal val="visible"/>
                                      </p:to>
                                    </p:set>
                                    <p:animEffect transition="in" filter="fade">
                                      <p:cBhvr>
                                        <p:cTn id="25" dur="550"/>
                                        <p:tgtEl>
                                          <p:spTgt spid="23"/>
                                        </p:tgtEl>
                                      </p:cBhvr>
                                    </p:animEffect>
                                    <p:anim calcmode="lin" valueType="num">
                                      <p:cBhvr>
                                        <p:cTn id="26" dur="550" fill="hold"/>
                                        <p:tgtEl>
                                          <p:spTgt spid="23"/>
                                        </p:tgtEl>
                                        <p:attrNameLst>
                                          <p:attrName>ppt_x</p:attrName>
                                        </p:attrNameLst>
                                      </p:cBhvr>
                                      <p:tavLst>
                                        <p:tav tm="0">
                                          <p:val>
                                            <p:strVal val="#ppt_x"/>
                                          </p:val>
                                        </p:tav>
                                        <p:tav tm="100000">
                                          <p:val>
                                            <p:strVal val="#ppt_x"/>
                                          </p:val>
                                        </p:tav>
                                      </p:tavLst>
                                    </p:anim>
                                    <p:anim calcmode="lin" valueType="num">
                                      <p:cBhvr>
                                        <p:cTn id="27" dur="495" decel="100000" fill="hold"/>
                                        <p:tgtEl>
                                          <p:spTgt spid="23"/>
                                        </p:tgtEl>
                                        <p:attrNameLst>
                                          <p:attrName>ppt_y</p:attrName>
                                        </p:attrNameLst>
                                      </p:cBhvr>
                                      <p:tavLst>
                                        <p:tav tm="0">
                                          <p:val>
                                            <p:strVal val="#ppt_y+1"/>
                                          </p:val>
                                        </p:tav>
                                        <p:tav tm="100000">
                                          <p:val>
                                            <p:strVal val="#ppt_y-.03"/>
                                          </p:val>
                                        </p:tav>
                                      </p:tavLst>
                                    </p:anim>
                                    <p:anim calcmode="lin" valueType="num">
                                      <p:cBhvr>
                                        <p:cTn id="28" dur="55" accel="100000" fill="hold">
                                          <p:stCondLst>
                                            <p:cond delay="495"/>
                                          </p:stCondLst>
                                        </p:cTn>
                                        <p:tgtEl>
                                          <p:spTgt spid="23"/>
                                        </p:tgtEl>
                                        <p:attrNameLst>
                                          <p:attrName>ppt_y</p:attrName>
                                        </p:attrNameLst>
                                      </p:cBhvr>
                                      <p:tavLst>
                                        <p:tav tm="0">
                                          <p:val>
                                            <p:strVal val="#ppt_y-.03"/>
                                          </p:val>
                                        </p:tav>
                                        <p:tav tm="100000">
                                          <p:val>
                                            <p:strVal val="#ppt_y"/>
                                          </p:val>
                                        </p:tav>
                                      </p:tavLst>
                                    </p:anim>
                                  </p:childTnLst>
                                </p:cTn>
                              </p:par>
                              <p:par>
                                <p:cTn id="29" presetID="37" presetClass="entr" presetSubtype="0" fill="hold" nodeType="withEffect">
                                  <p:stCondLst>
                                    <p:cond delay="940"/>
                                  </p:stCondLst>
                                  <p:childTnLst>
                                    <p:set>
                                      <p:cBhvr>
                                        <p:cTn id="30" dur="1" fill="hold">
                                          <p:stCondLst>
                                            <p:cond delay="0"/>
                                          </p:stCondLst>
                                        </p:cTn>
                                        <p:tgtEl>
                                          <p:spTgt spid="31"/>
                                        </p:tgtEl>
                                        <p:attrNameLst>
                                          <p:attrName>style.visibility</p:attrName>
                                        </p:attrNameLst>
                                      </p:cBhvr>
                                      <p:to>
                                        <p:strVal val="visible"/>
                                      </p:to>
                                    </p:set>
                                    <p:animEffect transition="in" filter="fade">
                                      <p:cBhvr>
                                        <p:cTn id="31" dur="550"/>
                                        <p:tgtEl>
                                          <p:spTgt spid="31"/>
                                        </p:tgtEl>
                                      </p:cBhvr>
                                    </p:animEffect>
                                    <p:anim calcmode="lin" valueType="num">
                                      <p:cBhvr>
                                        <p:cTn id="32" dur="550" fill="hold"/>
                                        <p:tgtEl>
                                          <p:spTgt spid="31"/>
                                        </p:tgtEl>
                                        <p:attrNameLst>
                                          <p:attrName>ppt_x</p:attrName>
                                        </p:attrNameLst>
                                      </p:cBhvr>
                                      <p:tavLst>
                                        <p:tav tm="0">
                                          <p:val>
                                            <p:strVal val="#ppt_x"/>
                                          </p:val>
                                        </p:tav>
                                        <p:tav tm="100000">
                                          <p:val>
                                            <p:strVal val="#ppt_x"/>
                                          </p:val>
                                        </p:tav>
                                      </p:tavLst>
                                    </p:anim>
                                    <p:anim calcmode="lin" valueType="num">
                                      <p:cBhvr>
                                        <p:cTn id="33" dur="495" decel="100000" fill="hold"/>
                                        <p:tgtEl>
                                          <p:spTgt spid="31"/>
                                        </p:tgtEl>
                                        <p:attrNameLst>
                                          <p:attrName>ppt_y</p:attrName>
                                        </p:attrNameLst>
                                      </p:cBhvr>
                                      <p:tavLst>
                                        <p:tav tm="0">
                                          <p:val>
                                            <p:strVal val="#ppt_y+1"/>
                                          </p:val>
                                        </p:tav>
                                        <p:tav tm="100000">
                                          <p:val>
                                            <p:strVal val="#ppt_y-.03"/>
                                          </p:val>
                                        </p:tav>
                                      </p:tavLst>
                                    </p:anim>
                                    <p:anim calcmode="lin" valueType="num">
                                      <p:cBhvr>
                                        <p:cTn id="34" dur="55" accel="100000" fill="hold">
                                          <p:stCondLst>
                                            <p:cond delay="495"/>
                                          </p:stCondLst>
                                        </p:cTn>
                                        <p:tgtEl>
                                          <p:spTgt spid="31"/>
                                        </p:tgtEl>
                                        <p:attrNameLst>
                                          <p:attrName>ppt_y</p:attrName>
                                        </p:attrNameLst>
                                      </p:cBhvr>
                                      <p:tavLst>
                                        <p:tav tm="0">
                                          <p:val>
                                            <p:strVal val="#ppt_y-.03"/>
                                          </p:val>
                                        </p:tav>
                                        <p:tav tm="100000">
                                          <p:val>
                                            <p:strVal val="#ppt_y"/>
                                          </p:val>
                                        </p:tav>
                                      </p:tavLst>
                                    </p:anim>
                                  </p:childTnLst>
                                </p:cTn>
                              </p:par>
                              <p:par>
                                <p:cTn id="35" presetID="37" presetClass="entr" presetSubtype="0" fill="hold" nodeType="withEffect">
                                  <p:stCondLst>
                                    <p:cond delay="1070"/>
                                  </p:stCondLst>
                                  <p:childTnLst>
                                    <p:set>
                                      <p:cBhvr>
                                        <p:cTn id="36" dur="1" fill="hold">
                                          <p:stCondLst>
                                            <p:cond delay="0"/>
                                          </p:stCondLst>
                                        </p:cTn>
                                        <p:tgtEl>
                                          <p:spTgt spid="39"/>
                                        </p:tgtEl>
                                        <p:attrNameLst>
                                          <p:attrName>style.visibility</p:attrName>
                                        </p:attrNameLst>
                                      </p:cBhvr>
                                      <p:to>
                                        <p:strVal val="visible"/>
                                      </p:to>
                                    </p:set>
                                    <p:animEffect transition="in" filter="fade">
                                      <p:cBhvr>
                                        <p:cTn id="37" dur="550"/>
                                        <p:tgtEl>
                                          <p:spTgt spid="39"/>
                                        </p:tgtEl>
                                      </p:cBhvr>
                                    </p:animEffect>
                                    <p:anim calcmode="lin" valueType="num">
                                      <p:cBhvr>
                                        <p:cTn id="38" dur="550" fill="hold"/>
                                        <p:tgtEl>
                                          <p:spTgt spid="39"/>
                                        </p:tgtEl>
                                        <p:attrNameLst>
                                          <p:attrName>ppt_x</p:attrName>
                                        </p:attrNameLst>
                                      </p:cBhvr>
                                      <p:tavLst>
                                        <p:tav tm="0">
                                          <p:val>
                                            <p:strVal val="#ppt_x"/>
                                          </p:val>
                                        </p:tav>
                                        <p:tav tm="100000">
                                          <p:val>
                                            <p:strVal val="#ppt_x"/>
                                          </p:val>
                                        </p:tav>
                                      </p:tavLst>
                                    </p:anim>
                                    <p:anim calcmode="lin" valueType="num">
                                      <p:cBhvr>
                                        <p:cTn id="39" dur="495" decel="100000" fill="hold"/>
                                        <p:tgtEl>
                                          <p:spTgt spid="39"/>
                                        </p:tgtEl>
                                        <p:attrNameLst>
                                          <p:attrName>ppt_y</p:attrName>
                                        </p:attrNameLst>
                                      </p:cBhvr>
                                      <p:tavLst>
                                        <p:tav tm="0">
                                          <p:val>
                                            <p:strVal val="#ppt_y+1"/>
                                          </p:val>
                                        </p:tav>
                                        <p:tav tm="100000">
                                          <p:val>
                                            <p:strVal val="#ppt_y-.03"/>
                                          </p:val>
                                        </p:tav>
                                      </p:tavLst>
                                    </p:anim>
                                    <p:anim calcmode="lin" valueType="num">
                                      <p:cBhvr>
                                        <p:cTn id="40" dur="55" accel="100000" fill="hold">
                                          <p:stCondLst>
                                            <p:cond delay="495"/>
                                          </p:stCondLst>
                                        </p:cTn>
                                        <p:tgtEl>
                                          <p:spTgt spid="39"/>
                                        </p:tgtEl>
                                        <p:attrNameLst>
                                          <p:attrName>ppt_y</p:attrName>
                                        </p:attrNameLst>
                                      </p:cBhvr>
                                      <p:tavLst>
                                        <p:tav tm="0">
                                          <p:val>
                                            <p:strVal val="#ppt_y-.03"/>
                                          </p:val>
                                        </p:tav>
                                        <p:tav tm="100000">
                                          <p:val>
                                            <p:strVal val="#ppt_y"/>
                                          </p:val>
                                        </p:tav>
                                      </p:tavLst>
                                    </p:anim>
                                  </p:childTnLst>
                                </p:cTn>
                              </p:par>
                              <p:par>
                                <p:cTn id="41" presetID="37" presetClass="entr" presetSubtype="0" fill="hold" nodeType="withEffect">
                                  <p:stCondLst>
                                    <p:cond delay="1200"/>
                                  </p:stCondLst>
                                  <p:childTnLst>
                                    <p:set>
                                      <p:cBhvr>
                                        <p:cTn id="42" dur="1" fill="hold">
                                          <p:stCondLst>
                                            <p:cond delay="0"/>
                                          </p:stCondLst>
                                        </p:cTn>
                                        <p:tgtEl>
                                          <p:spTgt spid="47"/>
                                        </p:tgtEl>
                                        <p:attrNameLst>
                                          <p:attrName>style.visibility</p:attrName>
                                        </p:attrNameLst>
                                      </p:cBhvr>
                                      <p:to>
                                        <p:strVal val="visible"/>
                                      </p:to>
                                    </p:set>
                                    <p:animEffect transition="in" filter="fade">
                                      <p:cBhvr>
                                        <p:cTn id="43" dur="550"/>
                                        <p:tgtEl>
                                          <p:spTgt spid="47"/>
                                        </p:tgtEl>
                                      </p:cBhvr>
                                    </p:animEffect>
                                    <p:anim calcmode="lin" valueType="num">
                                      <p:cBhvr>
                                        <p:cTn id="44" dur="550" fill="hold"/>
                                        <p:tgtEl>
                                          <p:spTgt spid="47"/>
                                        </p:tgtEl>
                                        <p:attrNameLst>
                                          <p:attrName>ppt_x</p:attrName>
                                        </p:attrNameLst>
                                      </p:cBhvr>
                                      <p:tavLst>
                                        <p:tav tm="0">
                                          <p:val>
                                            <p:strVal val="#ppt_x"/>
                                          </p:val>
                                        </p:tav>
                                        <p:tav tm="100000">
                                          <p:val>
                                            <p:strVal val="#ppt_x"/>
                                          </p:val>
                                        </p:tav>
                                      </p:tavLst>
                                    </p:anim>
                                    <p:anim calcmode="lin" valueType="num">
                                      <p:cBhvr>
                                        <p:cTn id="45" dur="495" decel="100000" fill="hold"/>
                                        <p:tgtEl>
                                          <p:spTgt spid="47"/>
                                        </p:tgtEl>
                                        <p:attrNameLst>
                                          <p:attrName>ppt_y</p:attrName>
                                        </p:attrNameLst>
                                      </p:cBhvr>
                                      <p:tavLst>
                                        <p:tav tm="0">
                                          <p:val>
                                            <p:strVal val="#ppt_y+1"/>
                                          </p:val>
                                        </p:tav>
                                        <p:tav tm="100000">
                                          <p:val>
                                            <p:strVal val="#ppt_y-.03"/>
                                          </p:val>
                                        </p:tav>
                                      </p:tavLst>
                                    </p:anim>
                                    <p:anim calcmode="lin" valueType="num">
                                      <p:cBhvr>
                                        <p:cTn id="46" dur="55" accel="100000" fill="hold">
                                          <p:stCondLst>
                                            <p:cond delay="495"/>
                                          </p:stCondLst>
                                        </p:cTn>
                                        <p:tgtEl>
                                          <p:spTgt spid="47"/>
                                        </p:tgtEl>
                                        <p:attrNameLst>
                                          <p:attrName>ppt_y</p:attrName>
                                        </p:attrNameLst>
                                      </p:cBhvr>
                                      <p:tavLst>
                                        <p:tav tm="0">
                                          <p:val>
                                            <p:strVal val="#ppt_y-.03"/>
                                          </p:val>
                                        </p:tav>
                                        <p:tav tm="100000">
                                          <p:val>
                                            <p:strVal val="#ppt_y"/>
                                          </p:val>
                                        </p:tav>
                                      </p:tavLst>
                                    </p:anim>
                                  </p:childTnLst>
                                </p:cTn>
                              </p:par>
                              <p:par>
                                <p:cTn id="47" presetID="37" presetClass="entr" presetSubtype="0" fill="hold" nodeType="withEffect">
                                  <p:stCondLst>
                                    <p:cond delay="1330"/>
                                  </p:stCondLst>
                                  <p:childTnLst>
                                    <p:set>
                                      <p:cBhvr>
                                        <p:cTn id="48" dur="1" fill="hold">
                                          <p:stCondLst>
                                            <p:cond delay="0"/>
                                          </p:stCondLst>
                                        </p:cTn>
                                        <p:tgtEl>
                                          <p:spTgt spid="55"/>
                                        </p:tgtEl>
                                        <p:attrNameLst>
                                          <p:attrName>style.visibility</p:attrName>
                                        </p:attrNameLst>
                                      </p:cBhvr>
                                      <p:to>
                                        <p:strVal val="visible"/>
                                      </p:to>
                                    </p:set>
                                    <p:animEffect transition="in" filter="fade">
                                      <p:cBhvr>
                                        <p:cTn id="49" dur="550"/>
                                        <p:tgtEl>
                                          <p:spTgt spid="55"/>
                                        </p:tgtEl>
                                      </p:cBhvr>
                                    </p:animEffect>
                                    <p:anim calcmode="lin" valueType="num">
                                      <p:cBhvr>
                                        <p:cTn id="50" dur="550" fill="hold"/>
                                        <p:tgtEl>
                                          <p:spTgt spid="55"/>
                                        </p:tgtEl>
                                        <p:attrNameLst>
                                          <p:attrName>ppt_x</p:attrName>
                                        </p:attrNameLst>
                                      </p:cBhvr>
                                      <p:tavLst>
                                        <p:tav tm="0">
                                          <p:val>
                                            <p:strVal val="#ppt_x"/>
                                          </p:val>
                                        </p:tav>
                                        <p:tav tm="100000">
                                          <p:val>
                                            <p:strVal val="#ppt_x"/>
                                          </p:val>
                                        </p:tav>
                                      </p:tavLst>
                                    </p:anim>
                                    <p:anim calcmode="lin" valueType="num">
                                      <p:cBhvr>
                                        <p:cTn id="51" dur="495" decel="100000" fill="hold"/>
                                        <p:tgtEl>
                                          <p:spTgt spid="55"/>
                                        </p:tgtEl>
                                        <p:attrNameLst>
                                          <p:attrName>ppt_y</p:attrName>
                                        </p:attrNameLst>
                                      </p:cBhvr>
                                      <p:tavLst>
                                        <p:tav tm="0">
                                          <p:val>
                                            <p:strVal val="#ppt_y+1"/>
                                          </p:val>
                                        </p:tav>
                                        <p:tav tm="100000">
                                          <p:val>
                                            <p:strVal val="#ppt_y-.03"/>
                                          </p:val>
                                        </p:tav>
                                      </p:tavLst>
                                    </p:anim>
                                    <p:anim calcmode="lin" valueType="num">
                                      <p:cBhvr>
                                        <p:cTn id="52" dur="55" accel="100000" fill="hold">
                                          <p:stCondLst>
                                            <p:cond delay="495"/>
                                          </p:stCondLst>
                                        </p:cTn>
                                        <p:tgtEl>
                                          <p:spTgt spid="55"/>
                                        </p:tgtEl>
                                        <p:attrNameLst>
                                          <p:attrName>ppt_y</p:attrName>
                                        </p:attrNameLst>
                                      </p:cBhvr>
                                      <p:tavLst>
                                        <p:tav tm="0">
                                          <p:val>
                                            <p:strVal val="#ppt_y-.03"/>
                                          </p:val>
                                        </p:tav>
                                        <p:tav tm="100000">
                                          <p:val>
                                            <p:strVal val="#ppt_y"/>
                                          </p:val>
                                        </p:tav>
                                      </p:tavLst>
                                    </p:anim>
                                  </p:childTnLst>
                                </p:cTn>
                              </p:par>
                              <p:par>
                                <p:cTn id="53" presetID="37" presetClass="entr" presetSubtype="0" fill="hold" nodeType="withEffect">
                                  <p:stCondLst>
                                    <p:cond delay="1460"/>
                                  </p:stCondLst>
                                  <p:childTnLst>
                                    <p:set>
                                      <p:cBhvr>
                                        <p:cTn id="54" dur="1" fill="hold">
                                          <p:stCondLst>
                                            <p:cond delay="0"/>
                                          </p:stCondLst>
                                        </p:cTn>
                                        <p:tgtEl>
                                          <p:spTgt spid="63"/>
                                        </p:tgtEl>
                                        <p:attrNameLst>
                                          <p:attrName>style.visibility</p:attrName>
                                        </p:attrNameLst>
                                      </p:cBhvr>
                                      <p:to>
                                        <p:strVal val="visible"/>
                                      </p:to>
                                    </p:set>
                                    <p:animEffect transition="in" filter="fade">
                                      <p:cBhvr>
                                        <p:cTn id="55" dur="550"/>
                                        <p:tgtEl>
                                          <p:spTgt spid="63"/>
                                        </p:tgtEl>
                                      </p:cBhvr>
                                    </p:animEffect>
                                    <p:anim calcmode="lin" valueType="num">
                                      <p:cBhvr>
                                        <p:cTn id="56" dur="550" fill="hold"/>
                                        <p:tgtEl>
                                          <p:spTgt spid="63"/>
                                        </p:tgtEl>
                                        <p:attrNameLst>
                                          <p:attrName>ppt_x</p:attrName>
                                        </p:attrNameLst>
                                      </p:cBhvr>
                                      <p:tavLst>
                                        <p:tav tm="0">
                                          <p:val>
                                            <p:strVal val="#ppt_x"/>
                                          </p:val>
                                        </p:tav>
                                        <p:tav tm="100000">
                                          <p:val>
                                            <p:strVal val="#ppt_x"/>
                                          </p:val>
                                        </p:tav>
                                      </p:tavLst>
                                    </p:anim>
                                    <p:anim calcmode="lin" valueType="num">
                                      <p:cBhvr>
                                        <p:cTn id="57" dur="495" decel="100000" fill="hold"/>
                                        <p:tgtEl>
                                          <p:spTgt spid="63"/>
                                        </p:tgtEl>
                                        <p:attrNameLst>
                                          <p:attrName>ppt_y</p:attrName>
                                        </p:attrNameLst>
                                      </p:cBhvr>
                                      <p:tavLst>
                                        <p:tav tm="0">
                                          <p:val>
                                            <p:strVal val="#ppt_y+1"/>
                                          </p:val>
                                        </p:tav>
                                        <p:tav tm="100000">
                                          <p:val>
                                            <p:strVal val="#ppt_y-.03"/>
                                          </p:val>
                                        </p:tav>
                                      </p:tavLst>
                                    </p:anim>
                                    <p:anim calcmode="lin" valueType="num">
                                      <p:cBhvr>
                                        <p:cTn id="58" dur="55" accel="100000" fill="hold">
                                          <p:stCondLst>
                                            <p:cond delay="495"/>
                                          </p:stCondLst>
                                        </p:cTn>
                                        <p:tgtEl>
                                          <p:spTgt spid="63"/>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4284B"/>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57150"/>
          </a:xfrm>
          <a:prstGeom prst="rect">
            <a:avLst/>
          </a:prstGeom>
          <a:solidFill>
            <a:srgbClr val="59BEC9"/>
          </a:solidFill>
          <a:ln>
            <a:noFill/>
          </a:ln>
        </p:spPr>
        <p:txBody>
          <a:bodyPr rtlCol="0" anchor="ctr"/>
          <a:lstStyle/>
          <a:p>
            <a:pPr algn="ctr"/>
            <a:endParaRPr/>
          </a:p>
        </p:txBody>
      </p:sp>
      <p:grpSp>
        <p:nvGrpSpPr>
          <p:cNvPr id="3" name="anim|fade|0.05"/>
          <p:cNvGrpSpPr/>
          <p:nvPr/>
        </p:nvGrpSpPr>
        <p:grpSpPr>
          <a:xfrm>
            <a:off x="571500" y="266700"/>
            <a:ext cx="7105650" cy="190500"/>
            <a:chOff x="571500" y="266700"/>
            <a:chExt cx="7105650" cy="190500"/>
          </a:xfrm>
        </p:grpSpPr>
        <p:sp>
          <p:nvSpPr>
            <p:cNvPr id="4" name="Rectangle 3"/>
            <p:cNvSpPr/>
            <p:nvPr/>
          </p:nvSpPr>
          <p:spPr>
            <a:xfrm>
              <a:off x="571500" y="342900"/>
              <a:ext cx="342900" cy="47625"/>
            </a:xfrm>
            <a:prstGeom prst="rect">
              <a:avLst/>
            </a:prstGeom>
            <a:solidFill>
              <a:srgbClr val="FFB938"/>
            </a:solidFill>
            <a:ln>
              <a:noFill/>
            </a:ln>
          </p:spPr>
          <p:txBody>
            <a:bodyPr rtlCol="0" anchor="ctr"/>
            <a:lstStyle/>
            <a:p>
              <a:pPr algn="ctr"/>
              <a:endParaRPr/>
            </a:p>
          </p:txBody>
        </p:sp>
        <p:sp>
          <p:nvSpPr>
            <p:cNvPr id="5" name="TextBox 4"/>
            <p:cNvSpPr txBox="1"/>
            <p:nvPr/>
          </p:nvSpPr>
          <p:spPr>
            <a:xfrm>
              <a:off x="1009650" y="266700"/>
              <a:ext cx="6667500" cy="190500"/>
            </a:xfrm>
            <a:prstGeom prst="rect">
              <a:avLst/>
            </a:prstGeom>
            <a:noFill/>
          </p:spPr>
          <p:txBody>
            <a:bodyPr wrap="square" lIns="0" tIns="0" rIns="0" bIns="0" anchor="t">
              <a:spAutoFit/>
            </a:bodyPr>
            <a:lstStyle/>
            <a:p>
              <a:pPr algn="l"/>
              <a:r>
                <a:rPr sz="1100" b="1" spc="300">
                  <a:solidFill>
                    <a:srgbClr val="59BEC9"/>
                  </a:solidFill>
                  <a:latin typeface="Century Gothic"/>
                </a:rPr>
                <a:t>AGENDA</a:t>
              </a:r>
            </a:p>
          </p:txBody>
        </p:sp>
      </p:grpSp>
      <p:sp>
        <p:nvSpPr>
          <p:cNvPr id="6" name="anim|wipeL|0.1"/>
          <p:cNvSpPr txBox="1"/>
          <p:nvPr/>
        </p:nvSpPr>
        <p:spPr>
          <a:xfrm>
            <a:off x="571500" y="533400"/>
            <a:ext cx="11049000" cy="533400"/>
          </a:xfrm>
          <a:prstGeom prst="rect">
            <a:avLst/>
          </a:prstGeom>
          <a:noFill/>
        </p:spPr>
        <p:txBody>
          <a:bodyPr wrap="square" lIns="0" tIns="0" rIns="0" bIns="0" anchor="t">
            <a:spAutoFit/>
          </a:bodyPr>
          <a:lstStyle/>
          <a:p>
            <a:pPr algn="l"/>
            <a:r>
              <a:rPr sz="3100" b="1">
                <a:solidFill>
                  <a:srgbClr val="FFFFFF"/>
                </a:solidFill>
                <a:latin typeface="Century Gothic"/>
              </a:rPr>
              <a:t>What we will cover next</a:t>
            </a:r>
          </a:p>
        </p:txBody>
      </p:sp>
      <p:sp>
        <p:nvSpPr>
          <p:cNvPr id="7" name="anim|fade|0.45"/>
          <p:cNvSpPr txBox="1"/>
          <p:nvPr/>
        </p:nvSpPr>
        <p:spPr>
          <a:xfrm>
            <a:off x="571500" y="1028700"/>
            <a:ext cx="11049000" cy="247650"/>
          </a:xfrm>
          <a:prstGeom prst="rect">
            <a:avLst/>
          </a:prstGeom>
          <a:noFill/>
        </p:spPr>
        <p:txBody>
          <a:bodyPr wrap="square" lIns="0" tIns="0" rIns="0" bIns="0" anchor="t">
            <a:spAutoFit/>
          </a:bodyPr>
          <a:lstStyle/>
          <a:p>
            <a:pPr algn="l"/>
            <a:r>
              <a:rPr sz="1500" b="0">
                <a:solidFill>
                  <a:srgbClr val="B0C0D9"/>
                </a:solidFill>
                <a:latin typeface="Segoe UI"/>
              </a:rPr>
              <a:t>From how it works to a working restore</a:t>
            </a:r>
          </a:p>
        </p:txBody>
      </p:sp>
      <p:sp>
        <p:nvSpPr>
          <p:cNvPr id="8" name="TextBox 7"/>
          <p:cNvSpPr txBox="1"/>
          <p:nvPr/>
        </p:nvSpPr>
        <p:spPr>
          <a:xfrm>
            <a:off x="571500" y="6534150"/>
            <a:ext cx="6667500" cy="171450"/>
          </a:xfrm>
          <a:prstGeom prst="rect">
            <a:avLst/>
          </a:prstGeom>
          <a:noFill/>
        </p:spPr>
        <p:txBody>
          <a:bodyPr wrap="square" lIns="0" tIns="0" rIns="0" bIns="0" anchor="t">
            <a:spAutoFit/>
          </a:bodyPr>
          <a:lstStyle/>
          <a:p>
            <a:pPr algn="l"/>
            <a:r>
              <a:rPr sz="950" b="0">
                <a:solidFill>
                  <a:srgbClr val="B0C0D9"/>
                </a:solidFill>
                <a:latin typeface="Segoe UI"/>
              </a:rPr>
              <a:t>AKS Backup &amp; Restore  |  BFH AKS IHUB Platform Team</a:t>
            </a:r>
          </a:p>
        </p:txBody>
      </p:sp>
      <p:sp>
        <p:nvSpPr>
          <p:cNvPr id="9" name="TextBox 8"/>
          <p:cNvSpPr txBox="1"/>
          <p:nvPr/>
        </p:nvSpPr>
        <p:spPr>
          <a:xfrm>
            <a:off x="10668000" y="6534150"/>
            <a:ext cx="952500" cy="171450"/>
          </a:xfrm>
          <a:prstGeom prst="rect">
            <a:avLst/>
          </a:prstGeom>
          <a:noFill/>
        </p:spPr>
        <p:txBody>
          <a:bodyPr wrap="square" lIns="0" tIns="0" rIns="0" bIns="0" anchor="t">
            <a:spAutoFit/>
          </a:bodyPr>
          <a:lstStyle/>
          <a:p>
            <a:pPr algn="r"/>
            <a:r>
              <a:rPr sz="1000" b="1">
                <a:solidFill>
                  <a:srgbClr val="FFB938"/>
                </a:solidFill>
                <a:latin typeface="Century Gothic"/>
              </a:rPr>
              <a:t>5</a:t>
            </a:r>
          </a:p>
        </p:txBody>
      </p:sp>
      <p:grpSp>
        <p:nvGrpSpPr>
          <p:cNvPr id="10" name="anim|rise|0.55"/>
          <p:cNvGrpSpPr/>
          <p:nvPr/>
        </p:nvGrpSpPr>
        <p:grpSpPr>
          <a:xfrm>
            <a:off x="571500" y="1485900"/>
            <a:ext cx="3543300" cy="2209800"/>
            <a:chOff x="571500" y="1485900"/>
            <a:chExt cx="3543300" cy="2209800"/>
          </a:xfrm>
        </p:grpSpPr>
        <p:sp>
          <p:nvSpPr>
            <p:cNvPr id="11" name="Rounded Rectangle 10"/>
            <p:cNvSpPr/>
            <p:nvPr/>
          </p:nvSpPr>
          <p:spPr>
            <a:xfrm>
              <a:off x="571500" y="1485900"/>
              <a:ext cx="3543300" cy="2209800"/>
            </a:xfrm>
            <a:prstGeom prst="roundRect">
              <a:avLst>
                <a:gd name="adj" fmla="val 7758"/>
              </a:avLst>
            </a:prstGeom>
            <a:solidFill>
              <a:srgbClr val="1E3A68"/>
            </a:solidFill>
            <a:ln>
              <a:noFill/>
            </a:ln>
          </p:spPr>
          <p:txBody>
            <a:bodyPr rtlCol="0" anchor="ctr"/>
            <a:lstStyle/>
            <a:p>
              <a:pPr algn="ctr"/>
              <a:endParaRPr/>
            </a:p>
          </p:txBody>
        </p:sp>
        <p:sp>
          <p:nvSpPr>
            <p:cNvPr id="12" name="TextBox 11"/>
            <p:cNvSpPr txBox="1"/>
            <p:nvPr/>
          </p:nvSpPr>
          <p:spPr>
            <a:xfrm>
              <a:off x="838200" y="1695450"/>
              <a:ext cx="1905000" cy="723900"/>
            </a:xfrm>
            <a:prstGeom prst="rect">
              <a:avLst/>
            </a:prstGeom>
            <a:noFill/>
          </p:spPr>
          <p:txBody>
            <a:bodyPr wrap="square" lIns="0" tIns="0" rIns="0" bIns="0" anchor="t">
              <a:spAutoFit/>
            </a:bodyPr>
            <a:lstStyle/>
            <a:p>
              <a:pPr algn="l"/>
              <a:r>
                <a:rPr sz="5200" b="1">
                  <a:solidFill>
                    <a:srgbClr val="FFB938"/>
                  </a:solidFill>
                  <a:latin typeface="Century Gothic"/>
                </a:rPr>
                <a:t>01</a:t>
              </a:r>
            </a:p>
          </p:txBody>
        </p:sp>
        <p:sp>
          <p:nvSpPr>
            <p:cNvPr id="13" name="Rectangle 12"/>
            <p:cNvSpPr/>
            <p:nvPr/>
          </p:nvSpPr>
          <p:spPr>
            <a:xfrm>
              <a:off x="857250" y="2476500"/>
              <a:ext cx="419100" cy="38100"/>
            </a:xfrm>
            <a:prstGeom prst="rect">
              <a:avLst/>
            </a:prstGeom>
            <a:solidFill>
              <a:srgbClr val="FFB938"/>
            </a:solidFill>
            <a:ln>
              <a:noFill/>
            </a:ln>
          </p:spPr>
          <p:txBody>
            <a:bodyPr rtlCol="0" anchor="ctr"/>
            <a:lstStyle/>
            <a:p>
              <a:pPr algn="ctr"/>
              <a:endParaRPr/>
            </a:p>
          </p:txBody>
        </p:sp>
        <p:sp>
          <p:nvSpPr>
            <p:cNvPr id="14" name="TextBox 13"/>
            <p:cNvSpPr txBox="1"/>
            <p:nvPr/>
          </p:nvSpPr>
          <p:spPr>
            <a:xfrm>
              <a:off x="838200" y="2667000"/>
              <a:ext cx="3009900" cy="323850"/>
            </a:xfrm>
            <a:prstGeom prst="rect">
              <a:avLst/>
            </a:prstGeom>
            <a:noFill/>
          </p:spPr>
          <p:txBody>
            <a:bodyPr wrap="square" lIns="0" tIns="0" rIns="0" bIns="0" anchor="t">
              <a:spAutoFit/>
            </a:bodyPr>
            <a:lstStyle/>
            <a:p>
              <a:pPr algn="l"/>
              <a:r>
                <a:rPr sz="1900" b="1">
                  <a:solidFill>
                    <a:srgbClr val="FFFFFF"/>
                  </a:solidFill>
                  <a:latin typeface="Century Gothic"/>
                </a:rPr>
                <a:t>How AKS Backup works</a:t>
              </a:r>
            </a:p>
          </p:txBody>
        </p:sp>
        <p:sp>
          <p:nvSpPr>
            <p:cNvPr id="15" name="TextBox 14"/>
            <p:cNvSpPr txBox="1"/>
            <p:nvPr/>
          </p:nvSpPr>
          <p:spPr>
            <a:xfrm>
              <a:off x="838200" y="3048000"/>
              <a:ext cx="3009900" cy="571500"/>
            </a:xfrm>
            <a:prstGeom prst="rect">
              <a:avLst/>
            </a:prstGeom>
            <a:noFill/>
          </p:spPr>
          <p:txBody>
            <a:bodyPr wrap="square" lIns="0" tIns="0" rIns="0" bIns="0" anchor="t">
              <a:spAutoFit/>
            </a:bodyPr>
            <a:lstStyle/>
            <a:p>
              <a:pPr algn="l"/>
              <a:r>
                <a:rPr sz="1400" b="0">
                  <a:solidFill>
                    <a:srgbClr val="B0C0D9"/>
                  </a:solidFill>
                  <a:latin typeface="Segoe UI"/>
                </a:rPr>
                <a:t>Extension, Trusted Access and the operational tier</a:t>
              </a:r>
            </a:p>
          </p:txBody>
        </p:sp>
      </p:grpSp>
      <p:grpSp>
        <p:nvGrpSpPr>
          <p:cNvPr id="16" name="anim|rise|0.69"/>
          <p:cNvGrpSpPr/>
          <p:nvPr/>
        </p:nvGrpSpPr>
        <p:grpSpPr>
          <a:xfrm>
            <a:off x="4324350" y="1485900"/>
            <a:ext cx="3543300" cy="2209800"/>
            <a:chOff x="4324350" y="1485900"/>
            <a:chExt cx="3543300" cy="2209800"/>
          </a:xfrm>
        </p:grpSpPr>
        <p:sp>
          <p:nvSpPr>
            <p:cNvPr id="17" name="Rounded Rectangle 16"/>
            <p:cNvSpPr/>
            <p:nvPr/>
          </p:nvSpPr>
          <p:spPr>
            <a:xfrm>
              <a:off x="4324350" y="1485900"/>
              <a:ext cx="3543300" cy="2209800"/>
            </a:xfrm>
            <a:prstGeom prst="roundRect">
              <a:avLst>
                <a:gd name="adj" fmla="val 7758"/>
              </a:avLst>
            </a:prstGeom>
            <a:solidFill>
              <a:srgbClr val="1E3A68"/>
            </a:solidFill>
            <a:ln>
              <a:noFill/>
            </a:ln>
          </p:spPr>
          <p:txBody>
            <a:bodyPr rtlCol="0" anchor="ctr"/>
            <a:lstStyle/>
            <a:p>
              <a:pPr algn="ctr"/>
              <a:endParaRPr/>
            </a:p>
          </p:txBody>
        </p:sp>
        <p:sp>
          <p:nvSpPr>
            <p:cNvPr id="18" name="TextBox 17"/>
            <p:cNvSpPr txBox="1"/>
            <p:nvPr/>
          </p:nvSpPr>
          <p:spPr>
            <a:xfrm>
              <a:off x="4591050" y="1695450"/>
              <a:ext cx="1905000" cy="723900"/>
            </a:xfrm>
            <a:prstGeom prst="rect">
              <a:avLst/>
            </a:prstGeom>
            <a:noFill/>
          </p:spPr>
          <p:txBody>
            <a:bodyPr wrap="square" lIns="0" tIns="0" rIns="0" bIns="0" anchor="t">
              <a:spAutoFit/>
            </a:bodyPr>
            <a:lstStyle/>
            <a:p>
              <a:pPr algn="l"/>
              <a:r>
                <a:rPr sz="5200" b="1">
                  <a:solidFill>
                    <a:srgbClr val="59BEC9"/>
                  </a:solidFill>
                  <a:latin typeface="Century Gothic"/>
                </a:rPr>
                <a:t>02</a:t>
              </a:r>
            </a:p>
          </p:txBody>
        </p:sp>
        <p:sp>
          <p:nvSpPr>
            <p:cNvPr id="19" name="Rectangle 18"/>
            <p:cNvSpPr/>
            <p:nvPr/>
          </p:nvSpPr>
          <p:spPr>
            <a:xfrm>
              <a:off x="4610100" y="2476500"/>
              <a:ext cx="419100" cy="38100"/>
            </a:xfrm>
            <a:prstGeom prst="rect">
              <a:avLst/>
            </a:prstGeom>
            <a:solidFill>
              <a:srgbClr val="FFB938"/>
            </a:solidFill>
            <a:ln>
              <a:noFill/>
            </a:ln>
          </p:spPr>
          <p:txBody>
            <a:bodyPr rtlCol="0" anchor="ctr"/>
            <a:lstStyle/>
            <a:p>
              <a:pPr algn="ctr"/>
              <a:endParaRPr/>
            </a:p>
          </p:txBody>
        </p:sp>
        <p:sp>
          <p:nvSpPr>
            <p:cNvPr id="20" name="TextBox 19"/>
            <p:cNvSpPr txBox="1"/>
            <p:nvPr/>
          </p:nvSpPr>
          <p:spPr>
            <a:xfrm>
              <a:off x="4591050" y="2667000"/>
              <a:ext cx="3009900" cy="323850"/>
            </a:xfrm>
            <a:prstGeom prst="rect">
              <a:avLst/>
            </a:prstGeom>
            <a:noFill/>
          </p:spPr>
          <p:txBody>
            <a:bodyPr wrap="square" lIns="0" tIns="0" rIns="0" bIns="0" anchor="t">
              <a:spAutoFit/>
            </a:bodyPr>
            <a:lstStyle/>
            <a:p>
              <a:pPr algn="l"/>
              <a:r>
                <a:rPr sz="1900" b="1">
                  <a:solidFill>
                    <a:srgbClr val="FFFFFF"/>
                  </a:solidFill>
                  <a:latin typeface="Century Gothic"/>
                </a:rPr>
                <a:t>Our architecture</a:t>
              </a:r>
            </a:p>
          </p:txBody>
        </p:sp>
        <p:sp>
          <p:nvSpPr>
            <p:cNvPr id="21" name="TextBox 20"/>
            <p:cNvSpPr txBox="1"/>
            <p:nvPr/>
          </p:nvSpPr>
          <p:spPr>
            <a:xfrm>
              <a:off x="4591050" y="3048000"/>
              <a:ext cx="3009900" cy="571500"/>
            </a:xfrm>
            <a:prstGeom prst="rect">
              <a:avLst/>
            </a:prstGeom>
            <a:noFill/>
          </p:spPr>
          <p:txBody>
            <a:bodyPr wrap="square" lIns="0" tIns="0" rIns="0" bIns="0" anchor="t">
              <a:spAutoFit/>
            </a:bodyPr>
            <a:lstStyle/>
            <a:p>
              <a:pPr algn="l"/>
              <a:r>
                <a:rPr sz="1400" b="0">
                  <a:solidFill>
                    <a:srgbClr val="B0C0D9"/>
                  </a:solidFill>
                  <a:latin typeface="Segoe UI"/>
                </a:rPr>
                <a:t>Original cluster, vault, storage and the -rst cluster</a:t>
              </a:r>
            </a:p>
          </p:txBody>
        </p:sp>
      </p:grpSp>
      <p:grpSp>
        <p:nvGrpSpPr>
          <p:cNvPr id="22" name="anim|rise|0.83"/>
          <p:cNvGrpSpPr/>
          <p:nvPr/>
        </p:nvGrpSpPr>
        <p:grpSpPr>
          <a:xfrm>
            <a:off x="8077200" y="1485900"/>
            <a:ext cx="3543300" cy="2209800"/>
            <a:chOff x="8077200" y="1485900"/>
            <a:chExt cx="3543300" cy="2209800"/>
          </a:xfrm>
        </p:grpSpPr>
        <p:sp>
          <p:nvSpPr>
            <p:cNvPr id="23" name="Rounded Rectangle 22"/>
            <p:cNvSpPr/>
            <p:nvPr/>
          </p:nvSpPr>
          <p:spPr>
            <a:xfrm>
              <a:off x="8077200" y="1485900"/>
              <a:ext cx="3543300" cy="2209800"/>
            </a:xfrm>
            <a:prstGeom prst="roundRect">
              <a:avLst>
                <a:gd name="adj" fmla="val 7758"/>
              </a:avLst>
            </a:prstGeom>
            <a:solidFill>
              <a:srgbClr val="1E3A68"/>
            </a:solidFill>
            <a:ln>
              <a:noFill/>
            </a:ln>
          </p:spPr>
          <p:txBody>
            <a:bodyPr rtlCol="0" anchor="ctr"/>
            <a:lstStyle/>
            <a:p>
              <a:pPr algn="ctr"/>
              <a:endParaRPr/>
            </a:p>
          </p:txBody>
        </p:sp>
        <p:sp>
          <p:nvSpPr>
            <p:cNvPr id="24" name="TextBox 23"/>
            <p:cNvSpPr txBox="1"/>
            <p:nvPr/>
          </p:nvSpPr>
          <p:spPr>
            <a:xfrm>
              <a:off x="8343900" y="1695450"/>
              <a:ext cx="1905000" cy="723900"/>
            </a:xfrm>
            <a:prstGeom prst="rect">
              <a:avLst/>
            </a:prstGeom>
            <a:noFill/>
          </p:spPr>
          <p:txBody>
            <a:bodyPr wrap="square" lIns="0" tIns="0" rIns="0" bIns="0" anchor="t">
              <a:spAutoFit/>
            </a:bodyPr>
            <a:lstStyle/>
            <a:p>
              <a:pPr algn="l"/>
              <a:r>
                <a:rPr sz="5200" b="1">
                  <a:solidFill>
                    <a:srgbClr val="59BEC9"/>
                  </a:solidFill>
                  <a:latin typeface="Century Gothic"/>
                </a:rPr>
                <a:t>03</a:t>
              </a:r>
            </a:p>
          </p:txBody>
        </p:sp>
        <p:sp>
          <p:nvSpPr>
            <p:cNvPr id="25" name="Rectangle 24"/>
            <p:cNvSpPr/>
            <p:nvPr/>
          </p:nvSpPr>
          <p:spPr>
            <a:xfrm>
              <a:off x="8362950" y="2476500"/>
              <a:ext cx="419100" cy="38100"/>
            </a:xfrm>
            <a:prstGeom prst="rect">
              <a:avLst/>
            </a:prstGeom>
            <a:solidFill>
              <a:srgbClr val="FFB938"/>
            </a:solidFill>
            <a:ln>
              <a:noFill/>
            </a:ln>
          </p:spPr>
          <p:txBody>
            <a:bodyPr rtlCol="0" anchor="ctr"/>
            <a:lstStyle/>
            <a:p>
              <a:pPr algn="ctr"/>
              <a:endParaRPr/>
            </a:p>
          </p:txBody>
        </p:sp>
        <p:sp>
          <p:nvSpPr>
            <p:cNvPr id="26" name="TextBox 25"/>
            <p:cNvSpPr txBox="1"/>
            <p:nvPr/>
          </p:nvSpPr>
          <p:spPr>
            <a:xfrm>
              <a:off x="8343900" y="2667000"/>
              <a:ext cx="3009900" cy="323850"/>
            </a:xfrm>
            <a:prstGeom prst="rect">
              <a:avLst/>
            </a:prstGeom>
            <a:noFill/>
          </p:spPr>
          <p:txBody>
            <a:bodyPr wrap="square" lIns="0" tIns="0" rIns="0" bIns="0" anchor="t">
              <a:spAutoFit/>
            </a:bodyPr>
            <a:lstStyle/>
            <a:p>
              <a:pPr algn="l"/>
              <a:r>
                <a:rPr sz="1900" b="1">
                  <a:solidFill>
                    <a:srgbClr val="FFFFFF"/>
                  </a:solidFill>
                  <a:latin typeface="Century Gothic"/>
                </a:rPr>
                <a:t>What we built in code</a:t>
              </a:r>
            </a:p>
          </p:txBody>
        </p:sp>
        <p:sp>
          <p:nvSpPr>
            <p:cNvPr id="27" name="TextBox 26"/>
            <p:cNvSpPr txBox="1"/>
            <p:nvPr/>
          </p:nvSpPr>
          <p:spPr>
            <a:xfrm>
              <a:off x="8343900" y="3048000"/>
              <a:ext cx="3009900" cy="571500"/>
            </a:xfrm>
            <a:prstGeom prst="rect">
              <a:avLst/>
            </a:prstGeom>
            <a:noFill/>
          </p:spPr>
          <p:txBody>
            <a:bodyPr wrap="square" lIns="0" tIns="0" rIns="0" bIns="0" anchor="t">
              <a:spAutoFit/>
            </a:bodyPr>
            <a:lstStyle/>
            <a:p>
              <a:pPr algn="l"/>
              <a:r>
                <a:rPr sz="1400" b="0">
                  <a:solidFill>
                    <a:srgbClr val="B0C0D9"/>
                  </a:solidFill>
                  <a:latin typeface="Segoe UI"/>
                </a:rPr>
                <a:t>backup.tf, conf.yaml, the four deploy steps and the workload onboarding changes</a:t>
              </a:r>
            </a:p>
          </p:txBody>
        </p:sp>
      </p:grpSp>
      <p:grpSp>
        <p:nvGrpSpPr>
          <p:cNvPr id="28" name="anim|rise|0.97"/>
          <p:cNvGrpSpPr/>
          <p:nvPr/>
        </p:nvGrpSpPr>
        <p:grpSpPr>
          <a:xfrm>
            <a:off x="571500" y="3905250"/>
            <a:ext cx="3543300" cy="2209800"/>
            <a:chOff x="571500" y="3905250"/>
            <a:chExt cx="3543300" cy="2209800"/>
          </a:xfrm>
        </p:grpSpPr>
        <p:sp>
          <p:nvSpPr>
            <p:cNvPr id="29" name="Rounded Rectangle 28"/>
            <p:cNvSpPr/>
            <p:nvPr/>
          </p:nvSpPr>
          <p:spPr>
            <a:xfrm>
              <a:off x="571500" y="3905250"/>
              <a:ext cx="3543300" cy="2209800"/>
            </a:xfrm>
            <a:prstGeom prst="roundRect">
              <a:avLst>
                <a:gd name="adj" fmla="val 7758"/>
              </a:avLst>
            </a:prstGeom>
            <a:solidFill>
              <a:srgbClr val="1E3A68"/>
            </a:solidFill>
            <a:ln>
              <a:noFill/>
            </a:ln>
          </p:spPr>
          <p:txBody>
            <a:bodyPr rtlCol="0" anchor="ctr"/>
            <a:lstStyle/>
            <a:p>
              <a:pPr algn="ctr"/>
              <a:endParaRPr/>
            </a:p>
          </p:txBody>
        </p:sp>
        <p:sp>
          <p:nvSpPr>
            <p:cNvPr id="30" name="TextBox 29"/>
            <p:cNvSpPr txBox="1"/>
            <p:nvPr/>
          </p:nvSpPr>
          <p:spPr>
            <a:xfrm>
              <a:off x="838200" y="4114800"/>
              <a:ext cx="1905000" cy="723900"/>
            </a:xfrm>
            <a:prstGeom prst="rect">
              <a:avLst/>
            </a:prstGeom>
            <a:noFill/>
          </p:spPr>
          <p:txBody>
            <a:bodyPr wrap="square" lIns="0" tIns="0" rIns="0" bIns="0" anchor="t">
              <a:spAutoFit/>
            </a:bodyPr>
            <a:lstStyle/>
            <a:p>
              <a:pPr algn="l"/>
              <a:r>
                <a:rPr sz="5200" b="1">
                  <a:solidFill>
                    <a:srgbClr val="59BEC9"/>
                  </a:solidFill>
                  <a:latin typeface="Century Gothic"/>
                </a:rPr>
                <a:t>04</a:t>
              </a:r>
            </a:p>
          </p:txBody>
        </p:sp>
        <p:sp>
          <p:nvSpPr>
            <p:cNvPr id="31" name="Rectangle 30"/>
            <p:cNvSpPr/>
            <p:nvPr/>
          </p:nvSpPr>
          <p:spPr>
            <a:xfrm>
              <a:off x="857250" y="4895850"/>
              <a:ext cx="419100" cy="38100"/>
            </a:xfrm>
            <a:prstGeom prst="rect">
              <a:avLst/>
            </a:prstGeom>
            <a:solidFill>
              <a:srgbClr val="FFB938"/>
            </a:solidFill>
            <a:ln>
              <a:noFill/>
            </a:ln>
          </p:spPr>
          <p:txBody>
            <a:bodyPr rtlCol="0" anchor="ctr"/>
            <a:lstStyle/>
            <a:p>
              <a:pPr algn="ctr"/>
              <a:endParaRPr/>
            </a:p>
          </p:txBody>
        </p:sp>
        <p:sp>
          <p:nvSpPr>
            <p:cNvPr id="32" name="TextBox 31"/>
            <p:cNvSpPr txBox="1"/>
            <p:nvPr/>
          </p:nvSpPr>
          <p:spPr>
            <a:xfrm>
              <a:off x="838200" y="5086350"/>
              <a:ext cx="3009900" cy="323850"/>
            </a:xfrm>
            <a:prstGeom prst="rect">
              <a:avLst/>
            </a:prstGeom>
            <a:noFill/>
          </p:spPr>
          <p:txBody>
            <a:bodyPr wrap="square" lIns="0" tIns="0" rIns="0" bIns="0" anchor="t">
              <a:spAutoFit/>
            </a:bodyPr>
            <a:lstStyle/>
            <a:p>
              <a:pPr algn="l"/>
              <a:r>
                <a:rPr sz="1900" b="1">
                  <a:solidFill>
                    <a:srgbClr val="FFFFFF"/>
                  </a:solidFill>
                  <a:latin typeface="Century Gothic"/>
                </a:rPr>
                <a:t>Permissions</a:t>
              </a:r>
            </a:p>
          </p:txBody>
        </p:sp>
        <p:sp>
          <p:nvSpPr>
            <p:cNvPr id="33" name="TextBox 32"/>
            <p:cNvSpPr txBox="1"/>
            <p:nvPr/>
          </p:nvSpPr>
          <p:spPr>
            <a:xfrm>
              <a:off x="838200" y="5467350"/>
              <a:ext cx="3009900" cy="571500"/>
            </a:xfrm>
            <a:prstGeom prst="rect">
              <a:avLst/>
            </a:prstGeom>
            <a:noFill/>
          </p:spPr>
          <p:txBody>
            <a:bodyPr wrap="square" lIns="0" tIns="0" rIns="0" bIns="0" anchor="t">
              <a:spAutoFit/>
            </a:bodyPr>
            <a:lstStyle/>
            <a:p>
              <a:pPr algn="l"/>
              <a:r>
                <a:rPr sz="1400" b="0">
                  <a:solidFill>
                    <a:srgbClr val="B0C0D9"/>
                  </a:solidFill>
                  <a:latin typeface="Segoe UI"/>
                </a:rPr>
                <a:t>Who needs which role</a:t>
              </a:r>
            </a:p>
          </p:txBody>
        </p:sp>
      </p:grpSp>
      <p:grpSp>
        <p:nvGrpSpPr>
          <p:cNvPr id="34" name="anim|rise|1.11"/>
          <p:cNvGrpSpPr/>
          <p:nvPr/>
        </p:nvGrpSpPr>
        <p:grpSpPr>
          <a:xfrm>
            <a:off x="4324350" y="3905250"/>
            <a:ext cx="3543300" cy="2209800"/>
            <a:chOff x="4324350" y="3905250"/>
            <a:chExt cx="3543300" cy="2209800"/>
          </a:xfrm>
        </p:grpSpPr>
        <p:sp>
          <p:nvSpPr>
            <p:cNvPr id="35" name="Rounded Rectangle 34"/>
            <p:cNvSpPr/>
            <p:nvPr/>
          </p:nvSpPr>
          <p:spPr>
            <a:xfrm>
              <a:off x="4324350" y="3905250"/>
              <a:ext cx="3543300" cy="2209800"/>
            </a:xfrm>
            <a:prstGeom prst="roundRect">
              <a:avLst>
                <a:gd name="adj" fmla="val 7758"/>
              </a:avLst>
            </a:prstGeom>
            <a:solidFill>
              <a:srgbClr val="1E3A68"/>
            </a:solidFill>
            <a:ln>
              <a:noFill/>
            </a:ln>
          </p:spPr>
          <p:txBody>
            <a:bodyPr rtlCol="0" anchor="ctr"/>
            <a:lstStyle/>
            <a:p>
              <a:pPr algn="ctr"/>
              <a:endParaRPr/>
            </a:p>
          </p:txBody>
        </p:sp>
        <p:sp>
          <p:nvSpPr>
            <p:cNvPr id="36" name="TextBox 35"/>
            <p:cNvSpPr txBox="1"/>
            <p:nvPr/>
          </p:nvSpPr>
          <p:spPr>
            <a:xfrm>
              <a:off x="4591050" y="4114800"/>
              <a:ext cx="1905000" cy="723900"/>
            </a:xfrm>
            <a:prstGeom prst="rect">
              <a:avLst/>
            </a:prstGeom>
            <a:noFill/>
          </p:spPr>
          <p:txBody>
            <a:bodyPr wrap="square" lIns="0" tIns="0" rIns="0" bIns="0" anchor="t">
              <a:spAutoFit/>
            </a:bodyPr>
            <a:lstStyle/>
            <a:p>
              <a:pPr algn="l"/>
              <a:r>
                <a:rPr sz="5200" b="1">
                  <a:solidFill>
                    <a:srgbClr val="59BEC9"/>
                  </a:solidFill>
                  <a:latin typeface="Century Gothic"/>
                </a:rPr>
                <a:t>05</a:t>
              </a:r>
            </a:p>
          </p:txBody>
        </p:sp>
        <p:sp>
          <p:nvSpPr>
            <p:cNvPr id="37" name="Rectangle 36"/>
            <p:cNvSpPr/>
            <p:nvPr/>
          </p:nvSpPr>
          <p:spPr>
            <a:xfrm>
              <a:off x="4610100" y="4895850"/>
              <a:ext cx="419100" cy="38100"/>
            </a:xfrm>
            <a:prstGeom prst="rect">
              <a:avLst/>
            </a:prstGeom>
            <a:solidFill>
              <a:srgbClr val="FFB938"/>
            </a:solidFill>
            <a:ln>
              <a:noFill/>
            </a:ln>
          </p:spPr>
          <p:txBody>
            <a:bodyPr rtlCol="0" anchor="ctr"/>
            <a:lstStyle/>
            <a:p>
              <a:pPr algn="ctr"/>
              <a:endParaRPr/>
            </a:p>
          </p:txBody>
        </p:sp>
        <p:sp>
          <p:nvSpPr>
            <p:cNvPr id="38" name="TextBox 37"/>
            <p:cNvSpPr txBox="1"/>
            <p:nvPr/>
          </p:nvSpPr>
          <p:spPr>
            <a:xfrm>
              <a:off x="4591050" y="5086350"/>
              <a:ext cx="3009900" cy="323850"/>
            </a:xfrm>
            <a:prstGeom prst="rect">
              <a:avLst/>
            </a:prstGeom>
            <a:noFill/>
          </p:spPr>
          <p:txBody>
            <a:bodyPr wrap="square" lIns="0" tIns="0" rIns="0" bIns="0" anchor="t">
              <a:spAutoFit/>
            </a:bodyPr>
            <a:lstStyle/>
            <a:p>
              <a:pPr algn="l"/>
              <a:r>
                <a:rPr sz="1900" b="1">
                  <a:solidFill>
                    <a:srgbClr val="FFFFFF"/>
                  </a:solidFill>
                  <a:latin typeface="Century Gothic"/>
                </a:rPr>
                <a:t>Restoring in the Portal</a:t>
              </a:r>
            </a:p>
          </p:txBody>
        </p:sp>
        <p:sp>
          <p:nvSpPr>
            <p:cNvPr id="39" name="TextBox 38"/>
            <p:cNvSpPr txBox="1"/>
            <p:nvPr/>
          </p:nvSpPr>
          <p:spPr>
            <a:xfrm>
              <a:off x="4591050" y="5467350"/>
              <a:ext cx="3009900" cy="571500"/>
            </a:xfrm>
            <a:prstGeom prst="rect">
              <a:avLst/>
            </a:prstGeom>
            <a:noFill/>
          </p:spPr>
          <p:txBody>
            <a:bodyPr wrap="square" lIns="0" tIns="0" rIns="0" bIns="0" anchor="t">
              <a:spAutoFit/>
            </a:bodyPr>
            <a:lstStyle/>
            <a:p>
              <a:pPr algn="l"/>
              <a:r>
                <a:rPr sz="1400" b="0">
                  <a:solidFill>
                    <a:srgbClr val="B0C0D9"/>
                  </a:solidFill>
                  <a:latin typeface="Segoe UI"/>
                </a:rPr>
                <a:t>Step by step, from the vault to the restored cluster</a:t>
              </a:r>
            </a:p>
          </p:txBody>
        </p:sp>
      </p:grpSp>
      <p:grpSp>
        <p:nvGrpSpPr>
          <p:cNvPr id="40" name="anim|rise|1.25"/>
          <p:cNvGrpSpPr/>
          <p:nvPr/>
        </p:nvGrpSpPr>
        <p:grpSpPr>
          <a:xfrm>
            <a:off x="8077200" y="3905250"/>
            <a:ext cx="3543300" cy="2209800"/>
            <a:chOff x="8077200" y="3905250"/>
            <a:chExt cx="3543300" cy="2209800"/>
          </a:xfrm>
        </p:grpSpPr>
        <p:sp>
          <p:nvSpPr>
            <p:cNvPr id="41" name="Rounded Rectangle 40"/>
            <p:cNvSpPr/>
            <p:nvPr/>
          </p:nvSpPr>
          <p:spPr>
            <a:xfrm>
              <a:off x="8077200" y="3905250"/>
              <a:ext cx="3543300" cy="2209800"/>
            </a:xfrm>
            <a:prstGeom prst="roundRect">
              <a:avLst>
                <a:gd name="adj" fmla="val 7758"/>
              </a:avLst>
            </a:prstGeom>
            <a:solidFill>
              <a:srgbClr val="1E3A68"/>
            </a:solidFill>
            <a:ln>
              <a:noFill/>
            </a:ln>
          </p:spPr>
          <p:txBody>
            <a:bodyPr rtlCol="0" anchor="ctr"/>
            <a:lstStyle/>
            <a:p>
              <a:pPr algn="ctr"/>
              <a:endParaRPr/>
            </a:p>
          </p:txBody>
        </p:sp>
        <p:sp>
          <p:nvSpPr>
            <p:cNvPr id="42" name="TextBox 41"/>
            <p:cNvSpPr txBox="1"/>
            <p:nvPr/>
          </p:nvSpPr>
          <p:spPr>
            <a:xfrm>
              <a:off x="8343900" y="4114800"/>
              <a:ext cx="1905000" cy="723900"/>
            </a:xfrm>
            <a:prstGeom prst="rect">
              <a:avLst/>
            </a:prstGeom>
            <a:noFill/>
          </p:spPr>
          <p:txBody>
            <a:bodyPr wrap="square" lIns="0" tIns="0" rIns="0" bIns="0" anchor="t">
              <a:spAutoFit/>
            </a:bodyPr>
            <a:lstStyle/>
            <a:p>
              <a:pPr algn="l"/>
              <a:r>
                <a:rPr sz="5200" b="1">
                  <a:solidFill>
                    <a:srgbClr val="59BEC9"/>
                  </a:solidFill>
                  <a:latin typeface="Century Gothic"/>
                </a:rPr>
                <a:t>06</a:t>
              </a:r>
            </a:p>
          </p:txBody>
        </p:sp>
        <p:sp>
          <p:nvSpPr>
            <p:cNvPr id="43" name="Rectangle 42"/>
            <p:cNvSpPr/>
            <p:nvPr/>
          </p:nvSpPr>
          <p:spPr>
            <a:xfrm>
              <a:off x="8362950" y="4895850"/>
              <a:ext cx="419100" cy="38100"/>
            </a:xfrm>
            <a:prstGeom prst="rect">
              <a:avLst/>
            </a:prstGeom>
            <a:solidFill>
              <a:srgbClr val="FFB938"/>
            </a:solidFill>
            <a:ln>
              <a:noFill/>
            </a:ln>
          </p:spPr>
          <p:txBody>
            <a:bodyPr rtlCol="0" anchor="ctr"/>
            <a:lstStyle/>
            <a:p>
              <a:pPr algn="ctr"/>
              <a:endParaRPr/>
            </a:p>
          </p:txBody>
        </p:sp>
        <p:sp>
          <p:nvSpPr>
            <p:cNvPr id="44" name="TextBox 43"/>
            <p:cNvSpPr txBox="1"/>
            <p:nvPr/>
          </p:nvSpPr>
          <p:spPr>
            <a:xfrm>
              <a:off x="8343900" y="5086350"/>
              <a:ext cx="3009900" cy="323850"/>
            </a:xfrm>
            <a:prstGeom prst="rect">
              <a:avLst/>
            </a:prstGeom>
            <a:noFill/>
          </p:spPr>
          <p:txBody>
            <a:bodyPr wrap="square" lIns="0" tIns="0" rIns="0" bIns="0" anchor="t">
              <a:spAutoFit/>
            </a:bodyPr>
            <a:lstStyle/>
            <a:p>
              <a:pPr algn="l"/>
              <a:r>
                <a:rPr sz="1900" b="1">
                  <a:solidFill>
                    <a:srgbClr val="FFFFFF"/>
                  </a:solidFill>
                  <a:latin typeface="Century Gothic"/>
                </a:rPr>
                <a:t>Verify and tips</a:t>
              </a:r>
            </a:p>
          </p:txBody>
        </p:sp>
        <p:sp>
          <p:nvSpPr>
            <p:cNvPr id="45" name="TextBox 44"/>
            <p:cNvSpPr txBox="1"/>
            <p:nvPr/>
          </p:nvSpPr>
          <p:spPr>
            <a:xfrm>
              <a:off x="8343900" y="5467350"/>
              <a:ext cx="3009900" cy="571500"/>
            </a:xfrm>
            <a:prstGeom prst="rect">
              <a:avLst/>
            </a:prstGeom>
            <a:noFill/>
          </p:spPr>
          <p:txBody>
            <a:bodyPr wrap="square" lIns="0" tIns="0" rIns="0" bIns="0" anchor="t">
              <a:spAutoFit/>
            </a:bodyPr>
            <a:lstStyle/>
            <a:p>
              <a:pPr algn="l"/>
              <a:r>
                <a:rPr sz="1400" b="0">
                  <a:solidFill>
                    <a:srgbClr val="B0C0D9"/>
                  </a:solidFill>
                  <a:latin typeface="Segoe UI"/>
                </a:rPr>
                <a:t>Check the result and avoid common traps</a:t>
              </a:r>
            </a:p>
          </p:txBody>
        </p:sp>
      </p:grpSp>
    </p:spTree>
  </p:cSld>
  <p:clrMapOvr>
    <a:masterClrMapping/>
  </p:clrMapOvr>
  <mc:AlternateContent xmlns:mc="http://schemas.openxmlformats.org/markup-compatibility/2006">
    <mc:Choice xmlns:p14="http://schemas.microsoft.com/office/powerpoint/2010/main" Requires="p14">
      <p:transition spd="slow" p14:dur="800">
        <p:fad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5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50"/>
                                        <p:tgtEl>
                                          <p:spTgt spid="3"/>
                                        </p:tgtEl>
                                      </p:cBhvr>
                                    </p:animEffect>
                                  </p:childTnLst>
                                </p:cTn>
                              </p:par>
                              <p:par>
                                <p:cTn id="8" presetID="22" presetClass="entr" presetSubtype="8" fill="hold" grpId="0" nodeType="withEffect">
                                  <p:stCondLst>
                                    <p:cond delay="100"/>
                                  </p:stCondLst>
                                  <p:childTnLst>
                                    <p:set>
                                      <p:cBhvr>
                                        <p:cTn id="9" dur="1" fill="hold">
                                          <p:stCondLst>
                                            <p:cond delay="0"/>
                                          </p:stCondLst>
                                        </p:cTn>
                                        <p:tgtEl>
                                          <p:spTgt spid="6"/>
                                        </p:tgtEl>
                                        <p:attrNameLst>
                                          <p:attrName>style.visibility</p:attrName>
                                        </p:attrNameLst>
                                      </p:cBhvr>
                                      <p:to>
                                        <p:strVal val="visible"/>
                                      </p:to>
                                    </p:set>
                                    <p:animEffect transition="in" filter="wipe(left)">
                                      <p:cBhvr>
                                        <p:cTn id="10" dur="700"/>
                                        <p:tgtEl>
                                          <p:spTgt spid="6"/>
                                        </p:tgtEl>
                                      </p:cBhvr>
                                    </p:animEffect>
                                  </p:childTnLst>
                                </p:cTn>
                              </p:par>
                              <p:par>
                                <p:cTn id="11" presetID="10" presetClass="entr" presetSubtype="0" fill="hold" grpId="0" nodeType="withEffect">
                                  <p:stCondLst>
                                    <p:cond delay="45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50"/>
                                        <p:tgtEl>
                                          <p:spTgt spid="7"/>
                                        </p:tgtEl>
                                      </p:cBhvr>
                                    </p:animEffect>
                                  </p:childTnLst>
                                </p:cTn>
                              </p:par>
                              <p:par>
                                <p:cTn id="14" presetID="37" presetClass="entr" presetSubtype="0" fill="hold" nodeType="withEffect">
                                  <p:stCondLst>
                                    <p:cond delay="55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50"/>
                                        <p:tgtEl>
                                          <p:spTgt spid="10"/>
                                        </p:tgtEl>
                                      </p:cBhvr>
                                    </p:animEffect>
                                    <p:anim calcmode="lin" valueType="num">
                                      <p:cBhvr>
                                        <p:cTn id="17" dur="550" fill="hold"/>
                                        <p:tgtEl>
                                          <p:spTgt spid="10"/>
                                        </p:tgtEl>
                                        <p:attrNameLst>
                                          <p:attrName>ppt_x</p:attrName>
                                        </p:attrNameLst>
                                      </p:cBhvr>
                                      <p:tavLst>
                                        <p:tav tm="0">
                                          <p:val>
                                            <p:strVal val="#ppt_x"/>
                                          </p:val>
                                        </p:tav>
                                        <p:tav tm="100000">
                                          <p:val>
                                            <p:strVal val="#ppt_x"/>
                                          </p:val>
                                        </p:tav>
                                      </p:tavLst>
                                    </p:anim>
                                    <p:anim calcmode="lin" valueType="num">
                                      <p:cBhvr>
                                        <p:cTn id="18" dur="495" decel="100000" fill="hold"/>
                                        <p:tgtEl>
                                          <p:spTgt spid="10"/>
                                        </p:tgtEl>
                                        <p:attrNameLst>
                                          <p:attrName>ppt_y</p:attrName>
                                        </p:attrNameLst>
                                      </p:cBhvr>
                                      <p:tavLst>
                                        <p:tav tm="0">
                                          <p:val>
                                            <p:strVal val="#ppt_y+1"/>
                                          </p:val>
                                        </p:tav>
                                        <p:tav tm="100000">
                                          <p:val>
                                            <p:strVal val="#ppt_y-.03"/>
                                          </p:val>
                                        </p:tav>
                                      </p:tavLst>
                                    </p:anim>
                                    <p:anim calcmode="lin" valueType="num">
                                      <p:cBhvr>
                                        <p:cTn id="19" dur="55" accel="100000" fill="hold">
                                          <p:stCondLst>
                                            <p:cond delay="495"/>
                                          </p:stCondLst>
                                        </p:cTn>
                                        <p:tgtEl>
                                          <p:spTgt spid="10"/>
                                        </p:tgtEl>
                                        <p:attrNameLst>
                                          <p:attrName>ppt_y</p:attrName>
                                        </p:attrNameLst>
                                      </p:cBhvr>
                                      <p:tavLst>
                                        <p:tav tm="0">
                                          <p:val>
                                            <p:strVal val="#ppt_y-.03"/>
                                          </p:val>
                                        </p:tav>
                                        <p:tav tm="100000">
                                          <p:val>
                                            <p:strVal val="#ppt_y"/>
                                          </p:val>
                                        </p:tav>
                                      </p:tavLst>
                                    </p:anim>
                                  </p:childTnLst>
                                </p:cTn>
                              </p:par>
                              <p:par>
                                <p:cTn id="20" presetID="37" presetClass="entr" presetSubtype="0" fill="hold" nodeType="withEffect">
                                  <p:stCondLst>
                                    <p:cond delay="69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550"/>
                                        <p:tgtEl>
                                          <p:spTgt spid="16"/>
                                        </p:tgtEl>
                                      </p:cBhvr>
                                    </p:animEffect>
                                    <p:anim calcmode="lin" valueType="num">
                                      <p:cBhvr>
                                        <p:cTn id="23" dur="550" fill="hold"/>
                                        <p:tgtEl>
                                          <p:spTgt spid="16"/>
                                        </p:tgtEl>
                                        <p:attrNameLst>
                                          <p:attrName>ppt_x</p:attrName>
                                        </p:attrNameLst>
                                      </p:cBhvr>
                                      <p:tavLst>
                                        <p:tav tm="0">
                                          <p:val>
                                            <p:strVal val="#ppt_x"/>
                                          </p:val>
                                        </p:tav>
                                        <p:tav tm="100000">
                                          <p:val>
                                            <p:strVal val="#ppt_x"/>
                                          </p:val>
                                        </p:tav>
                                      </p:tavLst>
                                    </p:anim>
                                    <p:anim calcmode="lin" valueType="num">
                                      <p:cBhvr>
                                        <p:cTn id="24" dur="495" decel="100000" fill="hold"/>
                                        <p:tgtEl>
                                          <p:spTgt spid="16"/>
                                        </p:tgtEl>
                                        <p:attrNameLst>
                                          <p:attrName>ppt_y</p:attrName>
                                        </p:attrNameLst>
                                      </p:cBhvr>
                                      <p:tavLst>
                                        <p:tav tm="0">
                                          <p:val>
                                            <p:strVal val="#ppt_y+1"/>
                                          </p:val>
                                        </p:tav>
                                        <p:tav tm="100000">
                                          <p:val>
                                            <p:strVal val="#ppt_y-.03"/>
                                          </p:val>
                                        </p:tav>
                                      </p:tavLst>
                                    </p:anim>
                                    <p:anim calcmode="lin" valueType="num">
                                      <p:cBhvr>
                                        <p:cTn id="25" dur="55" accel="100000" fill="hold">
                                          <p:stCondLst>
                                            <p:cond delay="495"/>
                                          </p:stCondLst>
                                        </p:cTn>
                                        <p:tgtEl>
                                          <p:spTgt spid="16"/>
                                        </p:tgtEl>
                                        <p:attrNameLst>
                                          <p:attrName>ppt_y</p:attrName>
                                        </p:attrNameLst>
                                      </p:cBhvr>
                                      <p:tavLst>
                                        <p:tav tm="0">
                                          <p:val>
                                            <p:strVal val="#ppt_y-.03"/>
                                          </p:val>
                                        </p:tav>
                                        <p:tav tm="100000">
                                          <p:val>
                                            <p:strVal val="#ppt_y"/>
                                          </p:val>
                                        </p:tav>
                                      </p:tavLst>
                                    </p:anim>
                                  </p:childTnLst>
                                </p:cTn>
                              </p:par>
                              <p:par>
                                <p:cTn id="26" presetID="37" presetClass="entr" presetSubtype="0" fill="hold" nodeType="withEffect">
                                  <p:stCondLst>
                                    <p:cond delay="830"/>
                                  </p:stCondLst>
                                  <p:childTnLst>
                                    <p:set>
                                      <p:cBhvr>
                                        <p:cTn id="27" dur="1" fill="hold">
                                          <p:stCondLst>
                                            <p:cond delay="0"/>
                                          </p:stCondLst>
                                        </p:cTn>
                                        <p:tgtEl>
                                          <p:spTgt spid="22"/>
                                        </p:tgtEl>
                                        <p:attrNameLst>
                                          <p:attrName>style.visibility</p:attrName>
                                        </p:attrNameLst>
                                      </p:cBhvr>
                                      <p:to>
                                        <p:strVal val="visible"/>
                                      </p:to>
                                    </p:set>
                                    <p:animEffect transition="in" filter="fade">
                                      <p:cBhvr>
                                        <p:cTn id="28" dur="550"/>
                                        <p:tgtEl>
                                          <p:spTgt spid="22"/>
                                        </p:tgtEl>
                                      </p:cBhvr>
                                    </p:animEffect>
                                    <p:anim calcmode="lin" valueType="num">
                                      <p:cBhvr>
                                        <p:cTn id="29" dur="550" fill="hold"/>
                                        <p:tgtEl>
                                          <p:spTgt spid="22"/>
                                        </p:tgtEl>
                                        <p:attrNameLst>
                                          <p:attrName>ppt_x</p:attrName>
                                        </p:attrNameLst>
                                      </p:cBhvr>
                                      <p:tavLst>
                                        <p:tav tm="0">
                                          <p:val>
                                            <p:strVal val="#ppt_x"/>
                                          </p:val>
                                        </p:tav>
                                        <p:tav tm="100000">
                                          <p:val>
                                            <p:strVal val="#ppt_x"/>
                                          </p:val>
                                        </p:tav>
                                      </p:tavLst>
                                    </p:anim>
                                    <p:anim calcmode="lin" valueType="num">
                                      <p:cBhvr>
                                        <p:cTn id="30" dur="495" decel="100000" fill="hold"/>
                                        <p:tgtEl>
                                          <p:spTgt spid="22"/>
                                        </p:tgtEl>
                                        <p:attrNameLst>
                                          <p:attrName>ppt_y</p:attrName>
                                        </p:attrNameLst>
                                      </p:cBhvr>
                                      <p:tavLst>
                                        <p:tav tm="0">
                                          <p:val>
                                            <p:strVal val="#ppt_y+1"/>
                                          </p:val>
                                        </p:tav>
                                        <p:tav tm="100000">
                                          <p:val>
                                            <p:strVal val="#ppt_y-.03"/>
                                          </p:val>
                                        </p:tav>
                                      </p:tavLst>
                                    </p:anim>
                                    <p:anim calcmode="lin" valueType="num">
                                      <p:cBhvr>
                                        <p:cTn id="31" dur="55" accel="100000" fill="hold">
                                          <p:stCondLst>
                                            <p:cond delay="495"/>
                                          </p:stCondLst>
                                        </p:cTn>
                                        <p:tgtEl>
                                          <p:spTgt spid="22"/>
                                        </p:tgtEl>
                                        <p:attrNameLst>
                                          <p:attrName>ppt_y</p:attrName>
                                        </p:attrNameLst>
                                      </p:cBhvr>
                                      <p:tavLst>
                                        <p:tav tm="0">
                                          <p:val>
                                            <p:strVal val="#ppt_y-.03"/>
                                          </p:val>
                                        </p:tav>
                                        <p:tav tm="100000">
                                          <p:val>
                                            <p:strVal val="#ppt_y"/>
                                          </p:val>
                                        </p:tav>
                                      </p:tavLst>
                                    </p:anim>
                                  </p:childTnLst>
                                </p:cTn>
                              </p:par>
                              <p:par>
                                <p:cTn id="32" presetID="37" presetClass="entr" presetSubtype="0" fill="hold" nodeType="withEffect">
                                  <p:stCondLst>
                                    <p:cond delay="970"/>
                                  </p:stCondLst>
                                  <p:childTnLst>
                                    <p:set>
                                      <p:cBhvr>
                                        <p:cTn id="33" dur="1" fill="hold">
                                          <p:stCondLst>
                                            <p:cond delay="0"/>
                                          </p:stCondLst>
                                        </p:cTn>
                                        <p:tgtEl>
                                          <p:spTgt spid="28"/>
                                        </p:tgtEl>
                                        <p:attrNameLst>
                                          <p:attrName>style.visibility</p:attrName>
                                        </p:attrNameLst>
                                      </p:cBhvr>
                                      <p:to>
                                        <p:strVal val="visible"/>
                                      </p:to>
                                    </p:set>
                                    <p:animEffect transition="in" filter="fade">
                                      <p:cBhvr>
                                        <p:cTn id="34" dur="550"/>
                                        <p:tgtEl>
                                          <p:spTgt spid="28"/>
                                        </p:tgtEl>
                                      </p:cBhvr>
                                    </p:animEffect>
                                    <p:anim calcmode="lin" valueType="num">
                                      <p:cBhvr>
                                        <p:cTn id="35" dur="550" fill="hold"/>
                                        <p:tgtEl>
                                          <p:spTgt spid="28"/>
                                        </p:tgtEl>
                                        <p:attrNameLst>
                                          <p:attrName>ppt_x</p:attrName>
                                        </p:attrNameLst>
                                      </p:cBhvr>
                                      <p:tavLst>
                                        <p:tav tm="0">
                                          <p:val>
                                            <p:strVal val="#ppt_x"/>
                                          </p:val>
                                        </p:tav>
                                        <p:tav tm="100000">
                                          <p:val>
                                            <p:strVal val="#ppt_x"/>
                                          </p:val>
                                        </p:tav>
                                      </p:tavLst>
                                    </p:anim>
                                    <p:anim calcmode="lin" valueType="num">
                                      <p:cBhvr>
                                        <p:cTn id="36" dur="495" decel="100000" fill="hold"/>
                                        <p:tgtEl>
                                          <p:spTgt spid="28"/>
                                        </p:tgtEl>
                                        <p:attrNameLst>
                                          <p:attrName>ppt_y</p:attrName>
                                        </p:attrNameLst>
                                      </p:cBhvr>
                                      <p:tavLst>
                                        <p:tav tm="0">
                                          <p:val>
                                            <p:strVal val="#ppt_y+1"/>
                                          </p:val>
                                        </p:tav>
                                        <p:tav tm="100000">
                                          <p:val>
                                            <p:strVal val="#ppt_y-.03"/>
                                          </p:val>
                                        </p:tav>
                                      </p:tavLst>
                                    </p:anim>
                                    <p:anim calcmode="lin" valueType="num">
                                      <p:cBhvr>
                                        <p:cTn id="37" dur="55" accel="100000" fill="hold">
                                          <p:stCondLst>
                                            <p:cond delay="495"/>
                                          </p:stCondLst>
                                        </p:cTn>
                                        <p:tgtEl>
                                          <p:spTgt spid="28"/>
                                        </p:tgtEl>
                                        <p:attrNameLst>
                                          <p:attrName>ppt_y</p:attrName>
                                        </p:attrNameLst>
                                      </p:cBhvr>
                                      <p:tavLst>
                                        <p:tav tm="0">
                                          <p:val>
                                            <p:strVal val="#ppt_y-.03"/>
                                          </p:val>
                                        </p:tav>
                                        <p:tav tm="100000">
                                          <p:val>
                                            <p:strVal val="#ppt_y"/>
                                          </p:val>
                                        </p:tav>
                                      </p:tavLst>
                                    </p:anim>
                                  </p:childTnLst>
                                </p:cTn>
                              </p:par>
                              <p:par>
                                <p:cTn id="38" presetID="37" presetClass="entr" presetSubtype="0" fill="hold" nodeType="withEffect">
                                  <p:stCondLst>
                                    <p:cond delay="1110"/>
                                  </p:stCondLst>
                                  <p:childTnLst>
                                    <p:set>
                                      <p:cBhvr>
                                        <p:cTn id="39" dur="1" fill="hold">
                                          <p:stCondLst>
                                            <p:cond delay="0"/>
                                          </p:stCondLst>
                                        </p:cTn>
                                        <p:tgtEl>
                                          <p:spTgt spid="34"/>
                                        </p:tgtEl>
                                        <p:attrNameLst>
                                          <p:attrName>style.visibility</p:attrName>
                                        </p:attrNameLst>
                                      </p:cBhvr>
                                      <p:to>
                                        <p:strVal val="visible"/>
                                      </p:to>
                                    </p:set>
                                    <p:animEffect transition="in" filter="fade">
                                      <p:cBhvr>
                                        <p:cTn id="40" dur="550"/>
                                        <p:tgtEl>
                                          <p:spTgt spid="34"/>
                                        </p:tgtEl>
                                      </p:cBhvr>
                                    </p:animEffect>
                                    <p:anim calcmode="lin" valueType="num">
                                      <p:cBhvr>
                                        <p:cTn id="41" dur="550" fill="hold"/>
                                        <p:tgtEl>
                                          <p:spTgt spid="34"/>
                                        </p:tgtEl>
                                        <p:attrNameLst>
                                          <p:attrName>ppt_x</p:attrName>
                                        </p:attrNameLst>
                                      </p:cBhvr>
                                      <p:tavLst>
                                        <p:tav tm="0">
                                          <p:val>
                                            <p:strVal val="#ppt_x"/>
                                          </p:val>
                                        </p:tav>
                                        <p:tav tm="100000">
                                          <p:val>
                                            <p:strVal val="#ppt_x"/>
                                          </p:val>
                                        </p:tav>
                                      </p:tavLst>
                                    </p:anim>
                                    <p:anim calcmode="lin" valueType="num">
                                      <p:cBhvr>
                                        <p:cTn id="42" dur="495" decel="100000" fill="hold"/>
                                        <p:tgtEl>
                                          <p:spTgt spid="34"/>
                                        </p:tgtEl>
                                        <p:attrNameLst>
                                          <p:attrName>ppt_y</p:attrName>
                                        </p:attrNameLst>
                                      </p:cBhvr>
                                      <p:tavLst>
                                        <p:tav tm="0">
                                          <p:val>
                                            <p:strVal val="#ppt_y+1"/>
                                          </p:val>
                                        </p:tav>
                                        <p:tav tm="100000">
                                          <p:val>
                                            <p:strVal val="#ppt_y-.03"/>
                                          </p:val>
                                        </p:tav>
                                      </p:tavLst>
                                    </p:anim>
                                    <p:anim calcmode="lin" valueType="num">
                                      <p:cBhvr>
                                        <p:cTn id="43" dur="55" accel="100000" fill="hold">
                                          <p:stCondLst>
                                            <p:cond delay="495"/>
                                          </p:stCondLst>
                                        </p:cTn>
                                        <p:tgtEl>
                                          <p:spTgt spid="34"/>
                                        </p:tgtEl>
                                        <p:attrNameLst>
                                          <p:attrName>ppt_y</p:attrName>
                                        </p:attrNameLst>
                                      </p:cBhvr>
                                      <p:tavLst>
                                        <p:tav tm="0">
                                          <p:val>
                                            <p:strVal val="#ppt_y-.03"/>
                                          </p:val>
                                        </p:tav>
                                        <p:tav tm="100000">
                                          <p:val>
                                            <p:strVal val="#ppt_y"/>
                                          </p:val>
                                        </p:tav>
                                      </p:tavLst>
                                    </p:anim>
                                  </p:childTnLst>
                                </p:cTn>
                              </p:par>
                              <p:par>
                                <p:cTn id="44" presetID="37" presetClass="entr" presetSubtype="0" fill="hold" nodeType="withEffect">
                                  <p:stCondLst>
                                    <p:cond delay="1250"/>
                                  </p:stCondLst>
                                  <p:childTnLst>
                                    <p:set>
                                      <p:cBhvr>
                                        <p:cTn id="45" dur="1" fill="hold">
                                          <p:stCondLst>
                                            <p:cond delay="0"/>
                                          </p:stCondLst>
                                        </p:cTn>
                                        <p:tgtEl>
                                          <p:spTgt spid="40"/>
                                        </p:tgtEl>
                                        <p:attrNameLst>
                                          <p:attrName>style.visibility</p:attrName>
                                        </p:attrNameLst>
                                      </p:cBhvr>
                                      <p:to>
                                        <p:strVal val="visible"/>
                                      </p:to>
                                    </p:set>
                                    <p:animEffect transition="in" filter="fade">
                                      <p:cBhvr>
                                        <p:cTn id="46" dur="550"/>
                                        <p:tgtEl>
                                          <p:spTgt spid="40"/>
                                        </p:tgtEl>
                                      </p:cBhvr>
                                    </p:animEffect>
                                    <p:anim calcmode="lin" valueType="num">
                                      <p:cBhvr>
                                        <p:cTn id="47" dur="550" fill="hold"/>
                                        <p:tgtEl>
                                          <p:spTgt spid="40"/>
                                        </p:tgtEl>
                                        <p:attrNameLst>
                                          <p:attrName>ppt_x</p:attrName>
                                        </p:attrNameLst>
                                      </p:cBhvr>
                                      <p:tavLst>
                                        <p:tav tm="0">
                                          <p:val>
                                            <p:strVal val="#ppt_x"/>
                                          </p:val>
                                        </p:tav>
                                        <p:tav tm="100000">
                                          <p:val>
                                            <p:strVal val="#ppt_x"/>
                                          </p:val>
                                        </p:tav>
                                      </p:tavLst>
                                    </p:anim>
                                    <p:anim calcmode="lin" valueType="num">
                                      <p:cBhvr>
                                        <p:cTn id="48" dur="495" decel="100000" fill="hold"/>
                                        <p:tgtEl>
                                          <p:spTgt spid="40"/>
                                        </p:tgtEl>
                                        <p:attrNameLst>
                                          <p:attrName>ppt_y</p:attrName>
                                        </p:attrNameLst>
                                      </p:cBhvr>
                                      <p:tavLst>
                                        <p:tav tm="0">
                                          <p:val>
                                            <p:strVal val="#ppt_y+1"/>
                                          </p:val>
                                        </p:tav>
                                        <p:tav tm="100000">
                                          <p:val>
                                            <p:strVal val="#ppt_y-.03"/>
                                          </p:val>
                                        </p:tav>
                                      </p:tavLst>
                                    </p:anim>
                                    <p:anim calcmode="lin" valueType="num">
                                      <p:cBhvr>
                                        <p:cTn id="49" dur="55" accel="100000" fill="hold">
                                          <p:stCondLst>
                                            <p:cond delay="495"/>
                                          </p:stCondLst>
                                        </p:cTn>
                                        <p:tgtEl>
                                          <p:spTgt spid="40"/>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4284B"/>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57150"/>
          </a:xfrm>
          <a:prstGeom prst="rect">
            <a:avLst/>
          </a:prstGeom>
          <a:solidFill>
            <a:srgbClr val="59BEC9"/>
          </a:solidFill>
          <a:ln>
            <a:noFill/>
          </a:ln>
        </p:spPr>
        <p:txBody>
          <a:bodyPr rtlCol="0" anchor="ctr"/>
          <a:lstStyle/>
          <a:p>
            <a:pPr algn="ctr"/>
            <a:endParaRPr/>
          </a:p>
        </p:txBody>
      </p:sp>
      <p:grpSp>
        <p:nvGrpSpPr>
          <p:cNvPr id="3" name="anim|fade|0.05"/>
          <p:cNvGrpSpPr/>
          <p:nvPr/>
        </p:nvGrpSpPr>
        <p:grpSpPr>
          <a:xfrm>
            <a:off x="571500" y="266700"/>
            <a:ext cx="7105650" cy="190500"/>
            <a:chOff x="571500" y="266700"/>
            <a:chExt cx="7105650" cy="190500"/>
          </a:xfrm>
        </p:grpSpPr>
        <p:sp>
          <p:nvSpPr>
            <p:cNvPr id="4" name="Rectangle 3"/>
            <p:cNvSpPr/>
            <p:nvPr/>
          </p:nvSpPr>
          <p:spPr>
            <a:xfrm>
              <a:off x="571500" y="342900"/>
              <a:ext cx="342900" cy="47625"/>
            </a:xfrm>
            <a:prstGeom prst="rect">
              <a:avLst/>
            </a:prstGeom>
            <a:solidFill>
              <a:srgbClr val="FFB938"/>
            </a:solidFill>
            <a:ln>
              <a:noFill/>
            </a:ln>
          </p:spPr>
          <p:txBody>
            <a:bodyPr rtlCol="0" anchor="ctr"/>
            <a:lstStyle/>
            <a:p>
              <a:pPr algn="ctr"/>
              <a:endParaRPr/>
            </a:p>
          </p:txBody>
        </p:sp>
        <p:sp>
          <p:nvSpPr>
            <p:cNvPr id="5" name="TextBox 4"/>
            <p:cNvSpPr txBox="1"/>
            <p:nvPr/>
          </p:nvSpPr>
          <p:spPr>
            <a:xfrm>
              <a:off x="1009650" y="266700"/>
              <a:ext cx="6667500" cy="190500"/>
            </a:xfrm>
            <a:prstGeom prst="rect">
              <a:avLst/>
            </a:prstGeom>
            <a:noFill/>
          </p:spPr>
          <p:txBody>
            <a:bodyPr wrap="square" lIns="0" tIns="0" rIns="0" bIns="0" anchor="t">
              <a:spAutoFit/>
            </a:bodyPr>
            <a:lstStyle/>
            <a:p>
              <a:pPr algn="l"/>
              <a:r>
                <a:rPr sz="1100" b="1" spc="300">
                  <a:solidFill>
                    <a:srgbClr val="59BEC9"/>
                  </a:solidFill>
                  <a:latin typeface="Century Gothic"/>
                </a:rPr>
                <a:t>HOW IT WORKS</a:t>
              </a:r>
            </a:p>
          </p:txBody>
        </p:sp>
      </p:grpSp>
      <p:sp>
        <p:nvSpPr>
          <p:cNvPr id="6" name="anim|wipeL|0.1"/>
          <p:cNvSpPr txBox="1"/>
          <p:nvPr/>
        </p:nvSpPr>
        <p:spPr>
          <a:xfrm>
            <a:off x="571500" y="533400"/>
            <a:ext cx="11049000" cy="533400"/>
          </a:xfrm>
          <a:prstGeom prst="rect">
            <a:avLst/>
          </a:prstGeom>
          <a:noFill/>
        </p:spPr>
        <p:txBody>
          <a:bodyPr wrap="square" lIns="0" tIns="0" rIns="0" bIns="0" anchor="t">
            <a:spAutoFit/>
          </a:bodyPr>
          <a:lstStyle/>
          <a:p>
            <a:pPr algn="l"/>
            <a:r>
              <a:rPr sz="3100" b="1">
                <a:solidFill>
                  <a:srgbClr val="FFFFFF"/>
                </a:solidFill>
                <a:latin typeface="Century Gothic"/>
              </a:rPr>
              <a:t>How AKS Backup works</a:t>
            </a:r>
          </a:p>
        </p:txBody>
      </p:sp>
      <p:sp>
        <p:nvSpPr>
          <p:cNvPr id="7" name="anim|fade|0.45"/>
          <p:cNvSpPr txBox="1"/>
          <p:nvPr/>
        </p:nvSpPr>
        <p:spPr>
          <a:xfrm>
            <a:off x="571500" y="1028700"/>
            <a:ext cx="11049000" cy="247650"/>
          </a:xfrm>
          <a:prstGeom prst="rect">
            <a:avLst/>
          </a:prstGeom>
          <a:noFill/>
        </p:spPr>
        <p:txBody>
          <a:bodyPr wrap="square" lIns="0" tIns="0" rIns="0" bIns="0" anchor="t">
            <a:spAutoFit/>
          </a:bodyPr>
          <a:lstStyle/>
          <a:p>
            <a:pPr algn="l"/>
            <a:r>
              <a:rPr sz="1500" b="0">
                <a:solidFill>
                  <a:srgbClr val="B0C0D9"/>
                </a:solidFill>
                <a:latin typeface="Segoe UI"/>
              </a:rPr>
              <a:t>Three ideas to remember</a:t>
            </a:r>
          </a:p>
        </p:txBody>
      </p:sp>
      <p:sp>
        <p:nvSpPr>
          <p:cNvPr id="8" name="TextBox 7"/>
          <p:cNvSpPr txBox="1"/>
          <p:nvPr/>
        </p:nvSpPr>
        <p:spPr>
          <a:xfrm>
            <a:off x="571500" y="6534150"/>
            <a:ext cx="6667500" cy="171450"/>
          </a:xfrm>
          <a:prstGeom prst="rect">
            <a:avLst/>
          </a:prstGeom>
          <a:noFill/>
        </p:spPr>
        <p:txBody>
          <a:bodyPr wrap="square" lIns="0" tIns="0" rIns="0" bIns="0" anchor="t">
            <a:spAutoFit/>
          </a:bodyPr>
          <a:lstStyle/>
          <a:p>
            <a:pPr algn="l"/>
            <a:r>
              <a:rPr sz="950" b="0">
                <a:solidFill>
                  <a:srgbClr val="B0C0D9"/>
                </a:solidFill>
                <a:latin typeface="Segoe UI"/>
              </a:rPr>
              <a:t>AKS Backup &amp; Restore  |  BFH AKS IHUB Platform Team</a:t>
            </a:r>
          </a:p>
        </p:txBody>
      </p:sp>
      <p:sp>
        <p:nvSpPr>
          <p:cNvPr id="9" name="TextBox 8"/>
          <p:cNvSpPr txBox="1"/>
          <p:nvPr/>
        </p:nvSpPr>
        <p:spPr>
          <a:xfrm>
            <a:off x="10668000" y="6534150"/>
            <a:ext cx="952500" cy="171450"/>
          </a:xfrm>
          <a:prstGeom prst="rect">
            <a:avLst/>
          </a:prstGeom>
          <a:noFill/>
        </p:spPr>
        <p:txBody>
          <a:bodyPr wrap="square" lIns="0" tIns="0" rIns="0" bIns="0" anchor="t">
            <a:spAutoFit/>
          </a:bodyPr>
          <a:lstStyle/>
          <a:p>
            <a:pPr algn="r"/>
            <a:r>
              <a:rPr sz="1000" b="1">
                <a:solidFill>
                  <a:srgbClr val="FFB938"/>
                </a:solidFill>
                <a:latin typeface="Century Gothic"/>
              </a:rPr>
              <a:t>6</a:t>
            </a:r>
          </a:p>
        </p:txBody>
      </p:sp>
      <p:grpSp>
        <p:nvGrpSpPr>
          <p:cNvPr id="10" name="anim|rise|0.55"/>
          <p:cNvGrpSpPr/>
          <p:nvPr/>
        </p:nvGrpSpPr>
        <p:grpSpPr>
          <a:xfrm>
            <a:off x="571500" y="1485900"/>
            <a:ext cx="3581400" cy="3657600"/>
            <a:chOff x="571500" y="1485900"/>
            <a:chExt cx="3581400" cy="3657600"/>
          </a:xfrm>
        </p:grpSpPr>
        <p:sp>
          <p:nvSpPr>
            <p:cNvPr id="11" name="Rounded Rectangle 10"/>
            <p:cNvSpPr/>
            <p:nvPr/>
          </p:nvSpPr>
          <p:spPr>
            <a:xfrm>
              <a:off x="571500" y="1485900"/>
              <a:ext cx="3581400" cy="3657600"/>
            </a:xfrm>
            <a:prstGeom prst="roundRect">
              <a:avLst>
                <a:gd name="adj" fmla="val 4787"/>
              </a:avLst>
            </a:prstGeom>
            <a:solidFill>
              <a:srgbClr val="1E3A68"/>
            </a:solidFill>
            <a:ln>
              <a:noFill/>
            </a:ln>
          </p:spPr>
          <p:txBody>
            <a:bodyPr rtlCol="0" anchor="ctr"/>
            <a:lstStyle/>
            <a:p>
              <a:pPr algn="ctr"/>
              <a:endParaRPr/>
            </a:p>
          </p:txBody>
        </p:sp>
        <p:sp>
          <p:nvSpPr>
            <p:cNvPr id="12" name="Oval 11"/>
            <p:cNvSpPr/>
            <p:nvPr/>
          </p:nvSpPr>
          <p:spPr>
            <a:xfrm>
              <a:off x="819150" y="1733550"/>
              <a:ext cx="685800" cy="685800"/>
            </a:xfrm>
            <a:prstGeom prst="ellipse">
              <a:avLst/>
            </a:prstGeom>
            <a:solidFill>
              <a:srgbClr val="14284B"/>
            </a:solidFill>
            <a:ln>
              <a:noFill/>
            </a:ln>
          </p:spPr>
          <p:txBody>
            <a:bodyPr rtlCol="0" anchor="ctr"/>
            <a:lstStyle/>
            <a:p>
              <a:pPr algn="ctr"/>
              <a:endParaRPr/>
            </a:p>
          </p:txBody>
        </p:sp>
        <p:pic>
          <p:nvPicPr>
            <p:cNvPr id="13" name="Picture 12" descr="cube_teal.png"/>
            <p:cNvPicPr>
              <a:picLocks noChangeAspect="1"/>
            </p:cNvPicPr>
            <p:nvPr/>
          </p:nvPicPr>
          <p:blipFill>
            <a:blip r:embed="rId2"/>
            <a:stretch>
              <a:fillRect/>
            </a:stretch>
          </p:blipFill>
          <p:spPr>
            <a:xfrm>
              <a:off x="976884" y="1891284"/>
              <a:ext cx="370332" cy="370332"/>
            </a:xfrm>
            <a:prstGeom prst="rect">
              <a:avLst/>
            </a:prstGeom>
          </p:spPr>
        </p:pic>
        <p:sp>
          <p:nvSpPr>
            <p:cNvPr id="14" name="TextBox 13"/>
            <p:cNvSpPr txBox="1"/>
            <p:nvPr/>
          </p:nvSpPr>
          <p:spPr>
            <a:xfrm>
              <a:off x="819150" y="2590800"/>
              <a:ext cx="3086100" cy="533400"/>
            </a:xfrm>
            <a:prstGeom prst="rect">
              <a:avLst/>
            </a:prstGeom>
            <a:noFill/>
          </p:spPr>
          <p:txBody>
            <a:bodyPr wrap="square" lIns="0" tIns="0" rIns="0" bIns="0" anchor="t">
              <a:spAutoFit/>
            </a:bodyPr>
            <a:lstStyle/>
            <a:p>
              <a:pPr algn="l"/>
              <a:r>
                <a:rPr sz="2200" b="1">
                  <a:solidFill>
                    <a:srgbClr val="FFFFFF"/>
                  </a:solidFill>
                  <a:latin typeface="Century Gothic"/>
                </a:rPr>
                <a:t>Backup extension</a:t>
              </a:r>
            </a:p>
          </p:txBody>
        </p:sp>
        <p:sp>
          <p:nvSpPr>
            <p:cNvPr id="15" name="TextBox 14"/>
            <p:cNvSpPr txBox="1"/>
            <p:nvPr/>
          </p:nvSpPr>
          <p:spPr>
            <a:xfrm>
              <a:off x="819150" y="2933700"/>
              <a:ext cx="3086100" cy="2076450"/>
            </a:xfrm>
            <a:prstGeom prst="rect">
              <a:avLst/>
            </a:prstGeom>
            <a:noFill/>
          </p:spPr>
          <p:txBody>
            <a:bodyPr wrap="square" lIns="0" tIns="0" rIns="0" bIns="0" anchor="t">
              <a:spAutoFit/>
            </a:bodyPr>
            <a:lstStyle/>
            <a:p>
              <a:pPr algn="l"/>
              <a:r>
                <a:rPr sz="1550" b="0">
                  <a:solidFill>
                    <a:srgbClr val="B0C0D9"/>
                  </a:solidFill>
                  <a:latin typeface="Segoe UI"/>
                </a:rPr>
                <a:t>A component installed inside the cluster. The Backup vault talks to the cluster only through this extension, for both backup and restore.</a:t>
              </a:r>
            </a:p>
          </p:txBody>
        </p:sp>
      </p:grpSp>
      <p:grpSp>
        <p:nvGrpSpPr>
          <p:cNvPr id="16" name="anim|rise|0.73"/>
          <p:cNvGrpSpPr/>
          <p:nvPr/>
        </p:nvGrpSpPr>
        <p:grpSpPr>
          <a:xfrm>
            <a:off x="4305300" y="1485900"/>
            <a:ext cx="3581400" cy="3657600"/>
            <a:chOff x="4305300" y="1485900"/>
            <a:chExt cx="3581400" cy="3657600"/>
          </a:xfrm>
        </p:grpSpPr>
        <p:sp>
          <p:nvSpPr>
            <p:cNvPr id="17" name="Rounded Rectangle 16"/>
            <p:cNvSpPr/>
            <p:nvPr/>
          </p:nvSpPr>
          <p:spPr>
            <a:xfrm>
              <a:off x="4305300" y="1485900"/>
              <a:ext cx="3581400" cy="3657600"/>
            </a:xfrm>
            <a:prstGeom prst="roundRect">
              <a:avLst>
                <a:gd name="adj" fmla="val 4787"/>
              </a:avLst>
            </a:prstGeom>
            <a:solidFill>
              <a:srgbClr val="1E3A68"/>
            </a:solidFill>
            <a:ln>
              <a:noFill/>
            </a:ln>
          </p:spPr>
          <p:txBody>
            <a:bodyPr rtlCol="0" anchor="ctr"/>
            <a:lstStyle/>
            <a:p>
              <a:pPr algn="ctr"/>
              <a:endParaRPr/>
            </a:p>
          </p:txBody>
        </p:sp>
        <p:sp>
          <p:nvSpPr>
            <p:cNvPr id="18" name="Oval 17"/>
            <p:cNvSpPr/>
            <p:nvPr/>
          </p:nvSpPr>
          <p:spPr>
            <a:xfrm>
              <a:off x="4552950" y="1733550"/>
              <a:ext cx="685800" cy="685800"/>
            </a:xfrm>
            <a:prstGeom prst="ellipse">
              <a:avLst/>
            </a:prstGeom>
            <a:solidFill>
              <a:srgbClr val="14284B"/>
            </a:solidFill>
            <a:ln>
              <a:noFill/>
            </a:ln>
          </p:spPr>
          <p:txBody>
            <a:bodyPr rtlCol="0" anchor="ctr"/>
            <a:lstStyle/>
            <a:p>
              <a:pPr algn="ctr"/>
              <a:endParaRPr/>
            </a:p>
          </p:txBody>
        </p:sp>
        <p:pic>
          <p:nvPicPr>
            <p:cNvPr id="19" name="Picture 18" descr="key_teal.png"/>
            <p:cNvPicPr>
              <a:picLocks noChangeAspect="1"/>
            </p:cNvPicPr>
            <p:nvPr/>
          </p:nvPicPr>
          <p:blipFill>
            <a:blip r:embed="rId3"/>
            <a:stretch>
              <a:fillRect/>
            </a:stretch>
          </p:blipFill>
          <p:spPr>
            <a:xfrm>
              <a:off x="4710684" y="1891284"/>
              <a:ext cx="370332" cy="370332"/>
            </a:xfrm>
            <a:prstGeom prst="rect">
              <a:avLst/>
            </a:prstGeom>
          </p:spPr>
        </p:pic>
        <p:sp>
          <p:nvSpPr>
            <p:cNvPr id="20" name="TextBox 19"/>
            <p:cNvSpPr txBox="1"/>
            <p:nvPr/>
          </p:nvSpPr>
          <p:spPr>
            <a:xfrm>
              <a:off x="4552950" y="2590800"/>
              <a:ext cx="3086100" cy="533400"/>
            </a:xfrm>
            <a:prstGeom prst="rect">
              <a:avLst/>
            </a:prstGeom>
            <a:noFill/>
          </p:spPr>
          <p:txBody>
            <a:bodyPr wrap="square" lIns="0" tIns="0" rIns="0" bIns="0" anchor="t">
              <a:spAutoFit/>
            </a:bodyPr>
            <a:lstStyle/>
            <a:p>
              <a:pPr algn="l"/>
              <a:r>
                <a:rPr sz="2200" b="1">
                  <a:solidFill>
                    <a:srgbClr val="FFFFFF"/>
                  </a:solidFill>
                  <a:latin typeface="Century Gothic"/>
                </a:rPr>
                <a:t>Trusted Access</a:t>
              </a:r>
            </a:p>
          </p:txBody>
        </p:sp>
        <p:sp>
          <p:nvSpPr>
            <p:cNvPr id="21" name="TextBox 20"/>
            <p:cNvSpPr txBox="1"/>
            <p:nvPr/>
          </p:nvSpPr>
          <p:spPr>
            <a:xfrm>
              <a:off x="4552950" y="2933700"/>
              <a:ext cx="3086100" cy="2076450"/>
            </a:xfrm>
            <a:prstGeom prst="rect">
              <a:avLst/>
            </a:prstGeom>
            <a:noFill/>
          </p:spPr>
          <p:txBody>
            <a:bodyPr wrap="square" lIns="0" tIns="0" rIns="0" bIns="0" anchor="t">
              <a:spAutoFit/>
            </a:bodyPr>
            <a:lstStyle/>
            <a:p>
              <a:pPr algn="l"/>
              <a:r>
                <a:rPr sz="1550" b="0">
                  <a:solidFill>
                    <a:srgbClr val="B0C0D9"/>
                  </a:solidFill>
                  <a:latin typeface="Segoe UI"/>
                </a:rPr>
                <a:t>The vault reaches the cluster through Trusted Access, with a least-privilege role. No broad admin rights are handed to the vault.</a:t>
              </a:r>
            </a:p>
          </p:txBody>
        </p:sp>
      </p:grpSp>
      <p:grpSp>
        <p:nvGrpSpPr>
          <p:cNvPr id="22" name="anim|rise|0.91"/>
          <p:cNvGrpSpPr/>
          <p:nvPr/>
        </p:nvGrpSpPr>
        <p:grpSpPr>
          <a:xfrm>
            <a:off x="8039100" y="1485900"/>
            <a:ext cx="3581400" cy="3657600"/>
            <a:chOff x="8039100" y="1485900"/>
            <a:chExt cx="3581400" cy="3657600"/>
          </a:xfrm>
        </p:grpSpPr>
        <p:sp>
          <p:nvSpPr>
            <p:cNvPr id="23" name="Rounded Rectangle 22"/>
            <p:cNvSpPr/>
            <p:nvPr/>
          </p:nvSpPr>
          <p:spPr>
            <a:xfrm>
              <a:off x="8039100" y="1485900"/>
              <a:ext cx="3581400" cy="3657600"/>
            </a:xfrm>
            <a:prstGeom prst="roundRect">
              <a:avLst>
                <a:gd name="adj" fmla="val 4787"/>
              </a:avLst>
            </a:prstGeom>
            <a:solidFill>
              <a:srgbClr val="1E3A68"/>
            </a:solidFill>
            <a:ln>
              <a:noFill/>
            </a:ln>
          </p:spPr>
          <p:txBody>
            <a:bodyPr rtlCol="0" anchor="ctr"/>
            <a:lstStyle/>
            <a:p>
              <a:pPr algn="ctr"/>
              <a:endParaRPr/>
            </a:p>
          </p:txBody>
        </p:sp>
        <p:sp>
          <p:nvSpPr>
            <p:cNvPr id="24" name="Oval 23"/>
            <p:cNvSpPr/>
            <p:nvPr/>
          </p:nvSpPr>
          <p:spPr>
            <a:xfrm>
              <a:off x="8286750" y="1733550"/>
              <a:ext cx="685800" cy="685800"/>
            </a:xfrm>
            <a:prstGeom prst="ellipse">
              <a:avLst/>
            </a:prstGeom>
            <a:solidFill>
              <a:srgbClr val="14284B"/>
            </a:solidFill>
            <a:ln>
              <a:noFill/>
            </a:ln>
          </p:spPr>
          <p:txBody>
            <a:bodyPr rtlCol="0" anchor="ctr"/>
            <a:lstStyle/>
            <a:p>
              <a:pPr algn="ctr"/>
              <a:endParaRPr/>
            </a:p>
          </p:txBody>
        </p:sp>
        <p:pic>
          <p:nvPicPr>
            <p:cNvPr id="25" name="Picture 24" descr="database_teal.png"/>
            <p:cNvPicPr>
              <a:picLocks noChangeAspect="1"/>
            </p:cNvPicPr>
            <p:nvPr/>
          </p:nvPicPr>
          <p:blipFill>
            <a:blip r:embed="rId4"/>
            <a:stretch>
              <a:fillRect/>
            </a:stretch>
          </p:blipFill>
          <p:spPr>
            <a:xfrm>
              <a:off x="8444484" y="1891284"/>
              <a:ext cx="370332" cy="370332"/>
            </a:xfrm>
            <a:prstGeom prst="rect">
              <a:avLst/>
            </a:prstGeom>
          </p:spPr>
        </p:pic>
        <p:sp>
          <p:nvSpPr>
            <p:cNvPr id="26" name="TextBox 25"/>
            <p:cNvSpPr txBox="1"/>
            <p:nvPr/>
          </p:nvSpPr>
          <p:spPr>
            <a:xfrm>
              <a:off x="8286750" y="2590800"/>
              <a:ext cx="3086100" cy="533400"/>
            </a:xfrm>
            <a:prstGeom prst="rect">
              <a:avLst/>
            </a:prstGeom>
            <a:noFill/>
          </p:spPr>
          <p:txBody>
            <a:bodyPr wrap="square" lIns="0" tIns="0" rIns="0" bIns="0" anchor="t">
              <a:spAutoFit/>
            </a:bodyPr>
            <a:lstStyle/>
            <a:p>
              <a:pPr algn="l"/>
              <a:r>
                <a:rPr sz="2200" b="1">
                  <a:solidFill>
                    <a:srgbClr val="FFFFFF"/>
                  </a:solidFill>
                  <a:latin typeface="Century Gothic"/>
                </a:rPr>
                <a:t>Operational tier</a:t>
              </a:r>
            </a:p>
          </p:txBody>
        </p:sp>
        <p:sp>
          <p:nvSpPr>
            <p:cNvPr id="27" name="TextBox 26"/>
            <p:cNvSpPr txBox="1"/>
            <p:nvPr/>
          </p:nvSpPr>
          <p:spPr>
            <a:xfrm>
              <a:off x="8286750" y="2933700"/>
              <a:ext cx="3086100" cy="2076450"/>
            </a:xfrm>
            <a:prstGeom prst="rect">
              <a:avLst/>
            </a:prstGeom>
            <a:noFill/>
          </p:spPr>
          <p:txBody>
            <a:bodyPr wrap="square" lIns="0" tIns="0" rIns="0" bIns="0" anchor="t">
              <a:spAutoFit/>
            </a:bodyPr>
            <a:lstStyle/>
            <a:p>
              <a:pPr algn="l"/>
              <a:r>
                <a:rPr sz="1550" b="0">
                  <a:solidFill>
                    <a:srgbClr val="B0C0D9"/>
                  </a:solidFill>
                  <a:latin typeface="Segoe UI"/>
                </a:rPr>
                <a:t>Backups stay in your own subscription: in the backup storage account and the snapshot resource group. This is the tier we use.</a:t>
              </a:r>
            </a:p>
          </p:txBody>
        </p:sp>
      </p:grpSp>
      <p:grpSp>
        <p:nvGrpSpPr>
          <p:cNvPr id="28" name="anim|rise|1.09"/>
          <p:cNvGrpSpPr/>
          <p:nvPr/>
        </p:nvGrpSpPr>
        <p:grpSpPr>
          <a:xfrm>
            <a:off x="571500" y="5334000"/>
            <a:ext cx="11049000" cy="800100"/>
            <a:chOff x="571500" y="5334000"/>
            <a:chExt cx="11049000" cy="800100"/>
          </a:xfrm>
        </p:grpSpPr>
        <p:sp>
          <p:nvSpPr>
            <p:cNvPr id="29" name="Rounded Rectangle 28"/>
            <p:cNvSpPr/>
            <p:nvPr/>
          </p:nvSpPr>
          <p:spPr>
            <a:xfrm>
              <a:off x="571500" y="5334000"/>
              <a:ext cx="11049000" cy="800100"/>
            </a:xfrm>
            <a:prstGeom prst="roundRect">
              <a:avLst>
                <a:gd name="adj" fmla="val 21428"/>
              </a:avLst>
            </a:prstGeom>
            <a:solidFill>
              <a:srgbClr val="1E3A68"/>
            </a:solidFill>
            <a:ln w="19050">
              <a:solidFill>
                <a:srgbClr val="FFB938"/>
              </a:solidFill>
            </a:ln>
          </p:spPr>
          <p:txBody>
            <a:bodyPr rtlCol="0" anchor="ctr"/>
            <a:lstStyle/>
            <a:p>
              <a:pPr algn="ctr"/>
              <a:endParaRPr/>
            </a:p>
          </p:txBody>
        </p:sp>
        <p:pic>
          <p:nvPicPr>
            <p:cNvPr id="30" name="Picture 29" descr="info_amber.png"/>
            <p:cNvPicPr>
              <a:picLocks noChangeAspect="1"/>
            </p:cNvPicPr>
            <p:nvPr/>
          </p:nvPicPr>
          <p:blipFill>
            <a:blip r:embed="rId5"/>
            <a:stretch>
              <a:fillRect/>
            </a:stretch>
          </p:blipFill>
          <p:spPr>
            <a:xfrm>
              <a:off x="781050" y="5591175"/>
              <a:ext cx="285750" cy="285750"/>
            </a:xfrm>
            <a:prstGeom prst="rect">
              <a:avLst/>
            </a:prstGeom>
          </p:spPr>
        </p:pic>
        <p:sp>
          <p:nvSpPr>
            <p:cNvPr id="31" name="TextBox 30"/>
            <p:cNvSpPr txBox="1"/>
            <p:nvPr/>
          </p:nvSpPr>
          <p:spPr>
            <a:xfrm>
              <a:off x="1200150" y="5334000"/>
              <a:ext cx="10191750" cy="800100"/>
            </a:xfrm>
            <a:prstGeom prst="rect">
              <a:avLst/>
            </a:prstGeom>
            <a:noFill/>
          </p:spPr>
          <p:txBody>
            <a:bodyPr wrap="square" lIns="0" tIns="0" rIns="0" bIns="0" anchor="ctr">
              <a:spAutoFit/>
            </a:bodyPr>
            <a:lstStyle/>
            <a:p>
              <a:pPr algn="l"/>
              <a:r>
                <a:rPr sz="1700" b="0">
                  <a:solidFill>
                    <a:srgbClr val="FFFFFF"/>
                  </a:solidFill>
                  <a:latin typeface="Segoe UI"/>
                </a:rPr>
                <a:t>It backs up cluster resources. Volume snapshots are off, so volume data is not included.</a:t>
              </a:r>
            </a:p>
          </p:txBody>
        </p:sp>
      </p:grpSp>
    </p:spTree>
  </p:cSld>
  <p:clrMapOvr>
    <a:masterClrMapping/>
  </p:clrMapOvr>
  <mc:AlternateContent xmlns:mc="http://schemas.openxmlformats.org/markup-compatibility/2006">
    <mc:Choice xmlns:p14="http://schemas.microsoft.com/office/powerpoint/2010/main" Requires="p14">
      <p:transition spd="slow" p14:dur="800">
        <p:fad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5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50"/>
                                        <p:tgtEl>
                                          <p:spTgt spid="3"/>
                                        </p:tgtEl>
                                      </p:cBhvr>
                                    </p:animEffect>
                                  </p:childTnLst>
                                </p:cTn>
                              </p:par>
                              <p:par>
                                <p:cTn id="8" presetID="22" presetClass="entr" presetSubtype="8" fill="hold" grpId="0" nodeType="withEffect">
                                  <p:stCondLst>
                                    <p:cond delay="100"/>
                                  </p:stCondLst>
                                  <p:childTnLst>
                                    <p:set>
                                      <p:cBhvr>
                                        <p:cTn id="9" dur="1" fill="hold">
                                          <p:stCondLst>
                                            <p:cond delay="0"/>
                                          </p:stCondLst>
                                        </p:cTn>
                                        <p:tgtEl>
                                          <p:spTgt spid="6"/>
                                        </p:tgtEl>
                                        <p:attrNameLst>
                                          <p:attrName>style.visibility</p:attrName>
                                        </p:attrNameLst>
                                      </p:cBhvr>
                                      <p:to>
                                        <p:strVal val="visible"/>
                                      </p:to>
                                    </p:set>
                                    <p:animEffect transition="in" filter="wipe(left)">
                                      <p:cBhvr>
                                        <p:cTn id="10" dur="700"/>
                                        <p:tgtEl>
                                          <p:spTgt spid="6"/>
                                        </p:tgtEl>
                                      </p:cBhvr>
                                    </p:animEffect>
                                  </p:childTnLst>
                                </p:cTn>
                              </p:par>
                              <p:par>
                                <p:cTn id="11" presetID="10" presetClass="entr" presetSubtype="0" fill="hold" grpId="0" nodeType="withEffect">
                                  <p:stCondLst>
                                    <p:cond delay="45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50"/>
                                        <p:tgtEl>
                                          <p:spTgt spid="7"/>
                                        </p:tgtEl>
                                      </p:cBhvr>
                                    </p:animEffect>
                                  </p:childTnLst>
                                </p:cTn>
                              </p:par>
                              <p:par>
                                <p:cTn id="14" presetID="37" presetClass="entr" presetSubtype="0" fill="hold" nodeType="withEffect">
                                  <p:stCondLst>
                                    <p:cond delay="55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50"/>
                                        <p:tgtEl>
                                          <p:spTgt spid="10"/>
                                        </p:tgtEl>
                                      </p:cBhvr>
                                    </p:animEffect>
                                    <p:anim calcmode="lin" valueType="num">
                                      <p:cBhvr>
                                        <p:cTn id="17" dur="550" fill="hold"/>
                                        <p:tgtEl>
                                          <p:spTgt spid="10"/>
                                        </p:tgtEl>
                                        <p:attrNameLst>
                                          <p:attrName>ppt_x</p:attrName>
                                        </p:attrNameLst>
                                      </p:cBhvr>
                                      <p:tavLst>
                                        <p:tav tm="0">
                                          <p:val>
                                            <p:strVal val="#ppt_x"/>
                                          </p:val>
                                        </p:tav>
                                        <p:tav tm="100000">
                                          <p:val>
                                            <p:strVal val="#ppt_x"/>
                                          </p:val>
                                        </p:tav>
                                      </p:tavLst>
                                    </p:anim>
                                    <p:anim calcmode="lin" valueType="num">
                                      <p:cBhvr>
                                        <p:cTn id="18" dur="495" decel="100000" fill="hold"/>
                                        <p:tgtEl>
                                          <p:spTgt spid="10"/>
                                        </p:tgtEl>
                                        <p:attrNameLst>
                                          <p:attrName>ppt_y</p:attrName>
                                        </p:attrNameLst>
                                      </p:cBhvr>
                                      <p:tavLst>
                                        <p:tav tm="0">
                                          <p:val>
                                            <p:strVal val="#ppt_y+1"/>
                                          </p:val>
                                        </p:tav>
                                        <p:tav tm="100000">
                                          <p:val>
                                            <p:strVal val="#ppt_y-.03"/>
                                          </p:val>
                                        </p:tav>
                                      </p:tavLst>
                                    </p:anim>
                                    <p:anim calcmode="lin" valueType="num">
                                      <p:cBhvr>
                                        <p:cTn id="19" dur="55" accel="100000" fill="hold">
                                          <p:stCondLst>
                                            <p:cond delay="495"/>
                                          </p:stCondLst>
                                        </p:cTn>
                                        <p:tgtEl>
                                          <p:spTgt spid="10"/>
                                        </p:tgtEl>
                                        <p:attrNameLst>
                                          <p:attrName>ppt_y</p:attrName>
                                        </p:attrNameLst>
                                      </p:cBhvr>
                                      <p:tavLst>
                                        <p:tav tm="0">
                                          <p:val>
                                            <p:strVal val="#ppt_y-.03"/>
                                          </p:val>
                                        </p:tav>
                                        <p:tav tm="100000">
                                          <p:val>
                                            <p:strVal val="#ppt_y"/>
                                          </p:val>
                                        </p:tav>
                                      </p:tavLst>
                                    </p:anim>
                                  </p:childTnLst>
                                </p:cTn>
                              </p:par>
                              <p:par>
                                <p:cTn id="20" presetID="37" presetClass="entr" presetSubtype="0" fill="hold" nodeType="withEffect">
                                  <p:stCondLst>
                                    <p:cond delay="73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550"/>
                                        <p:tgtEl>
                                          <p:spTgt spid="16"/>
                                        </p:tgtEl>
                                      </p:cBhvr>
                                    </p:animEffect>
                                    <p:anim calcmode="lin" valueType="num">
                                      <p:cBhvr>
                                        <p:cTn id="23" dur="550" fill="hold"/>
                                        <p:tgtEl>
                                          <p:spTgt spid="16"/>
                                        </p:tgtEl>
                                        <p:attrNameLst>
                                          <p:attrName>ppt_x</p:attrName>
                                        </p:attrNameLst>
                                      </p:cBhvr>
                                      <p:tavLst>
                                        <p:tav tm="0">
                                          <p:val>
                                            <p:strVal val="#ppt_x"/>
                                          </p:val>
                                        </p:tav>
                                        <p:tav tm="100000">
                                          <p:val>
                                            <p:strVal val="#ppt_x"/>
                                          </p:val>
                                        </p:tav>
                                      </p:tavLst>
                                    </p:anim>
                                    <p:anim calcmode="lin" valueType="num">
                                      <p:cBhvr>
                                        <p:cTn id="24" dur="495" decel="100000" fill="hold"/>
                                        <p:tgtEl>
                                          <p:spTgt spid="16"/>
                                        </p:tgtEl>
                                        <p:attrNameLst>
                                          <p:attrName>ppt_y</p:attrName>
                                        </p:attrNameLst>
                                      </p:cBhvr>
                                      <p:tavLst>
                                        <p:tav tm="0">
                                          <p:val>
                                            <p:strVal val="#ppt_y+1"/>
                                          </p:val>
                                        </p:tav>
                                        <p:tav tm="100000">
                                          <p:val>
                                            <p:strVal val="#ppt_y-.03"/>
                                          </p:val>
                                        </p:tav>
                                      </p:tavLst>
                                    </p:anim>
                                    <p:anim calcmode="lin" valueType="num">
                                      <p:cBhvr>
                                        <p:cTn id="25" dur="55" accel="100000" fill="hold">
                                          <p:stCondLst>
                                            <p:cond delay="495"/>
                                          </p:stCondLst>
                                        </p:cTn>
                                        <p:tgtEl>
                                          <p:spTgt spid="16"/>
                                        </p:tgtEl>
                                        <p:attrNameLst>
                                          <p:attrName>ppt_y</p:attrName>
                                        </p:attrNameLst>
                                      </p:cBhvr>
                                      <p:tavLst>
                                        <p:tav tm="0">
                                          <p:val>
                                            <p:strVal val="#ppt_y-.03"/>
                                          </p:val>
                                        </p:tav>
                                        <p:tav tm="100000">
                                          <p:val>
                                            <p:strVal val="#ppt_y"/>
                                          </p:val>
                                        </p:tav>
                                      </p:tavLst>
                                    </p:anim>
                                  </p:childTnLst>
                                </p:cTn>
                              </p:par>
                              <p:par>
                                <p:cTn id="26" presetID="37" presetClass="entr" presetSubtype="0" fill="hold" nodeType="withEffect">
                                  <p:stCondLst>
                                    <p:cond delay="910"/>
                                  </p:stCondLst>
                                  <p:childTnLst>
                                    <p:set>
                                      <p:cBhvr>
                                        <p:cTn id="27" dur="1" fill="hold">
                                          <p:stCondLst>
                                            <p:cond delay="0"/>
                                          </p:stCondLst>
                                        </p:cTn>
                                        <p:tgtEl>
                                          <p:spTgt spid="22"/>
                                        </p:tgtEl>
                                        <p:attrNameLst>
                                          <p:attrName>style.visibility</p:attrName>
                                        </p:attrNameLst>
                                      </p:cBhvr>
                                      <p:to>
                                        <p:strVal val="visible"/>
                                      </p:to>
                                    </p:set>
                                    <p:animEffect transition="in" filter="fade">
                                      <p:cBhvr>
                                        <p:cTn id="28" dur="550"/>
                                        <p:tgtEl>
                                          <p:spTgt spid="22"/>
                                        </p:tgtEl>
                                      </p:cBhvr>
                                    </p:animEffect>
                                    <p:anim calcmode="lin" valueType="num">
                                      <p:cBhvr>
                                        <p:cTn id="29" dur="550" fill="hold"/>
                                        <p:tgtEl>
                                          <p:spTgt spid="22"/>
                                        </p:tgtEl>
                                        <p:attrNameLst>
                                          <p:attrName>ppt_x</p:attrName>
                                        </p:attrNameLst>
                                      </p:cBhvr>
                                      <p:tavLst>
                                        <p:tav tm="0">
                                          <p:val>
                                            <p:strVal val="#ppt_x"/>
                                          </p:val>
                                        </p:tav>
                                        <p:tav tm="100000">
                                          <p:val>
                                            <p:strVal val="#ppt_x"/>
                                          </p:val>
                                        </p:tav>
                                      </p:tavLst>
                                    </p:anim>
                                    <p:anim calcmode="lin" valueType="num">
                                      <p:cBhvr>
                                        <p:cTn id="30" dur="495" decel="100000" fill="hold"/>
                                        <p:tgtEl>
                                          <p:spTgt spid="22"/>
                                        </p:tgtEl>
                                        <p:attrNameLst>
                                          <p:attrName>ppt_y</p:attrName>
                                        </p:attrNameLst>
                                      </p:cBhvr>
                                      <p:tavLst>
                                        <p:tav tm="0">
                                          <p:val>
                                            <p:strVal val="#ppt_y+1"/>
                                          </p:val>
                                        </p:tav>
                                        <p:tav tm="100000">
                                          <p:val>
                                            <p:strVal val="#ppt_y-.03"/>
                                          </p:val>
                                        </p:tav>
                                      </p:tavLst>
                                    </p:anim>
                                    <p:anim calcmode="lin" valueType="num">
                                      <p:cBhvr>
                                        <p:cTn id="31" dur="55" accel="100000" fill="hold">
                                          <p:stCondLst>
                                            <p:cond delay="495"/>
                                          </p:stCondLst>
                                        </p:cTn>
                                        <p:tgtEl>
                                          <p:spTgt spid="22"/>
                                        </p:tgtEl>
                                        <p:attrNameLst>
                                          <p:attrName>ppt_y</p:attrName>
                                        </p:attrNameLst>
                                      </p:cBhvr>
                                      <p:tavLst>
                                        <p:tav tm="0">
                                          <p:val>
                                            <p:strVal val="#ppt_y-.03"/>
                                          </p:val>
                                        </p:tav>
                                        <p:tav tm="100000">
                                          <p:val>
                                            <p:strVal val="#ppt_y"/>
                                          </p:val>
                                        </p:tav>
                                      </p:tavLst>
                                    </p:anim>
                                  </p:childTnLst>
                                </p:cTn>
                              </p:par>
                              <p:par>
                                <p:cTn id="32" presetID="37" presetClass="entr" presetSubtype="0" fill="hold" nodeType="withEffect">
                                  <p:stCondLst>
                                    <p:cond delay="1090"/>
                                  </p:stCondLst>
                                  <p:childTnLst>
                                    <p:set>
                                      <p:cBhvr>
                                        <p:cTn id="33" dur="1" fill="hold">
                                          <p:stCondLst>
                                            <p:cond delay="0"/>
                                          </p:stCondLst>
                                        </p:cTn>
                                        <p:tgtEl>
                                          <p:spTgt spid="28"/>
                                        </p:tgtEl>
                                        <p:attrNameLst>
                                          <p:attrName>style.visibility</p:attrName>
                                        </p:attrNameLst>
                                      </p:cBhvr>
                                      <p:to>
                                        <p:strVal val="visible"/>
                                      </p:to>
                                    </p:set>
                                    <p:animEffect transition="in" filter="fade">
                                      <p:cBhvr>
                                        <p:cTn id="34" dur="550"/>
                                        <p:tgtEl>
                                          <p:spTgt spid="28"/>
                                        </p:tgtEl>
                                      </p:cBhvr>
                                    </p:animEffect>
                                    <p:anim calcmode="lin" valueType="num">
                                      <p:cBhvr>
                                        <p:cTn id="35" dur="550" fill="hold"/>
                                        <p:tgtEl>
                                          <p:spTgt spid="28"/>
                                        </p:tgtEl>
                                        <p:attrNameLst>
                                          <p:attrName>ppt_x</p:attrName>
                                        </p:attrNameLst>
                                      </p:cBhvr>
                                      <p:tavLst>
                                        <p:tav tm="0">
                                          <p:val>
                                            <p:strVal val="#ppt_x"/>
                                          </p:val>
                                        </p:tav>
                                        <p:tav tm="100000">
                                          <p:val>
                                            <p:strVal val="#ppt_x"/>
                                          </p:val>
                                        </p:tav>
                                      </p:tavLst>
                                    </p:anim>
                                    <p:anim calcmode="lin" valueType="num">
                                      <p:cBhvr>
                                        <p:cTn id="36" dur="495" decel="100000" fill="hold"/>
                                        <p:tgtEl>
                                          <p:spTgt spid="28"/>
                                        </p:tgtEl>
                                        <p:attrNameLst>
                                          <p:attrName>ppt_y</p:attrName>
                                        </p:attrNameLst>
                                      </p:cBhvr>
                                      <p:tavLst>
                                        <p:tav tm="0">
                                          <p:val>
                                            <p:strVal val="#ppt_y+1"/>
                                          </p:val>
                                        </p:tav>
                                        <p:tav tm="100000">
                                          <p:val>
                                            <p:strVal val="#ppt_y-.03"/>
                                          </p:val>
                                        </p:tav>
                                      </p:tavLst>
                                    </p:anim>
                                    <p:anim calcmode="lin" valueType="num">
                                      <p:cBhvr>
                                        <p:cTn id="37" dur="55" accel="100000" fill="hold">
                                          <p:stCondLst>
                                            <p:cond delay="495"/>
                                          </p:stCondLst>
                                        </p:cTn>
                                        <p:tgtEl>
                                          <p:spTgt spid="28"/>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4284B"/>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57150"/>
          </a:xfrm>
          <a:prstGeom prst="rect">
            <a:avLst/>
          </a:prstGeom>
          <a:solidFill>
            <a:srgbClr val="59BEC9"/>
          </a:solidFill>
          <a:ln>
            <a:noFill/>
          </a:ln>
        </p:spPr>
        <p:txBody>
          <a:bodyPr rtlCol="0" anchor="ctr"/>
          <a:lstStyle/>
          <a:p>
            <a:pPr algn="ctr"/>
            <a:endParaRPr/>
          </a:p>
        </p:txBody>
      </p:sp>
      <p:grpSp>
        <p:nvGrpSpPr>
          <p:cNvPr id="3" name="anim|fade|0.05"/>
          <p:cNvGrpSpPr/>
          <p:nvPr/>
        </p:nvGrpSpPr>
        <p:grpSpPr>
          <a:xfrm>
            <a:off x="571500" y="266700"/>
            <a:ext cx="7105650" cy="190500"/>
            <a:chOff x="571500" y="266700"/>
            <a:chExt cx="7105650" cy="190500"/>
          </a:xfrm>
        </p:grpSpPr>
        <p:sp>
          <p:nvSpPr>
            <p:cNvPr id="4" name="Rectangle 3"/>
            <p:cNvSpPr/>
            <p:nvPr/>
          </p:nvSpPr>
          <p:spPr>
            <a:xfrm>
              <a:off x="571500" y="342900"/>
              <a:ext cx="342900" cy="47625"/>
            </a:xfrm>
            <a:prstGeom prst="rect">
              <a:avLst/>
            </a:prstGeom>
            <a:solidFill>
              <a:srgbClr val="FFB938"/>
            </a:solidFill>
            <a:ln>
              <a:noFill/>
            </a:ln>
          </p:spPr>
          <p:txBody>
            <a:bodyPr rtlCol="0" anchor="ctr"/>
            <a:lstStyle/>
            <a:p>
              <a:pPr algn="ctr"/>
              <a:endParaRPr/>
            </a:p>
          </p:txBody>
        </p:sp>
        <p:sp>
          <p:nvSpPr>
            <p:cNvPr id="5" name="TextBox 4"/>
            <p:cNvSpPr txBox="1"/>
            <p:nvPr/>
          </p:nvSpPr>
          <p:spPr>
            <a:xfrm>
              <a:off x="1009650" y="266700"/>
              <a:ext cx="6667500" cy="190500"/>
            </a:xfrm>
            <a:prstGeom prst="rect">
              <a:avLst/>
            </a:prstGeom>
            <a:noFill/>
          </p:spPr>
          <p:txBody>
            <a:bodyPr wrap="square" lIns="0" tIns="0" rIns="0" bIns="0" anchor="t">
              <a:spAutoFit/>
            </a:bodyPr>
            <a:lstStyle/>
            <a:p>
              <a:pPr algn="l"/>
              <a:r>
                <a:rPr sz="1100" b="1" spc="300">
                  <a:solidFill>
                    <a:srgbClr val="59BEC9"/>
                  </a:solidFill>
                  <a:latin typeface="Century Gothic"/>
                </a:rPr>
                <a:t>HOW IT WORKS</a:t>
              </a:r>
            </a:p>
          </p:txBody>
        </p:sp>
      </p:grpSp>
      <p:sp>
        <p:nvSpPr>
          <p:cNvPr id="6" name="anim|wipeL|0.1"/>
          <p:cNvSpPr txBox="1"/>
          <p:nvPr/>
        </p:nvSpPr>
        <p:spPr>
          <a:xfrm>
            <a:off x="571500" y="533400"/>
            <a:ext cx="11049000" cy="533400"/>
          </a:xfrm>
          <a:prstGeom prst="rect">
            <a:avLst/>
          </a:prstGeom>
          <a:noFill/>
        </p:spPr>
        <p:txBody>
          <a:bodyPr wrap="square" lIns="0" tIns="0" rIns="0" bIns="0" anchor="t">
            <a:spAutoFit/>
          </a:bodyPr>
          <a:lstStyle/>
          <a:p>
            <a:pPr algn="l"/>
            <a:r>
              <a:rPr sz="3100" b="1">
                <a:solidFill>
                  <a:srgbClr val="FFFFFF"/>
                </a:solidFill>
                <a:latin typeface="Century Gothic"/>
              </a:rPr>
              <a:t>Our architecture</a:t>
            </a:r>
          </a:p>
        </p:txBody>
      </p:sp>
      <p:sp>
        <p:nvSpPr>
          <p:cNvPr id="7" name="anim|fade|0.45"/>
          <p:cNvSpPr txBox="1"/>
          <p:nvPr/>
        </p:nvSpPr>
        <p:spPr>
          <a:xfrm>
            <a:off x="571500" y="1028700"/>
            <a:ext cx="11049000" cy="247650"/>
          </a:xfrm>
          <a:prstGeom prst="rect">
            <a:avLst/>
          </a:prstGeom>
          <a:noFill/>
        </p:spPr>
        <p:txBody>
          <a:bodyPr wrap="square" lIns="0" tIns="0" rIns="0" bIns="0" anchor="t">
            <a:spAutoFit/>
          </a:bodyPr>
          <a:lstStyle/>
          <a:p>
            <a:pPr algn="l"/>
            <a:r>
              <a:rPr sz="1500" b="0">
                <a:solidFill>
                  <a:srgbClr val="B0C0D9"/>
                </a:solidFill>
                <a:latin typeface="Segoe UI"/>
              </a:rPr>
              <a:t>Read left to right: the vault starts a backup, and the cluster extension writes it to storage</a:t>
            </a:r>
          </a:p>
        </p:txBody>
      </p:sp>
      <p:sp>
        <p:nvSpPr>
          <p:cNvPr id="8" name="TextBox 7"/>
          <p:cNvSpPr txBox="1"/>
          <p:nvPr/>
        </p:nvSpPr>
        <p:spPr>
          <a:xfrm>
            <a:off x="571500" y="6534150"/>
            <a:ext cx="6667500" cy="171450"/>
          </a:xfrm>
          <a:prstGeom prst="rect">
            <a:avLst/>
          </a:prstGeom>
          <a:noFill/>
        </p:spPr>
        <p:txBody>
          <a:bodyPr wrap="square" lIns="0" tIns="0" rIns="0" bIns="0" anchor="t">
            <a:spAutoFit/>
          </a:bodyPr>
          <a:lstStyle/>
          <a:p>
            <a:pPr algn="l"/>
            <a:r>
              <a:rPr sz="950" b="0">
                <a:solidFill>
                  <a:srgbClr val="B0C0D9"/>
                </a:solidFill>
                <a:latin typeface="Segoe UI"/>
              </a:rPr>
              <a:t>AKS Backup &amp; Restore  |  BFH AKS IHUB Platform Team</a:t>
            </a:r>
          </a:p>
        </p:txBody>
      </p:sp>
      <p:sp>
        <p:nvSpPr>
          <p:cNvPr id="9" name="TextBox 8"/>
          <p:cNvSpPr txBox="1"/>
          <p:nvPr/>
        </p:nvSpPr>
        <p:spPr>
          <a:xfrm>
            <a:off x="10668000" y="6534150"/>
            <a:ext cx="952500" cy="171450"/>
          </a:xfrm>
          <a:prstGeom prst="rect">
            <a:avLst/>
          </a:prstGeom>
          <a:noFill/>
        </p:spPr>
        <p:txBody>
          <a:bodyPr wrap="square" lIns="0" tIns="0" rIns="0" bIns="0" anchor="t">
            <a:spAutoFit/>
          </a:bodyPr>
          <a:lstStyle/>
          <a:p>
            <a:pPr algn="r"/>
            <a:r>
              <a:rPr sz="1000" b="1">
                <a:solidFill>
                  <a:srgbClr val="FFB938"/>
                </a:solidFill>
                <a:latin typeface="Century Gothic"/>
              </a:rPr>
              <a:t>7</a:t>
            </a:r>
          </a:p>
        </p:txBody>
      </p:sp>
      <p:grpSp>
        <p:nvGrpSpPr>
          <p:cNvPr id="10" name="anim|rise|0.55"/>
          <p:cNvGrpSpPr/>
          <p:nvPr/>
        </p:nvGrpSpPr>
        <p:grpSpPr>
          <a:xfrm>
            <a:off x="571500" y="1676400"/>
            <a:ext cx="2857500" cy="1428750"/>
            <a:chOff x="571500" y="1676400"/>
            <a:chExt cx="2857500" cy="1428750"/>
          </a:xfrm>
        </p:grpSpPr>
        <p:sp>
          <p:nvSpPr>
            <p:cNvPr id="11" name="Rounded Rectangle 10"/>
            <p:cNvSpPr/>
            <p:nvPr/>
          </p:nvSpPr>
          <p:spPr>
            <a:xfrm>
              <a:off x="571500" y="1676400"/>
              <a:ext cx="2857500" cy="1428750"/>
            </a:xfrm>
            <a:prstGeom prst="roundRect">
              <a:avLst>
                <a:gd name="adj" fmla="val 14666"/>
              </a:avLst>
            </a:prstGeom>
            <a:solidFill>
              <a:srgbClr val="1E3A68"/>
            </a:solidFill>
            <a:ln w="27940">
              <a:solidFill>
                <a:srgbClr val="59BEC9"/>
              </a:solidFill>
            </a:ln>
          </p:spPr>
          <p:txBody>
            <a:bodyPr rtlCol="0" anchor="ctr"/>
            <a:lstStyle/>
            <a:p>
              <a:pPr algn="ctr"/>
              <a:endParaRPr/>
            </a:p>
          </p:txBody>
        </p:sp>
        <p:pic>
          <p:nvPicPr>
            <p:cNvPr id="12" name="Picture 11" descr="database_teal.png"/>
            <p:cNvPicPr>
              <a:picLocks noChangeAspect="1"/>
            </p:cNvPicPr>
            <p:nvPr/>
          </p:nvPicPr>
          <p:blipFill>
            <a:blip r:embed="rId2"/>
            <a:stretch>
              <a:fillRect/>
            </a:stretch>
          </p:blipFill>
          <p:spPr>
            <a:xfrm>
              <a:off x="800100" y="1885950"/>
              <a:ext cx="438150" cy="438150"/>
            </a:xfrm>
            <a:prstGeom prst="rect">
              <a:avLst/>
            </a:prstGeom>
          </p:spPr>
        </p:pic>
        <p:sp>
          <p:nvSpPr>
            <p:cNvPr id="13" name="TextBox 12"/>
            <p:cNvSpPr txBox="1"/>
            <p:nvPr/>
          </p:nvSpPr>
          <p:spPr>
            <a:xfrm>
              <a:off x="800100" y="2438400"/>
              <a:ext cx="2400300" cy="285750"/>
            </a:xfrm>
            <a:prstGeom prst="rect">
              <a:avLst/>
            </a:prstGeom>
            <a:noFill/>
          </p:spPr>
          <p:txBody>
            <a:bodyPr wrap="square" lIns="0" tIns="0" rIns="0" bIns="0" anchor="t">
              <a:spAutoFit/>
            </a:bodyPr>
            <a:lstStyle/>
            <a:p>
              <a:pPr algn="l"/>
              <a:r>
                <a:rPr sz="1900" b="1">
                  <a:solidFill>
                    <a:srgbClr val="FFFFFF"/>
                  </a:solidFill>
                  <a:latin typeface="Century Gothic"/>
                </a:rPr>
                <a:t>Backup vault</a:t>
              </a:r>
            </a:p>
          </p:txBody>
        </p:sp>
        <p:sp>
          <p:nvSpPr>
            <p:cNvPr id="14" name="TextBox 13"/>
            <p:cNvSpPr txBox="1"/>
            <p:nvPr/>
          </p:nvSpPr>
          <p:spPr>
            <a:xfrm>
              <a:off x="800100" y="2743200"/>
              <a:ext cx="2400300" cy="228600"/>
            </a:xfrm>
            <a:prstGeom prst="rect">
              <a:avLst/>
            </a:prstGeom>
            <a:noFill/>
          </p:spPr>
          <p:txBody>
            <a:bodyPr wrap="square" lIns="0" tIns="0" rIns="0" bIns="0" anchor="t">
              <a:spAutoFit/>
            </a:bodyPr>
            <a:lstStyle/>
            <a:p>
              <a:pPr algn="l"/>
              <a:r>
                <a:rPr sz="1450" b="0">
                  <a:solidFill>
                    <a:srgbClr val="B0C0D9"/>
                  </a:solidFill>
                  <a:latin typeface="Segoe UI"/>
                </a:rPr>
                <a:t>+ backup policy</a:t>
              </a:r>
            </a:p>
          </p:txBody>
        </p:sp>
      </p:grpSp>
      <p:grpSp>
        <p:nvGrpSpPr>
          <p:cNvPr id="15" name="anim|wipeL|0.73"/>
          <p:cNvGrpSpPr/>
          <p:nvPr/>
        </p:nvGrpSpPr>
        <p:grpSpPr>
          <a:xfrm>
            <a:off x="3333750" y="1762125"/>
            <a:ext cx="1428750" cy="1104900"/>
            <a:chOff x="3333750" y="1762125"/>
            <a:chExt cx="1428750" cy="1104900"/>
          </a:xfrm>
        </p:grpSpPr>
        <p:sp>
          <p:nvSpPr>
            <p:cNvPr id="16" name="Right Arrow 15"/>
            <p:cNvSpPr/>
            <p:nvPr/>
          </p:nvSpPr>
          <p:spPr>
            <a:xfrm>
              <a:off x="3524250" y="2219325"/>
              <a:ext cx="1047750" cy="342900"/>
            </a:xfrm>
            <a:prstGeom prst="rightArrow">
              <a:avLst/>
            </a:prstGeom>
            <a:solidFill>
              <a:srgbClr val="59BEC9"/>
            </a:solidFill>
            <a:ln>
              <a:noFill/>
            </a:ln>
          </p:spPr>
          <p:txBody>
            <a:bodyPr rtlCol="0" anchor="ctr"/>
            <a:lstStyle/>
            <a:p>
              <a:pPr algn="ctr"/>
              <a:endParaRPr/>
            </a:p>
          </p:txBody>
        </p:sp>
        <p:sp>
          <p:nvSpPr>
            <p:cNvPr id="17" name="Oval 16"/>
            <p:cNvSpPr/>
            <p:nvPr/>
          </p:nvSpPr>
          <p:spPr>
            <a:xfrm>
              <a:off x="3895725" y="1762125"/>
              <a:ext cx="304800" cy="304800"/>
            </a:xfrm>
            <a:prstGeom prst="ellipse">
              <a:avLst/>
            </a:prstGeom>
            <a:solidFill>
              <a:srgbClr val="FFB938"/>
            </a:solidFill>
            <a:ln>
              <a:noFill/>
            </a:ln>
          </p:spPr>
          <p:txBody>
            <a:bodyPr rtlCol="0" anchor="ctr"/>
            <a:lstStyle/>
            <a:p>
              <a:pPr algn="ctr"/>
              <a:endParaRPr/>
            </a:p>
          </p:txBody>
        </p:sp>
        <p:sp>
          <p:nvSpPr>
            <p:cNvPr id="18" name="TextBox 17"/>
            <p:cNvSpPr txBox="1"/>
            <p:nvPr/>
          </p:nvSpPr>
          <p:spPr>
            <a:xfrm>
              <a:off x="3895725" y="1762125"/>
              <a:ext cx="304800" cy="304800"/>
            </a:xfrm>
            <a:prstGeom prst="rect">
              <a:avLst/>
            </a:prstGeom>
            <a:noFill/>
          </p:spPr>
          <p:txBody>
            <a:bodyPr wrap="square" lIns="0" tIns="0" rIns="0" bIns="0" anchor="ctr">
              <a:spAutoFit/>
            </a:bodyPr>
            <a:lstStyle/>
            <a:p>
              <a:pPr algn="ctr"/>
              <a:r>
                <a:rPr sz="1400" b="1">
                  <a:solidFill>
                    <a:srgbClr val="14284B"/>
                  </a:solidFill>
                  <a:latin typeface="Century Gothic"/>
                </a:rPr>
                <a:t>1</a:t>
              </a:r>
            </a:p>
          </p:txBody>
        </p:sp>
        <p:sp>
          <p:nvSpPr>
            <p:cNvPr id="19" name="TextBox 18"/>
            <p:cNvSpPr txBox="1"/>
            <p:nvPr/>
          </p:nvSpPr>
          <p:spPr>
            <a:xfrm>
              <a:off x="3333750" y="2638425"/>
              <a:ext cx="1428750" cy="228600"/>
            </a:xfrm>
            <a:prstGeom prst="rect">
              <a:avLst/>
            </a:prstGeom>
            <a:noFill/>
          </p:spPr>
          <p:txBody>
            <a:bodyPr wrap="square" lIns="0" tIns="0" rIns="0" bIns="0" anchor="t">
              <a:spAutoFit/>
            </a:bodyPr>
            <a:lstStyle/>
            <a:p>
              <a:pPr algn="ctr"/>
              <a:r>
                <a:rPr sz="1300" b="0">
                  <a:solidFill>
                    <a:srgbClr val="B0C0D9"/>
                  </a:solidFill>
                  <a:latin typeface="Segoe UI"/>
                </a:rPr>
                <a:t>Trusted Access</a:t>
              </a:r>
            </a:p>
          </p:txBody>
        </p:sp>
      </p:grpSp>
      <p:grpSp>
        <p:nvGrpSpPr>
          <p:cNvPr id="20" name="anim|rise|0.85"/>
          <p:cNvGrpSpPr/>
          <p:nvPr/>
        </p:nvGrpSpPr>
        <p:grpSpPr>
          <a:xfrm>
            <a:off x="4667250" y="1676400"/>
            <a:ext cx="2857500" cy="1428750"/>
            <a:chOff x="4667250" y="1676400"/>
            <a:chExt cx="2857500" cy="1428750"/>
          </a:xfrm>
        </p:grpSpPr>
        <p:sp>
          <p:nvSpPr>
            <p:cNvPr id="21" name="Rounded Rectangle 20"/>
            <p:cNvSpPr/>
            <p:nvPr/>
          </p:nvSpPr>
          <p:spPr>
            <a:xfrm>
              <a:off x="4667250" y="1676400"/>
              <a:ext cx="2857500" cy="1428750"/>
            </a:xfrm>
            <a:prstGeom prst="roundRect">
              <a:avLst>
                <a:gd name="adj" fmla="val 14666"/>
              </a:avLst>
            </a:prstGeom>
            <a:solidFill>
              <a:srgbClr val="1E3A68"/>
            </a:solidFill>
            <a:ln w="27940">
              <a:solidFill>
                <a:srgbClr val="59BEC9"/>
              </a:solidFill>
            </a:ln>
          </p:spPr>
          <p:txBody>
            <a:bodyPr rtlCol="0" anchor="ctr"/>
            <a:lstStyle/>
            <a:p>
              <a:pPr algn="ctr"/>
              <a:endParaRPr/>
            </a:p>
          </p:txBody>
        </p:sp>
        <p:pic>
          <p:nvPicPr>
            <p:cNvPr id="22" name="Picture 21" descr="cluster_teal.png"/>
            <p:cNvPicPr>
              <a:picLocks noChangeAspect="1"/>
            </p:cNvPicPr>
            <p:nvPr/>
          </p:nvPicPr>
          <p:blipFill>
            <a:blip r:embed="rId3"/>
            <a:stretch>
              <a:fillRect/>
            </a:stretch>
          </p:blipFill>
          <p:spPr>
            <a:xfrm>
              <a:off x="4895850" y="1885950"/>
              <a:ext cx="438150" cy="438150"/>
            </a:xfrm>
            <a:prstGeom prst="rect">
              <a:avLst/>
            </a:prstGeom>
          </p:spPr>
        </p:pic>
        <p:sp>
          <p:nvSpPr>
            <p:cNvPr id="23" name="TextBox 22"/>
            <p:cNvSpPr txBox="1"/>
            <p:nvPr/>
          </p:nvSpPr>
          <p:spPr>
            <a:xfrm>
              <a:off x="4895850" y="2438400"/>
              <a:ext cx="2400300" cy="285750"/>
            </a:xfrm>
            <a:prstGeom prst="rect">
              <a:avLst/>
            </a:prstGeom>
            <a:noFill/>
          </p:spPr>
          <p:txBody>
            <a:bodyPr wrap="square" lIns="0" tIns="0" rIns="0" bIns="0" anchor="t">
              <a:spAutoFit/>
            </a:bodyPr>
            <a:lstStyle/>
            <a:p>
              <a:pPr algn="l"/>
              <a:r>
                <a:rPr sz="1900" b="1">
                  <a:solidFill>
                    <a:srgbClr val="FFFFFF"/>
                  </a:solidFill>
                  <a:latin typeface="Century Gothic"/>
                </a:rPr>
                <a:t>Original cluster</a:t>
              </a:r>
            </a:p>
          </p:txBody>
        </p:sp>
        <p:sp>
          <p:nvSpPr>
            <p:cNvPr id="24" name="TextBox 23"/>
            <p:cNvSpPr txBox="1"/>
            <p:nvPr/>
          </p:nvSpPr>
          <p:spPr>
            <a:xfrm>
              <a:off x="4895850" y="2743200"/>
              <a:ext cx="2400300" cy="228600"/>
            </a:xfrm>
            <a:prstGeom prst="rect">
              <a:avLst/>
            </a:prstGeom>
            <a:noFill/>
          </p:spPr>
          <p:txBody>
            <a:bodyPr wrap="square" lIns="0" tIns="0" rIns="0" bIns="0" anchor="t">
              <a:spAutoFit/>
            </a:bodyPr>
            <a:lstStyle/>
            <a:p>
              <a:pPr algn="l"/>
              <a:r>
                <a:rPr sz="1450" b="0">
                  <a:solidFill>
                    <a:srgbClr val="B0C0D9"/>
                  </a:solidFill>
                  <a:latin typeface="Segoe UI"/>
                </a:rPr>
                <a:t>+ Backup extension</a:t>
              </a:r>
            </a:p>
          </p:txBody>
        </p:sp>
      </p:grpSp>
      <p:grpSp>
        <p:nvGrpSpPr>
          <p:cNvPr id="25" name="anim|wipeL|1.03"/>
          <p:cNvGrpSpPr/>
          <p:nvPr/>
        </p:nvGrpSpPr>
        <p:grpSpPr>
          <a:xfrm>
            <a:off x="7429500" y="1762125"/>
            <a:ext cx="1428750" cy="1104900"/>
            <a:chOff x="7429500" y="1762125"/>
            <a:chExt cx="1428750" cy="1104900"/>
          </a:xfrm>
        </p:grpSpPr>
        <p:sp>
          <p:nvSpPr>
            <p:cNvPr id="26" name="Right Arrow 25"/>
            <p:cNvSpPr/>
            <p:nvPr/>
          </p:nvSpPr>
          <p:spPr>
            <a:xfrm>
              <a:off x="7620000" y="2219325"/>
              <a:ext cx="1047750" cy="342900"/>
            </a:xfrm>
            <a:prstGeom prst="rightArrow">
              <a:avLst/>
            </a:prstGeom>
            <a:solidFill>
              <a:srgbClr val="59BEC9"/>
            </a:solidFill>
            <a:ln>
              <a:noFill/>
            </a:ln>
          </p:spPr>
          <p:txBody>
            <a:bodyPr rtlCol="0" anchor="ctr"/>
            <a:lstStyle/>
            <a:p>
              <a:pPr algn="ctr"/>
              <a:endParaRPr/>
            </a:p>
          </p:txBody>
        </p:sp>
        <p:sp>
          <p:nvSpPr>
            <p:cNvPr id="27" name="Oval 26"/>
            <p:cNvSpPr/>
            <p:nvPr/>
          </p:nvSpPr>
          <p:spPr>
            <a:xfrm>
              <a:off x="7991475" y="1762125"/>
              <a:ext cx="304800" cy="304800"/>
            </a:xfrm>
            <a:prstGeom prst="ellipse">
              <a:avLst/>
            </a:prstGeom>
            <a:solidFill>
              <a:srgbClr val="FFB938"/>
            </a:solidFill>
            <a:ln>
              <a:noFill/>
            </a:ln>
          </p:spPr>
          <p:txBody>
            <a:bodyPr rtlCol="0" anchor="ctr"/>
            <a:lstStyle/>
            <a:p>
              <a:pPr algn="ctr"/>
              <a:endParaRPr/>
            </a:p>
          </p:txBody>
        </p:sp>
        <p:sp>
          <p:nvSpPr>
            <p:cNvPr id="28" name="TextBox 27"/>
            <p:cNvSpPr txBox="1"/>
            <p:nvPr/>
          </p:nvSpPr>
          <p:spPr>
            <a:xfrm>
              <a:off x="7991475" y="1762125"/>
              <a:ext cx="304800" cy="304800"/>
            </a:xfrm>
            <a:prstGeom prst="rect">
              <a:avLst/>
            </a:prstGeom>
            <a:noFill/>
          </p:spPr>
          <p:txBody>
            <a:bodyPr wrap="square" lIns="0" tIns="0" rIns="0" bIns="0" anchor="ctr">
              <a:spAutoFit/>
            </a:bodyPr>
            <a:lstStyle/>
            <a:p>
              <a:pPr algn="ctr"/>
              <a:r>
                <a:rPr sz="1400" b="1">
                  <a:solidFill>
                    <a:srgbClr val="14284B"/>
                  </a:solidFill>
                  <a:latin typeface="Century Gothic"/>
                </a:rPr>
                <a:t>2</a:t>
              </a:r>
            </a:p>
          </p:txBody>
        </p:sp>
        <p:sp>
          <p:nvSpPr>
            <p:cNvPr id="29" name="TextBox 28"/>
            <p:cNvSpPr txBox="1"/>
            <p:nvPr/>
          </p:nvSpPr>
          <p:spPr>
            <a:xfrm>
              <a:off x="7429500" y="2638425"/>
              <a:ext cx="1428750" cy="228600"/>
            </a:xfrm>
            <a:prstGeom prst="rect">
              <a:avLst/>
            </a:prstGeom>
            <a:noFill/>
          </p:spPr>
          <p:txBody>
            <a:bodyPr wrap="square" lIns="0" tIns="0" rIns="0" bIns="0" anchor="t">
              <a:spAutoFit/>
            </a:bodyPr>
            <a:lstStyle/>
            <a:p>
              <a:pPr algn="ctr"/>
              <a:r>
                <a:rPr sz="1300" b="0">
                  <a:solidFill>
                    <a:srgbClr val="B0C0D9"/>
                  </a:solidFill>
                  <a:latin typeface="Segoe UI"/>
                </a:rPr>
                <a:t>Backup data</a:t>
              </a:r>
            </a:p>
          </p:txBody>
        </p:sp>
      </p:grpSp>
      <p:grpSp>
        <p:nvGrpSpPr>
          <p:cNvPr id="30" name="anim|rise|1.15"/>
          <p:cNvGrpSpPr/>
          <p:nvPr/>
        </p:nvGrpSpPr>
        <p:grpSpPr>
          <a:xfrm>
            <a:off x="8763000" y="1676400"/>
            <a:ext cx="2857500" cy="1428750"/>
            <a:chOff x="8763000" y="1676400"/>
            <a:chExt cx="2857500" cy="1428750"/>
          </a:xfrm>
        </p:grpSpPr>
        <p:sp>
          <p:nvSpPr>
            <p:cNvPr id="31" name="Rounded Rectangle 30"/>
            <p:cNvSpPr/>
            <p:nvPr/>
          </p:nvSpPr>
          <p:spPr>
            <a:xfrm>
              <a:off x="8763000" y="1676400"/>
              <a:ext cx="2857500" cy="1428750"/>
            </a:xfrm>
            <a:prstGeom prst="roundRect">
              <a:avLst>
                <a:gd name="adj" fmla="val 14666"/>
              </a:avLst>
            </a:prstGeom>
            <a:solidFill>
              <a:srgbClr val="1E3A68"/>
            </a:solidFill>
            <a:ln w="27940">
              <a:solidFill>
                <a:srgbClr val="59BEC9"/>
              </a:solidFill>
            </a:ln>
          </p:spPr>
          <p:txBody>
            <a:bodyPr rtlCol="0" anchor="ctr"/>
            <a:lstStyle/>
            <a:p>
              <a:pPr algn="ctr"/>
              <a:endParaRPr/>
            </a:p>
          </p:txBody>
        </p:sp>
        <p:pic>
          <p:nvPicPr>
            <p:cNvPr id="32" name="Picture 31" descr="database_teal.png"/>
            <p:cNvPicPr>
              <a:picLocks noChangeAspect="1"/>
            </p:cNvPicPr>
            <p:nvPr/>
          </p:nvPicPr>
          <p:blipFill>
            <a:blip r:embed="rId2"/>
            <a:stretch>
              <a:fillRect/>
            </a:stretch>
          </p:blipFill>
          <p:spPr>
            <a:xfrm>
              <a:off x="8991600" y="1885950"/>
              <a:ext cx="438150" cy="438150"/>
            </a:xfrm>
            <a:prstGeom prst="rect">
              <a:avLst/>
            </a:prstGeom>
          </p:spPr>
        </p:pic>
        <p:sp>
          <p:nvSpPr>
            <p:cNvPr id="33" name="TextBox 32"/>
            <p:cNvSpPr txBox="1"/>
            <p:nvPr/>
          </p:nvSpPr>
          <p:spPr>
            <a:xfrm>
              <a:off x="8991600" y="2438400"/>
              <a:ext cx="2400300" cy="285750"/>
            </a:xfrm>
            <a:prstGeom prst="rect">
              <a:avLst/>
            </a:prstGeom>
            <a:noFill/>
          </p:spPr>
          <p:txBody>
            <a:bodyPr wrap="square" lIns="0" tIns="0" rIns="0" bIns="0" anchor="t">
              <a:spAutoFit/>
            </a:bodyPr>
            <a:lstStyle/>
            <a:p>
              <a:pPr algn="l"/>
              <a:r>
                <a:rPr sz="1900" b="1">
                  <a:solidFill>
                    <a:srgbClr val="FFFFFF"/>
                  </a:solidFill>
                  <a:latin typeface="Century Gothic"/>
                </a:rPr>
                <a:t>Storage account</a:t>
              </a:r>
            </a:p>
          </p:txBody>
        </p:sp>
        <p:sp>
          <p:nvSpPr>
            <p:cNvPr id="34" name="TextBox 33"/>
            <p:cNvSpPr txBox="1"/>
            <p:nvPr/>
          </p:nvSpPr>
          <p:spPr>
            <a:xfrm>
              <a:off x="8991600" y="2743200"/>
              <a:ext cx="2400300" cy="228600"/>
            </a:xfrm>
            <a:prstGeom prst="rect">
              <a:avLst/>
            </a:prstGeom>
            <a:noFill/>
          </p:spPr>
          <p:txBody>
            <a:bodyPr wrap="square" lIns="0" tIns="0" rIns="0" bIns="0" anchor="t">
              <a:spAutoFit/>
            </a:bodyPr>
            <a:lstStyle/>
            <a:p>
              <a:pPr algn="l"/>
              <a:r>
                <a:rPr sz="1450" b="0">
                  <a:solidFill>
                    <a:srgbClr val="B0C0D9"/>
                  </a:solidFill>
                  <a:latin typeface="Segoe UI"/>
                </a:rPr>
                <a:t>+ container</a:t>
              </a:r>
            </a:p>
          </p:txBody>
        </p:sp>
      </p:grpSp>
      <p:grpSp>
        <p:nvGrpSpPr>
          <p:cNvPr id="35" name="anim|rise|1.33"/>
          <p:cNvGrpSpPr/>
          <p:nvPr/>
        </p:nvGrpSpPr>
        <p:grpSpPr>
          <a:xfrm>
            <a:off x="8763000" y="3295650"/>
            <a:ext cx="2857500" cy="590550"/>
            <a:chOff x="8763000" y="3295650"/>
            <a:chExt cx="2857500" cy="590550"/>
          </a:xfrm>
        </p:grpSpPr>
        <p:sp>
          <p:nvSpPr>
            <p:cNvPr id="36" name="Rounded Rectangle 35"/>
            <p:cNvSpPr/>
            <p:nvPr/>
          </p:nvSpPr>
          <p:spPr>
            <a:xfrm>
              <a:off x="8763000" y="3295650"/>
              <a:ext cx="2857500" cy="590550"/>
            </a:xfrm>
            <a:prstGeom prst="roundRect">
              <a:avLst>
                <a:gd name="adj" fmla="val 50000"/>
              </a:avLst>
            </a:prstGeom>
            <a:solidFill>
              <a:srgbClr val="14284B"/>
            </a:solidFill>
            <a:ln w="20320">
              <a:solidFill>
                <a:srgbClr val="59BEC9"/>
              </a:solidFill>
            </a:ln>
          </p:spPr>
          <p:txBody>
            <a:bodyPr rtlCol="0" anchor="ctr"/>
            <a:lstStyle/>
            <a:p>
              <a:pPr algn="ctr"/>
              <a:endParaRPr/>
            </a:p>
          </p:txBody>
        </p:sp>
        <p:pic>
          <p:nvPicPr>
            <p:cNvPr id="37" name="Picture 36" descr="plug_teal.png"/>
            <p:cNvPicPr>
              <a:picLocks noChangeAspect="1"/>
            </p:cNvPicPr>
            <p:nvPr/>
          </p:nvPicPr>
          <p:blipFill>
            <a:blip r:embed="rId4"/>
            <a:stretch>
              <a:fillRect/>
            </a:stretch>
          </p:blipFill>
          <p:spPr>
            <a:xfrm>
              <a:off x="8953500" y="3438525"/>
              <a:ext cx="304800" cy="304800"/>
            </a:xfrm>
            <a:prstGeom prst="rect">
              <a:avLst/>
            </a:prstGeom>
          </p:spPr>
        </p:pic>
        <p:sp>
          <p:nvSpPr>
            <p:cNvPr id="38" name="TextBox 37"/>
            <p:cNvSpPr txBox="1"/>
            <p:nvPr/>
          </p:nvSpPr>
          <p:spPr>
            <a:xfrm>
              <a:off x="9353550" y="3295650"/>
              <a:ext cx="2152650" cy="590550"/>
            </a:xfrm>
            <a:prstGeom prst="rect">
              <a:avLst/>
            </a:prstGeom>
            <a:noFill/>
          </p:spPr>
          <p:txBody>
            <a:bodyPr wrap="square" lIns="0" tIns="0" rIns="0" bIns="0" anchor="ctr">
              <a:spAutoFit/>
            </a:bodyPr>
            <a:lstStyle/>
            <a:p>
              <a:pPr algn="l"/>
              <a:r>
                <a:rPr sz="1250" b="1">
                  <a:solidFill>
                    <a:srgbClr val="FFFFFF"/>
                  </a:solidFill>
                  <a:latin typeface="Segoe UI"/>
                </a:rPr>
                <a:t>Private endpoint (created by the cloud team)</a:t>
              </a:r>
            </a:p>
          </p:txBody>
        </p:sp>
      </p:grpSp>
      <p:grpSp>
        <p:nvGrpSpPr>
          <p:cNvPr id="39" name="anim|wipeL|1.51"/>
          <p:cNvGrpSpPr/>
          <p:nvPr/>
        </p:nvGrpSpPr>
        <p:grpSpPr>
          <a:xfrm>
            <a:off x="1828800" y="3200400"/>
            <a:ext cx="2019300" cy="666750"/>
            <a:chOff x="1828800" y="3200400"/>
            <a:chExt cx="2019300" cy="666750"/>
          </a:xfrm>
        </p:grpSpPr>
        <p:sp>
          <p:nvSpPr>
            <p:cNvPr id="40" name="Down Arrow 39"/>
            <p:cNvSpPr/>
            <p:nvPr/>
          </p:nvSpPr>
          <p:spPr>
            <a:xfrm>
              <a:off x="1828800" y="3200400"/>
              <a:ext cx="342900" cy="666750"/>
            </a:xfrm>
            <a:prstGeom prst="downArrow">
              <a:avLst/>
            </a:prstGeom>
            <a:solidFill>
              <a:srgbClr val="FFB938"/>
            </a:solidFill>
            <a:ln>
              <a:noFill/>
            </a:ln>
          </p:spPr>
          <p:txBody>
            <a:bodyPr rtlCol="0" anchor="ctr"/>
            <a:lstStyle/>
            <a:p>
              <a:pPr algn="ctr"/>
              <a:endParaRPr/>
            </a:p>
          </p:txBody>
        </p:sp>
        <p:sp>
          <p:nvSpPr>
            <p:cNvPr id="41" name="Oval 40"/>
            <p:cNvSpPr/>
            <p:nvPr/>
          </p:nvSpPr>
          <p:spPr>
            <a:xfrm>
              <a:off x="2324100" y="3295650"/>
              <a:ext cx="304800" cy="304800"/>
            </a:xfrm>
            <a:prstGeom prst="ellipse">
              <a:avLst/>
            </a:prstGeom>
            <a:solidFill>
              <a:srgbClr val="FFB938"/>
            </a:solidFill>
            <a:ln>
              <a:noFill/>
            </a:ln>
          </p:spPr>
          <p:txBody>
            <a:bodyPr rtlCol="0" anchor="ctr"/>
            <a:lstStyle/>
            <a:p>
              <a:pPr algn="ctr"/>
              <a:endParaRPr/>
            </a:p>
          </p:txBody>
        </p:sp>
        <p:sp>
          <p:nvSpPr>
            <p:cNvPr id="42" name="TextBox 41"/>
            <p:cNvSpPr txBox="1"/>
            <p:nvPr/>
          </p:nvSpPr>
          <p:spPr>
            <a:xfrm>
              <a:off x="2324100" y="3295650"/>
              <a:ext cx="304800" cy="304800"/>
            </a:xfrm>
            <a:prstGeom prst="rect">
              <a:avLst/>
            </a:prstGeom>
            <a:noFill/>
          </p:spPr>
          <p:txBody>
            <a:bodyPr wrap="square" lIns="0" tIns="0" rIns="0" bIns="0" anchor="ctr">
              <a:spAutoFit/>
            </a:bodyPr>
            <a:lstStyle/>
            <a:p>
              <a:pPr algn="ctr"/>
              <a:r>
                <a:rPr sz="1400" b="1">
                  <a:solidFill>
                    <a:srgbClr val="14284B"/>
                  </a:solidFill>
                  <a:latin typeface="Century Gothic"/>
                </a:rPr>
                <a:t>3</a:t>
              </a:r>
            </a:p>
          </p:txBody>
        </p:sp>
        <p:sp>
          <p:nvSpPr>
            <p:cNvPr id="43" name="TextBox 42"/>
            <p:cNvSpPr txBox="1"/>
            <p:nvPr/>
          </p:nvSpPr>
          <p:spPr>
            <a:xfrm>
              <a:off x="2705100" y="3333750"/>
              <a:ext cx="1143000" cy="228600"/>
            </a:xfrm>
            <a:prstGeom prst="rect">
              <a:avLst/>
            </a:prstGeom>
            <a:noFill/>
          </p:spPr>
          <p:txBody>
            <a:bodyPr wrap="square" lIns="0" tIns="0" rIns="0" bIns="0" anchor="t">
              <a:spAutoFit/>
            </a:bodyPr>
            <a:lstStyle/>
            <a:p>
              <a:pPr algn="l"/>
              <a:r>
                <a:rPr sz="1400" b="1">
                  <a:solidFill>
                    <a:srgbClr val="FFB938"/>
                  </a:solidFill>
                  <a:latin typeface="Century Gothic"/>
                </a:rPr>
                <a:t>Restore</a:t>
              </a:r>
            </a:p>
          </p:txBody>
        </p:sp>
      </p:grpSp>
      <p:grpSp>
        <p:nvGrpSpPr>
          <p:cNvPr id="44" name="anim|rise|1.69"/>
          <p:cNvGrpSpPr/>
          <p:nvPr/>
        </p:nvGrpSpPr>
        <p:grpSpPr>
          <a:xfrm>
            <a:off x="571500" y="4000500"/>
            <a:ext cx="2857500" cy="1428750"/>
            <a:chOff x="571500" y="4000500"/>
            <a:chExt cx="2857500" cy="1428750"/>
          </a:xfrm>
        </p:grpSpPr>
        <p:sp>
          <p:nvSpPr>
            <p:cNvPr id="45" name="Rounded Rectangle 44"/>
            <p:cNvSpPr/>
            <p:nvPr/>
          </p:nvSpPr>
          <p:spPr>
            <a:xfrm>
              <a:off x="571500" y="4000500"/>
              <a:ext cx="2857500" cy="1428750"/>
            </a:xfrm>
            <a:prstGeom prst="roundRect">
              <a:avLst>
                <a:gd name="adj" fmla="val 14666"/>
              </a:avLst>
            </a:prstGeom>
            <a:solidFill>
              <a:srgbClr val="14284B"/>
            </a:solidFill>
            <a:ln w="27940">
              <a:solidFill>
                <a:srgbClr val="FFB938"/>
              </a:solidFill>
            </a:ln>
          </p:spPr>
          <p:txBody>
            <a:bodyPr rtlCol="0" anchor="ctr"/>
            <a:lstStyle/>
            <a:p>
              <a:pPr algn="ctr"/>
              <a:endParaRPr/>
            </a:p>
          </p:txBody>
        </p:sp>
        <p:pic>
          <p:nvPicPr>
            <p:cNvPr id="46" name="Picture 45" descr="restore_amber.png"/>
            <p:cNvPicPr>
              <a:picLocks noChangeAspect="1"/>
            </p:cNvPicPr>
            <p:nvPr/>
          </p:nvPicPr>
          <p:blipFill>
            <a:blip r:embed="rId5"/>
            <a:stretch>
              <a:fillRect/>
            </a:stretch>
          </p:blipFill>
          <p:spPr>
            <a:xfrm>
              <a:off x="800100" y="4210050"/>
              <a:ext cx="438150" cy="438150"/>
            </a:xfrm>
            <a:prstGeom prst="rect">
              <a:avLst/>
            </a:prstGeom>
          </p:spPr>
        </p:pic>
        <p:sp>
          <p:nvSpPr>
            <p:cNvPr id="47" name="TextBox 46"/>
            <p:cNvSpPr txBox="1"/>
            <p:nvPr/>
          </p:nvSpPr>
          <p:spPr>
            <a:xfrm>
              <a:off x="800100" y="4762500"/>
              <a:ext cx="2400300" cy="285750"/>
            </a:xfrm>
            <a:prstGeom prst="rect">
              <a:avLst/>
            </a:prstGeom>
            <a:noFill/>
          </p:spPr>
          <p:txBody>
            <a:bodyPr wrap="square" lIns="0" tIns="0" rIns="0" bIns="0" anchor="t">
              <a:spAutoFit/>
            </a:bodyPr>
            <a:lstStyle/>
            <a:p>
              <a:pPr algn="l"/>
              <a:r>
                <a:rPr sz="1900" b="1">
                  <a:solidFill>
                    <a:srgbClr val="FFFFFF"/>
                  </a:solidFill>
                  <a:latin typeface="Century Gothic"/>
                </a:rPr>
                <a:t>Restore cluster</a:t>
              </a:r>
            </a:p>
          </p:txBody>
        </p:sp>
        <p:sp>
          <p:nvSpPr>
            <p:cNvPr id="48" name="TextBox 47"/>
            <p:cNvSpPr txBox="1"/>
            <p:nvPr/>
          </p:nvSpPr>
          <p:spPr>
            <a:xfrm>
              <a:off x="800100" y="5067300"/>
              <a:ext cx="2400300" cy="228600"/>
            </a:xfrm>
            <a:prstGeom prst="rect">
              <a:avLst/>
            </a:prstGeom>
            <a:noFill/>
          </p:spPr>
          <p:txBody>
            <a:bodyPr wrap="square" lIns="0" tIns="0" rIns="0" bIns="0" anchor="t">
              <a:spAutoFit/>
            </a:bodyPr>
            <a:lstStyle/>
            <a:p>
              <a:pPr algn="l"/>
              <a:r>
                <a:rPr sz="1450" b="0">
                  <a:solidFill>
                    <a:srgbClr val="B0C0D9"/>
                  </a:solidFill>
                  <a:latin typeface="Segoe UI"/>
                </a:rPr>
                <a:t>(-rst suffix)</a:t>
              </a:r>
            </a:p>
          </p:txBody>
        </p:sp>
      </p:grpSp>
      <p:grpSp>
        <p:nvGrpSpPr>
          <p:cNvPr id="49" name="anim|rise|1.87"/>
          <p:cNvGrpSpPr/>
          <p:nvPr/>
        </p:nvGrpSpPr>
        <p:grpSpPr>
          <a:xfrm>
            <a:off x="3619500" y="4000500"/>
            <a:ext cx="3905250" cy="1428750"/>
            <a:chOff x="3619500" y="4000500"/>
            <a:chExt cx="3905250" cy="1428750"/>
          </a:xfrm>
        </p:grpSpPr>
        <p:sp>
          <p:nvSpPr>
            <p:cNvPr id="50" name="Rounded Rectangle 49"/>
            <p:cNvSpPr/>
            <p:nvPr/>
          </p:nvSpPr>
          <p:spPr>
            <a:xfrm>
              <a:off x="3619500" y="4000500"/>
              <a:ext cx="3905250" cy="1428750"/>
            </a:xfrm>
            <a:prstGeom prst="roundRect">
              <a:avLst>
                <a:gd name="adj" fmla="val 12000"/>
              </a:avLst>
            </a:prstGeom>
            <a:solidFill>
              <a:srgbClr val="1E3A68"/>
            </a:solidFill>
            <a:ln>
              <a:noFill/>
            </a:ln>
          </p:spPr>
          <p:txBody>
            <a:bodyPr rtlCol="0" anchor="ctr"/>
            <a:lstStyle/>
            <a:p>
              <a:pPr algn="ctr"/>
              <a:endParaRPr/>
            </a:p>
          </p:txBody>
        </p:sp>
        <p:sp>
          <p:nvSpPr>
            <p:cNvPr id="51" name="Oval 50"/>
            <p:cNvSpPr/>
            <p:nvPr/>
          </p:nvSpPr>
          <p:spPr>
            <a:xfrm>
              <a:off x="3867150" y="4248150"/>
              <a:ext cx="609600" cy="609600"/>
            </a:xfrm>
            <a:prstGeom prst="ellipse">
              <a:avLst/>
            </a:prstGeom>
            <a:solidFill>
              <a:srgbClr val="14284B"/>
            </a:solidFill>
            <a:ln>
              <a:noFill/>
            </a:ln>
          </p:spPr>
          <p:txBody>
            <a:bodyPr rtlCol="0" anchor="ctr"/>
            <a:lstStyle/>
            <a:p>
              <a:pPr algn="ctr"/>
              <a:endParaRPr/>
            </a:p>
          </p:txBody>
        </p:sp>
        <p:pic>
          <p:nvPicPr>
            <p:cNvPr id="52" name="Picture 51" descr="info_teal.png"/>
            <p:cNvPicPr>
              <a:picLocks noChangeAspect="1"/>
            </p:cNvPicPr>
            <p:nvPr/>
          </p:nvPicPr>
          <p:blipFill>
            <a:blip r:embed="rId6"/>
            <a:stretch>
              <a:fillRect/>
            </a:stretch>
          </p:blipFill>
          <p:spPr>
            <a:xfrm>
              <a:off x="4007358" y="4388358"/>
              <a:ext cx="329184" cy="329184"/>
            </a:xfrm>
            <a:prstGeom prst="rect">
              <a:avLst/>
            </a:prstGeom>
          </p:spPr>
        </p:pic>
        <p:sp>
          <p:nvSpPr>
            <p:cNvPr id="53" name="TextBox 52"/>
            <p:cNvSpPr txBox="1"/>
            <p:nvPr/>
          </p:nvSpPr>
          <p:spPr>
            <a:xfrm>
              <a:off x="4686300" y="4286250"/>
              <a:ext cx="2571750" cy="266700"/>
            </a:xfrm>
            <a:prstGeom prst="rect">
              <a:avLst/>
            </a:prstGeom>
            <a:noFill/>
          </p:spPr>
          <p:txBody>
            <a:bodyPr wrap="square" lIns="0" tIns="0" rIns="0" bIns="0" anchor="t">
              <a:spAutoFit/>
            </a:bodyPr>
            <a:lstStyle/>
            <a:p>
              <a:pPr algn="l"/>
              <a:r>
                <a:rPr sz="1900" b="1">
                  <a:solidFill>
                    <a:srgbClr val="FFFFFF"/>
                  </a:solidFill>
                  <a:latin typeface="Century Gothic"/>
                </a:rPr>
                <a:t>Alternate cluster</a:t>
              </a:r>
            </a:p>
          </p:txBody>
        </p:sp>
        <p:sp>
          <p:nvSpPr>
            <p:cNvPr id="54" name="TextBox 53"/>
            <p:cNvSpPr txBox="1"/>
            <p:nvPr/>
          </p:nvSpPr>
          <p:spPr>
            <a:xfrm>
              <a:off x="4686300" y="4648200"/>
              <a:ext cx="2571750" cy="666750"/>
            </a:xfrm>
            <a:prstGeom prst="rect">
              <a:avLst/>
            </a:prstGeom>
            <a:noFill/>
          </p:spPr>
          <p:txBody>
            <a:bodyPr wrap="square" lIns="0" tIns="0" rIns="0" bIns="0" anchor="t">
              <a:spAutoFit/>
            </a:bodyPr>
            <a:lstStyle/>
            <a:p>
              <a:pPr algn="l"/>
              <a:r>
                <a:rPr sz="1400" b="0">
                  <a:solidFill>
                    <a:srgbClr val="B0C0D9"/>
                  </a:solidFill>
                  <a:latin typeface="Segoe UI"/>
                </a:rPr>
                <a:t>Restoring to the -rst cluster is an alternate-cluster restore. The original cluster is never touched.</a:t>
              </a:r>
            </a:p>
          </p:txBody>
        </p:sp>
      </p:grpSp>
      <p:grpSp>
        <p:nvGrpSpPr>
          <p:cNvPr id="55" name="anim|rise|2.05"/>
          <p:cNvGrpSpPr/>
          <p:nvPr/>
        </p:nvGrpSpPr>
        <p:grpSpPr>
          <a:xfrm>
            <a:off x="7715250" y="4000500"/>
            <a:ext cx="3905250" cy="1428750"/>
            <a:chOff x="7715250" y="4000500"/>
            <a:chExt cx="3905250" cy="1428750"/>
          </a:xfrm>
        </p:grpSpPr>
        <p:sp>
          <p:nvSpPr>
            <p:cNvPr id="56" name="Rounded Rectangle 55"/>
            <p:cNvSpPr/>
            <p:nvPr/>
          </p:nvSpPr>
          <p:spPr>
            <a:xfrm>
              <a:off x="7715250" y="4000500"/>
              <a:ext cx="3905250" cy="1428750"/>
            </a:xfrm>
            <a:prstGeom prst="roundRect">
              <a:avLst>
                <a:gd name="adj" fmla="val 12000"/>
              </a:avLst>
            </a:prstGeom>
            <a:solidFill>
              <a:srgbClr val="1E3A68"/>
            </a:solidFill>
            <a:ln w="19050">
              <a:solidFill>
                <a:srgbClr val="FFB938"/>
              </a:solidFill>
            </a:ln>
          </p:spPr>
          <p:txBody>
            <a:bodyPr rtlCol="0" anchor="ctr"/>
            <a:lstStyle/>
            <a:p>
              <a:pPr algn="ctr"/>
              <a:endParaRPr/>
            </a:p>
          </p:txBody>
        </p:sp>
        <p:sp>
          <p:nvSpPr>
            <p:cNvPr id="57" name="Oval 56"/>
            <p:cNvSpPr/>
            <p:nvPr/>
          </p:nvSpPr>
          <p:spPr>
            <a:xfrm>
              <a:off x="7962900" y="4248150"/>
              <a:ext cx="609600" cy="609600"/>
            </a:xfrm>
            <a:prstGeom prst="ellipse">
              <a:avLst/>
            </a:prstGeom>
            <a:solidFill>
              <a:srgbClr val="14284B"/>
            </a:solidFill>
            <a:ln>
              <a:noFill/>
            </a:ln>
          </p:spPr>
          <p:txBody>
            <a:bodyPr rtlCol="0" anchor="ctr"/>
            <a:lstStyle/>
            <a:p>
              <a:pPr algn="ctr"/>
              <a:endParaRPr/>
            </a:p>
          </p:txBody>
        </p:sp>
        <p:pic>
          <p:nvPicPr>
            <p:cNvPr id="58" name="Picture 57" descr="warning_amber.png"/>
            <p:cNvPicPr>
              <a:picLocks noChangeAspect="1"/>
            </p:cNvPicPr>
            <p:nvPr/>
          </p:nvPicPr>
          <p:blipFill>
            <a:blip r:embed="rId7"/>
            <a:stretch>
              <a:fillRect/>
            </a:stretch>
          </p:blipFill>
          <p:spPr>
            <a:xfrm>
              <a:off x="8103108" y="4388358"/>
              <a:ext cx="329184" cy="329184"/>
            </a:xfrm>
            <a:prstGeom prst="rect">
              <a:avLst/>
            </a:prstGeom>
          </p:spPr>
        </p:pic>
        <p:sp>
          <p:nvSpPr>
            <p:cNvPr id="59" name="TextBox 58"/>
            <p:cNvSpPr txBox="1"/>
            <p:nvPr/>
          </p:nvSpPr>
          <p:spPr>
            <a:xfrm>
              <a:off x="8782050" y="4286250"/>
              <a:ext cx="2571750" cy="266700"/>
            </a:xfrm>
            <a:prstGeom prst="rect">
              <a:avLst/>
            </a:prstGeom>
            <a:noFill/>
          </p:spPr>
          <p:txBody>
            <a:bodyPr wrap="square" lIns="0" tIns="0" rIns="0" bIns="0" anchor="t">
              <a:spAutoFit/>
            </a:bodyPr>
            <a:lstStyle/>
            <a:p>
              <a:pPr algn="l"/>
              <a:r>
                <a:rPr sz="1900" b="1">
                  <a:solidFill>
                    <a:srgbClr val="FFFFFF"/>
                  </a:solidFill>
                  <a:latin typeface="Century Gothic"/>
                </a:rPr>
                <a:t>No private endpoint?</a:t>
              </a:r>
            </a:p>
          </p:txBody>
        </p:sp>
        <p:sp>
          <p:nvSpPr>
            <p:cNvPr id="60" name="TextBox 59"/>
            <p:cNvSpPr txBox="1"/>
            <p:nvPr/>
          </p:nvSpPr>
          <p:spPr>
            <a:xfrm>
              <a:off x="8782050" y="4648200"/>
              <a:ext cx="2571750" cy="666750"/>
            </a:xfrm>
            <a:prstGeom prst="rect">
              <a:avLst/>
            </a:prstGeom>
            <a:noFill/>
          </p:spPr>
          <p:txBody>
            <a:bodyPr wrap="square" lIns="0" tIns="0" rIns="0" bIns="0" anchor="t">
              <a:spAutoFit/>
            </a:bodyPr>
            <a:lstStyle/>
            <a:p>
              <a:pPr algn="l"/>
              <a:r>
                <a:rPr sz="1400" b="0">
                  <a:solidFill>
                    <a:srgbClr val="B0C0D9"/>
                  </a:solidFill>
                  <a:latin typeface="Segoe UI"/>
                </a:rPr>
                <a:t>The storage account cannot talk to the cluster, so backups fail.</a:t>
              </a:r>
            </a:p>
          </p:txBody>
        </p:sp>
      </p:grpSp>
    </p:spTree>
  </p:cSld>
  <p:clrMapOvr>
    <a:masterClrMapping/>
  </p:clrMapOvr>
  <mc:AlternateContent xmlns:mc="http://schemas.openxmlformats.org/markup-compatibility/2006">
    <mc:Choice xmlns:p14="http://schemas.microsoft.com/office/powerpoint/2010/main" Requires="p14">
      <p:transition spd="slow" p14:dur="800">
        <p:fad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5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50"/>
                                        <p:tgtEl>
                                          <p:spTgt spid="3"/>
                                        </p:tgtEl>
                                      </p:cBhvr>
                                    </p:animEffect>
                                  </p:childTnLst>
                                </p:cTn>
                              </p:par>
                              <p:par>
                                <p:cTn id="8" presetID="22" presetClass="entr" presetSubtype="8" fill="hold" grpId="0" nodeType="withEffect">
                                  <p:stCondLst>
                                    <p:cond delay="100"/>
                                  </p:stCondLst>
                                  <p:childTnLst>
                                    <p:set>
                                      <p:cBhvr>
                                        <p:cTn id="9" dur="1" fill="hold">
                                          <p:stCondLst>
                                            <p:cond delay="0"/>
                                          </p:stCondLst>
                                        </p:cTn>
                                        <p:tgtEl>
                                          <p:spTgt spid="6"/>
                                        </p:tgtEl>
                                        <p:attrNameLst>
                                          <p:attrName>style.visibility</p:attrName>
                                        </p:attrNameLst>
                                      </p:cBhvr>
                                      <p:to>
                                        <p:strVal val="visible"/>
                                      </p:to>
                                    </p:set>
                                    <p:animEffect transition="in" filter="wipe(left)">
                                      <p:cBhvr>
                                        <p:cTn id="10" dur="700"/>
                                        <p:tgtEl>
                                          <p:spTgt spid="6"/>
                                        </p:tgtEl>
                                      </p:cBhvr>
                                    </p:animEffect>
                                  </p:childTnLst>
                                </p:cTn>
                              </p:par>
                              <p:par>
                                <p:cTn id="11" presetID="10" presetClass="entr" presetSubtype="0" fill="hold" grpId="0" nodeType="withEffect">
                                  <p:stCondLst>
                                    <p:cond delay="45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50"/>
                                        <p:tgtEl>
                                          <p:spTgt spid="7"/>
                                        </p:tgtEl>
                                      </p:cBhvr>
                                    </p:animEffect>
                                  </p:childTnLst>
                                </p:cTn>
                              </p:par>
                              <p:par>
                                <p:cTn id="14" presetID="37" presetClass="entr" presetSubtype="0" fill="hold" nodeType="withEffect">
                                  <p:stCondLst>
                                    <p:cond delay="55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50"/>
                                        <p:tgtEl>
                                          <p:spTgt spid="10"/>
                                        </p:tgtEl>
                                      </p:cBhvr>
                                    </p:animEffect>
                                    <p:anim calcmode="lin" valueType="num">
                                      <p:cBhvr>
                                        <p:cTn id="17" dur="550" fill="hold"/>
                                        <p:tgtEl>
                                          <p:spTgt spid="10"/>
                                        </p:tgtEl>
                                        <p:attrNameLst>
                                          <p:attrName>ppt_x</p:attrName>
                                        </p:attrNameLst>
                                      </p:cBhvr>
                                      <p:tavLst>
                                        <p:tav tm="0">
                                          <p:val>
                                            <p:strVal val="#ppt_x"/>
                                          </p:val>
                                        </p:tav>
                                        <p:tav tm="100000">
                                          <p:val>
                                            <p:strVal val="#ppt_x"/>
                                          </p:val>
                                        </p:tav>
                                      </p:tavLst>
                                    </p:anim>
                                    <p:anim calcmode="lin" valueType="num">
                                      <p:cBhvr>
                                        <p:cTn id="18" dur="495" decel="100000" fill="hold"/>
                                        <p:tgtEl>
                                          <p:spTgt spid="10"/>
                                        </p:tgtEl>
                                        <p:attrNameLst>
                                          <p:attrName>ppt_y</p:attrName>
                                        </p:attrNameLst>
                                      </p:cBhvr>
                                      <p:tavLst>
                                        <p:tav tm="0">
                                          <p:val>
                                            <p:strVal val="#ppt_y+1"/>
                                          </p:val>
                                        </p:tav>
                                        <p:tav tm="100000">
                                          <p:val>
                                            <p:strVal val="#ppt_y-.03"/>
                                          </p:val>
                                        </p:tav>
                                      </p:tavLst>
                                    </p:anim>
                                    <p:anim calcmode="lin" valueType="num">
                                      <p:cBhvr>
                                        <p:cTn id="19" dur="55" accel="100000" fill="hold">
                                          <p:stCondLst>
                                            <p:cond delay="495"/>
                                          </p:stCondLst>
                                        </p:cTn>
                                        <p:tgtEl>
                                          <p:spTgt spid="10"/>
                                        </p:tgtEl>
                                        <p:attrNameLst>
                                          <p:attrName>ppt_y</p:attrName>
                                        </p:attrNameLst>
                                      </p:cBhvr>
                                      <p:tavLst>
                                        <p:tav tm="0">
                                          <p:val>
                                            <p:strVal val="#ppt_y-.03"/>
                                          </p:val>
                                        </p:tav>
                                        <p:tav tm="100000">
                                          <p:val>
                                            <p:strVal val="#ppt_y"/>
                                          </p:val>
                                        </p:tav>
                                      </p:tavLst>
                                    </p:anim>
                                  </p:childTnLst>
                                </p:cTn>
                              </p:par>
                              <p:par>
                                <p:cTn id="20" presetID="22" presetClass="entr" presetSubtype="8" fill="hold" nodeType="withEffect">
                                  <p:stCondLst>
                                    <p:cond delay="730"/>
                                  </p:stCondLst>
                                  <p:childTnLst>
                                    <p:set>
                                      <p:cBhvr>
                                        <p:cTn id="21" dur="1" fill="hold">
                                          <p:stCondLst>
                                            <p:cond delay="0"/>
                                          </p:stCondLst>
                                        </p:cTn>
                                        <p:tgtEl>
                                          <p:spTgt spid="15"/>
                                        </p:tgtEl>
                                        <p:attrNameLst>
                                          <p:attrName>style.visibility</p:attrName>
                                        </p:attrNameLst>
                                      </p:cBhvr>
                                      <p:to>
                                        <p:strVal val="visible"/>
                                      </p:to>
                                    </p:set>
                                    <p:animEffect transition="in" filter="wipe(left)">
                                      <p:cBhvr>
                                        <p:cTn id="22" dur="550"/>
                                        <p:tgtEl>
                                          <p:spTgt spid="15"/>
                                        </p:tgtEl>
                                      </p:cBhvr>
                                    </p:animEffect>
                                  </p:childTnLst>
                                </p:cTn>
                              </p:par>
                              <p:par>
                                <p:cTn id="23" presetID="37" presetClass="entr" presetSubtype="0" fill="hold" nodeType="withEffect">
                                  <p:stCondLst>
                                    <p:cond delay="850"/>
                                  </p:stCondLst>
                                  <p:childTnLst>
                                    <p:set>
                                      <p:cBhvr>
                                        <p:cTn id="24" dur="1" fill="hold">
                                          <p:stCondLst>
                                            <p:cond delay="0"/>
                                          </p:stCondLst>
                                        </p:cTn>
                                        <p:tgtEl>
                                          <p:spTgt spid="20"/>
                                        </p:tgtEl>
                                        <p:attrNameLst>
                                          <p:attrName>style.visibility</p:attrName>
                                        </p:attrNameLst>
                                      </p:cBhvr>
                                      <p:to>
                                        <p:strVal val="visible"/>
                                      </p:to>
                                    </p:set>
                                    <p:animEffect transition="in" filter="fade">
                                      <p:cBhvr>
                                        <p:cTn id="25" dur="550"/>
                                        <p:tgtEl>
                                          <p:spTgt spid="20"/>
                                        </p:tgtEl>
                                      </p:cBhvr>
                                    </p:animEffect>
                                    <p:anim calcmode="lin" valueType="num">
                                      <p:cBhvr>
                                        <p:cTn id="26" dur="550" fill="hold"/>
                                        <p:tgtEl>
                                          <p:spTgt spid="20"/>
                                        </p:tgtEl>
                                        <p:attrNameLst>
                                          <p:attrName>ppt_x</p:attrName>
                                        </p:attrNameLst>
                                      </p:cBhvr>
                                      <p:tavLst>
                                        <p:tav tm="0">
                                          <p:val>
                                            <p:strVal val="#ppt_x"/>
                                          </p:val>
                                        </p:tav>
                                        <p:tav tm="100000">
                                          <p:val>
                                            <p:strVal val="#ppt_x"/>
                                          </p:val>
                                        </p:tav>
                                      </p:tavLst>
                                    </p:anim>
                                    <p:anim calcmode="lin" valueType="num">
                                      <p:cBhvr>
                                        <p:cTn id="27" dur="495" decel="100000" fill="hold"/>
                                        <p:tgtEl>
                                          <p:spTgt spid="20"/>
                                        </p:tgtEl>
                                        <p:attrNameLst>
                                          <p:attrName>ppt_y</p:attrName>
                                        </p:attrNameLst>
                                      </p:cBhvr>
                                      <p:tavLst>
                                        <p:tav tm="0">
                                          <p:val>
                                            <p:strVal val="#ppt_y+1"/>
                                          </p:val>
                                        </p:tav>
                                        <p:tav tm="100000">
                                          <p:val>
                                            <p:strVal val="#ppt_y-.03"/>
                                          </p:val>
                                        </p:tav>
                                      </p:tavLst>
                                    </p:anim>
                                    <p:anim calcmode="lin" valueType="num">
                                      <p:cBhvr>
                                        <p:cTn id="28" dur="55" accel="100000" fill="hold">
                                          <p:stCondLst>
                                            <p:cond delay="495"/>
                                          </p:stCondLst>
                                        </p:cTn>
                                        <p:tgtEl>
                                          <p:spTgt spid="20"/>
                                        </p:tgtEl>
                                        <p:attrNameLst>
                                          <p:attrName>ppt_y</p:attrName>
                                        </p:attrNameLst>
                                      </p:cBhvr>
                                      <p:tavLst>
                                        <p:tav tm="0">
                                          <p:val>
                                            <p:strVal val="#ppt_y-.03"/>
                                          </p:val>
                                        </p:tav>
                                        <p:tav tm="100000">
                                          <p:val>
                                            <p:strVal val="#ppt_y"/>
                                          </p:val>
                                        </p:tav>
                                      </p:tavLst>
                                    </p:anim>
                                  </p:childTnLst>
                                </p:cTn>
                              </p:par>
                              <p:par>
                                <p:cTn id="29" presetID="22" presetClass="entr" presetSubtype="8" fill="hold" nodeType="withEffect">
                                  <p:stCondLst>
                                    <p:cond delay="1030"/>
                                  </p:stCondLst>
                                  <p:childTnLst>
                                    <p:set>
                                      <p:cBhvr>
                                        <p:cTn id="30" dur="1" fill="hold">
                                          <p:stCondLst>
                                            <p:cond delay="0"/>
                                          </p:stCondLst>
                                        </p:cTn>
                                        <p:tgtEl>
                                          <p:spTgt spid="25"/>
                                        </p:tgtEl>
                                        <p:attrNameLst>
                                          <p:attrName>style.visibility</p:attrName>
                                        </p:attrNameLst>
                                      </p:cBhvr>
                                      <p:to>
                                        <p:strVal val="visible"/>
                                      </p:to>
                                    </p:set>
                                    <p:animEffect transition="in" filter="wipe(left)">
                                      <p:cBhvr>
                                        <p:cTn id="31" dur="550"/>
                                        <p:tgtEl>
                                          <p:spTgt spid="25"/>
                                        </p:tgtEl>
                                      </p:cBhvr>
                                    </p:animEffect>
                                  </p:childTnLst>
                                </p:cTn>
                              </p:par>
                              <p:par>
                                <p:cTn id="32" presetID="37" presetClass="entr" presetSubtype="0" fill="hold" nodeType="withEffect">
                                  <p:stCondLst>
                                    <p:cond delay="1150"/>
                                  </p:stCondLst>
                                  <p:childTnLst>
                                    <p:set>
                                      <p:cBhvr>
                                        <p:cTn id="33" dur="1" fill="hold">
                                          <p:stCondLst>
                                            <p:cond delay="0"/>
                                          </p:stCondLst>
                                        </p:cTn>
                                        <p:tgtEl>
                                          <p:spTgt spid="30"/>
                                        </p:tgtEl>
                                        <p:attrNameLst>
                                          <p:attrName>style.visibility</p:attrName>
                                        </p:attrNameLst>
                                      </p:cBhvr>
                                      <p:to>
                                        <p:strVal val="visible"/>
                                      </p:to>
                                    </p:set>
                                    <p:animEffect transition="in" filter="fade">
                                      <p:cBhvr>
                                        <p:cTn id="34" dur="550"/>
                                        <p:tgtEl>
                                          <p:spTgt spid="30"/>
                                        </p:tgtEl>
                                      </p:cBhvr>
                                    </p:animEffect>
                                    <p:anim calcmode="lin" valueType="num">
                                      <p:cBhvr>
                                        <p:cTn id="35" dur="550" fill="hold"/>
                                        <p:tgtEl>
                                          <p:spTgt spid="30"/>
                                        </p:tgtEl>
                                        <p:attrNameLst>
                                          <p:attrName>ppt_x</p:attrName>
                                        </p:attrNameLst>
                                      </p:cBhvr>
                                      <p:tavLst>
                                        <p:tav tm="0">
                                          <p:val>
                                            <p:strVal val="#ppt_x"/>
                                          </p:val>
                                        </p:tav>
                                        <p:tav tm="100000">
                                          <p:val>
                                            <p:strVal val="#ppt_x"/>
                                          </p:val>
                                        </p:tav>
                                      </p:tavLst>
                                    </p:anim>
                                    <p:anim calcmode="lin" valueType="num">
                                      <p:cBhvr>
                                        <p:cTn id="36" dur="495" decel="100000" fill="hold"/>
                                        <p:tgtEl>
                                          <p:spTgt spid="30"/>
                                        </p:tgtEl>
                                        <p:attrNameLst>
                                          <p:attrName>ppt_y</p:attrName>
                                        </p:attrNameLst>
                                      </p:cBhvr>
                                      <p:tavLst>
                                        <p:tav tm="0">
                                          <p:val>
                                            <p:strVal val="#ppt_y+1"/>
                                          </p:val>
                                        </p:tav>
                                        <p:tav tm="100000">
                                          <p:val>
                                            <p:strVal val="#ppt_y-.03"/>
                                          </p:val>
                                        </p:tav>
                                      </p:tavLst>
                                    </p:anim>
                                    <p:anim calcmode="lin" valueType="num">
                                      <p:cBhvr>
                                        <p:cTn id="37" dur="55" accel="100000" fill="hold">
                                          <p:stCondLst>
                                            <p:cond delay="495"/>
                                          </p:stCondLst>
                                        </p:cTn>
                                        <p:tgtEl>
                                          <p:spTgt spid="30"/>
                                        </p:tgtEl>
                                        <p:attrNameLst>
                                          <p:attrName>ppt_y</p:attrName>
                                        </p:attrNameLst>
                                      </p:cBhvr>
                                      <p:tavLst>
                                        <p:tav tm="0">
                                          <p:val>
                                            <p:strVal val="#ppt_y-.03"/>
                                          </p:val>
                                        </p:tav>
                                        <p:tav tm="100000">
                                          <p:val>
                                            <p:strVal val="#ppt_y"/>
                                          </p:val>
                                        </p:tav>
                                      </p:tavLst>
                                    </p:anim>
                                  </p:childTnLst>
                                </p:cTn>
                              </p:par>
                              <p:par>
                                <p:cTn id="38" presetID="37" presetClass="entr" presetSubtype="0" fill="hold" nodeType="withEffect">
                                  <p:stCondLst>
                                    <p:cond delay="1330"/>
                                  </p:stCondLst>
                                  <p:childTnLst>
                                    <p:set>
                                      <p:cBhvr>
                                        <p:cTn id="39" dur="1" fill="hold">
                                          <p:stCondLst>
                                            <p:cond delay="0"/>
                                          </p:stCondLst>
                                        </p:cTn>
                                        <p:tgtEl>
                                          <p:spTgt spid="35"/>
                                        </p:tgtEl>
                                        <p:attrNameLst>
                                          <p:attrName>style.visibility</p:attrName>
                                        </p:attrNameLst>
                                      </p:cBhvr>
                                      <p:to>
                                        <p:strVal val="visible"/>
                                      </p:to>
                                    </p:set>
                                    <p:animEffect transition="in" filter="fade">
                                      <p:cBhvr>
                                        <p:cTn id="40" dur="550"/>
                                        <p:tgtEl>
                                          <p:spTgt spid="35"/>
                                        </p:tgtEl>
                                      </p:cBhvr>
                                    </p:animEffect>
                                    <p:anim calcmode="lin" valueType="num">
                                      <p:cBhvr>
                                        <p:cTn id="41" dur="550" fill="hold"/>
                                        <p:tgtEl>
                                          <p:spTgt spid="35"/>
                                        </p:tgtEl>
                                        <p:attrNameLst>
                                          <p:attrName>ppt_x</p:attrName>
                                        </p:attrNameLst>
                                      </p:cBhvr>
                                      <p:tavLst>
                                        <p:tav tm="0">
                                          <p:val>
                                            <p:strVal val="#ppt_x"/>
                                          </p:val>
                                        </p:tav>
                                        <p:tav tm="100000">
                                          <p:val>
                                            <p:strVal val="#ppt_x"/>
                                          </p:val>
                                        </p:tav>
                                      </p:tavLst>
                                    </p:anim>
                                    <p:anim calcmode="lin" valueType="num">
                                      <p:cBhvr>
                                        <p:cTn id="42" dur="495" decel="100000" fill="hold"/>
                                        <p:tgtEl>
                                          <p:spTgt spid="35"/>
                                        </p:tgtEl>
                                        <p:attrNameLst>
                                          <p:attrName>ppt_y</p:attrName>
                                        </p:attrNameLst>
                                      </p:cBhvr>
                                      <p:tavLst>
                                        <p:tav tm="0">
                                          <p:val>
                                            <p:strVal val="#ppt_y+1"/>
                                          </p:val>
                                        </p:tav>
                                        <p:tav tm="100000">
                                          <p:val>
                                            <p:strVal val="#ppt_y-.03"/>
                                          </p:val>
                                        </p:tav>
                                      </p:tavLst>
                                    </p:anim>
                                    <p:anim calcmode="lin" valueType="num">
                                      <p:cBhvr>
                                        <p:cTn id="43" dur="55" accel="100000" fill="hold">
                                          <p:stCondLst>
                                            <p:cond delay="495"/>
                                          </p:stCondLst>
                                        </p:cTn>
                                        <p:tgtEl>
                                          <p:spTgt spid="35"/>
                                        </p:tgtEl>
                                        <p:attrNameLst>
                                          <p:attrName>ppt_y</p:attrName>
                                        </p:attrNameLst>
                                      </p:cBhvr>
                                      <p:tavLst>
                                        <p:tav tm="0">
                                          <p:val>
                                            <p:strVal val="#ppt_y-.03"/>
                                          </p:val>
                                        </p:tav>
                                        <p:tav tm="100000">
                                          <p:val>
                                            <p:strVal val="#ppt_y"/>
                                          </p:val>
                                        </p:tav>
                                      </p:tavLst>
                                    </p:anim>
                                  </p:childTnLst>
                                </p:cTn>
                              </p:par>
                              <p:par>
                                <p:cTn id="44" presetID="22" presetClass="entr" presetSubtype="8" fill="hold" nodeType="withEffect">
                                  <p:stCondLst>
                                    <p:cond delay="1510"/>
                                  </p:stCondLst>
                                  <p:childTnLst>
                                    <p:set>
                                      <p:cBhvr>
                                        <p:cTn id="45" dur="1" fill="hold">
                                          <p:stCondLst>
                                            <p:cond delay="0"/>
                                          </p:stCondLst>
                                        </p:cTn>
                                        <p:tgtEl>
                                          <p:spTgt spid="39"/>
                                        </p:tgtEl>
                                        <p:attrNameLst>
                                          <p:attrName>style.visibility</p:attrName>
                                        </p:attrNameLst>
                                      </p:cBhvr>
                                      <p:to>
                                        <p:strVal val="visible"/>
                                      </p:to>
                                    </p:set>
                                    <p:animEffect transition="in" filter="wipe(left)">
                                      <p:cBhvr>
                                        <p:cTn id="46" dur="550"/>
                                        <p:tgtEl>
                                          <p:spTgt spid="39"/>
                                        </p:tgtEl>
                                      </p:cBhvr>
                                    </p:animEffect>
                                  </p:childTnLst>
                                </p:cTn>
                              </p:par>
                              <p:par>
                                <p:cTn id="47" presetID="37" presetClass="entr" presetSubtype="0" fill="hold" nodeType="withEffect">
                                  <p:stCondLst>
                                    <p:cond delay="1690"/>
                                  </p:stCondLst>
                                  <p:childTnLst>
                                    <p:set>
                                      <p:cBhvr>
                                        <p:cTn id="48" dur="1" fill="hold">
                                          <p:stCondLst>
                                            <p:cond delay="0"/>
                                          </p:stCondLst>
                                        </p:cTn>
                                        <p:tgtEl>
                                          <p:spTgt spid="44"/>
                                        </p:tgtEl>
                                        <p:attrNameLst>
                                          <p:attrName>style.visibility</p:attrName>
                                        </p:attrNameLst>
                                      </p:cBhvr>
                                      <p:to>
                                        <p:strVal val="visible"/>
                                      </p:to>
                                    </p:set>
                                    <p:animEffect transition="in" filter="fade">
                                      <p:cBhvr>
                                        <p:cTn id="49" dur="550"/>
                                        <p:tgtEl>
                                          <p:spTgt spid="44"/>
                                        </p:tgtEl>
                                      </p:cBhvr>
                                    </p:animEffect>
                                    <p:anim calcmode="lin" valueType="num">
                                      <p:cBhvr>
                                        <p:cTn id="50" dur="550" fill="hold"/>
                                        <p:tgtEl>
                                          <p:spTgt spid="44"/>
                                        </p:tgtEl>
                                        <p:attrNameLst>
                                          <p:attrName>ppt_x</p:attrName>
                                        </p:attrNameLst>
                                      </p:cBhvr>
                                      <p:tavLst>
                                        <p:tav tm="0">
                                          <p:val>
                                            <p:strVal val="#ppt_x"/>
                                          </p:val>
                                        </p:tav>
                                        <p:tav tm="100000">
                                          <p:val>
                                            <p:strVal val="#ppt_x"/>
                                          </p:val>
                                        </p:tav>
                                      </p:tavLst>
                                    </p:anim>
                                    <p:anim calcmode="lin" valueType="num">
                                      <p:cBhvr>
                                        <p:cTn id="51" dur="495" decel="100000" fill="hold"/>
                                        <p:tgtEl>
                                          <p:spTgt spid="44"/>
                                        </p:tgtEl>
                                        <p:attrNameLst>
                                          <p:attrName>ppt_y</p:attrName>
                                        </p:attrNameLst>
                                      </p:cBhvr>
                                      <p:tavLst>
                                        <p:tav tm="0">
                                          <p:val>
                                            <p:strVal val="#ppt_y+1"/>
                                          </p:val>
                                        </p:tav>
                                        <p:tav tm="100000">
                                          <p:val>
                                            <p:strVal val="#ppt_y-.03"/>
                                          </p:val>
                                        </p:tav>
                                      </p:tavLst>
                                    </p:anim>
                                    <p:anim calcmode="lin" valueType="num">
                                      <p:cBhvr>
                                        <p:cTn id="52" dur="55" accel="100000" fill="hold">
                                          <p:stCondLst>
                                            <p:cond delay="495"/>
                                          </p:stCondLst>
                                        </p:cTn>
                                        <p:tgtEl>
                                          <p:spTgt spid="44"/>
                                        </p:tgtEl>
                                        <p:attrNameLst>
                                          <p:attrName>ppt_y</p:attrName>
                                        </p:attrNameLst>
                                      </p:cBhvr>
                                      <p:tavLst>
                                        <p:tav tm="0">
                                          <p:val>
                                            <p:strVal val="#ppt_y-.03"/>
                                          </p:val>
                                        </p:tav>
                                        <p:tav tm="100000">
                                          <p:val>
                                            <p:strVal val="#ppt_y"/>
                                          </p:val>
                                        </p:tav>
                                      </p:tavLst>
                                    </p:anim>
                                  </p:childTnLst>
                                </p:cTn>
                              </p:par>
                              <p:par>
                                <p:cTn id="53" presetID="37" presetClass="entr" presetSubtype="0" fill="hold" nodeType="withEffect">
                                  <p:stCondLst>
                                    <p:cond delay="1870"/>
                                  </p:stCondLst>
                                  <p:childTnLst>
                                    <p:set>
                                      <p:cBhvr>
                                        <p:cTn id="54" dur="1" fill="hold">
                                          <p:stCondLst>
                                            <p:cond delay="0"/>
                                          </p:stCondLst>
                                        </p:cTn>
                                        <p:tgtEl>
                                          <p:spTgt spid="49"/>
                                        </p:tgtEl>
                                        <p:attrNameLst>
                                          <p:attrName>style.visibility</p:attrName>
                                        </p:attrNameLst>
                                      </p:cBhvr>
                                      <p:to>
                                        <p:strVal val="visible"/>
                                      </p:to>
                                    </p:set>
                                    <p:animEffect transition="in" filter="fade">
                                      <p:cBhvr>
                                        <p:cTn id="55" dur="550"/>
                                        <p:tgtEl>
                                          <p:spTgt spid="49"/>
                                        </p:tgtEl>
                                      </p:cBhvr>
                                    </p:animEffect>
                                    <p:anim calcmode="lin" valueType="num">
                                      <p:cBhvr>
                                        <p:cTn id="56" dur="550" fill="hold"/>
                                        <p:tgtEl>
                                          <p:spTgt spid="49"/>
                                        </p:tgtEl>
                                        <p:attrNameLst>
                                          <p:attrName>ppt_x</p:attrName>
                                        </p:attrNameLst>
                                      </p:cBhvr>
                                      <p:tavLst>
                                        <p:tav tm="0">
                                          <p:val>
                                            <p:strVal val="#ppt_x"/>
                                          </p:val>
                                        </p:tav>
                                        <p:tav tm="100000">
                                          <p:val>
                                            <p:strVal val="#ppt_x"/>
                                          </p:val>
                                        </p:tav>
                                      </p:tavLst>
                                    </p:anim>
                                    <p:anim calcmode="lin" valueType="num">
                                      <p:cBhvr>
                                        <p:cTn id="57" dur="495" decel="100000" fill="hold"/>
                                        <p:tgtEl>
                                          <p:spTgt spid="49"/>
                                        </p:tgtEl>
                                        <p:attrNameLst>
                                          <p:attrName>ppt_y</p:attrName>
                                        </p:attrNameLst>
                                      </p:cBhvr>
                                      <p:tavLst>
                                        <p:tav tm="0">
                                          <p:val>
                                            <p:strVal val="#ppt_y+1"/>
                                          </p:val>
                                        </p:tav>
                                        <p:tav tm="100000">
                                          <p:val>
                                            <p:strVal val="#ppt_y-.03"/>
                                          </p:val>
                                        </p:tav>
                                      </p:tavLst>
                                    </p:anim>
                                    <p:anim calcmode="lin" valueType="num">
                                      <p:cBhvr>
                                        <p:cTn id="58" dur="55" accel="100000" fill="hold">
                                          <p:stCondLst>
                                            <p:cond delay="495"/>
                                          </p:stCondLst>
                                        </p:cTn>
                                        <p:tgtEl>
                                          <p:spTgt spid="49"/>
                                        </p:tgtEl>
                                        <p:attrNameLst>
                                          <p:attrName>ppt_y</p:attrName>
                                        </p:attrNameLst>
                                      </p:cBhvr>
                                      <p:tavLst>
                                        <p:tav tm="0">
                                          <p:val>
                                            <p:strVal val="#ppt_y-.03"/>
                                          </p:val>
                                        </p:tav>
                                        <p:tav tm="100000">
                                          <p:val>
                                            <p:strVal val="#ppt_y"/>
                                          </p:val>
                                        </p:tav>
                                      </p:tavLst>
                                    </p:anim>
                                  </p:childTnLst>
                                </p:cTn>
                              </p:par>
                              <p:par>
                                <p:cTn id="59" presetID="37" presetClass="entr" presetSubtype="0" fill="hold" nodeType="withEffect">
                                  <p:stCondLst>
                                    <p:cond delay="2050"/>
                                  </p:stCondLst>
                                  <p:childTnLst>
                                    <p:set>
                                      <p:cBhvr>
                                        <p:cTn id="60" dur="1" fill="hold">
                                          <p:stCondLst>
                                            <p:cond delay="0"/>
                                          </p:stCondLst>
                                        </p:cTn>
                                        <p:tgtEl>
                                          <p:spTgt spid="55"/>
                                        </p:tgtEl>
                                        <p:attrNameLst>
                                          <p:attrName>style.visibility</p:attrName>
                                        </p:attrNameLst>
                                      </p:cBhvr>
                                      <p:to>
                                        <p:strVal val="visible"/>
                                      </p:to>
                                    </p:set>
                                    <p:animEffect transition="in" filter="fade">
                                      <p:cBhvr>
                                        <p:cTn id="61" dur="550"/>
                                        <p:tgtEl>
                                          <p:spTgt spid="55"/>
                                        </p:tgtEl>
                                      </p:cBhvr>
                                    </p:animEffect>
                                    <p:anim calcmode="lin" valueType="num">
                                      <p:cBhvr>
                                        <p:cTn id="62" dur="550" fill="hold"/>
                                        <p:tgtEl>
                                          <p:spTgt spid="55"/>
                                        </p:tgtEl>
                                        <p:attrNameLst>
                                          <p:attrName>ppt_x</p:attrName>
                                        </p:attrNameLst>
                                      </p:cBhvr>
                                      <p:tavLst>
                                        <p:tav tm="0">
                                          <p:val>
                                            <p:strVal val="#ppt_x"/>
                                          </p:val>
                                        </p:tav>
                                        <p:tav tm="100000">
                                          <p:val>
                                            <p:strVal val="#ppt_x"/>
                                          </p:val>
                                        </p:tav>
                                      </p:tavLst>
                                    </p:anim>
                                    <p:anim calcmode="lin" valueType="num">
                                      <p:cBhvr>
                                        <p:cTn id="63" dur="495" decel="100000" fill="hold"/>
                                        <p:tgtEl>
                                          <p:spTgt spid="55"/>
                                        </p:tgtEl>
                                        <p:attrNameLst>
                                          <p:attrName>ppt_y</p:attrName>
                                        </p:attrNameLst>
                                      </p:cBhvr>
                                      <p:tavLst>
                                        <p:tav tm="0">
                                          <p:val>
                                            <p:strVal val="#ppt_y+1"/>
                                          </p:val>
                                        </p:tav>
                                        <p:tav tm="100000">
                                          <p:val>
                                            <p:strVal val="#ppt_y-.03"/>
                                          </p:val>
                                        </p:tav>
                                      </p:tavLst>
                                    </p:anim>
                                    <p:anim calcmode="lin" valueType="num">
                                      <p:cBhvr>
                                        <p:cTn id="64" dur="55" accel="100000" fill="hold">
                                          <p:stCondLst>
                                            <p:cond delay="495"/>
                                          </p:stCondLst>
                                        </p:cTn>
                                        <p:tgtEl>
                                          <p:spTgt spid="55"/>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4284B"/>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57150"/>
          </a:xfrm>
          <a:prstGeom prst="rect">
            <a:avLst/>
          </a:prstGeom>
          <a:solidFill>
            <a:srgbClr val="59BEC9"/>
          </a:solidFill>
          <a:ln>
            <a:noFill/>
          </a:ln>
        </p:spPr>
        <p:txBody>
          <a:bodyPr rtlCol="0" anchor="ctr"/>
          <a:lstStyle/>
          <a:p>
            <a:pPr algn="ctr"/>
            <a:endParaRPr/>
          </a:p>
        </p:txBody>
      </p:sp>
      <p:grpSp>
        <p:nvGrpSpPr>
          <p:cNvPr id="3" name="anim|fade|0.05"/>
          <p:cNvGrpSpPr/>
          <p:nvPr/>
        </p:nvGrpSpPr>
        <p:grpSpPr>
          <a:xfrm>
            <a:off x="571500" y="266700"/>
            <a:ext cx="7105650" cy="190500"/>
            <a:chOff x="571500" y="266700"/>
            <a:chExt cx="7105650" cy="190500"/>
          </a:xfrm>
        </p:grpSpPr>
        <p:sp>
          <p:nvSpPr>
            <p:cNvPr id="4" name="Rectangle 3"/>
            <p:cNvSpPr/>
            <p:nvPr/>
          </p:nvSpPr>
          <p:spPr>
            <a:xfrm>
              <a:off x="571500" y="342900"/>
              <a:ext cx="342900" cy="47625"/>
            </a:xfrm>
            <a:prstGeom prst="rect">
              <a:avLst/>
            </a:prstGeom>
            <a:solidFill>
              <a:srgbClr val="FFB938"/>
            </a:solidFill>
            <a:ln>
              <a:noFill/>
            </a:ln>
          </p:spPr>
          <p:txBody>
            <a:bodyPr rtlCol="0" anchor="ctr"/>
            <a:lstStyle/>
            <a:p>
              <a:pPr algn="ctr"/>
              <a:endParaRPr/>
            </a:p>
          </p:txBody>
        </p:sp>
        <p:sp>
          <p:nvSpPr>
            <p:cNvPr id="5" name="TextBox 4"/>
            <p:cNvSpPr txBox="1"/>
            <p:nvPr/>
          </p:nvSpPr>
          <p:spPr>
            <a:xfrm>
              <a:off x="1009650" y="266700"/>
              <a:ext cx="6667500" cy="190500"/>
            </a:xfrm>
            <a:prstGeom prst="rect">
              <a:avLst/>
            </a:prstGeom>
            <a:noFill/>
          </p:spPr>
          <p:txBody>
            <a:bodyPr wrap="square" lIns="0" tIns="0" rIns="0" bIns="0" anchor="t">
              <a:spAutoFit/>
            </a:bodyPr>
            <a:lstStyle/>
            <a:p>
              <a:pPr algn="l"/>
              <a:r>
                <a:rPr sz="1100" b="1" spc="300">
                  <a:solidFill>
                    <a:srgbClr val="59BEC9"/>
                  </a:solidFill>
                  <a:latin typeface="Century Gothic"/>
                </a:rPr>
                <a:t>WHAT WE BUILT</a:t>
              </a:r>
            </a:p>
          </p:txBody>
        </p:sp>
      </p:grpSp>
      <p:sp>
        <p:nvSpPr>
          <p:cNvPr id="6" name="anim|wipeL|0.1"/>
          <p:cNvSpPr txBox="1"/>
          <p:nvPr/>
        </p:nvSpPr>
        <p:spPr>
          <a:xfrm>
            <a:off x="571500" y="533400"/>
            <a:ext cx="11049000" cy="533400"/>
          </a:xfrm>
          <a:prstGeom prst="rect">
            <a:avLst/>
          </a:prstGeom>
          <a:noFill/>
        </p:spPr>
        <p:txBody>
          <a:bodyPr wrap="square" lIns="0" tIns="0" rIns="0" bIns="0" anchor="t">
            <a:spAutoFit/>
          </a:bodyPr>
          <a:lstStyle/>
          <a:p>
            <a:pPr algn="l"/>
            <a:r>
              <a:rPr sz="3100" b="1">
                <a:solidFill>
                  <a:srgbClr val="FFFFFF"/>
                </a:solidFill>
                <a:latin typeface="Century Gothic"/>
              </a:rPr>
              <a:t>What the AKS platform pipeline creates</a:t>
            </a:r>
          </a:p>
        </p:txBody>
      </p:sp>
      <p:sp>
        <p:nvSpPr>
          <p:cNvPr id="7" name="anim|fade|0.45"/>
          <p:cNvSpPr txBox="1"/>
          <p:nvPr/>
        </p:nvSpPr>
        <p:spPr>
          <a:xfrm>
            <a:off x="571500" y="1028700"/>
            <a:ext cx="11049000" cy="247650"/>
          </a:xfrm>
          <a:prstGeom prst="rect">
            <a:avLst/>
          </a:prstGeom>
          <a:noFill/>
        </p:spPr>
        <p:txBody>
          <a:bodyPr wrap="square" lIns="0" tIns="0" rIns="0" bIns="0" anchor="t">
            <a:spAutoFit/>
          </a:bodyPr>
          <a:lstStyle/>
          <a:p>
            <a:pPr algn="l"/>
            <a:r>
              <a:rPr sz="1500" b="0">
                <a:solidFill>
                  <a:srgbClr val="B0C0D9"/>
                </a:solidFill>
                <a:latin typeface="Segoe UI"/>
              </a:rPr>
              <a:t>One file, backup.tf, builds the whole backup setup</a:t>
            </a:r>
          </a:p>
        </p:txBody>
      </p:sp>
      <p:sp>
        <p:nvSpPr>
          <p:cNvPr id="8" name="TextBox 7"/>
          <p:cNvSpPr txBox="1"/>
          <p:nvPr/>
        </p:nvSpPr>
        <p:spPr>
          <a:xfrm>
            <a:off x="571500" y="6534150"/>
            <a:ext cx="6667500" cy="171450"/>
          </a:xfrm>
          <a:prstGeom prst="rect">
            <a:avLst/>
          </a:prstGeom>
          <a:noFill/>
        </p:spPr>
        <p:txBody>
          <a:bodyPr wrap="square" lIns="0" tIns="0" rIns="0" bIns="0" anchor="t">
            <a:spAutoFit/>
          </a:bodyPr>
          <a:lstStyle/>
          <a:p>
            <a:pPr algn="l"/>
            <a:r>
              <a:rPr sz="950" b="0">
                <a:solidFill>
                  <a:srgbClr val="B0C0D9"/>
                </a:solidFill>
                <a:latin typeface="Segoe UI"/>
              </a:rPr>
              <a:t>AKS Backup &amp; Restore  |  BFH AKS IHUB Platform Team</a:t>
            </a:r>
          </a:p>
        </p:txBody>
      </p:sp>
      <p:sp>
        <p:nvSpPr>
          <p:cNvPr id="9" name="TextBox 8"/>
          <p:cNvSpPr txBox="1"/>
          <p:nvPr/>
        </p:nvSpPr>
        <p:spPr>
          <a:xfrm>
            <a:off x="10668000" y="6534150"/>
            <a:ext cx="952500" cy="171450"/>
          </a:xfrm>
          <a:prstGeom prst="rect">
            <a:avLst/>
          </a:prstGeom>
          <a:noFill/>
        </p:spPr>
        <p:txBody>
          <a:bodyPr wrap="square" lIns="0" tIns="0" rIns="0" bIns="0" anchor="t">
            <a:spAutoFit/>
          </a:bodyPr>
          <a:lstStyle/>
          <a:p>
            <a:pPr algn="r"/>
            <a:r>
              <a:rPr sz="1000" b="1">
                <a:solidFill>
                  <a:srgbClr val="FFB938"/>
                </a:solidFill>
                <a:latin typeface="Century Gothic"/>
              </a:rPr>
              <a:t>8</a:t>
            </a:r>
          </a:p>
        </p:txBody>
      </p:sp>
      <p:grpSp>
        <p:nvGrpSpPr>
          <p:cNvPr id="10" name="anim|rise|0.55"/>
          <p:cNvGrpSpPr/>
          <p:nvPr/>
        </p:nvGrpSpPr>
        <p:grpSpPr>
          <a:xfrm>
            <a:off x="571500" y="1485900"/>
            <a:ext cx="3581400" cy="2114550"/>
            <a:chOff x="571500" y="1485900"/>
            <a:chExt cx="3581400" cy="2114550"/>
          </a:xfrm>
        </p:grpSpPr>
        <p:sp>
          <p:nvSpPr>
            <p:cNvPr id="11" name="Rounded Rectangle 10"/>
            <p:cNvSpPr/>
            <p:nvPr/>
          </p:nvSpPr>
          <p:spPr>
            <a:xfrm>
              <a:off x="571500" y="1485900"/>
              <a:ext cx="3581400" cy="2114550"/>
            </a:xfrm>
            <a:prstGeom prst="roundRect">
              <a:avLst>
                <a:gd name="adj" fmla="val 8108"/>
              </a:avLst>
            </a:prstGeom>
            <a:solidFill>
              <a:srgbClr val="1E3A68"/>
            </a:solidFill>
            <a:ln>
              <a:noFill/>
            </a:ln>
          </p:spPr>
          <p:txBody>
            <a:bodyPr rtlCol="0" anchor="ctr"/>
            <a:lstStyle/>
            <a:p>
              <a:pPr algn="ctr"/>
              <a:endParaRPr/>
            </a:p>
          </p:txBody>
        </p:sp>
        <p:sp>
          <p:nvSpPr>
            <p:cNvPr id="12" name="Oval 11"/>
            <p:cNvSpPr/>
            <p:nvPr/>
          </p:nvSpPr>
          <p:spPr>
            <a:xfrm>
              <a:off x="800100" y="1695450"/>
              <a:ext cx="495300" cy="495300"/>
            </a:xfrm>
            <a:prstGeom prst="ellipse">
              <a:avLst/>
            </a:prstGeom>
            <a:solidFill>
              <a:srgbClr val="14284B"/>
            </a:solidFill>
            <a:ln>
              <a:noFill/>
            </a:ln>
          </p:spPr>
          <p:txBody>
            <a:bodyPr rtlCol="0" anchor="ctr"/>
            <a:lstStyle/>
            <a:p>
              <a:pPr algn="ctr"/>
              <a:endParaRPr/>
            </a:p>
          </p:txBody>
        </p:sp>
        <p:pic>
          <p:nvPicPr>
            <p:cNvPr id="13" name="Picture 12" descr="database_teal.png"/>
            <p:cNvPicPr>
              <a:picLocks noChangeAspect="1"/>
            </p:cNvPicPr>
            <p:nvPr/>
          </p:nvPicPr>
          <p:blipFill>
            <a:blip r:embed="rId2"/>
            <a:stretch>
              <a:fillRect/>
            </a:stretch>
          </p:blipFill>
          <p:spPr>
            <a:xfrm>
              <a:off x="914019" y="1809369"/>
              <a:ext cx="267462" cy="267462"/>
            </a:xfrm>
            <a:prstGeom prst="rect">
              <a:avLst/>
            </a:prstGeom>
          </p:spPr>
        </p:pic>
        <p:sp>
          <p:nvSpPr>
            <p:cNvPr id="14" name="TextBox 13"/>
            <p:cNvSpPr txBox="1"/>
            <p:nvPr/>
          </p:nvSpPr>
          <p:spPr>
            <a:xfrm>
              <a:off x="1428750" y="1695450"/>
              <a:ext cx="2495550" cy="495300"/>
            </a:xfrm>
            <a:prstGeom prst="rect">
              <a:avLst/>
            </a:prstGeom>
            <a:noFill/>
          </p:spPr>
          <p:txBody>
            <a:bodyPr wrap="square" lIns="0" tIns="0" rIns="0" bIns="0" anchor="ctr">
              <a:spAutoFit/>
            </a:bodyPr>
            <a:lstStyle/>
            <a:p>
              <a:pPr algn="l"/>
              <a:r>
                <a:rPr sz="1600" b="1">
                  <a:solidFill>
                    <a:srgbClr val="FFFFFF"/>
                  </a:solidFill>
                  <a:latin typeface="Century Gothic"/>
                </a:rPr>
                <a:t>Storage account and container</a:t>
              </a:r>
            </a:p>
          </p:txBody>
        </p:sp>
        <p:sp>
          <p:nvSpPr>
            <p:cNvPr id="15" name="TextBox 14"/>
            <p:cNvSpPr txBox="1"/>
            <p:nvPr/>
          </p:nvSpPr>
          <p:spPr>
            <a:xfrm>
              <a:off x="800100" y="2362200"/>
              <a:ext cx="3124200" cy="1123950"/>
            </a:xfrm>
            <a:prstGeom prst="rect">
              <a:avLst/>
            </a:prstGeom>
            <a:noFill/>
          </p:spPr>
          <p:txBody>
            <a:bodyPr wrap="square" lIns="0" tIns="0" rIns="0" bIns="0" anchor="t">
              <a:spAutoFit/>
            </a:bodyPr>
            <a:lstStyle/>
            <a:p>
              <a:pPr algn="l"/>
              <a:r>
                <a:rPr sz="1350" b="0">
                  <a:solidFill>
                    <a:srgbClr val="B0C0D9"/>
                  </a:solidFill>
                  <a:latin typeface="Segoe UI"/>
                </a:rPr>
                <a:t>Where backup data lives. Public network access is off, which is why the private endpoint is needed. Versioning is on.</a:t>
              </a:r>
            </a:p>
          </p:txBody>
        </p:sp>
      </p:grpSp>
      <p:grpSp>
        <p:nvGrpSpPr>
          <p:cNvPr id="16" name="anim|rise|0.69"/>
          <p:cNvGrpSpPr/>
          <p:nvPr/>
        </p:nvGrpSpPr>
        <p:grpSpPr>
          <a:xfrm>
            <a:off x="4305300" y="1485900"/>
            <a:ext cx="3581400" cy="2114550"/>
            <a:chOff x="4305300" y="1485900"/>
            <a:chExt cx="3581400" cy="2114550"/>
          </a:xfrm>
        </p:grpSpPr>
        <p:sp>
          <p:nvSpPr>
            <p:cNvPr id="17" name="Rounded Rectangle 16"/>
            <p:cNvSpPr/>
            <p:nvPr/>
          </p:nvSpPr>
          <p:spPr>
            <a:xfrm>
              <a:off x="4305300" y="1485900"/>
              <a:ext cx="3581400" cy="2114550"/>
            </a:xfrm>
            <a:prstGeom prst="roundRect">
              <a:avLst>
                <a:gd name="adj" fmla="val 8108"/>
              </a:avLst>
            </a:prstGeom>
            <a:solidFill>
              <a:srgbClr val="1E3A68"/>
            </a:solidFill>
            <a:ln>
              <a:noFill/>
            </a:ln>
          </p:spPr>
          <p:txBody>
            <a:bodyPr rtlCol="0" anchor="ctr"/>
            <a:lstStyle/>
            <a:p>
              <a:pPr algn="ctr"/>
              <a:endParaRPr/>
            </a:p>
          </p:txBody>
        </p:sp>
        <p:sp>
          <p:nvSpPr>
            <p:cNvPr id="18" name="Oval 17"/>
            <p:cNvSpPr/>
            <p:nvPr/>
          </p:nvSpPr>
          <p:spPr>
            <a:xfrm>
              <a:off x="4533900" y="1695450"/>
              <a:ext cx="495300" cy="495300"/>
            </a:xfrm>
            <a:prstGeom prst="ellipse">
              <a:avLst/>
            </a:prstGeom>
            <a:solidFill>
              <a:srgbClr val="14284B"/>
            </a:solidFill>
            <a:ln>
              <a:noFill/>
            </a:ln>
          </p:spPr>
          <p:txBody>
            <a:bodyPr rtlCol="0" anchor="ctr"/>
            <a:lstStyle/>
            <a:p>
              <a:pPr algn="ctr"/>
              <a:endParaRPr/>
            </a:p>
          </p:txBody>
        </p:sp>
        <p:pic>
          <p:nvPicPr>
            <p:cNvPr id="19" name="Picture 18" descr="cube_teal.png"/>
            <p:cNvPicPr>
              <a:picLocks noChangeAspect="1"/>
            </p:cNvPicPr>
            <p:nvPr/>
          </p:nvPicPr>
          <p:blipFill>
            <a:blip r:embed="rId3"/>
            <a:stretch>
              <a:fillRect/>
            </a:stretch>
          </p:blipFill>
          <p:spPr>
            <a:xfrm>
              <a:off x="4647819" y="1809369"/>
              <a:ext cx="267462" cy="267462"/>
            </a:xfrm>
            <a:prstGeom prst="rect">
              <a:avLst/>
            </a:prstGeom>
          </p:spPr>
        </p:pic>
        <p:sp>
          <p:nvSpPr>
            <p:cNvPr id="20" name="TextBox 19"/>
            <p:cNvSpPr txBox="1"/>
            <p:nvPr/>
          </p:nvSpPr>
          <p:spPr>
            <a:xfrm>
              <a:off x="5162550" y="1695450"/>
              <a:ext cx="2495550" cy="495300"/>
            </a:xfrm>
            <a:prstGeom prst="rect">
              <a:avLst/>
            </a:prstGeom>
            <a:noFill/>
          </p:spPr>
          <p:txBody>
            <a:bodyPr wrap="square" lIns="0" tIns="0" rIns="0" bIns="0" anchor="ctr">
              <a:spAutoFit/>
            </a:bodyPr>
            <a:lstStyle/>
            <a:p>
              <a:pPr algn="l"/>
              <a:r>
                <a:rPr sz="1600" b="1">
                  <a:solidFill>
                    <a:srgbClr val="FFFFFF"/>
                  </a:solidFill>
                  <a:latin typeface="Century Gothic"/>
                </a:rPr>
                <a:t>Backup extension</a:t>
              </a:r>
            </a:p>
          </p:txBody>
        </p:sp>
        <p:sp>
          <p:nvSpPr>
            <p:cNvPr id="21" name="TextBox 20"/>
            <p:cNvSpPr txBox="1"/>
            <p:nvPr/>
          </p:nvSpPr>
          <p:spPr>
            <a:xfrm>
              <a:off x="4533900" y="2362200"/>
              <a:ext cx="3124200" cy="1123950"/>
            </a:xfrm>
            <a:prstGeom prst="rect">
              <a:avLst/>
            </a:prstGeom>
            <a:noFill/>
          </p:spPr>
          <p:txBody>
            <a:bodyPr wrap="square" lIns="0" tIns="0" rIns="0" bIns="0" anchor="t">
              <a:spAutoFit/>
            </a:bodyPr>
            <a:lstStyle/>
            <a:p>
              <a:pPr algn="l"/>
              <a:r>
                <a:rPr sz="1350" b="0">
                  <a:solidFill>
                    <a:srgbClr val="B0C0D9"/>
                  </a:solidFill>
                  <a:latin typeface="Segoe UI"/>
                </a:rPr>
                <a:t>Installed on the cluster. Tells the cluster which storage account and container to write backups to.</a:t>
              </a:r>
            </a:p>
          </p:txBody>
        </p:sp>
      </p:grpSp>
      <p:grpSp>
        <p:nvGrpSpPr>
          <p:cNvPr id="22" name="anim|rise|0.83"/>
          <p:cNvGrpSpPr/>
          <p:nvPr/>
        </p:nvGrpSpPr>
        <p:grpSpPr>
          <a:xfrm>
            <a:off x="8039100" y="1485900"/>
            <a:ext cx="3581400" cy="2114550"/>
            <a:chOff x="8039100" y="1485900"/>
            <a:chExt cx="3581400" cy="2114550"/>
          </a:xfrm>
        </p:grpSpPr>
        <p:sp>
          <p:nvSpPr>
            <p:cNvPr id="23" name="Rounded Rectangle 22"/>
            <p:cNvSpPr/>
            <p:nvPr/>
          </p:nvSpPr>
          <p:spPr>
            <a:xfrm>
              <a:off x="8039100" y="1485900"/>
              <a:ext cx="3581400" cy="2114550"/>
            </a:xfrm>
            <a:prstGeom prst="roundRect">
              <a:avLst>
                <a:gd name="adj" fmla="val 8108"/>
              </a:avLst>
            </a:prstGeom>
            <a:solidFill>
              <a:srgbClr val="1E3A68"/>
            </a:solidFill>
            <a:ln>
              <a:noFill/>
            </a:ln>
          </p:spPr>
          <p:txBody>
            <a:bodyPr rtlCol="0" anchor="ctr"/>
            <a:lstStyle/>
            <a:p>
              <a:pPr algn="ctr"/>
              <a:endParaRPr/>
            </a:p>
          </p:txBody>
        </p:sp>
        <p:sp>
          <p:nvSpPr>
            <p:cNvPr id="24" name="Oval 23"/>
            <p:cNvSpPr/>
            <p:nvPr/>
          </p:nvSpPr>
          <p:spPr>
            <a:xfrm>
              <a:off x="8267700" y="1695450"/>
              <a:ext cx="495300" cy="495300"/>
            </a:xfrm>
            <a:prstGeom prst="ellipse">
              <a:avLst/>
            </a:prstGeom>
            <a:solidFill>
              <a:srgbClr val="14284B"/>
            </a:solidFill>
            <a:ln>
              <a:noFill/>
            </a:ln>
          </p:spPr>
          <p:txBody>
            <a:bodyPr rtlCol="0" anchor="ctr"/>
            <a:lstStyle/>
            <a:p>
              <a:pPr algn="ctr"/>
              <a:endParaRPr/>
            </a:p>
          </p:txBody>
        </p:sp>
        <p:pic>
          <p:nvPicPr>
            <p:cNvPr id="25" name="Picture 24" descr="lock_teal.png"/>
            <p:cNvPicPr>
              <a:picLocks noChangeAspect="1"/>
            </p:cNvPicPr>
            <p:nvPr/>
          </p:nvPicPr>
          <p:blipFill>
            <a:blip r:embed="rId4"/>
            <a:stretch>
              <a:fillRect/>
            </a:stretch>
          </p:blipFill>
          <p:spPr>
            <a:xfrm>
              <a:off x="8381619" y="1809369"/>
              <a:ext cx="267462" cy="267462"/>
            </a:xfrm>
            <a:prstGeom prst="rect">
              <a:avLst/>
            </a:prstGeom>
          </p:spPr>
        </p:pic>
        <p:sp>
          <p:nvSpPr>
            <p:cNvPr id="26" name="TextBox 25"/>
            <p:cNvSpPr txBox="1"/>
            <p:nvPr/>
          </p:nvSpPr>
          <p:spPr>
            <a:xfrm>
              <a:off x="8896350" y="1695450"/>
              <a:ext cx="2495550" cy="495300"/>
            </a:xfrm>
            <a:prstGeom prst="rect">
              <a:avLst/>
            </a:prstGeom>
            <a:noFill/>
          </p:spPr>
          <p:txBody>
            <a:bodyPr wrap="square" lIns="0" tIns="0" rIns="0" bIns="0" anchor="ctr">
              <a:spAutoFit/>
            </a:bodyPr>
            <a:lstStyle/>
            <a:p>
              <a:pPr algn="l"/>
              <a:r>
                <a:rPr sz="1600" b="1">
                  <a:solidFill>
                    <a:srgbClr val="FFFFFF"/>
                  </a:solidFill>
                  <a:latin typeface="Century Gothic"/>
                </a:rPr>
                <a:t>Backup vault</a:t>
              </a:r>
            </a:p>
          </p:txBody>
        </p:sp>
        <p:sp>
          <p:nvSpPr>
            <p:cNvPr id="27" name="TextBox 26"/>
            <p:cNvSpPr txBox="1"/>
            <p:nvPr/>
          </p:nvSpPr>
          <p:spPr>
            <a:xfrm>
              <a:off x="8267700" y="2362200"/>
              <a:ext cx="3124200" cy="1123950"/>
            </a:xfrm>
            <a:prstGeom prst="rect">
              <a:avLst/>
            </a:prstGeom>
            <a:noFill/>
          </p:spPr>
          <p:txBody>
            <a:bodyPr wrap="square" lIns="0" tIns="0" rIns="0" bIns="0" anchor="t">
              <a:spAutoFit/>
            </a:bodyPr>
            <a:lstStyle/>
            <a:p>
              <a:pPr algn="l"/>
              <a:r>
                <a:rPr sz="1350" b="0">
                  <a:solidFill>
                    <a:srgbClr val="B0C0D9"/>
                  </a:solidFill>
                  <a:latin typeface="Segoe UI"/>
                </a:rPr>
                <a:t>Zone redundant, soft delete always on, immutable, and protected by a delete lock.</a:t>
              </a:r>
            </a:p>
          </p:txBody>
        </p:sp>
      </p:grpSp>
      <p:grpSp>
        <p:nvGrpSpPr>
          <p:cNvPr id="28" name="anim|rise|0.97"/>
          <p:cNvGrpSpPr/>
          <p:nvPr/>
        </p:nvGrpSpPr>
        <p:grpSpPr>
          <a:xfrm>
            <a:off x="571500" y="3733800"/>
            <a:ext cx="3581400" cy="2114550"/>
            <a:chOff x="571500" y="3733800"/>
            <a:chExt cx="3581400" cy="2114550"/>
          </a:xfrm>
        </p:grpSpPr>
        <p:sp>
          <p:nvSpPr>
            <p:cNvPr id="29" name="Rounded Rectangle 28"/>
            <p:cNvSpPr/>
            <p:nvPr/>
          </p:nvSpPr>
          <p:spPr>
            <a:xfrm>
              <a:off x="571500" y="3733800"/>
              <a:ext cx="3581400" cy="2114550"/>
            </a:xfrm>
            <a:prstGeom prst="roundRect">
              <a:avLst>
                <a:gd name="adj" fmla="val 8108"/>
              </a:avLst>
            </a:prstGeom>
            <a:solidFill>
              <a:srgbClr val="1E3A68"/>
            </a:solidFill>
            <a:ln>
              <a:noFill/>
            </a:ln>
          </p:spPr>
          <p:txBody>
            <a:bodyPr rtlCol="0" anchor="ctr"/>
            <a:lstStyle/>
            <a:p>
              <a:pPr algn="ctr"/>
              <a:endParaRPr/>
            </a:p>
          </p:txBody>
        </p:sp>
        <p:sp>
          <p:nvSpPr>
            <p:cNvPr id="30" name="Oval 29"/>
            <p:cNvSpPr/>
            <p:nvPr/>
          </p:nvSpPr>
          <p:spPr>
            <a:xfrm>
              <a:off x="800100" y="3943350"/>
              <a:ext cx="495300" cy="495300"/>
            </a:xfrm>
            <a:prstGeom prst="ellipse">
              <a:avLst/>
            </a:prstGeom>
            <a:solidFill>
              <a:srgbClr val="14284B"/>
            </a:solidFill>
            <a:ln>
              <a:noFill/>
            </a:ln>
          </p:spPr>
          <p:txBody>
            <a:bodyPr rtlCol="0" anchor="ctr"/>
            <a:lstStyle/>
            <a:p>
              <a:pPr algn="ctr"/>
              <a:endParaRPr/>
            </a:p>
          </p:txBody>
        </p:sp>
        <p:pic>
          <p:nvPicPr>
            <p:cNvPr id="31" name="Picture 30" descr="sliders_teal.png"/>
            <p:cNvPicPr>
              <a:picLocks noChangeAspect="1"/>
            </p:cNvPicPr>
            <p:nvPr/>
          </p:nvPicPr>
          <p:blipFill>
            <a:blip r:embed="rId5"/>
            <a:stretch>
              <a:fillRect/>
            </a:stretch>
          </p:blipFill>
          <p:spPr>
            <a:xfrm>
              <a:off x="914019" y="4057269"/>
              <a:ext cx="267462" cy="267462"/>
            </a:xfrm>
            <a:prstGeom prst="rect">
              <a:avLst/>
            </a:prstGeom>
          </p:spPr>
        </p:pic>
        <p:sp>
          <p:nvSpPr>
            <p:cNvPr id="32" name="TextBox 31"/>
            <p:cNvSpPr txBox="1"/>
            <p:nvPr/>
          </p:nvSpPr>
          <p:spPr>
            <a:xfrm>
              <a:off x="1428750" y="3943350"/>
              <a:ext cx="2495550" cy="495300"/>
            </a:xfrm>
            <a:prstGeom prst="rect">
              <a:avLst/>
            </a:prstGeom>
            <a:noFill/>
          </p:spPr>
          <p:txBody>
            <a:bodyPr wrap="square" lIns="0" tIns="0" rIns="0" bIns="0" anchor="ctr">
              <a:spAutoFit/>
            </a:bodyPr>
            <a:lstStyle/>
            <a:p>
              <a:pPr algn="l"/>
              <a:r>
                <a:rPr sz="1600" b="1">
                  <a:solidFill>
                    <a:srgbClr val="FFFFFF"/>
                  </a:solidFill>
                  <a:latin typeface="Century Gothic"/>
                </a:rPr>
                <a:t>Backup policy</a:t>
              </a:r>
            </a:p>
          </p:txBody>
        </p:sp>
        <p:sp>
          <p:nvSpPr>
            <p:cNvPr id="33" name="TextBox 32"/>
            <p:cNvSpPr txBox="1"/>
            <p:nvPr/>
          </p:nvSpPr>
          <p:spPr>
            <a:xfrm>
              <a:off x="800100" y="4610100"/>
              <a:ext cx="3124200" cy="1123950"/>
            </a:xfrm>
            <a:prstGeom prst="rect">
              <a:avLst/>
            </a:prstGeom>
            <a:noFill/>
          </p:spPr>
          <p:txBody>
            <a:bodyPr wrap="square" lIns="0" tIns="0" rIns="0" bIns="0" anchor="t">
              <a:spAutoFit/>
            </a:bodyPr>
            <a:lstStyle/>
            <a:p>
              <a:pPr algn="l"/>
              <a:r>
                <a:rPr sz="1350" b="0">
                  <a:solidFill>
                    <a:srgbClr val="B0C0D9"/>
                  </a:solidFill>
                  <a:latin typeface="Segoe UI"/>
                </a:rPr>
                <a:t>Backs up every 4 hours. Keeps 7 days of backups in non-prod and 90 days in prod.</a:t>
              </a:r>
            </a:p>
          </p:txBody>
        </p:sp>
      </p:grpSp>
      <p:grpSp>
        <p:nvGrpSpPr>
          <p:cNvPr id="34" name="anim|rise|1.11"/>
          <p:cNvGrpSpPr/>
          <p:nvPr/>
        </p:nvGrpSpPr>
        <p:grpSpPr>
          <a:xfrm>
            <a:off x="4305300" y="3733800"/>
            <a:ext cx="3581400" cy="2114550"/>
            <a:chOff x="4305300" y="3733800"/>
            <a:chExt cx="3581400" cy="2114550"/>
          </a:xfrm>
        </p:grpSpPr>
        <p:sp>
          <p:nvSpPr>
            <p:cNvPr id="35" name="Rounded Rectangle 34"/>
            <p:cNvSpPr/>
            <p:nvPr/>
          </p:nvSpPr>
          <p:spPr>
            <a:xfrm>
              <a:off x="4305300" y="3733800"/>
              <a:ext cx="3581400" cy="2114550"/>
            </a:xfrm>
            <a:prstGeom prst="roundRect">
              <a:avLst>
                <a:gd name="adj" fmla="val 8108"/>
              </a:avLst>
            </a:prstGeom>
            <a:solidFill>
              <a:srgbClr val="1E3A68"/>
            </a:solidFill>
            <a:ln>
              <a:noFill/>
            </a:ln>
          </p:spPr>
          <p:txBody>
            <a:bodyPr rtlCol="0" anchor="ctr"/>
            <a:lstStyle/>
            <a:p>
              <a:pPr algn="ctr"/>
              <a:endParaRPr/>
            </a:p>
          </p:txBody>
        </p:sp>
        <p:sp>
          <p:nvSpPr>
            <p:cNvPr id="36" name="Oval 35"/>
            <p:cNvSpPr/>
            <p:nvPr/>
          </p:nvSpPr>
          <p:spPr>
            <a:xfrm>
              <a:off x="4533900" y="3943350"/>
              <a:ext cx="495300" cy="495300"/>
            </a:xfrm>
            <a:prstGeom prst="ellipse">
              <a:avLst/>
            </a:prstGeom>
            <a:solidFill>
              <a:srgbClr val="14284B"/>
            </a:solidFill>
            <a:ln>
              <a:noFill/>
            </a:ln>
          </p:spPr>
          <p:txBody>
            <a:bodyPr rtlCol="0" anchor="ctr"/>
            <a:lstStyle/>
            <a:p>
              <a:pPr algn="ctr"/>
              <a:endParaRPr/>
            </a:p>
          </p:txBody>
        </p:sp>
        <p:pic>
          <p:nvPicPr>
            <p:cNvPr id="37" name="Picture 36" descr="cluster_teal.png"/>
            <p:cNvPicPr>
              <a:picLocks noChangeAspect="1"/>
            </p:cNvPicPr>
            <p:nvPr/>
          </p:nvPicPr>
          <p:blipFill>
            <a:blip r:embed="rId6"/>
            <a:stretch>
              <a:fillRect/>
            </a:stretch>
          </p:blipFill>
          <p:spPr>
            <a:xfrm>
              <a:off x="4647819" y="4057269"/>
              <a:ext cx="267462" cy="267462"/>
            </a:xfrm>
            <a:prstGeom prst="rect">
              <a:avLst/>
            </a:prstGeom>
          </p:spPr>
        </p:pic>
        <p:sp>
          <p:nvSpPr>
            <p:cNvPr id="38" name="TextBox 37"/>
            <p:cNvSpPr txBox="1"/>
            <p:nvPr/>
          </p:nvSpPr>
          <p:spPr>
            <a:xfrm>
              <a:off x="5162550" y="3943350"/>
              <a:ext cx="2495550" cy="495300"/>
            </a:xfrm>
            <a:prstGeom prst="rect">
              <a:avLst/>
            </a:prstGeom>
            <a:noFill/>
          </p:spPr>
          <p:txBody>
            <a:bodyPr wrap="square" lIns="0" tIns="0" rIns="0" bIns="0" anchor="ctr">
              <a:spAutoFit/>
            </a:bodyPr>
            <a:lstStyle/>
            <a:p>
              <a:pPr algn="l"/>
              <a:r>
                <a:rPr sz="1600" b="1">
                  <a:solidFill>
                    <a:srgbClr val="FFFFFF"/>
                  </a:solidFill>
                  <a:latin typeface="Century Gothic"/>
                </a:rPr>
                <a:t>Backup instance</a:t>
              </a:r>
            </a:p>
          </p:txBody>
        </p:sp>
        <p:sp>
          <p:nvSpPr>
            <p:cNvPr id="39" name="TextBox 38"/>
            <p:cNvSpPr txBox="1"/>
            <p:nvPr/>
          </p:nvSpPr>
          <p:spPr>
            <a:xfrm>
              <a:off x="4533900" y="4610100"/>
              <a:ext cx="3124200" cy="1123950"/>
            </a:xfrm>
            <a:prstGeom prst="rect">
              <a:avLst/>
            </a:prstGeom>
            <a:noFill/>
          </p:spPr>
          <p:txBody>
            <a:bodyPr wrap="square" lIns="0" tIns="0" rIns="0" bIns="0" anchor="t">
              <a:spAutoFit/>
            </a:bodyPr>
            <a:lstStyle/>
            <a:p>
              <a:pPr algn="l"/>
              <a:r>
                <a:rPr sz="1350" b="0">
                  <a:solidFill>
                    <a:srgbClr val="B0C0D9"/>
                  </a:solidFill>
                  <a:latin typeface="Segoe UI"/>
                </a:rPr>
                <a:t>Ties together the cluster, the vault and the policy. Full cluster backup with nothing excluded.</a:t>
              </a:r>
            </a:p>
          </p:txBody>
        </p:sp>
      </p:grpSp>
      <p:grpSp>
        <p:nvGrpSpPr>
          <p:cNvPr id="40" name="anim|rise|1.25"/>
          <p:cNvGrpSpPr/>
          <p:nvPr/>
        </p:nvGrpSpPr>
        <p:grpSpPr>
          <a:xfrm>
            <a:off x="8039100" y="3733800"/>
            <a:ext cx="3581400" cy="2114550"/>
            <a:chOff x="8039100" y="3733800"/>
            <a:chExt cx="3581400" cy="2114550"/>
          </a:xfrm>
        </p:grpSpPr>
        <p:sp>
          <p:nvSpPr>
            <p:cNvPr id="41" name="Rounded Rectangle 40"/>
            <p:cNvSpPr/>
            <p:nvPr/>
          </p:nvSpPr>
          <p:spPr>
            <a:xfrm>
              <a:off x="8039100" y="3733800"/>
              <a:ext cx="3581400" cy="2114550"/>
            </a:xfrm>
            <a:prstGeom prst="roundRect">
              <a:avLst>
                <a:gd name="adj" fmla="val 8108"/>
              </a:avLst>
            </a:prstGeom>
            <a:solidFill>
              <a:srgbClr val="1E3A68"/>
            </a:solidFill>
            <a:ln>
              <a:noFill/>
            </a:ln>
          </p:spPr>
          <p:txBody>
            <a:bodyPr rtlCol="0" anchor="ctr"/>
            <a:lstStyle/>
            <a:p>
              <a:pPr algn="ctr"/>
              <a:endParaRPr/>
            </a:p>
          </p:txBody>
        </p:sp>
        <p:sp>
          <p:nvSpPr>
            <p:cNvPr id="42" name="Oval 41"/>
            <p:cNvSpPr/>
            <p:nvPr/>
          </p:nvSpPr>
          <p:spPr>
            <a:xfrm>
              <a:off x="8267700" y="3943350"/>
              <a:ext cx="495300" cy="495300"/>
            </a:xfrm>
            <a:prstGeom prst="ellipse">
              <a:avLst/>
            </a:prstGeom>
            <a:solidFill>
              <a:srgbClr val="14284B"/>
            </a:solidFill>
            <a:ln>
              <a:noFill/>
            </a:ln>
          </p:spPr>
          <p:txBody>
            <a:bodyPr rtlCol="0" anchor="ctr"/>
            <a:lstStyle/>
            <a:p>
              <a:pPr algn="ctr"/>
              <a:endParaRPr/>
            </a:p>
          </p:txBody>
        </p:sp>
        <p:pic>
          <p:nvPicPr>
            <p:cNvPr id="43" name="Picture 42" descr="key_teal.png"/>
            <p:cNvPicPr>
              <a:picLocks noChangeAspect="1"/>
            </p:cNvPicPr>
            <p:nvPr/>
          </p:nvPicPr>
          <p:blipFill>
            <a:blip r:embed="rId7"/>
            <a:stretch>
              <a:fillRect/>
            </a:stretch>
          </p:blipFill>
          <p:spPr>
            <a:xfrm>
              <a:off x="8381619" y="4057269"/>
              <a:ext cx="267462" cy="267462"/>
            </a:xfrm>
            <a:prstGeom prst="rect">
              <a:avLst/>
            </a:prstGeom>
          </p:spPr>
        </p:pic>
        <p:sp>
          <p:nvSpPr>
            <p:cNvPr id="44" name="TextBox 43"/>
            <p:cNvSpPr txBox="1"/>
            <p:nvPr/>
          </p:nvSpPr>
          <p:spPr>
            <a:xfrm>
              <a:off x="8896350" y="3943350"/>
              <a:ext cx="2495550" cy="495300"/>
            </a:xfrm>
            <a:prstGeom prst="rect">
              <a:avLst/>
            </a:prstGeom>
            <a:noFill/>
          </p:spPr>
          <p:txBody>
            <a:bodyPr wrap="square" lIns="0" tIns="0" rIns="0" bIns="0" anchor="ctr">
              <a:spAutoFit/>
            </a:bodyPr>
            <a:lstStyle/>
            <a:p>
              <a:pPr algn="l"/>
              <a:r>
                <a:rPr sz="1600" b="1">
                  <a:solidFill>
                    <a:srgbClr val="FFFFFF"/>
                  </a:solidFill>
                  <a:latin typeface="Century Gothic"/>
                </a:rPr>
                <a:t>Access and roles</a:t>
              </a:r>
            </a:p>
          </p:txBody>
        </p:sp>
        <p:sp>
          <p:nvSpPr>
            <p:cNvPr id="45" name="TextBox 44"/>
            <p:cNvSpPr txBox="1"/>
            <p:nvPr/>
          </p:nvSpPr>
          <p:spPr>
            <a:xfrm>
              <a:off x="8267700" y="4610100"/>
              <a:ext cx="3124200" cy="1123950"/>
            </a:xfrm>
            <a:prstGeom prst="rect">
              <a:avLst/>
            </a:prstGeom>
            <a:noFill/>
          </p:spPr>
          <p:txBody>
            <a:bodyPr wrap="square" lIns="0" tIns="0" rIns="0" bIns="0" anchor="t">
              <a:spAutoFit/>
            </a:bodyPr>
            <a:lstStyle/>
            <a:p>
              <a:pPr algn="l"/>
              <a:r>
                <a:rPr sz="1350" b="0">
                  <a:solidFill>
                    <a:srgbClr val="B0C0D9"/>
                  </a:solidFill>
                  <a:latin typeface="Segoe UI"/>
                </a:rPr>
                <a:t>Trusted Access from the vault to the cluster, plus the roles the vault, the extension and the cluster identities need.</a:t>
              </a:r>
            </a:p>
          </p:txBody>
        </p:sp>
      </p:grpSp>
      <p:grpSp>
        <p:nvGrpSpPr>
          <p:cNvPr id="46" name="anim|fade|1.39"/>
          <p:cNvGrpSpPr/>
          <p:nvPr/>
        </p:nvGrpSpPr>
        <p:grpSpPr>
          <a:xfrm>
            <a:off x="571500" y="5981700"/>
            <a:ext cx="11049000" cy="381000"/>
            <a:chOff x="571500" y="5981700"/>
            <a:chExt cx="11049000" cy="381000"/>
          </a:xfrm>
        </p:grpSpPr>
        <p:sp>
          <p:nvSpPr>
            <p:cNvPr id="47" name="Rounded Rectangle 46"/>
            <p:cNvSpPr/>
            <p:nvPr/>
          </p:nvSpPr>
          <p:spPr>
            <a:xfrm>
              <a:off x="571500" y="5981700"/>
              <a:ext cx="11049000" cy="381000"/>
            </a:xfrm>
            <a:prstGeom prst="roundRect">
              <a:avLst>
                <a:gd name="adj" fmla="val 50000"/>
              </a:avLst>
            </a:prstGeom>
            <a:solidFill>
              <a:srgbClr val="14284B"/>
            </a:solidFill>
            <a:ln w="19050">
              <a:solidFill>
                <a:srgbClr val="2E5286"/>
              </a:solidFill>
            </a:ln>
          </p:spPr>
          <p:txBody>
            <a:bodyPr rtlCol="0" anchor="ctr"/>
            <a:lstStyle/>
            <a:p>
              <a:pPr algn="ctr"/>
              <a:endParaRPr/>
            </a:p>
          </p:txBody>
        </p:sp>
        <p:pic>
          <p:nvPicPr>
            <p:cNvPr id="48" name="Picture 47" descr="code_teal.png"/>
            <p:cNvPicPr>
              <a:picLocks noChangeAspect="1"/>
            </p:cNvPicPr>
            <p:nvPr/>
          </p:nvPicPr>
          <p:blipFill>
            <a:blip r:embed="rId8"/>
            <a:stretch>
              <a:fillRect/>
            </a:stretch>
          </p:blipFill>
          <p:spPr>
            <a:xfrm>
              <a:off x="781050" y="6048375"/>
              <a:ext cx="247650" cy="247650"/>
            </a:xfrm>
            <a:prstGeom prst="rect">
              <a:avLst/>
            </a:prstGeom>
          </p:spPr>
        </p:pic>
        <p:sp>
          <p:nvSpPr>
            <p:cNvPr id="49" name="TextBox 48"/>
            <p:cNvSpPr txBox="1"/>
            <p:nvPr/>
          </p:nvSpPr>
          <p:spPr>
            <a:xfrm>
              <a:off x="1143000" y="5981700"/>
              <a:ext cx="9525000" cy="381000"/>
            </a:xfrm>
            <a:prstGeom prst="rect">
              <a:avLst/>
            </a:prstGeom>
            <a:noFill/>
          </p:spPr>
          <p:txBody>
            <a:bodyPr wrap="square" lIns="0" tIns="0" rIns="0" bIns="0" anchor="ctr">
              <a:spAutoFit/>
            </a:bodyPr>
            <a:lstStyle/>
            <a:p>
              <a:pPr algn="l"/>
              <a:r>
                <a:rPr sz="1300" b="0">
                  <a:solidFill>
                    <a:srgbClr val="59BEC9"/>
                  </a:solidFill>
                  <a:latin typeface="Consolas"/>
                </a:rPr>
                <a:t>bfhaksplatform/terraform/modules/main/backup.tf</a:t>
              </a:r>
            </a:p>
          </p:txBody>
        </p:sp>
      </p:grpSp>
    </p:spTree>
  </p:cSld>
  <p:clrMapOvr>
    <a:masterClrMapping/>
  </p:clrMapOvr>
  <mc:AlternateContent xmlns:mc="http://schemas.openxmlformats.org/markup-compatibility/2006">
    <mc:Choice xmlns:p14="http://schemas.microsoft.com/office/powerpoint/2010/main" Requires="p14">
      <p:transition spd="slow" p14:dur="800">
        <p:fad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5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50"/>
                                        <p:tgtEl>
                                          <p:spTgt spid="3"/>
                                        </p:tgtEl>
                                      </p:cBhvr>
                                    </p:animEffect>
                                  </p:childTnLst>
                                </p:cTn>
                              </p:par>
                              <p:par>
                                <p:cTn id="8" presetID="22" presetClass="entr" presetSubtype="8" fill="hold" grpId="0" nodeType="withEffect">
                                  <p:stCondLst>
                                    <p:cond delay="100"/>
                                  </p:stCondLst>
                                  <p:childTnLst>
                                    <p:set>
                                      <p:cBhvr>
                                        <p:cTn id="9" dur="1" fill="hold">
                                          <p:stCondLst>
                                            <p:cond delay="0"/>
                                          </p:stCondLst>
                                        </p:cTn>
                                        <p:tgtEl>
                                          <p:spTgt spid="6"/>
                                        </p:tgtEl>
                                        <p:attrNameLst>
                                          <p:attrName>style.visibility</p:attrName>
                                        </p:attrNameLst>
                                      </p:cBhvr>
                                      <p:to>
                                        <p:strVal val="visible"/>
                                      </p:to>
                                    </p:set>
                                    <p:animEffect transition="in" filter="wipe(left)">
                                      <p:cBhvr>
                                        <p:cTn id="10" dur="700"/>
                                        <p:tgtEl>
                                          <p:spTgt spid="6"/>
                                        </p:tgtEl>
                                      </p:cBhvr>
                                    </p:animEffect>
                                  </p:childTnLst>
                                </p:cTn>
                              </p:par>
                              <p:par>
                                <p:cTn id="11" presetID="10" presetClass="entr" presetSubtype="0" fill="hold" grpId="0" nodeType="withEffect">
                                  <p:stCondLst>
                                    <p:cond delay="45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50"/>
                                        <p:tgtEl>
                                          <p:spTgt spid="7"/>
                                        </p:tgtEl>
                                      </p:cBhvr>
                                    </p:animEffect>
                                  </p:childTnLst>
                                </p:cTn>
                              </p:par>
                              <p:par>
                                <p:cTn id="14" presetID="37" presetClass="entr" presetSubtype="0" fill="hold" nodeType="withEffect">
                                  <p:stCondLst>
                                    <p:cond delay="55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50"/>
                                        <p:tgtEl>
                                          <p:spTgt spid="10"/>
                                        </p:tgtEl>
                                      </p:cBhvr>
                                    </p:animEffect>
                                    <p:anim calcmode="lin" valueType="num">
                                      <p:cBhvr>
                                        <p:cTn id="17" dur="550" fill="hold"/>
                                        <p:tgtEl>
                                          <p:spTgt spid="10"/>
                                        </p:tgtEl>
                                        <p:attrNameLst>
                                          <p:attrName>ppt_x</p:attrName>
                                        </p:attrNameLst>
                                      </p:cBhvr>
                                      <p:tavLst>
                                        <p:tav tm="0">
                                          <p:val>
                                            <p:strVal val="#ppt_x"/>
                                          </p:val>
                                        </p:tav>
                                        <p:tav tm="100000">
                                          <p:val>
                                            <p:strVal val="#ppt_x"/>
                                          </p:val>
                                        </p:tav>
                                      </p:tavLst>
                                    </p:anim>
                                    <p:anim calcmode="lin" valueType="num">
                                      <p:cBhvr>
                                        <p:cTn id="18" dur="495" decel="100000" fill="hold"/>
                                        <p:tgtEl>
                                          <p:spTgt spid="10"/>
                                        </p:tgtEl>
                                        <p:attrNameLst>
                                          <p:attrName>ppt_y</p:attrName>
                                        </p:attrNameLst>
                                      </p:cBhvr>
                                      <p:tavLst>
                                        <p:tav tm="0">
                                          <p:val>
                                            <p:strVal val="#ppt_y+1"/>
                                          </p:val>
                                        </p:tav>
                                        <p:tav tm="100000">
                                          <p:val>
                                            <p:strVal val="#ppt_y-.03"/>
                                          </p:val>
                                        </p:tav>
                                      </p:tavLst>
                                    </p:anim>
                                    <p:anim calcmode="lin" valueType="num">
                                      <p:cBhvr>
                                        <p:cTn id="19" dur="55" accel="100000" fill="hold">
                                          <p:stCondLst>
                                            <p:cond delay="495"/>
                                          </p:stCondLst>
                                        </p:cTn>
                                        <p:tgtEl>
                                          <p:spTgt spid="10"/>
                                        </p:tgtEl>
                                        <p:attrNameLst>
                                          <p:attrName>ppt_y</p:attrName>
                                        </p:attrNameLst>
                                      </p:cBhvr>
                                      <p:tavLst>
                                        <p:tav tm="0">
                                          <p:val>
                                            <p:strVal val="#ppt_y-.03"/>
                                          </p:val>
                                        </p:tav>
                                        <p:tav tm="100000">
                                          <p:val>
                                            <p:strVal val="#ppt_y"/>
                                          </p:val>
                                        </p:tav>
                                      </p:tavLst>
                                    </p:anim>
                                  </p:childTnLst>
                                </p:cTn>
                              </p:par>
                              <p:par>
                                <p:cTn id="20" presetID="37" presetClass="entr" presetSubtype="0" fill="hold" nodeType="withEffect">
                                  <p:stCondLst>
                                    <p:cond delay="69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550"/>
                                        <p:tgtEl>
                                          <p:spTgt spid="16"/>
                                        </p:tgtEl>
                                      </p:cBhvr>
                                    </p:animEffect>
                                    <p:anim calcmode="lin" valueType="num">
                                      <p:cBhvr>
                                        <p:cTn id="23" dur="550" fill="hold"/>
                                        <p:tgtEl>
                                          <p:spTgt spid="16"/>
                                        </p:tgtEl>
                                        <p:attrNameLst>
                                          <p:attrName>ppt_x</p:attrName>
                                        </p:attrNameLst>
                                      </p:cBhvr>
                                      <p:tavLst>
                                        <p:tav tm="0">
                                          <p:val>
                                            <p:strVal val="#ppt_x"/>
                                          </p:val>
                                        </p:tav>
                                        <p:tav tm="100000">
                                          <p:val>
                                            <p:strVal val="#ppt_x"/>
                                          </p:val>
                                        </p:tav>
                                      </p:tavLst>
                                    </p:anim>
                                    <p:anim calcmode="lin" valueType="num">
                                      <p:cBhvr>
                                        <p:cTn id="24" dur="495" decel="100000" fill="hold"/>
                                        <p:tgtEl>
                                          <p:spTgt spid="16"/>
                                        </p:tgtEl>
                                        <p:attrNameLst>
                                          <p:attrName>ppt_y</p:attrName>
                                        </p:attrNameLst>
                                      </p:cBhvr>
                                      <p:tavLst>
                                        <p:tav tm="0">
                                          <p:val>
                                            <p:strVal val="#ppt_y+1"/>
                                          </p:val>
                                        </p:tav>
                                        <p:tav tm="100000">
                                          <p:val>
                                            <p:strVal val="#ppt_y-.03"/>
                                          </p:val>
                                        </p:tav>
                                      </p:tavLst>
                                    </p:anim>
                                    <p:anim calcmode="lin" valueType="num">
                                      <p:cBhvr>
                                        <p:cTn id="25" dur="55" accel="100000" fill="hold">
                                          <p:stCondLst>
                                            <p:cond delay="495"/>
                                          </p:stCondLst>
                                        </p:cTn>
                                        <p:tgtEl>
                                          <p:spTgt spid="16"/>
                                        </p:tgtEl>
                                        <p:attrNameLst>
                                          <p:attrName>ppt_y</p:attrName>
                                        </p:attrNameLst>
                                      </p:cBhvr>
                                      <p:tavLst>
                                        <p:tav tm="0">
                                          <p:val>
                                            <p:strVal val="#ppt_y-.03"/>
                                          </p:val>
                                        </p:tav>
                                        <p:tav tm="100000">
                                          <p:val>
                                            <p:strVal val="#ppt_y"/>
                                          </p:val>
                                        </p:tav>
                                      </p:tavLst>
                                    </p:anim>
                                  </p:childTnLst>
                                </p:cTn>
                              </p:par>
                              <p:par>
                                <p:cTn id="26" presetID="37" presetClass="entr" presetSubtype="0" fill="hold" nodeType="withEffect">
                                  <p:stCondLst>
                                    <p:cond delay="830"/>
                                  </p:stCondLst>
                                  <p:childTnLst>
                                    <p:set>
                                      <p:cBhvr>
                                        <p:cTn id="27" dur="1" fill="hold">
                                          <p:stCondLst>
                                            <p:cond delay="0"/>
                                          </p:stCondLst>
                                        </p:cTn>
                                        <p:tgtEl>
                                          <p:spTgt spid="22"/>
                                        </p:tgtEl>
                                        <p:attrNameLst>
                                          <p:attrName>style.visibility</p:attrName>
                                        </p:attrNameLst>
                                      </p:cBhvr>
                                      <p:to>
                                        <p:strVal val="visible"/>
                                      </p:to>
                                    </p:set>
                                    <p:animEffect transition="in" filter="fade">
                                      <p:cBhvr>
                                        <p:cTn id="28" dur="550"/>
                                        <p:tgtEl>
                                          <p:spTgt spid="22"/>
                                        </p:tgtEl>
                                      </p:cBhvr>
                                    </p:animEffect>
                                    <p:anim calcmode="lin" valueType="num">
                                      <p:cBhvr>
                                        <p:cTn id="29" dur="550" fill="hold"/>
                                        <p:tgtEl>
                                          <p:spTgt spid="22"/>
                                        </p:tgtEl>
                                        <p:attrNameLst>
                                          <p:attrName>ppt_x</p:attrName>
                                        </p:attrNameLst>
                                      </p:cBhvr>
                                      <p:tavLst>
                                        <p:tav tm="0">
                                          <p:val>
                                            <p:strVal val="#ppt_x"/>
                                          </p:val>
                                        </p:tav>
                                        <p:tav tm="100000">
                                          <p:val>
                                            <p:strVal val="#ppt_x"/>
                                          </p:val>
                                        </p:tav>
                                      </p:tavLst>
                                    </p:anim>
                                    <p:anim calcmode="lin" valueType="num">
                                      <p:cBhvr>
                                        <p:cTn id="30" dur="495" decel="100000" fill="hold"/>
                                        <p:tgtEl>
                                          <p:spTgt spid="22"/>
                                        </p:tgtEl>
                                        <p:attrNameLst>
                                          <p:attrName>ppt_y</p:attrName>
                                        </p:attrNameLst>
                                      </p:cBhvr>
                                      <p:tavLst>
                                        <p:tav tm="0">
                                          <p:val>
                                            <p:strVal val="#ppt_y+1"/>
                                          </p:val>
                                        </p:tav>
                                        <p:tav tm="100000">
                                          <p:val>
                                            <p:strVal val="#ppt_y-.03"/>
                                          </p:val>
                                        </p:tav>
                                      </p:tavLst>
                                    </p:anim>
                                    <p:anim calcmode="lin" valueType="num">
                                      <p:cBhvr>
                                        <p:cTn id="31" dur="55" accel="100000" fill="hold">
                                          <p:stCondLst>
                                            <p:cond delay="495"/>
                                          </p:stCondLst>
                                        </p:cTn>
                                        <p:tgtEl>
                                          <p:spTgt spid="22"/>
                                        </p:tgtEl>
                                        <p:attrNameLst>
                                          <p:attrName>ppt_y</p:attrName>
                                        </p:attrNameLst>
                                      </p:cBhvr>
                                      <p:tavLst>
                                        <p:tav tm="0">
                                          <p:val>
                                            <p:strVal val="#ppt_y-.03"/>
                                          </p:val>
                                        </p:tav>
                                        <p:tav tm="100000">
                                          <p:val>
                                            <p:strVal val="#ppt_y"/>
                                          </p:val>
                                        </p:tav>
                                      </p:tavLst>
                                    </p:anim>
                                  </p:childTnLst>
                                </p:cTn>
                              </p:par>
                              <p:par>
                                <p:cTn id="32" presetID="37" presetClass="entr" presetSubtype="0" fill="hold" nodeType="withEffect">
                                  <p:stCondLst>
                                    <p:cond delay="970"/>
                                  </p:stCondLst>
                                  <p:childTnLst>
                                    <p:set>
                                      <p:cBhvr>
                                        <p:cTn id="33" dur="1" fill="hold">
                                          <p:stCondLst>
                                            <p:cond delay="0"/>
                                          </p:stCondLst>
                                        </p:cTn>
                                        <p:tgtEl>
                                          <p:spTgt spid="28"/>
                                        </p:tgtEl>
                                        <p:attrNameLst>
                                          <p:attrName>style.visibility</p:attrName>
                                        </p:attrNameLst>
                                      </p:cBhvr>
                                      <p:to>
                                        <p:strVal val="visible"/>
                                      </p:to>
                                    </p:set>
                                    <p:animEffect transition="in" filter="fade">
                                      <p:cBhvr>
                                        <p:cTn id="34" dur="550"/>
                                        <p:tgtEl>
                                          <p:spTgt spid="28"/>
                                        </p:tgtEl>
                                      </p:cBhvr>
                                    </p:animEffect>
                                    <p:anim calcmode="lin" valueType="num">
                                      <p:cBhvr>
                                        <p:cTn id="35" dur="550" fill="hold"/>
                                        <p:tgtEl>
                                          <p:spTgt spid="28"/>
                                        </p:tgtEl>
                                        <p:attrNameLst>
                                          <p:attrName>ppt_x</p:attrName>
                                        </p:attrNameLst>
                                      </p:cBhvr>
                                      <p:tavLst>
                                        <p:tav tm="0">
                                          <p:val>
                                            <p:strVal val="#ppt_x"/>
                                          </p:val>
                                        </p:tav>
                                        <p:tav tm="100000">
                                          <p:val>
                                            <p:strVal val="#ppt_x"/>
                                          </p:val>
                                        </p:tav>
                                      </p:tavLst>
                                    </p:anim>
                                    <p:anim calcmode="lin" valueType="num">
                                      <p:cBhvr>
                                        <p:cTn id="36" dur="495" decel="100000" fill="hold"/>
                                        <p:tgtEl>
                                          <p:spTgt spid="28"/>
                                        </p:tgtEl>
                                        <p:attrNameLst>
                                          <p:attrName>ppt_y</p:attrName>
                                        </p:attrNameLst>
                                      </p:cBhvr>
                                      <p:tavLst>
                                        <p:tav tm="0">
                                          <p:val>
                                            <p:strVal val="#ppt_y+1"/>
                                          </p:val>
                                        </p:tav>
                                        <p:tav tm="100000">
                                          <p:val>
                                            <p:strVal val="#ppt_y-.03"/>
                                          </p:val>
                                        </p:tav>
                                      </p:tavLst>
                                    </p:anim>
                                    <p:anim calcmode="lin" valueType="num">
                                      <p:cBhvr>
                                        <p:cTn id="37" dur="55" accel="100000" fill="hold">
                                          <p:stCondLst>
                                            <p:cond delay="495"/>
                                          </p:stCondLst>
                                        </p:cTn>
                                        <p:tgtEl>
                                          <p:spTgt spid="28"/>
                                        </p:tgtEl>
                                        <p:attrNameLst>
                                          <p:attrName>ppt_y</p:attrName>
                                        </p:attrNameLst>
                                      </p:cBhvr>
                                      <p:tavLst>
                                        <p:tav tm="0">
                                          <p:val>
                                            <p:strVal val="#ppt_y-.03"/>
                                          </p:val>
                                        </p:tav>
                                        <p:tav tm="100000">
                                          <p:val>
                                            <p:strVal val="#ppt_y"/>
                                          </p:val>
                                        </p:tav>
                                      </p:tavLst>
                                    </p:anim>
                                  </p:childTnLst>
                                </p:cTn>
                              </p:par>
                              <p:par>
                                <p:cTn id="38" presetID="37" presetClass="entr" presetSubtype="0" fill="hold" nodeType="withEffect">
                                  <p:stCondLst>
                                    <p:cond delay="1110"/>
                                  </p:stCondLst>
                                  <p:childTnLst>
                                    <p:set>
                                      <p:cBhvr>
                                        <p:cTn id="39" dur="1" fill="hold">
                                          <p:stCondLst>
                                            <p:cond delay="0"/>
                                          </p:stCondLst>
                                        </p:cTn>
                                        <p:tgtEl>
                                          <p:spTgt spid="34"/>
                                        </p:tgtEl>
                                        <p:attrNameLst>
                                          <p:attrName>style.visibility</p:attrName>
                                        </p:attrNameLst>
                                      </p:cBhvr>
                                      <p:to>
                                        <p:strVal val="visible"/>
                                      </p:to>
                                    </p:set>
                                    <p:animEffect transition="in" filter="fade">
                                      <p:cBhvr>
                                        <p:cTn id="40" dur="550"/>
                                        <p:tgtEl>
                                          <p:spTgt spid="34"/>
                                        </p:tgtEl>
                                      </p:cBhvr>
                                    </p:animEffect>
                                    <p:anim calcmode="lin" valueType="num">
                                      <p:cBhvr>
                                        <p:cTn id="41" dur="550" fill="hold"/>
                                        <p:tgtEl>
                                          <p:spTgt spid="34"/>
                                        </p:tgtEl>
                                        <p:attrNameLst>
                                          <p:attrName>ppt_x</p:attrName>
                                        </p:attrNameLst>
                                      </p:cBhvr>
                                      <p:tavLst>
                                        <p:tav tm="0">
                                          <p:val>
                                            <p:strVal val="#ppt_x"/>
                                          </p:val>
                                        </p:tav>
                                        <p:tav tm="100000">
                                          <p:val>
                                            <p:strVal val="#ppt_x"/>
                                          </p:val>
                                        </p:tav>
                                      </p:tavLst>
                                    </p:anim>
                                    <p:anim calcmode="lin" valueType="num">
                                      <p:cBhvr>
                                        <p:cTn id="42" dur="495" decel="100000" fill="hold"/>
                                        <p:tgtEl>
                                          <p:spTgt spid="34"/>
                                        </p:tgtEl>
                                        <p:attrNameLst>
                                          <p:attrName>ppt_y</p:attrName>
                                        </p:attrNameLst>
                                      </p:cBhvr>
                                      <p:tavLst>
                                        <p:tav tm="0">
                                          <p:val>
                                            <p:strVal val="#ppt_y+1"/>
                                          </p:val>
                                        </p:tav>
                                        <p:tav tm="100000">
                                          <p:val>
                                            <p:strVal val="#ppt_y-.03"/>
                                          </p:val>
                                        </p:tav>
                                      </p:tavLst>
                                    </p:anim>
                                    <p:anim calcmode="lin" valueType="num">
                                      <p:cBhvr>
                                        <p:cTn id="43" dur="55" accel="100000" fill="hold">
                                          <p:stCondLst>
                                            <p:cond delay="495"/>
                                          </p:stCondLst>
                                        </p:cTn>
                                        <p:tgtEl>
                                          <p:spTgt spid="34"/>
                                        </p:tgtEl>
                                        <p:attrNameLst>
                                          <p:attrName>ppt_y</p:attrName>
                                        </p:attrNameLst>
                                      </p:cBhvr>
                                      <p:tavLst>
                                        <p:tav tm="0">
                                          <p:val>
                                            <p:strVal val="#ppt_y-.03"/>
                                          </p:val>
                                        </p:tav>
                                        <p:tav tm="100000">
                                          <p:val>
                                            <p:strVal val="#ppt_y"/>
                                          </p:val>
                                        </p:tav>
                                      </p:tavLst>
                                    </p:anim>
                                  </p:childTnLst>
                                </p:cTn>
                              </p:par>
                              <p:par>
                                <p:cTn id="44" presetID="37" presetClass="entr" presetSubtype="0" fill="hold" nodeType="withEffect">
                                  <p:stCondLst>
                                    <p:cond delay="1250"/>
                                  </p:stCondLst>
                                  <p:childTnLst>
                                    <p:set>
                                      <p:cBhvr>
                                        <p:cTn id="45" dur="1" fill="hold">
                                          <p:stCondLst>
                                            <p:cond delay="0"/>
                                          </p:stCondLst>
                                        </p:cTn>
                                        <p:tgtEl>
                                          <p:spTgt spid="40"/>
                                        </p:tgtEl>
                                        <p:attrNameLst>
                                          <p:attrName>style.visibility</p:attrName>
                                        </p:attrNameLst>
                                      </p:cBhvr>
                                      <p:to>
                                        <p:strVal val="visible"/>
                                      </p:to>
                                    </p:set>
                                    <p:animEffect transition="in" filter="fade">
                                      <p:cBhvr>
                                        <p:cTn id="46" dur="550"/>
                                        <p:tgtEl>
                                          <p:spTgt spid="40"/>
                                        </p:tgtEl>
                                      </p:cBhvr>
                                    </p:animEffect>
                                    <p:anim calcmode="lin" valueType="num">
                                      <p:cBhvr>
                                        <p:cTn id="47" dur="550" fill="hold"/>
                                        <p:tgtEl>
                                          <p:spTgt spid="40"/>
                                        </p:tgtEl>
                                        <p:attrNameLst>
                                          <p:attrName>ppt_x</p:attrName>
                                        </p:attrNameLst>
                                      </p:cBhvr>
                                      <p:tavLst>
                                        <p:tav tm="0">
                                          <p:val>
                                            <p:strVal val="#ppt_x"/>
                                          </p:val>
                                        </p:tav>
                                        <p:tav tm="100000">
                                          <p:val>
                                            <p:strVal val="#ppt_x"/>
                                          </p:val>
                                        </p:tav>
                                      </p:tavLst>
                                    </p:anim>
                                    <p:anim calcmode="lin" valueType="num">
                                      <p:cBhvr>
                                        <p:cTn id="48" dur="495" decel="100000" fill="hold"/>
                                        <p:tgtEl>
                                          <p:spTgt spid="40"/>
                                        </p:tgtEl>
                                        <p:attrNameLst>
                                          <p:attrName>ppt_y</p:attrName>
                                        </p:attrNameLst>
                                      </p:cBhvr>
                                      <p:tavLst>
                                        <p:tav tm="0">
                                          <p:val>
                                            <p:strVal val="#ppt_y+1"/>
                                          </p:val>
                                        </p:tav>
                                        <p:tav tm="100000">
                                          <p:val>
                                            <p:strVal val="#ppt_y-.03"/>
                                          </p:val>
                                        </p:tav>
                                      </p:tavLst>
                                    </p:anim>
                                    <p:anim calcmode="lin" valueType="num">
                                      <p:cBhvr>
                                        <p:cTn id="49" dur="55" accel="100000" fill="hold">
                                          <p:stCondLst>
                                            <p:cond delay="495"/>
                                          </p:stCondLst>
                                        </p:cTn>
                                        <p:tgtEl>
                                          <p:spTgt spid="40"/>
                                        </p:tgtEl>
                                        <p:attrNameLst>
                                          <p:attrName>ppt_y</p:attrName>
                                        </p:attrNameLst>
                                      </p:cBhvr>
                                      <p:tavLst>
                                        <p:tav tm="0">
                                          <p:val>
                                            <p:strVal val="#ppt_y-.03"/>
                                          </p:val>
                                        </p:tav>
                                        <p:tav tm="100000">
                                          <p:val>
                                            <p:strVal val="#ppt_y"/>
                                          </p:val>
                                        </p:tav>
                                      </p:tavLst>
                                    </p:anim>
                                  </p:childTnLst>
                                </p:cTn>
                              </p:par>
                              <p:par>
                                <p:cTn id="50" presetID="10" presetClass="entr" presetSubtype="0" fill="hold" nodeType="withEffect">
                                  <p:stCondLst>
                                    <p:cond delay="1390"/>
                                  </p:stCondLst>
                                  <p:childTnLst>
                                    <p:set>
                                      <p:cBhvr>
                                        <p:cTn id="51" dur="1" fill="hold">
                                          <p:stCondLst>
                                            <p:cond delay="0"/>
                                          </p:stCondLst>
                                        </p:cTn>
                                        <p:tgtEl>
                                          <p:spTgt spid="46"/>
                                        </p:tgtEl>
                                        <p:attrNameLst>
                                          <p:attrName>style.visibility</p:attrName>
                                        </p:attrNameLst>
                                      </p:cBhvr>
                                      <p:to>
                                        <p:strVal val="visible"/>
                                      </p:to>
                                    </p:set>
                                    <p:animEffect transition="in" filter="fade">
                                      <p:cBhvr>
                                        <p:cTn id="52" dur="55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4284B"/>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57150"/>
          </a:xfrm>
          <a:prstGeom prst="rect">
            <a:avLst/>
          </a:prstGeom>
          <a:solidFill>
            <a:srgbClr val="59BEC9"/>
          </a:solidFill>
          <a:ln>
            <a:noFill/>
          </a:ln>
        </p:spPr>
        <p:txBody>
          <a:bodyPr rtlCol="0" anchor="ctr"/>
          <a:lstStyle/>
          <a:p>
            <a:pPr algn="ctr"/>
            <a:endParaRPr/>
          </a:p>
        </p:txBody>
      </p:sp>
      <p:grpSp>
        <p:nvGrpSpPr>
          <p:cNvPr id="3" name="anim|fade|0.05"/>
          <p:cNvGrpSpPr/>
          <p:nvPr/>
        </p:nvGrpSpPr>
        <p:grpSpPr>
          <a:xfrm>
            <a:off x="571500" y="266700"/>
            <a:ext cx="7105650" cy="190500"/>
            <a:chOff x="571500" y="266700"/>
            <a:chExt cx="7105650" cy="190500"/>
          </a:xfrm>
        </p:grpSpPr>
        <p:sp>
          <p:nvSpPr>
            <p:cNvPr id="4" name="Rectangle 3"/>
            <p:cNvSpPr/>
            <p:nvPr/>
          </p:nvSpPr>
          <p:spPr>
            <a:xfrm>
              <a:off x="571500" y="342900"/>
              <a:ext cx="342900" cy="47625"/>
            </a:xfrm>
            <a:prstGeom prst="rect">
              <a:avLst/>
            </a:prstGeom>
            <a:solidFill>
              <a:srgbClr val="FFB938"/>
            </a:solidFill>
            <a:ln>
              <a:noFill/>
            </a:ln>
          </p:spPr>
          <p:txBody>
            <a:bodyPr rtlCol="0" anchor="ctr"/>
            <a:lstStyle/>
            <a:p>
              <a:pPr algn="ctr"/>
              <a:endParaRPr/>
            </a:p>
          </p:txBody>
        </p:sp>
        <p:sp>
          <p:nvSpPr>
            <p:cNvPr id="5" name="TextBox 4"/>
            <p:cNvSpPr txBox="1"/>
            <p:nvPr/>
          </p:nvSpPr>
          <p:spPr>
            <a:xfrm>
              <a:off x="1009650" y="266700"/>
              <a:ext cx="6667500" cy="190500"/>
            </a:xfrm>
            <a:prstGeom prst="rect">
              <a:avLst/>
            </a:prstGeom>
            <a:noFill/>
          </p:spPr>
          <p:txBody>
            <a:bodyPr wrap="square" lIns="0" tIns="0" rIns="0" bIns="0" anchor="t">
              <a:spAutoFit/>
            </a:bodyPr>
            <a:lstStyle/>
            <a:p>
              <a:pPr algn="l"/>
              <a:r>
                <a:rPr sz="1100" b="1" spc="300">
                  <a:solidFill>
                    <a:srgbClr val="59BEC9"/>
                  </a:solidFill>
                  <a:latin typeface="Century Gothic"/>
                </a:rPr>
                <a:t>WHAT WE BUILT</a:t>
              </a:r>
            </a:p>
          </p:txBody>
        </p:sp>
      </p:grpSp>
      <p:sp>
        <p:nvSpPr>
          <p:cNvPr id="6" name="anim|wipeL|0.1"/>
          <p:cNvSpPr txBox="1"/>
          <p:nvPr/>
        </p:nvSpPr>
        <p:spPr>
          <a:xfrm>
            <a:off x="571500" y="533400"/>
            <a:ext cx="11049000" cy="533400"/>
          </a:xfrm>
          <a:prstGeom prst="rect">
            <a:avLst/>
          </a:prstGeom>
          <a:noFill/>
        </p:spPr>
        <p:txBody>
          <a:bodyPr wrap="square" lIns="0" tIns="0" rIns="0" bIns="0" anchor="t">
            <a:spAutoFit/>
          </a:bodyPr>
          <a:lstStyle/>
          <a:p>
            <a:pPr algn="l"/>
            <a:r>
              <a:rPr sz="3100" b="1">
                <a:solidFill>
                  <a:srgbClr val="FFFFFF"/>
                </a:solidFill>
                <a:latin typeface="Century Gothic"/>
              </a:rPr>
              <a:t>How backup.tf is driven by conf.yaml</a:t>
            </a:r>
          </a:p>
        </p:txBody>
      </p:sp>
      <p:sp>
        <p:nvSpPr>
          <p:cNvPr id="7" name="anim|fade|0.45"/>
          <p:cNvSpPr txBox="1"/>
          <p:nvPr/>
        </p:nvSpPr>
        <p:spPr>
          <a:xfrm>
            <a:off x="571500" y="1028700"/>
            <a:ext cx="11049000" cy="247650"/>
          </a:xfrm>
          <a:prstGeom prst="rect">
            <a:avLst/>
          </a:prstGeom>
          <a:noFill/>
        </p:spPr>
        <p:txBody>
          <a:bodyPr wrap="square" lIns="0" tIns="0" rIns="0" bIns="0" anchor="t">
            <a:spAutoFit/>
          </a:bodyPr>
          <a:lstStyle/>
          <a:p>
            <a:pPr algn="l"/>
            <a:r>
              <a:rPr sz="1500" b="0">
                <a:solidFill>
                  <a:srgbClr val="B0C0D9"/>
                </a:solidFill>
                <a:latin typeface="Segoe UI"/>
              </a:rPr>
              <a:t>No names are hard-coded: the file reads lists and builds one resource per entry</a:t>
            </a:r>
          </a:p>
        </p:txBody>
      </p:sp>
      <p:sp>
        <p:nvSpPr>
          <p:cNvPr id="8" name="TextBox 7"/>
          <p:cNvSpPr txBox="1"/>
          <p:nvPr/>
        </p:nvSpPr>
        <p:spPr>
          <a:xfrm>
            <a:off x="571500" y="6534150"/>
            <a:ext cx="6667500" cy="171450"/>
          </a:xfrm>
          <a:prstGeom prst="rect">
            <a:avLst/>
          </a:prstGeom>
          <a:noFill/>
        </p:spPr>
        <p:txBody>
          <a:bodyPr wrap="square" lIns="0" tIns="0" rIns="0" bIns="0" anchor="t">
            <a:spAutoFit/>
          </a:bodyPr>
          <a:lstStyle/>
          <a:p>
            <a:pPr algn="l"/>
            <a:r>
              <a:rPr sz="950" b="0">
                <a:solidFill>
                  <a:srgbClr val="B0C0D9"/>
                </a:solidFill>
                <a:latin typeface="Segoe UI"/>
              </a:rPr>
              <a:t>AKS Backup &amp; Restore  |  BFH AKS IHUB Platform Team</a:t>
            </a:r>
          </a:p>
        </p:txBody>
      </p:sp>
      <p:sp>
        <p:nvSpPr>
          <p:cNvPr id="9" name="TextBox 8"/>
          <p:cNvSpPr txBox="1"/>
          <p:nvPr/>
        </p:nvSpPr>
        <p:spPr>
          <a:xfrm>
            <a:off x="10668000" y="6534150"/>
            <a:ext cx="952500" cy="171450"/>
          </a:xfrm>
          <a:prstGeom prst="rect">
            <a:avLst/>
          </a:prstGeom>
          <a:noFill/>
        </p:spPr>
        <p:txBody>
          <a:bodyPr wrap="square" lIns="0" tIns="0" rIns="0" bIns="0" anchor="t">
            <a:spAutoFit/>
          </a:bodyPr>
          <a:lstStyle/>
          <a:p>
            <a:pPr algn="r"/>
            <a:r>
              <a:rPr sz="1000" b="1">
                <a:solidFill>
                  <a:srgbClr val="FFB938"/>
                </a:solidFill>
                <a:latin typeface="Century Gothic"/>
              </a:rPr>
              <a:t>9</a:t>
            </a:r>
          </a:p>
        </p:txBody>
      </p:sp>
      <p:grpSp>
        <p:nvGrpSpPr>
          <p:cNvPr id="10" name="anim|rise|0.55"/>
          <p:cNvGrpSpPr/>
          <p:nvPr/>
        </p:nvGrpSpPr>
        <p:grpSpPr>
          <a:xfrm>
            <a:off x="571500" y="1485900"/>
            <a:ext cx="3238500" cy="1714500"/>
            <a:chOff x="571500" y="1485900"/>
            <a:chExt cx="3238500" cy="1714500"/>
          </a:xfrm>
        </p:grpSpPr>
        <p:sp>
          <p:nvSpPr>
            <p:cNvPr id="11" name="Rounded Rectangle 10"/>
            <p:cNvSpPr/>
            <p:nvPr/>
          </p:nvSpPr>
          <p:spPr>
            <a:xfrm>
              <a:off x="571500" y="1485900"/>
              <a:ext cx="3238500" cy="1714500"/>
            </a:xfrm>
            <a:prstGeom prst="roundRect">
              <a:avLst>
                <a:gd name="adj" fmla="val 10000"/>
              </a:avLst>
            </a:prstGeom>
            <a:solidFill>
              <a:srgbClr val="1E3A68"/>
            </a:solidFill>
            <a:ln w="25400">
              <a:solidFill>
                <a:srgbClr val="59BEC9"/>
              </a:solidFill>
            </a:ln>
          </p:spPr>
          <p:txBody>
            <a:bodyPr rtlCol="0" anchor="ctr"/>
            <a:lstStyle/>
            <a:p>
              <a:pPr algn="ctr"/>
              <a:endParaRPr/>
            </a:p>
          </p:txBody>
        </p:sp>
        <p:pic>
          <p:nvPicPr>
            <p:cNvPr id="12" name="Picture 11" descr="doc_teal.png"/>
            <p:cNvPicPr>
              <a:picLocks noChangeAspect="1"/>
            </p:cNvPicPr>
            <p:nvPr/>
          </p:nvPicPr>
          <p:blipFill>
            <a:blip r:embed="rId2"/>
            <a:stretch>
              <a:fillRect/>
            </a:stretch>
          </p:blipFill>
          <p:spPr>
            <a:xfrm>
              <a:off x="800100" y="1657350"/>
              <a:ext cx="400050" cy="400050"/>
            </a:xfrm>
            <a:prstGeom prst="rect">
              <a:avLst/>
            </a:prstGeom>
          </p:spPr>
        </p:pic>
        <p:sp>
          <p:nvSpPr>
            <p:cNvPr id="13" name="TextBox 12"/>
            <p:cNvSpPr txBox="1"/>
            <p:nvPr/>
          </p:nvSpPr>
          <p:spPr>
            <a:xfrm>
              <a:off x="800100" y="2152650"/>
              <a:ext cx="2781300" cy="266700"/>
            </a:xfrm>
            <a:prstGeom prst="rect">
              <a:avLst/>
            </a:prstGeom>
            <a:noFill/>
          </p:spPr>
          <p:txBody>
            <a:bodyPr wrap="square" lIns="0" tIns="0" rIns="0" bIns="0" anchor="t">
              <a:spAutoFit/>
            </a:bodyPr>
            <a:lstStyle/>
            <a:p>
              <a:pPr algn="l"/>
              <a:r>
                <a:rPr sz="1900" b="1">
                  <a:solidFill>
                    <a:srgbClr val="FFFFFF"/>
                  </a:solidFill>
                  <a:latin typeface="Century Gothic"/>
                </a:rPr>
                <a:t>conf.yaml</a:t>
              </a:r>
            </a:p>
          </p:txBody>
        </p:sp>
        <p:sp>
          <p:nvSpPr>
            <p:cNvPr id="14" name="TextBox 13"/>
            <p:cNvSpPr txBox="1"/>
            <p:nvPr/>
          </p:nvSpPr>
          <p:spPr>
            <a:xfrm>
              <a:off x="800100" y="2495550"/>
              <a:ext cx="2781300" cy="666750"/>
            </a:xfrm>
            <a:prstGeom prst="rect">
              <a:avLst/>
            </a:prstGeom>
            <a:noFill/>
          </p:spPr>
          <p:txBody>
            <a:bodyPr wrap="square" lIns="0" tIns="0" rIns="0" bIns="0" anchor="t">
              <a:spAutoFit/>
            </a:bodyPr>
            <a:lstStyle/>
            <a:p>
              <a:pPr algn="l"/>
              <a:r>
                <a:rPr sz="1350" b="0">
                  <a:solidFill>
                    <a:srgbClr val="B0C0D9"/>
                  </a:solidFill>
                  <a:latin typeface="Segoe UI"/>
                </a:rPr>
                <a:t>Your settings: lists of storage accounts, vaults, clusters and policies</a:t>
              </a:r>
            </a:p>
          </p:txBody>
        </p:sp>
      </p:grpSp>
      <p:grpSp>
        <p:nvGrpSpPr>
          <p:cNvPr id="15" name="anim|wipeL|0.75"/>
          <p:cNvGrpSpPr/>
          <p:nvPr/>
        </p:nvGrpSpPr>
        <p:grpSpPr>
          <a:xfrm>
            <a:off x="3924300" y="2171700"/>
            <a:ext cx="438150" cy="342900"/>
            <a:chOff x="3924300" y="2171700"/>
            <a:chExt cx="438150" cy="342900"/>
          </a:xfrm>
        </p:grpSpPr>
        <p:sp>
          <p:nvSpPr>
            <p:cNvPr id="16" name="Right Arrow 15"/>
            <p:cNvSpPr/>
            <p:nvPr/>
          </p:nvSpPr>
          <p:spPr>
            <a:xfrm>
              <a:off x="3924300" y="2171700"/>
              <a:ext cx="438150" cy="342900"/>
            </a:xfrm>
            <a:prstGeom prst="rightArrow">
              <a:avLst/>
            </a:prstGeom>
            <a:solidFill>
              <a:srgbClr val="FFB938"/>
            </a:solidFill>
            <a:ln>
              <a:noFill/>
            </a:ln>
          </p:spPr>
          <p:txBody>
            <a:bodyPr rtlCol="0" anchor="ctr"/>
            <a:lstStyle/>
            <a:p>
              <a:pPr algn="ctr"/>
              <a:endParaRPr/>
            </a:p>
          </p:txBody>
        </p:sp>
      </p:grpSp>
      <p:grpSp>
        <p:nvGrpSpPr>
          <p:cNvPr id="17" name="anim|rise|0.87"/>
          <p:cNvGrpSpPr/>
          <p:nvPr/>
        </p:nvGrpSpPr>
        <p:grpSpPr>
          <a:xfrm>
            <a:off x="4476750" y="1485900"/>
            <a:ext cx="3238500" cy="1714500"/>
            <a:chOff x="4476750" y="1485900"/>
            <a:chExt cx="3238500" cy="1714500"/>
          </a:xfrm>
        </p:grpSpPr>
        <p:sp>
          <p:nvSpPr>
            <p:cNvPr id="18" name="Rounded Rectangle 17"/>
            <p:cNvSpPr/>
            <p:nvPr/>
          </p:nvSpPr>
          <p:spPr>
            <a:xfrm>
              <a:off x="4476750" y="1485900"/>
              <a:ext cx="3238500" cy="1714500"/>
            </a:xfrm>
            <a:prstGeom prst="roundRect">
              <a:avLst>
                <a:gd name="adj" fmla="val 10000"/>
              </a:avLst>
            </a:prstGeom>
            <a:solidFill>
              <a:srgbClr val="1E3A68"/>
            </a:solidFill>
            <a:ln w="25400">
              <a:solidFill>
                <a:srgbClr val="59BEC9"/>
              </a:solidFill>
            </a:ln>
          </p:spPr>
          <p:txBody>
            <a:bodyPr rtlCol="0" anchor="ctr"/>
            <a:lstStyle/>
            <a:p>
              <a:pPr algn="ctr"/>
              <a:endParaRPr/>
            </a:p>
          </p:txBody>
        </p:sp>
        <p:pic>
          <p:nvPicPr>
            <p:cNvPr id="19" name="Picture 18" descr="code_teal.png"/>
            <p:cNvPicPr>
              <a:picLocks noChangeAspect="1"/>
            </p:cNvPicPr>
            <p:nvPr/>
          </p:nvPicPr>
          <p:blipFill>
            <a:blip r:embed="rId3"/>
            <a:stretch>
              <a:fillRect/>
            </a:stretch>
          </p:blipFill>
          <p:spPr>
            <a:xfrm>
              <a:off x="4705350" y="1657350"/>
              <a:ext cx="400050" cy="400050"/>
            </a:xfrm>
            <a:prstGeom prst="rect">
              <a:avLst/>
            </a:prstGeom>
          </p:spPr>
        </p:pic>
        <p:sp>
          <p:nvSpPr>
            <p:cNvPr id="20" name="TextBox 19"/>
            <p:cNvSpPr txBox="1"/>
            <p:nvPr/>
          </p:nvSpPr>
          <p:spPr>
            <a:xfrm>
              <a:off x="4705350" y="2152650"/>
              <a:ext cx="2781300" cy="266700"/>
            </a:xfrm>
            <a:prstGeom prst="rect">
              <a:avLst/>
            </a:prstGeom>
            <a:noFill/>
          </p:spPr>
          <p:txBody>
            <a:bodyPr wrap="square" lIns="0" tIns="0" rIns="0" bIns="0" anchor="t">
              <a:spAutoFit/>
            </a:bodyPr>
            <a:lstStyle/>
            <a:p>
              <a:pPr algn="l"/>
              <a:r>
                <a:rPr sz="1900" b="1">
                  <a:solidFill>
                    <a:srgbClr val="FFFFFF"/>
                  </a:solidFill>
                  <a:latin typeface="Century Gothic"/>
                </a:rPr>
                <a:t>backup.tf</a:t>
              </a:r>
            </a:p>
          </p:txBody>
        </p:sp>
        <p:sp>
          <p:nvSpPr>
            <p:cNvPr id="21" name="TextBox 20"/>
            <p:cNvSpPr txBox="1"/>
            <p:nvPr/>
          </p:nvSpPr>
          <p:spPr>
            <a:xfrm>
              <a:off x="4705350" y="2495550"/>
              <a:ext cx="2781300" cy="666750"/>
            </a:xfrm>
            <a:prstGeom prst="rect">
              <a:avLst/>
            </a:prstGeom>
            <a:noFill/>
          </p:spPr>
          <p:txBody>
            <a:bodyPr wrap="square" lIns="0" tIns="0" rIns="0" bIns="0" anchor="t">
              <a:spAutoFit/>
            </a:bodyPr>
            <a:lstStyle/>
            <a:p>
              <a:pPr algn="l"/>
              <a:r>
                <a:rPr sz="1350" b="0">
                  <a:solidFill>
                    <a:srgbClr val="B0C0D9"/>
                  </a:solidFill>
                  <a:latin typeface="Segoe UI"/>
                </a:rPr>
                <a:t>Reads each list and creates one resource for every entry</a:t>
              </a:r>
            </a:p>
          </p:txBody>
        </p:sp>
      </p:grpSp>
      <p:grpSp>
        <p:nvGrpSpPr>
          <p:cNvPr id="22" name="anim|wipeL|1.07"/>
          <p:cNvGrpSpPr/>
          <p:nvPr/>
        </p:nvGrpSpPr>
        <p:grpSpPr>
          <a:xfrm>
            <a:off x="7829550" y="2171700"/>
            <a:ext cx="438150" cy="342900"/>
            <a:chOff x="7829550" y="2171700"/>
            <a:chExt cx="438150" cy="342900"/>
          </a:xfrm>
        </p:grpSpPr>
        <p:sp>
          <p:nvSpPr>
            <p:cNvPr id="23" name="Right Arrow 22"/>
            <p:cNvSpPr/>
            <p:nvPr/>
          </p:nvSpPr>
          <p:spPr>
            <a:xfrm>
              <a:off x="7829550" y="2171700"/>
              <a:ext cx="438150" cy="342900"/>
            </a:xfrm>
            <a:prstGeom prst="rightArrow">
              <a:avLst/>
            </a:prstGeom>
            <a:solidFill>
              <a:srgbClr val="FFB938"/>
            </a:solidFill>
            <a:ln>
              <a:noFill/>
            </a:ln>
          </p:spPr>
          <p:txBody>
            <a:bodyPr rtlCol="0" anchor="ctr"/>
            <a:lstStyle/>
            <a:p>
              <a:pPr algn="ctr"/>
              <a:endParaRPr/>
            </a:p>
          </p:txBody>
        </p:sp>
      </p:grpSp>
      <p:grpSp>
        <p:nvGrpSpPr>
          <p:cNvPr id="24" name="anim|rise|1.19"/>
          <p:cNvGrpSpPr/>
          <p:nvPr/>
        </p:nvGrpSpPr>
        <p:grpSpPr>
          <a:xfrm>
            <a:off x="8382000" y="1485900"/>
            <a:ext cx="3238500" cy="1714500"/>
            <a:chOff x="8382000" y="1485900"/>
            <a:chExt cx="3238500" cy="1714500"/>
          </a:xfrm>
        </p:grpSpPr>
        <p:sp>
          <p:nvSpPr>
            <p:cNvPr id="25" name="Rounded Rectangle 24"/>
            <p:cNvSpPr/>
            <p:nvPr/>
          </p:nvSpPr>
          <p:spPr>
            <a:xfrm>
              <a:off x="8382000" y="1485900"/>
              <a:ext cx="3238500" cy="1714500"/>
            </a:xfrm>
            <a:prstGeom prst="roundRect">
              <a:avLst>
                <a:gd name="adj" fmla="val 10000"/>
              </a:avLst>
            </a:prstGeom>
            <a:solidFill>
              <a:srgbClr val="1E3A68"/>
            </a:solidFill>
            <a:ln w="25400">
              <a:solidFill>
                <a:srgbClr val="59BEC9"/>
              </a:solidFill>
            </a:ln>
          </p:spPr>
          <p:txBody>
            <a:bodyPr rtlCol="0" anchor="ctr"/>
            <a:lstStyle/>
            <a:p>
              <a:pPr algn="ctr"/>
              <a:endParaRPr/>
            </a:p>
          </p:txBody>
        </p:sp>
        <p:pic>
          <p:nvPicPr>
            <p:cNvPr id="26" name="Picture 25" descr="cloud_teal.png"/>
            <p:cNvPicPr>
              <a:picLocks noChangeAspect="1"/>
            </p:cNvPicPr>
            <p:nvPr/>
          </p:nvPicPr>
          <p:blipFill>
            <a:blip r:embed="rId4"/>
            <a:stretch>
              <a:fillRect/>
            </a:stretch>
          </p:blipFill>
          <p:spPr>
            <a:xfrm>
              <a:off x="8610600" y="1657350"/>
              <a:ext cx="400050" cy="400050"/>
            </a:xfrm>
            <a:prstGeom prst="rect">
              <a:avLst/>
            </a:prstGeom>
          </p:spPr>
        </p:pic>
        <p:sp>
          <p:nvSpPr>
            <p:cNvPr id="27" name="TextBox 26"/>
            <p:cNvSpPr txBox="1"/>
            <p:nvPr/>
          </p:nvSpPr>
          <p:spPr>
            <a:xfrm>
              <a:off x="8610600" y="2152650"/>
              <a:ext cx="2781300" cy="266700"/>
            </a:xfrm>
            <a:prstGeom prst="rect">
              <a:avLst/>
            </a:prstGeom>
            <a:noFill/>
          </p:spPr>
          <p:txBody>
            <a:bodyPr wrap="square" lIns="0" tIns="0" rIns="0" bIns="0" anchor="t">
              <a:spAutoFit/>
            </a:bodyPr>
            <a:lstStyle/>
            <a:p>
              <a:pPr algn="l"/>
              <a:r>
                <a:rPr sz="1900" b="1">
                  <a:solidFill>
                    <a:srgbClr val="FFFFFF"/>
                  </a:solidFill>
                  <a:latin typeface="Century Gothic"/>
                </a:rPr>
                <a:t>Azure resources</a:t>
              </a:r>
            </a:p>
          </p:txBody>
        </p:sp>
        <p:sp>
          <p:nvSpPr>
            <p:cNvPr id="28" name="TextBox 27"/>
            <p:cNvSpPr txBox="1"/>
            <p:nvPr/>
          </p:nvSpPr>
          <p:spPr>
            <a:xfrm>
              <a:off x="8610600" y="2495550"/>
              <a:ext cx="2781300" cy="666750"/>
            </a:xfrm>
            <a:prstGeom prst="rect">
              <a:avLst/>
            </a:prstGeom>
            <a:noFill/>
          </p:spPr>
          <p:txBody>
            <a:bodyPr wrap="square" lIns="0" tIns="0" rIns="0" bIns="0" anchor="t">
              <a:spAutoFit/>
            </a:bodyPr>
            <a:lstStyle/>
            <a:p>
              <a:pPr algn="l"/>
              <a:r>
                <a:rPr sz="1350" b="0">
                  <a:solidFill>
                    <a:srgbClr val="B0C0D9"/>
                  </a:solidFill>
                  <a:latin typeface="Segoe UI"/>
                </a:rPr>
                <a:t>Storage, vault, extension, policy, instance and roles</a:t>
              </a:r>
            </a:p>
          </p:txBody>
        </p:sp>
      </p:grpSp>
      <p:grpSp>
        <p:nvGrpSpPr>
          <p:cNvPr id="29" name="anim|rise|1.39"/>
          <p:cNvGrpSpPr/>
          <p:nvPr/>
        </p:nvGrpSpPr>
        <p:grpSpPr>
          <a:xfrm>
            <a:off x="571500" y="3390900"/>
            <a:ext cx="5448300" cy="2667000"/>
            <a:chOff x="571500" y="3390900"/>
            <a:chExt cx="5448300" cy="2667000"/>
          </a:xfrm>
        </p:grpSpPr>
        <p:sp>
          <p:nvSpPr>
            <p:cNvPr id="30" name="Rounded Rectangle 29"/>
            <p:cNvSpPr/>
            <p:nvPr/>
          </p:nvSpPr>
          <p:spPr>
            <a:xfrm>
              <a:off x="571500" y="3390900"/>
              <a:ext cx="5448300" cy="2667000"/>
            </a:xfrm>
            <a:prstGeom prst="roundRect">
              <a:avLst>
                <a:gd name="adj" fmla="val 6428"/>
              </a:avLst>
            </a:prstGeom>
            <a:solidFill>
              <a:srgbClr val="1E3A68"/>
            </a:solidFill>
            <a:ln>
              <a:noFill/>
            </a:ln>
          </p:spPr>
          <p:txBody>
            <a:bodyPr rtlCol="0" anchor="ctr"/>
            <a:lstStyle/>
            <a:p>
              <a:pPr algn="ctr"/>
              <a:endParaRPr/>
            </a:p>
          </p:txBody>
        </p:sp>
        <p:sp>
          <p:nvSpPr>
            <p:cNvPr id="31" name="Oval 30"/>
            <p:cNvSpPr/>
            <p:nvPr/>
          </p:nvSpPr>
          <p:spPr>
            <a:xfrm>
              <a:off x="819150" y="3638550"/>
              <a:ext cx="609600" cy="609600"/>
            </a:xfrm>
            <a:prstGeom prst="ellipse">
              <a:avLst/>
            </a:prstGeom>
            <a:solidFill>
              <a:srgbClr val="14284B"/>
            </a:solidFill>
            <a:ln>
              <a:noFill/>
            </a:ln>
          </p:spPr>
          <p:txBody>
            <a:bodyPr rtlCol="0" anchor="ctr"/>
            <a:lstStyle/>
            <a:p>
              <a:pPr algn="ctr"/>
              <a:endParaRPr/>
            </a:p>
          </p:txBody>
        </p:sp>
        <p:pic>
          <p:nvPicPr>
            <p:cNvPr id="32" name="Picture 31" descr="code_teal.png"/>
            <p:cNvPicPr>
              <a:picLocks noChangeAspect="1"/>
            </p:cNvPicPr>
            <p:nvPr/>
          </p:nvPicPr>
          <p:blipFill>
            <a:blip r:embed="rId3"/>
            <a:stretch>
              <a:fillRect/>
            </a:stretch>
          </p:blipFill>
          <p:spPr>
            <a:xfrm>
              <a:off x="959358" y="3778758"/>
              <a:ext cx="329184" cy="329184"/>
            </a:xfrm>
            <a:prstGeom prst="rect">
              <a:avLst/>
            </a:prstGeom>
          </p:spPr>
        </p:pic>
        <p:sp>
          <p:nvSpPr>
            <p:cNvPr id="33" name="TextBox 32"/>
            <p:cNvSpPr txBox="1"/>
            <p:nvPr/>
          </p:nvSpPr>
          <p:spPr>
            <a:xfrm>
              <a:off x="1638300" y="3676650"/>
              <a:ext cx="4114800" cy="266700"/>
            </a:xfrm>
            <a:prstGeom prst="rect">
              <a:avLst/>
            </a:prstGeom>
            <a:noFill/>
          </p:spPr>
          <p:txBody>
            <a:bodyPr wrap="square" lIns="0" tIns="0" rIns="0" bIns="0" anchor="t">
              <a:spAutoFit/>
            </a:bodyPr>
            <a:lstStyle/>
            <a:p>
              <a:pPr algn="l"/>
              <a:r>
                <a:rPr sz="1900" b="1">
                  <a:solidFill>
                    <a:srgbClr val="FFFFFF"/>
                  </a:solidFill>
                  <a:latin typeface="Century Gothic"/>
                </a:rPr>
                <a:t>What is a local?</a:t>
              </a:r>
            </a:p>
          </p:txBody>
        </p:sp>
        <p:sp>
          <p:nvSpPr>
            <p:cNvPr id="34" name="TextBox 33"/>
            <p:cNvSpPr txBox="1"/>
            <p:nvPr/>
          </p:nvSpPr>
          <p:spPr>
            <a:xfrm>
              <a:off x="1638300" y="4038600"/>
              <a:ext cx="4114800" cy="1905000"/>
            </a:xfrm>
            <a:prstGeom prst="rect">
              <a:avLst/>
            </a:prstGeom>
            <a:noFill/>
          </p:spPr>
          <p:txBody>
            <a:bodyPr wrap="square" lIns="0" tIns="0" rIns="0" bIns="0" anchor="t">
              <a:spAutoFit/>
            </a:bodyPr>
            <a:lstStyle/>
            <a:p>
              <a:pPr algn="l"/>
              <a:r>
                <a:rPr sz="1600" b="0">
                  <a:solidFill>
                    <a:srgbClr val="B0C0D9"/>
                  </a:solidFill>
                  <a:latin typeface="Segoe UI"/>
                </a:rPr>
                <a:t>A local is a named helper value that Terraform works out once and then reuses. For example, backup.tf turns the storage account list from conf.yaml into a lookup by name. Locals are internal helpers. They are not settings you pass in.</a:t>
              </a:r>
            </a:p>
          </p:txBody>
        </p:sp>
      </p:grpSp>
      <p:grpSp>
        <p:nvGrpSpPr>
          <p:cNvPr id="35" name="anim|rise|1.59"/>
          <p:cNvGrpSpPr/>
          <p:nvPr/>
        </p:nvGrpSpPr>
        <p:grpSpPr>
          <a:xfrm>
            <a:off x="6172200" y="3390900"/>
            <a:ext cx="5448300" cy="2667000"/>
            <a:chOff x="6172200" y="3390900"/>
            <a:chExt cx="5448300" cy="2667000"/>
          </a:xfrm>
        </p:grpSpPr>
        <p:sp>
          <p:nvSpPr>
            <p:cNvPr id="36" name="Rounded Rectangle 35"/>
            <p:cNvSpPr/>
            <p:nvPr/>
          </p:nvSpPr>
          <p:spPr>
            <a:xfrm>
              <a:off x="6172200" y="3390900"/>
              <a:ext cx="5448300" cy="2667000"/>
            </a:xfrm>
            <a:prstGeom prst="roundRect">
              <a:avLst>
                <a:gd name="adj" fmla="val 6428"/>
              </a:avLst>
            </a:prstGeom>
            <a:solidFill>
              <a:srgbClr val="1E3A68"/>
            </a:solidFill>
            <a:ln>
              <a:noFill/>
            </a:ln>
          </p:spPr>
          <p:txBody>
            <a:bodyPr rtlCol="0" anchor="ctr"/>
            <a:lstStyle/>
            <a:p>
              <a:pPr algn="ctr"/>
              <a:endParaRPr/>
            </a:p>
          </p:txBody>
        </p:sp>
        <p:sp>
          <p:nvSpPr>
            <p:cNvPr id="37" name="Oval 36"/>
            <p:cNvSpPr/>
            <p:nvPr/>
          </p:nvSpPr>
          <p:spPr>
            <a:xfrm>
              <a:off x="6419850" y="3638550"/>
              <a:ext cx="609600" cy="609600"/>
            </a:xfrm>
            <a:prstGeom prst="ellipse">
              <a:avLst/>
            </a:prstGeom>
            <a:solidFill>
              <a:srgbClr val="14284B"/>
            </a:solidFill>
            <a:ln>
              <a:noFill/>
            </a:ln>
          </p:spPr>
          <p:txBody>
            <a:bodyPr rtlCol="0" anchor="ctr"/>
            <a:lstStyle/>
            <a:p>
              <a:pPr algn="ctr"/>
              <a:endParaRPr/>
            </a:p>
          </p:txBody>
        </p:sp>
        <p:pic>
          <p:nvPicPr>
            <p:cNvPr id="38" name="Picture 37" descr="bolt_amber.png"/>
            <p:cNvPicPr>
              <a:picLocks noChangeAspect="1"/>
            </p:cNvPicPr>
            <p:nvPr/>
          </p:nvPicPr>
          <p:blipFill>
            <a:blip r:embed="rId5"/>
            <a:stretch>
              <a:fillRect/>
            </a:stretch>
          </p:blipFill>
          <p:spPr>
            <a:xfrm>
              <a:off x="6560058" y="3778758"/>
              <a:ext cx="329184" cy="329184"/>
            </a:xfrm>
            <a:prstGeom prst="rect">
              <a:avLst/>
            </a:prstGeom>
          </p:spPr>
        </p:pic>
        <p:sp>
          <p:nvSpPr>
            <p:cNvPr id="39" name="TextBox 38"/>
            <p:cNvSpPr txBox="1"/>
            <p:nvPr/>
          </p:nvSpPr>
          <p:spPr>
            <a:xfrm>
              <a:off x="7239000" y="3676650"/>
              <a:ext cx="4114800" cy="266700"/>
            </a:xfrm>
            <a:prstGeom prst="rect">
              <a:avLst/>
            </a:prstGeom>
            <a:noFill/>
          </p:spPr>
          <p:txBody>
            <a:bodyPr wrap="square" lIns="0" tIns="0" rIns="0" bIns="0" anchor="t">
              <a:spAutoFit/>
            </a:bodyPr>
            <a:lstStyle/>
            <a:p>
              <a:pPr algn="l"/>
              <a:r>
                <a:rPr sz="1900" b="1">
                  <a:solidFill>
                    <a:srgbClr val="FFFFFF"/>
                  </a:solidFill>
                  <a:latin typeface="Century Gothic"/>
                </a:rPr>
                <a:t>Why it matters</a:t>
              </a:r>
            </a:p>
          </p:txBody>
        </p:sp>
        <p:sp>
          <p:nvSpPr>
            <p:cNvPr id="40" name="TextBox 39"/>
            <p:cNvSpPr txBox="1"/>
            <p:nvPr/>
          </p:nvSpPr>
          <p:spPr>
            <a:xfrm>
              <a:off x="7239000" y="4038600"/>
              <a:ext cx="4114800" cy="1905000"/>
            </a:xfrm>
            <a:prstGeom prst="rect">
              <a:avLst/>
            </a:prstGeom>
            <a:noFill/>
          </p:spPr>
          <p:txBody>
            <a:bodyPr wrap="square" lIns="0" tIns="0" rIns="0" bIns="0" anchor="t">
              <a:spAutoFit/>
            </a:bodyPr>
            <a:lstStyle/>
            <a:p>
              <a:pPr algn="l"/>
              <a:r>
                <a:rPr sz="1600" b="0">
                  <a:solidFill>
                    <a:srgbClr val="B0C0D9"/>
                  </a:solidFill>
                  <a:latin typeface="Segoe UI"/>
                </a:rPr>
                <a:t>Add an entry to a list in conf.yaml and the next pipeline run creates the matching resources. Change the environment and the policy follows: retention is 7 days everywhere except prd, which keeps 90 days.</a:t>
              </a:r>
            </a:p>
          </p:txBody>
        </p:sp>
      </p:grpSp>
    </p:spTree>
  </p:cSld>
  <p:clrMapOvr>
    <a:masterClrMapping/>
  </p:clrMapOvr>
  <mc:AlternateContent xmlns:mc="http://schemas.openxmlformats.org/markup-compatibility/2006">
    <mc:Choice xmlns:p14="http://schemas.microsoft.com/office/powerpoint/2010/main" Requires="p14">
      <p:transition spd="slow" p14:dur="800">
        <p:fad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5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50"/>
                                        <p:tgtEl>
                                          <p:spTgt spid="3"/>
                                        </p:tgtEl>
                                      </p:cBhvr>
                                    </p:animEffect>
                                  </p:childTnLst>
                                </p:cTn>
                              </p:par>
                              <p:par>
                                <p:cTn id="8" presetID="22" presetClass="entr" presetSubtype="8" fill="hold" grpId="0" nodeType="withEffect">
                                  <p:stCondLst>
                                    <p:cond delay="100"/>
                                  </p:stCondLst>
                                  <p:childTnLst>
                                    <p:set>
                                      <p:cBhvr>
                                        <p:cTn id="9" dur="1" fill="hold">
                                          <p:stCondLst>
                                            <p:cond delay="0"/>
                                          </p:stCondLst>
                                        </p:cTn>
                                        <p:tgtEl>
                                          <p:spTgt spid="6"/>
                                        </p:tgtEl>
                                        <p:attrNameLst>
                                          <p:attrName>style.visibility</p:attrName>
                                        </p:attrNameLst>
                                      </p:cBhvr>
                                      <p:to>
                                        <p:strVal val="visible"/>
                                      </p:to>
                                    </p:set>
                                    <p:animEffect transition="in" filter="wipe(left)">
                                      <p:cBhvr>
                                        <p:cTn id="10" dur="700"/>
                                        <p:tgtEl>
                                          <p:spTgt spid="6"/>
                                        </p:tgtEl>
                                      </p:cBhvr>
                                    </p:animEffect>
                                  </p:childTnLst>
                                </p:cTn>
                              </p:par>
                              <p:par>
                                <p:cTn id="11" presetID="10" presetClass="entr" presetSubtype="0" fill="hold" grpId="0" nodeType="withEffect">
                                  <p:stCondLst>
                                    <p:cond delay="45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50"/>
                                        <p:tgtEl>
                                          <p:spTgt spid="7"/>
                                        </p:tgtEl>
                                      </p:cBhvr>
                                    </p:animEffect>
                                  </p:childTnLst>
                                </p:cTn>
                              </p:par>
                              <p:par>
                                <p:cTn id="14" presetID="37" presetClass="entr" presetSubtype="0" fill="hold" nodeType="withEffect">
                                  <p:stCondLst>
                                    <p:cond delay="55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50"/>
                                        <p:tgtEl>
                                          <p:spTgt spid="10"/>
                                        </p:tgtEl>
                                      </p:cBhvr>
                                    </p:animEffect>
                                    <p:anim calcmode="lin" valueType="num">
                                      <p:cBhvr>
                                        <p:cTn id="17" dur="550" fill="hold"/>
                                        <p:tgtEl>
                                          <p:spTgt spid="10"/>
                                        </p:tgtEl>
                                        <p:attrNameLst>
                                          <p:attrName>ppt_x</p:attrName>
                                        </p:attrNameLst>
                                      </p:cBhvr>
                                      <p:tavLst>
                                        <p:tav tm="0">
                                          <p:val>
                                            <p:strVal val="#ppt_x"/>
                                          </p:val>
                                        </p:tav>
                                        <p:tav tm="100000">
                                          <p:val>
                                            <p:strVal val="#ppt_x"/>
                                          </p:val>
                                        </p:tav>
                                      </p:tavLst>
                                    </p:anim>
                                    <p:anim calcmode="lin" valueType="num">
                                      <p:cBhvr>
                                        <p:cTn id="18" dur="495" decel="100000" fill="hold"/>
                                        <p:tgtEl>
                                          <p:spTgt spid="10"/>
                                        </p:tgtEl>
                                        <p:attrNameLst>
                                          <p:attrName>ppt_y</p:attrName>
                                        </p:attrNameLst>
                                      </p:cBhvr>
                                      <p:tavLst>
                                        <p:tav tm="0">
                                          <p:val>
                                            <p:strVal val="#ppt_y+1"/>
                                          </p:val>
                                        </p:tav>
                                        <p:tav tm="100000">
                                          <p:val>
                                            <p:strVal val="#ppt_y-.03"/>
                                          </p:val>
                                        </p:tav>
                                      </p:tavLst>
                                    </p:anim>
                                    <p:anim calcmode="lin" valueType="num">
                                      <p:cBhvr>
                                        <p:cTn id="19" dur="55" accel="100000" fill="hold">
                                          <p:stCondLst>
                                            <p:cond delay="495"/>
                                          </p:stCondLst>
                                        </p:cTn>
                                        <p:tgtEl>
                                          <p:spTgt spid="10"/>
                                        </p:tgtEl>
                                        <p:attrNameLst>
                                          <p:attrName>ppt_y</p:attrName>
                                        </p:attrNameLst>
                                      </p:cBhvr>
                                      <p:tavLst>
                                        <p:tav tm="0">
                                          <p:val>
                                            <p:strVal val="#ppt_y-.03"/>
                                          </p:val>
                                        </p:tav>
                                        <p:tav tm="100000">
                                          <p:val>
                                            <p:strVal val="#ppt_y"/>
                                          </p:val>
                                        </p:tav>
                                      </p:tavLst>
                                    </p:anim>
                                  </p:childTnLst>
                                </p:cTn>
                              </p:par>
                              <p:par>
                                <p:cTn id="20" presetID="22" presetClass="entr" presetSubtype="8" fill="hold" nodeType="withEffect">
                                  <p:stCondLst>
                                    <p:cond delay="750"/>
                                  </p:stCondLst>
                                  <p:childTnLst>
                                    <p:set>
                                      <p:cBhvr>
                                        <p:cTn id="21" dur="1" fill="hold">
                                          <p:stCondLst>
                                            <p:cond delay="0"/>
                                          </p:stCondLst>
                                        </p:cTn>
                                        <p:tgtEl>
                                          <p:spTgt spid="15"/>
                                        </p:tgtEl>
                                        <p:attrNameLst>
                                          <p:attrName>style.visibility</p:attrName>
                                        </p:attrNameLst>
                                      </p:cBhvr>
                                      <p:to>
                                        <p:strVal val="visible"/>
                                      </p:to>
                                    </p:set>
                                    <p:animEffect transition="in" filter="wipe(left)">
                                      <p:cBhvr>
                                        <p:cTn id="22" dur="550"/>
                                        <p:tgtEl>
                                          <p:spTgt spid="15"/>
                                        </p:tgtEl>
                                      </p:cBhvr>
                                    </p:animEffect>
                                  </p:childTnLst>
                                </p:cTn>
                              </p:par>
                              <p:par>
                                <p:cTn id="23" presetID="37" presetClass="entr" presetSubtype="0" fill="hold" nodeType="withEffect">
                                  <p:stCondLst>
                                    <p:cond delay="870"/>
                                  </p:stCondLst>
                                  <p:childTnLst>
                                    <p:set>
                                      <p:cBhvr>
                                        <p:cTn id="24" dur="1" fill="hold">
                                          <p:stCondLst>
                                            <p:cond delay="0"/>
                                          </p:stCondLst>
                                        </p:cTn>
                                        <p:tgtEl>
                                          <p:spTgt spid="17"/>
                                        </p:tgtEl>
                                        <p:attrNameLst>
                                          <p:attrName>style.visibility</p:attrName>
                                        </p:attrNameLst>
                                      </p:cBhvr>
                                      <p:to>
                                        <p:strVal val="visible"/>
                                      </p:to>
                                    </p:set>
                                    <p:animEffect transition="in" filter="fade">
                                      <p:cBhvr>
                                        <p:cTn id="25" dur="550"/>
                                        <p:tgtEl>
                                          <p:spTgt spid="17"/>
                                        </p:tgtEl>
                                      </p:cBhvr>
                                    </p:animEffect>
                                    <p:anim calcmode="lin" valueType="num">
                                      <p:cBhvr>
                                        <p:cTn id="26" dur="550" fill="hold"/>
                                        <p:tgtEl>
                                          <p:spTgt spid="17"/>
                                        </p:tgtEl>
                                        <p:attrNameLst>
                                          <p:attrName>ppt_x</p:attrName>
                                        </p:attrNameLst>
                                      </p:cBhvr>
                                      <p:tavLst>
                                        <p:tav tm="0">
                                          <p:val>
                                            <p:strVal val="#ppt_x"/>
                                          </p:val>
                                        </p:tav>
                                        <p:tav tm="100000">
                                          <p:val>
                                            <p:strVal val="#ppt_x"/>
                                          </p:val>
                                        </p:tav>
                                      </p:tavLst>
                                    </p:anim>
                                    <p:anim calcmode="lin" valueType="num">
                                      <p:cBhvr>
                                        <p:cTn id="27" dur="495" decel="100000" fill="hold"/>
                                        <p:tgtEl>
                                          <p:spTgt spid="17"/>
                                        </p:tgtEl>
                                        <p:attrNameLst>
                                          <p:attrName>ppt_y</p:attrName>
                                        </p:attrNameLst>
                                      </p:cBhvr>
                                      <p:tavLst>
                                        <p:tav tm="0">
                                          <p:val>
                                            <p:strVal val="#ppt_y+1"/>
                                          </p:val>
                                        </p:tav>
                                        <p:tav tm="100000">
                                          <p:val>
                                            <p:strVal val="#ppt_y-.03"/>
                                          </p:val>
                                        </p:tav>
                                      </p:tavLst>
                                    </p:anim>
                                    <p:anim calcmode="lin" valueType="num">
                                      <p:cBhvr>
                                        <p:cTn id="28" dur="55" accel="100000" fill="hold">
                                          <p:stCondLst>
                                            <p:cond delay="495"/>
                                          </p:stCondLst>
                                        </p:cTn>
                                        <p:tgtEl>
                                          <p:spTgt spid="17"/>
                                        </p:tgtEl>
                                        <p:attrNameLst>
                                          <p:attrName>ppt_y</p:attrName>
                                        </p:attrNameLst>
                                      </p:cBhvr>
                                      <p:tavLst>
                                        <p:tav tm="0">
                                          <p:val>
                                            <p:strVal val="#ppt_y-.03"/>
                                          </p:val>
                                        </p:tav>
                                        <p:tav tm="100000">
                                          <p:val>
                                            <p:strVal val="#ppt_y"/>
                                          </p:val>
                                        </p:tav>
                                      </p:tavLst>
                                    </p:anim>
                                  </p:childTnLst>
                                </p:cTn>
                              </p:par>
                              <p:par>
                                <p:cTn id="29" presetID="22" presetClass="entr" presetSubtype="8" fill="hold" nodeType="withEffect">
                                  <p:stCondLst>
                                    <p:cond delay="1070"/>
                                  </p:stCondLst>
                                  <p:childTnLst>
                                    <p:set>
                                      <p:cBhvr>
                                        <p:cTn id="30" dur="1" fill="hold">
                                          <p:stCondLst>
                                            <p:cond delay="0"/>
                                          </p:stCondLst>
                                        </p:cTn>
                                        <p:tgtEl>
                                          <p:spTgt spid="22"/>
                                        </p:tgtEl>
                                        <p:attrNameLst>
                                          <p:attrName>style.visibility</p:attrName>
                                        </p:attrNameLst>
                                      </p:cBhvr>
                                      <p:to>
                                        <p:strVal val="visible"/>
                                      </p:to>
                                    </p:set>
                                    <p:animEffect transition="in" filter="wipe(left)">
                                      <p:cBhvr>
                                        <p:cTn id="31" dur="550"/>
                                        <p:tgtEl>
                                          <p:spTgt spid="22"/>
                                        </p:tgtEl>
                                      </p:cBhvr>
                                    </p:animEffect>
                                  </p:childTnLst>
                                </p:cTn>
                              </p:par>
                              <p:par>
                                <p:cTn id="32" presetID="37" presetClass="entr" presetSubtype="0" fill="hold" nodeType="withEffect">
                                  <p:stCondLst>
                                    <p:cond delay="1190"/>
                                  </p:stCondLst>
                                  <p:childTnLst>
                                    <p:set>
                                      <p:cBhvr>
                                        <p:cTn id="33" dur="1" fill="hold">
                                          <p:stCondLst>
                                            <p:cond delay="0"/>
                                          </p:stCondLst>
                                        </p:cTn>
                                        <p:tgtEl>
                                          <p:spTgt spid="24"/>
                                        </p:tgtEl>
                                        <p:attrNameLst>
                                          <p:attrName>style.visibility</p:attrName>
                                        </p:attrNameLst>
                                      </p:cBhvr>
                                      <p:to>
                                        <p:strVal val="visible"/>
                                      </p:to>
                                    </p:set>
                                    <p:animEffect transition="in" filter="fade">
                                      <p:cBhvr>
                                        <p:cTn id="34" dur="550"/>
                                        <p:tgtEl>
                                          <p:spTgt spid="24"/>
                                        </p:tgtEl>
                                      </p:cBhvr>
                                    </p:animEffect>
                                    <p:anim calcmode="lin" valueType="num">
                                      <p:cBhvr>
                                        <p:cTn id="35" dur="550" fill="hold"/>
                                        <p:tgtEl>
                                          <p:spTgt spid="24"/>
                                        </p:tgtEl>
                                        <p:attrNameLst>
                                          <p:attrName>ppt_x</p:attrName>
                                        </p:attrNameLst>
                                      </p:cBhvr>
                                      <p:tavLst>
                                        <p:tav tm="0">
                                          <p:val>
                                            <p:strVal val="#ppt_x"/>
                                          </p:val>
                                        </p:tav>
                                        <p:tav tm="100000">
                                          <p:val>
                                            <p:strVal val="#ppt_x"/>
                                          </p:val>
                                        </p:tav>
                                      </p:tavLst>
                                    </p:anim>
                                    <p:anim calcmode="lin" valueType="num">
                                      <p:cBhvr>
                                        <p:cTn id="36" dur="495" decel="100000" fill="hold"/>
                                        <p:tgtEl>
                                          <p:spTgt spid="24"/>
                                        </p:tgtEl>
                                        <p:attrNameLst>
                                          <p:attrName>ppt_y</p:attrName>
                                        </p:attrNameLst>
                                      </p:cBhvr>
                                      <p:tavLst>
                                        <p:tav tm="0">
                                          <p:val>
                                            <p:strVal val="#ppt_y+1"/>
                                          </p:val>
                                        </p:tav>
                                        <p:tav tm="100000">
                                          <p:val>
                                            <p:strVal val="#ppt_y-.03"/>
                                          </p:val>
                                        </p:tav>
                                      </p:tavLst>
                                    </p:anim>
                                    <p:anim calcmode="lin" valueType="num">
                                      <p:cBhvr>
                                        <p:cTn id="37" dur="55" accel="100000" fill="hold">
                                          <p:stCondLst>
                                            <p:cond delay="495"/>
                                          </p:stCondLst>
                                        </p:cTn>
                                        <p:tgtEl>
                                          <p:spTgt spid="24"/>
                                        </p:tgtEl>
                                        <p:attrNameLst>
                                          <p:attrName>ppt_y</p:attrName>
                                        </p:attrNameLst>
                                      </p:cBhvr>
                                      <p:tavLst>
                                        <p:tav tm="0">
                                          <p:val>
                                            <p:strVal val="#ppt_y-.03"/>
                                          </p:val>
                                        </p:tav>
                                        <p:tav tm="100000">
                                          <p:val>
                                            <p:strVal val="#ppt_y"/>
                                          </p:val>
                                        </p:tav>
                                      </p:tavLst>
                                    </p:anim>
                                  </p:childTnLst>
                                </p:cTn>
                              </p:par>
                              <p:par>
                                <p:cTn id="38" presetID="37" presetClass="entr" presetSubtype="0" fill="hold" nodeType="withEffect">
                                  <p:stCondLst>
                                    <p:cond delay="1390"/>
                                  </p:stCondLst>
                                  <p:childTnLst>
                                    <p:set>
                                      <p:cBhvr>
                                        <p:cTn id="39" dur="1" fill="hold">
                                          <p:stCondLst>
                                            <p:cond delay="0"/>
                                          </p:stCondLst>
                                        </p:cTn>
                                        <p:tgtEl>
                                          <p:spTgt spid="29"/>
                                        </p:tgtEl>
                                        <p:attrNameLst>
                                          <p:attrName>style.visibility</p:attrName>
                                        </p:attrNameLst>
                                      </p:cBhvr>
                                      <p:to>
                                        <p:strVal val="visible"/>
                                      </p:to>
                                    </p:set>
                                    <p:animEffect transition="in" filter="fade">
                                      <p:cBhvr>
                                        <p:cTn id="40" dur="550"/>
                                        <p:tgtEl>
                                          <p:spTgt spid="29"/>
                                        </p:tgtEl>
                                      </p:cBhvr>
                                    </p:animEffect>
                                    <p:anim calcmode="lin" valueType="num">
                                      <p:cBhvr>
                                        <p:cTn id="41" dur="550" fill="hold"/>
                                        <p:tgtEl>
                                          <p:spTgt spid="29"/>
                                        </p:tgtEl>
                                        <p:attrNameLst>
                                          <p:attrName>ppt_x</p:attrName>
                                        </p:attrNameLst>
                                      </p:cBhvr>
                                      <p:tavLst>
                                        <p:tav tm="0">
                                          <p:val>
                                            <p:strVal val="#ppt_x"/>
                                          </p:val>
                                        </p:tav>
                                        <p:tav tm="100000">
                                          <p:val>
                                            <p:strVal val="#ppt_x"/>
                                          </p:val>
                                        </p:tav>
                                      </p:tavLst>
                                    </p:anim>
                                    <p:anim calcmode="lin" valueType="num">
                                      <p:cBhvr>
                                        <p:cTn id="42" dur="495" decel="100000" fill="hold"/>
                                        <p:tgtEl>
                                          <p:spTgt spid="29"/>
                                        </p:tgtEl>
                                        <p:attrNameLst>
                                          <p:attrName>ppt_y</p:attrName>
                                        </p:attrNameLst>
                                      </p:cBhvr>
                                      <p:tavLst>
                                        <p:tav tm="0">
                                          <p:val>
                                            <p:strVal val="#ppt_y+1"/>
                                          </p:val>
                                        </p:tav>
                                        <p:tav tm="100000">
                                          <p:val>
                                            <p:strVal val="#ppt_y-.03"/>
                                          </p:val>
                                        </p:tav>
                                      </p:tavLst>
                                    </p:anim>
                                    <p:anim calcmode="lin" valueType="num">
                                      <p:cBhvr>
                                        <p:cTn id="43" dur="55" accel="100000" fill="hold">
                                          <p:stCondLst>
                                            <p:cond delay="495"/>
                                          </p:stCondLst>
                                        </p:cTn>
                                        <p:tgtEl>
                                          <p:spTgt spid="29"/>
                                        </p:tgtEl>
                                        <p:attrNameLst>
                                          <p:attrName>ppt_y</p:attrName>
                                        </p:attrNameLst>
                                      </p:cBhvr>
                                      <p:tavLst>
                                        <p:tav tm="0">
                                          <p:val>
                                            <p:strVal val="#ppt_y-.03"/>
                                          </p:val>
                                        </p:tav>
                                        <p:tav tm="100000">
                                          <p:val>
                                            <p:strVal val="#ppt_y"/>
                                          </p:val>
                                        </p:tav>
                                      </p:tavLst>
                                    </p:anim>
                                  </p:childTnLst>
                                </p:cTn>
                              </p:par>
                              <p:par>
                                <p:cTn id="44" presetID="37" presetClass="entr" presetSubtype="0" fill="hold" nodeType="withEffect">
                                  <p:stCondLst>
                                    <p:cond delay="1590"/>
                                  </p:stCondLst>
                                  <p:childTnLst>
                                    <p:set>
                                      <p:cBhvr>
                                        <p:cTn id="45" dur="1" fill="hold">
                                          <p:stCondLst>
                                            <p:cond delay="0"/>
                                          </p:stCondLst>
                                        </p:cTn>
                                        <p:tgtEl>
                                          <p:spTgt spid="35"/>
                                        </p:tgtEl>
                                        <p:attrNameLst>
                                          <p:attrName>style.visibility</p:attrName>
                                        </p:attrNameLst>
                                      </p:cBhvr>
                                      <p:to>
                                        <p:strVal val="visible"/>
                                      </p:to>
                                    </p:set>
                                    <p:animEffect transition="in" filter="fade">
                                      <p:cBhvr>
                                        <p:cTn id="46" dur="550"/>
                                        <p:tgtEl>
                                          <p:spTgt spid="35"/>
                                        </p:tgtEl>
                                      </p:cBhvr>
                                    </p:animEffect>
                                    <p:anim calcmode="lin" valueType="num">
                                      <p:cBhvr>
                                        <p:cTn id="47" dur="550" fill="hold"/>
                                        <p:tgtEl>
                                          <p:spTgt spid="35"/>
                                        </p:tgtEl>
                                        <p:attrNameLst>
                                          <p:attrName>ppt_x</p:attrName>
                                        </p:attrNameLst>
                                      </p:cBhvr>
                                      <p:tavLst>
                                        <p:tav tm="0">
                                          <p:val>
                                            <p:strVal val="#ppt_x"/>
                                          </p:val>
                                        </p:tav>
                                        <p:tav tm="100000">
                                          <p:val>
                                            <p:strVal val="#ppt_x"/>
                                          </p:val>
                                        </p:tav>
                                      </p:tavLst>
                                    </p:anim>
                                    <p:anim calcmode="lin" valueType="num">
                                      <p:cBhvr>
                                        <p:cTn id="48" dur="495" decel="100000" fill="hold"/>
                                        <p:tgtEl>
                                          <p:spTgt spid="35"/>
                                        </p:tgtEl>
                                        <p:attrNameLst>
                                          <p:attrName>ppt_y</p:attrName>
                                        </p:attrNameLst>
                                      </p:cBhvr>
                                      <p:tavLst>
                                        <p:tav tm="0">
                                          <p:val>
                                            <p:strVal val="#ppt_y+1"/>
                                          </p:val>
                                        </p:tav>
                                        <p:tav tm="100000">
                                          <p:val>
                                            <p:strVal val="#ppt_y-.03"/>
                                          </p:val>
                                        </p:tav>
                                      </p:tavLst>
                                    </p:anim>
                                    <p:anim calcmode="lin" valueType="num">
                                      <p:cBhvr>
                                        <p:cTn id="49" dur="55" accel="100000" fill="hold">
                                          <p:stCondLst>
                                            <p:cond delay="495"/>
                                          </p:stCondLst>
                                        </p:cTn>
                                        <p:tgtEl>
                                          <p:spTgt spid="35"/>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4284B"/>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57150"/>
          </a:xfrm>
          <a:prstGeom prst="rect">
            <a:avLst/>
          </a:prstGeom>
          <a:solidFill>
            <a:srgbClr val="59BEC9"/>
          </a:solidFill>
          <a:ln>
            <a:noFill/>
          </a:ln>
        </p:spPr>
        <p:txBody>
          <a:bodyPr rtlCol="0" anchor="ctr"/>
          <a:lstStyle/>
          <a:p>
            <a:pPr algn="ctr"/>
            <a:endParaRPr/>
          </a:p>
        </p:txBody>
      </p:sp>
      <p:grpSp>
        <p:nvGrpSpPr>
          <p:cNvPr id="3" name="anim|fade|0.05"/>
          <p:cNvGrpSpPr/>
          <p:nvPr/>
        </p:nvGrpSpPr>
        <p:grpSpPr>
          <a:xfrm>
            <a:off x="571500" y="266700"/>
            <a:ext cx="7105650" cy="190500"/>
            <a:chOff x="571500" y="266700"/>
            <a:chExt cx="7105650" cy="190500"/>
          </a:xfrm>
        </p:grpSpPr>
        <p:sp>
          <p:nvSpPr>
            <p:cNvPr id="4" name="Rectangle 3"/>
            <p:cNvSpPr/>
            <p:nvPr/>
          </p:nvSpPr>
          <p:spPr>
            <a:xfrm>
              <a:off x="571500" y="342900"/>
              <a:ext cx="342900" cy="47625"/>
            </a:xfrm>
            <a:prstGeom prst="rect">
              <a:avLst/>
            </a:prstGeom>
            <a:solidFill>
              <a:srgbClr val="FFB938"/>
            </a:solidFill>
            <a:ln>
              <a:noFill/>
            </a:ln>
          </p:spPr>
          <p:txBody>
            <a:bodyPr rtlCol="0" anchor="ctr"/>
            <a:lstStyle/>
            <a:p>
              <a:pPr algn="ctr"/>
              <a:endParaRPr/>
            </a:p>
          </p:txBody>
        </p:sp>
        <p:sp>
          <p:nvSpPr>
            <p:cNvPr id="5" name="TextBox 4"/>
            <p:cNvSpPr txBox="1"/>
            <p:nvPr/>
          </p:nvSpPr>
          <p:spPr>
            <a:xfrm>
              <a:off x="1009650" y="266700"/>
              <a:ext cx="6667500" cy="190500"/>
            </a:xfrm>
            <a:prstGeom prst="rect">
              <a:avLst/>
            </a:prstGeom>
            <a:noFill/>
          </p:spPr>
          <p:txBody>
            <a:bodyPr wrap="square" lIns="0" tIns="0" rIns="0" bIns="0" anchor="t">
              <a:spAutoFit/>
            </a:bodyPr>
            <a:lstStyle/>
            <a:p>
              <a:pPr algn="l"/>
              <a:r>
                <a:rPr sz="1100" b="1" spc="300">
                  <a:solidFill>
                    <a:srgbClr val="59BEC9"/>
                  </a:solidFill>
                  <a:latin typeface="Century Gothic"/>
                </a:rPr>
                <a:t>WHAT WE BUILT</a:t>
              </a:r>
            </a:p>
          </p:txBody>
        </p:sp>
      </p:grpSp>
      <p:sp>
        <p:nvSpPr>
          <p:cNvPr id="6" name="anim|wipeL|0.1"/>
          <p:cNvSpPr txBox="1"/>
          <p:nvPr/>
        </p:nvSpPr>
        <p:spPr>
          <a:xfrm>
            <a:off x="571500" y="533400"/>
            <a:ext cx="11049000" cy="533400"/>
          </a:xfrm>
          <a:prstGeom prst="rect">
            <a:avLst/>
          </a:prstGeom>
          <a:noFill/>
        </p:spPr>
        <p:txBody>
          <a:bodyPr wrap="square" lIns="0" tIns="0" rIns="0" bIns="0" anchor="t">
            <a:spAutoFit/>
          </a:bodyPr>
          <a:lstStyle/>
          <a:p>
            <a:pPr algn="l"/>
            <a:r>
              <a:rPr sz="3100" b="1">
                <a:solidFill>
                  <a:srgbClr val="FFFFFF"/>
                </a:solidFill>
                <a:latin typeface="Century Gothic"/>
              </a:rPr>
              <a:t>What conf.yaml contains for backup</a:t>
            </a:r>
          </a:p>
        </p:txBody>
      </p:sp>
      <p:sp>
        <p:nvSpPr>
          <p:cNvPr id="7" name="anim|fade|0.45"/>
          <p:cNvSpPr txBox="1"/>
          <p:nvPr/>
        </p:nvSpPr>
        <p:spPr>
          <a:xfrm>
            <a:off x="571500" y="1028700"/>
            <a:ext cx="11049000" cy="247650"/>
          </a:xfrm>
          <a:prstGeom prst="rect">
            <a:avLst/>
          </a:prstGeom>
          <a:noFill/>
        </p:spPr>
        <p:txBody>
          <a:bodyPr wrap="square" lIns="0" tIns="0" rIns="0" bIns="0" anchor="t">
            <a:spAutoFit/>
          </a:bodyPr>
          <a:lstStyle/>
          <a:p>
            <a:pPr algn="l"/>
            <a:r>
              <a:rPr sz="1500" b="0">
                <a:solidFill>
                  <a:srgbClr val="B0C0D9"/>
                </a:solidFill>
                <a:latin typeface="Segoe UI"/>
              </a:rPr>
              <a:t>Five blocks. Fields such as interval, retention and full_cluster_backup are not read by backup.tf.</a:t>
            </a:r>
          </a:p>
        </p:txBody>
      </p:sp>
      <p:sp>
        <p:nvSpPr>
          <p:cNvPr id="8" name="TextBox 7"/>
          <p:cNvSpPr txBox="1"/>
          <p:nvPr/>
        </p:nvSpPr>
        <p:spPr>
          <a:xfrm>
            <a:off x="571500" y="6534150"/>
            <a:ext cx="6667500" cy="171450"/>
          </a:xfrm>
          <a:prstGeom prst="rect">
            <a:avLst/>
          </a:prstGeom>
          <a:noFill/>
        </p:spPr>
        <p:txBody>
          <a:bodyPr wrap="square" lIns="0" tIns="0" rIns="0" bIns="0" anchor="t">
            <a:spAutoFit/>
          </a:bodyPr>
          <a:lstStyle/>
          <a:p>
            <a:pPr algn="l"/>
            <a:r>
              <a:rPr sz="950" b="0">
                <a:solidFill>
                  <a:srgbClr val="B0C0D9"/>
                </a:solidFill>
                <a:latin typeface="Segoe UI"/>
              </a:rPr>
              <a:t>AKS Backup &amp; Restore  |  BFH AKS IHUB Platform Team</a:t>
            </a:r>
          </a:p>
        </p:txBody>
      </p:sp>
      <p:sp>
        <p:nvSpPr>
          <p:cNvPr id="9" name="TextBox 8"/>
          <p:cNvSpPr txBox="1"/>
          <p:nvPr/>
        </p:nvSpPr>
        <p:spPr>
          <a:xfrm>
            <a:off x="10668000" y="6534150"/>
            <a:ext cx="952500" cy="171450"/>
          </a:xfrm>
          <a:prstGeom prst="rect">
            <a:avLst/>
          </a:prstGeom>
          <a:noFill/>
        </p:spPr>
        <p:txBody>
          <a:bodyPr wrap="square" lIns="0" tIns="0" rIns="0" bIns="0" anchor="t">
            <a:spAutoFit/>
          </a:bodyPr>
          <a:lstStyle/>
          <a:p>
            <a:pPr algn="r"/>
            <a:r>
              <a:rPr sz="1000" b="1">
                <a:solidFill>
                  <a:srgbClr val="FFB938"/>
                </a:solidFill>
                <a:latin typeface="Century Gothic"/>
              </a:rPr>
              <a:t>10</a:t>
            </a:r>
          </a:p>
        </p:txBody>
      </p:sp>
      <p:grpSp>
        <p:nvGrpSpPr>
          <p:cNvPr id="10" name="anim|rise|0.55"/>
          <p:cNvGrpSpPr/>
          <p:nvPr/>
        </p:nvGrpSpPr>
        <p:grpSpPr>
          <a:xfrm>
            <a:off x="571500" y="1485900"/>
            <a:ext cx="2057400" cy="3162300"/>
            <a:chOff x="571500" y="1485900"/>
            <a:chExt cx="2057400" cy="3162300"/>
          </a:xfrm>
        </p:grpSpPr>
        <p:sp>
          <p:nvSpPr>
            <p:cNvPr id="11" name="Rounded Rectangle 10"/>
            <p:cNvSpPr/>
            <p:nvPr/>
          </p:nvSpPr>
          <p:spPr>
            <a:xfrm>
              <a:off x="571500" y="1485900"/>
              <a:ext cx="2057400" cy="3162300"/>
            </a:xfrm>
            <a:prstGeom prst="roundRect">
              <a:avLst>
                <a:gd name="adj" fmla="val 8333"/>
              </a:avLst>
            </a:prstGeom>
            <a:solidFill>
              <a:srgbClr val="1E3A68"/>
            </a:solidFill>
            <a:ln>
              <a:noFill/>
            </a:ln>
          </p:spPr>
          <p:txBody>
            <a:bodyPr rtlCol="0" anchor="ctr"/>
            <a:lstStyle/>
            <a:p>
              <a:pPr algn="ctr"/>
              <a:endParaRPr/>
            </a:p>
          </p:txBody>
        </p:sp>
        <p:sp>
          <p:nvSpPr>
            <p:cNvPr id="12" name="Rounded Rectangle 11"/>
            <p:cNvSpPr/>
            <p:nvPr/>
          </p:nvSpPr>
          <p:spPr>
            <a:xfrm>
              <a:off x="704850" y="1657350"/>
              <a:ext cx="1790700" cy="304800"/>
            </a:xfrm>
            <a:prstGeom prst="roundRect">
              <a:avLst>
                <a:gd name="adj" fmla="val 31250"/>
              </a:avLst>
            </a:prstGeom>
            <a:solidFill>
              <a:srgbClr val="14284B"/>
            </a:solidFill>
            <a:ln>
              <a:noFill/>
            </a:ln>
          </p:spPr>
          <p:txBody>
            <a:bodyPr rtlCol="0" anchor="ctr"/>
            <a:lstStyle/>
            <a:p>
              <a:pPr algn="ctr"/>
              <a:endParaRPr/>
            </a:p>
          </p:txBody>
        </p:sp>
        <p:sp>
          <p:nvSpPr>
            <p:cNvPr id="13" name="TextBox 12"/>
            <p:cNvSpPr txBox="1"/>
            <p:nvPr/>
          </p:nvSpPr>
          <p:spPr>
            <a:xfrm>
              <a:off x="704850" y="1657350"/>
              <a:ext cx="1790700" cy="304800"/>
            </a:xfrm>
            <a:prstGeom prst="rect">
              <a:avLst/>
            </a:prstGeom>
            <a:noFill/>
          </p:spPr>
          <p:txBody>
            <a:bodyPr wrap="square" lIns="0" tIns="0" rIns="0" bIns="0" anchor="ctr">
              <a:spAutoFit/>
            </a:bodyPr>
            <a:lstStyle/>
            <a:p>
              <a:pPr algn="ctr"/>
              <a:r>
                <a:rPr sz="1150" b="1">
                  <a:solidFill>
                    <a:srgbClr val="59BEC9"/>
                  </a:solidFill>
                  <a:latin typeface="Consolas"/>
                </a:rPr>
                <a:t>storage_account</a:t>
              </a:r>
            </a:p>
          </p:txBody>
        </p:sp>
        <p:sp>
          <p:nvSpPr>
            <p:cNvPr id="14" name="TextBox 13"/>
            <p:cNvSpPr txBox="1"/>
            <p:nvPr/>
          </p:nvSpPr>
          <p:spPr>
            <a:xfrm>
              <a:off x="742950" y="2152650"/>
              <a:ext cx="1714500" cy="171450"/>
            </a:xfrm>
            <a:prstGeom prst="rect">
              <a:avLst/>
            </a:prstGeom>
            <a:noFill/>
          </p:spPr>
          <p:txBody>
            <a:bodyPr wrap="square" lIns="0" tIns="0" rIns="0" bIns="0" anchor="t">
              <a:spAutoFit/>
            </a:bodyPr>
            <a:lstStyle/>
            <a:p>
              <a:pPr algn="l"/>
              <a:r>
                <a:rPr sz="1000" b="1" spc="200">
                  <a:solidFill>
                    <a:srgbClr val="59BEC9"/>
                  </a:solidFill>
                  <a:latin typeface="Century Gothic"/>
                </a:rPr>
                <a:t>YOU PUT IN</a:t>
              </a:r>
            </a:p>
          </p:txBody>
        </p:sp>
        <p:sp>
          <p:nvSpPr>
            <p:cNvPr id="15" name="TextBox 14"/>
            <p:cNvSpPr txBox="1"/>
            <p:nvPr/>
          </p:nvSpPr>
          <p:spPr>
            <a:xfrm>
              <a:off x="742950" y="2381250"/>
              <a:ext cx="1714500" cy="666750"/>
            </a:xfrm>
            <a:prstGeom prst="rect">
              <a:avLst/>
            </a:prstGeom>
            <a:noFill/>
          </p:spPr>
          <p:txBody>
            <a:bodyPr wrap="square" lIns="0" tIns="0" rIns="0" bIns="0" anchor="t">
              <a:spAutoFit/>
            </a:bodyPr>
            <a:lstStyle/>
            <a:p>
              <a:pPr algn="l"/>
              <a:r>
                <a:rPr sz="1400" b="1">
                  <a:solidFill>
                    <a:srgbClr val="FFFFFF"/>
                  </a:solidFill>
                  <a:latin typeface="Segoe UI"/>
                </a:rPr>
                <a:t>Name and container name</a:t>
              </a:r>
            </a:p>
          </p:txBody>
        </p:sp>
        <p:sp>
          <p:nvSpPr>
            <p:cNvPr id="16" name="Rectangle 15"/>
            <p:cNvSpPr/>
            <p:nvPr/>
          </p:nvSpPr>
          <p:spPr>
            <a:xfrm>
              <a:off x="742950" y="3143250"/>
              <a:ext cx="1714500" cy="19050"/>
            </a:xfrm>
            <a:prstGeom prst="rect">
              <a:avLst/>
            </a:prstGeom>
            <a:solidFill>
              <a:srgbClr val="2E5286"/>
            </a:solidFill>
            <a:ln>
              <a:noFill/>
            </a:ln>
          </p:spPr>
          <p:txBody>
            <a:bodyPr rtlCol="0" anchor="ctr"/>
            <a:lstStyle/>
            <a:p>
              <a:pPr algn="ctr"/>
              <a:endParaRPr/>
            </a:p>
          </p:txBody>
        </p:sp>
        <p:sp>
          <p:nvSpPr>
            <p:cNvPr id="17" name="TextBox 16"/>
            <p:cNvSpPr txBox="1"/>
            <p:nvPr/>
          </p:nvSpPr>
          <p:spPr>
            <a:xfrm>
              <a:off x="742950" y="3295650"/>
              <a:ext cx="1714500" cy="171450"/>
            </a:xfrm>
            <a:prstGeom prst="rect">
              <a:avLst/>
            </a:prstGeom>
            <a:noFill/>
          </p:spPr>
          <p:txBody>
            <a:bodyPr wrap="square" lIns="0" tIns="0" rIns="0" bIns="0" anchor="t">
              <a:spAutoFit/>
            </a:bodyPr>
            <a:lstStyle/>
            <a:p>
              <a:pPr algn="l"/>
              <a:r>
                <a:rPr sz="1000" b="1" spc="200">
                  <a:solidFill>
                    <a:srgbClr val="FFB938"/>
                  </a:solidFill>
                  <a:latin typeface="Century Gothic"/>
                </a:rPr>
                <a:t>IT CREATES</a:t>
              </a:r>
            </a:p>
          </p:txBody>
        </p:sp>
        <p:sp>
          <p:nvSpPr>
            <p:cNvPr id="18" name="TextBox 17"/>
            <p:cNvSpPr txBox="1"/>
            <p:nvPr/>
          </p:nvSpPr>
          <p:spPr>
            <a:xfrm>
              <a:off x="742950" y="3524250"/>
              <a:ext cx="1714500" cy="1047750"/>
            </a:xfrm>
            <a:prstGeom prst="rect">
              <a:avLst/>
            </a:prstGeom>
            <a:noFill/>
          </p:spPr>
          <p:txBody>
            <a:bodyPr wrap="square" lIns="0" tIns="0" rIns="0" bIns="0" anchor="t">
              <a:spAutoFit/>
            </a:bodyPr>
            <a:lstStyle/>
            <a:p>
              <a:pPr algn="l"/>
              <a:r>
                <a:rPr sz="1350" b="0">
                  <a:solidFill>
                    <a:srgbClr val="B0C0D9"/>
                  </a:solidFill>
                  <a:latin typeface="Segoe UI"/>
                </a:rPr>
                <a:t>Storage account and blob container</a:t>
              </a:r>
            </a:p>
          </p:txBody>
        </p:sp>
      </p:grpSp>
      <p:grpSp>
        <p:nvGrpSpPr>
          <p:cNvPr id="19" name="anim|rise|0.69"/>
          <p:cNvGrpSpPr/>
          <p:nvPr/>
        </p:nvGrpSpPr>
        <p:grpSpPr>
          <a:xfrm>
            <a:off x="2819400" y="1485900"/>
            <a:ext cx="2057400" cy="3162300"/>
            <a:chOff x="2819400" y="1485900"/>
            <a:chExt cx="2057400" cy="3162300"/>
          </a:xfrm>
        </p:grpSpPr>
        <p:sp>
          <p:nvSpPr>
            <p:cNvPr id="20" name="Rounded Rectangle 19"/>
            <p:cNvSpPr/>
            <p:nvPr/>
          </p:nvSpPr>
          <p:spPr>
            <a:xfrm>
              <a:off x="2819400" y="1485900"/>
              <a:ext cx="2057400" cy="3162300"/>
            </a:xfrm>
            <a:prstGeom prst="roundRect">
              <a:avLst>
                <a:gd name="adj" fmla="val 8333"/>
              </a:avLst>
            </a:prstGeom>
            <a:solidFill>
              <a:srgbClr val="1E3A68"/>
            </a:solidFill>
            <a:ln>
              <a:noFill/>
            </a:ln>
          </p:spPr>
          <p:txBody>
            <a:bodyPr rtlCol="0" anchor="ctr"/>
            <a:lstStyle/>
            <a:p>
              <a:pPr algn="ctr"/>
              <a:endParaRPr/>
            </a:p>
          </p:txBody>
        </p:sp>
        <p:sp>
          <p:nvSpPr>
            <p:cNvPr id="21" name="Rounded Rectangle 20"/>
            <p:cNvSpPr/>
            <p:nvPr/>
          </p:nvSpPr>
          <p:spPr>
            <a:xfrm>
              <a:off x="2952750" y="1657350"/>
              <a:ext cx="1790700" cy="304800"/>
            </a:xfrm>
            <a:prstGeom prst="roundRect">
              <a:avLst>
                <a:gd name="adj" fmla="val 31250"/>
              </a:avLst>
            </a:prstGeom>
            <a:solidFill>
              <a:srgbClr val="14284B"/>
            </a:solidFill>
            <a:ln>
              <a:noFill/>
            </a:ln>
          </p:spPr>
          <p:txBody>
            <a:bodyPr rtlCol="0" anchor="ctr"/>
            <a:lstStyle/>
            <a:p>
              <a:pPr algn="ctr"/>
              <a:endParaRPr/>
            </a:p>
          </p:txBody>
        </p:sp>
        <p:sp>
          <p:nvSpPr>
            <p:cNvPr id="22" name="TextBox 21"/>
            <p:cNvSpPr txBox="1"/>
            <p:nvPr/>
          </p:nvSpPr>
          <p:spPr>
            <a:xfrm>
              <a:off x="2952750" y="1657350"/>
              <a:ext cx="1790700" cy="304800"/>
            </a:xfrm>
            <a:prstGeom prst="rect">
              <a:avLst/>
            </a:prstGeom>
            <a:noFill/>
          </p:spPr>
          <p:txBody>
            <a:bodyPr wrap="square" lIns="0" tIns="0" rIns="0" bIns="0" anchor="ctr">
              <a:spAutoFit/>
            </a:bodyPr>
            <a:lstStyle/>
            <a:p>
              <a:pPr algn="ctr"/>
              <a:r>
                <a:rPr sz="1150" b="1">
                  <a:solidFill>
                    <a:srgbClr val="59BEC9"/>
                  </a:solidFill>
                  <a:latin typeface="Consolas"/>
                </a:rPr>
                <a:t>backup_vault</a:t>
              </a:r>
            </a:p>
          </p:txBody>
        </p:sp>
        <p:sp>
          <p:nvSpPr>
            <p:cNvPr id="23" name="TextBox 22"/>
            <p:cNvSpPr txBox="1"/>
            <p:nvPr/>
          </p:nvSpPr>
          <p:spPr>
            <a:xfrm>
              <a:off x="2990850" y="2152650"/>
              <a:ext cx="1714500" cy="171450"/>
            </a:xfrm>
            <a:prstGeom prst="rect">
              <a:avLst/>
            </a:prstGeom>
            <a:noFill/>
          </p:spPr>
          <p:txBody>
            <a:bodyPr wrap="square" lIns="0" tIns="0" rIns="0" bIns="0" anchor="t">
              <a:spAutoFit/>
            </a:bodyPr>
            <a:lstStyle/>
            <a:p>
              <a:pPr algn="l"/>
              <a:r>
                <a:rPr sz="1000" b="1" spc="200">
                  <a:solidFill>
                    <a:srgbClr val="59BEC9"/>
                  </a:solidFill>
                  <a:latin typeface="Century Gothic"/>
                </a:rPr>
                <a:t>YOU PUT IN</a:t>
              </a:r>
            </a:p>
          </p:txBody>
        </p:sp>
        <p:sp>
          <p:nvSpPr>
            <p:cNvPr id="24" name="TextBox 23"/>
            <p:cNvSpPr txBox="1"/>
            <p:nvPr/>
          </p:nvSpPr>
          <p:spPr>
            <a:xfrm>
              <a:off x="2990850" y="2381250"/>
              <a:ext cx="1714500" cy="666750"/>
            </a:xfrm>
            <a:prstGeom prst="rect">
              <a:avLst/>
            </a:prstGeom>
            <a:noFill/>
          </p:spPr>
          <p:txBody>
            <a:bodyPr wrap="square" lIns="0" tIns="0" rIns="0" bIns="0" anchor="t">
              <a:spAutoFit/>
            </a:bodyPr>
            <a:lstStyle/>
            <a:p>
              <a:pPr algn="l"/>
              <a:r>
                <a:rPr sz="1400" b="1">
                  <a:solidFill>
                    <a:srgbClr val="FFFFFF"/>
                  </a:solidFill>
                  <a:latin typeface="Segoe UI"/>
                </a:rPr>
                <a:t>Vault name</a:t>
              </a:r>
            </a:p>
          </p:txBody>
        </p:sp>
        <p:sp>
          <p:nvSpPr>
            <p:cNvPr id="25" name="Rectangle 24"/>
            <p:cNvSpPr/>
            <p:nvPr/>
          </p:nvSpPr>
          <p:spPr>
            <a:xfrm>
              <a:off x="2990850" y="3143250"/>
              <a:ext cx="1714500" cy="19050"/>
            </a:xfrm>
            <a:prstGeom prst="rect">
              <a:avLst/>
            </a:prstGeom>
            <a:solidFill>
              <a:srgbClr val="2E5286"/>
            </a:solidFill>
            <a:ln>
              <a:noFill/>
            </a:ln>
          </p:spPr>
          <p:txBody>
            <a:bodyPr rtlCol="0" anchor="ctr"/>
            <a:lstStyle/>
            <a:p>
              <a:pPr algn="ctr"/>
              <a:endParaRPr/>
            </a:p>
          </p:txBody>
        </p:sp>
        <p:sp>
          <p:nvSpPr>
            <p:cNvPr id="26" name="TextBox 25"/>
            <p:cNvSpPr txBox="1"/>
            <p:nvPr/>
          </p:nvSpPr>
          <p:spPr>
            <a:xfrm>
              <a:off x="2990850" y="3295650"/>
              <a:ext cx="1714500" cy="171450"/>
            </a:xfrm>
            <a:prstGeom prst="rect">
              <a:avLst/>
            </a:prstGeom>
            <a:noFill/>
          </p:spPr>
          <p:txBody>
            <a:bodyPr wrap="square" lIns="0" tIns="0" rIns="0" bIns="0" anchor="t">
              <a:spAutoFit/>
            </a:bodyPr>
            <a:lstStyle/>
            <a:p>
              <a:pPr algn="l"/>
              <a:r>
                <a:rPr sz="1000" b="1" spc="200">
                  <a:solidFill>
                    <a:srgbClr val="FFB938"/>
                  </a:solidFill>
                  <a:latin typeface="Century Gothic"/>
                </a:rPr>
                <a:t>IT CREATES</a:t>
              </a:r>
            </a:p>
          </p:txBody>
        </p:sp>
        <p:sp>
          <p:nvSpPr>
            <p:cNvPr id="27" name="TextBox 26"/>
            <p:cNvSpPr txBox="1"/>
            <p:nvPr/>
          </p:nvSpPr>
          <p:spPr>
            <a:xfrm>
              <a:off x="2990850" y="3524250"/>
              <a:ext cx="1714500" cy="1047750"/>
            </a:xfrm>
            <a:prstGeom prst="rect">
              <a:avLst/>
            </a:prstGeom>
            <a:noFill/>
          </p:spPr>
          <p:txBody>
            <a:bodyPr wrap="square" lIns="0" tIns="0" rIns="0" bIns="0" anchor="t">
              <a:spAutoFit/>
            </a:bodyPr>
            <a:lstStyle/>
            <a:p>
              <a:pPr algn="l"/>
              <a:r>
                <a:rPr sz="1350" b="0">
                  <a:solidFill>
                    <a:srgbClr val="B0C0D9"/>
                  </a:solidFill>
                  <a:latin typeface="Segoe UI"/>
                </a:rPr>
                <a:t>Backup vault with a delete lock</a:t>
              </a:r>
            </a:p>
          </p:txBody>
        </p:sp>
      </p:grpSp>
      <p:grpSp>
        <p:nvGrpSpPr>
          <p:cNvPr id="28" name="anim|rise|0.83"/>
          <p:cNvGrpSpPr/>
          <p:nvPr/>
        </p:nvGrpSpPr>
        <p:grpSpPr>
          <a:xfrm>
            <a:off x="5067300" y="1485900"/>
            <a:ext cx="2057400" cy="3162300"/>
            <a:chOff x="5067300" y="1485900"/>
            <a:chExt cx="2057400" cy="3162300"/>
          </a:xfrm>
        </p:grpSpPr>
        <p:sp>
          <p:nvSpPr>
            <p:cNvPr id="29" name="Rounded Rectangle 28"/>
            <p:cNvSpPr/>
            <p:nvPr/>
          </p:nvSpPr>
          <p:spPr>
            <a:xfrm>
              <a:off x="5067300" y="1485900"/>
              <a:ext cx="2057400" cy="3162300"/>
            </a:xfrm>
            <a:prstGeom prst="roundRect">
              <a:avLst>
                <a:gd name="adj" fmla="val 8333"/>
              </a:avLst>
            </a:prstGeom>
            <a:solidFill>
              <a:srgbClr val="1E3A68"/>
            </a:solidFill>
            <a:ln>
              <a:noFill/>
            </a:ln>
          </p:spPr>
          <p:txBody>
            <a:bodyPr rtlCol="0" anchor="ctr"/>
            <a:lstStyle/>
            <a:p>
              <a:pPr algn="ctr"/>
              <a:endParaRPr/>
            </a:p>
          </p:txBody>
        </p:sp>
        <p:sp>
          <p:nvSpPr>
            <p:cNvPr id="30" name="Rounded Rectangle 29"/>
            <p:cNvSpPr/>
            <p:nvPr/>
          </p:nvSpPr>
          <p:spPr>
            <a:xfrm>
              <a:off x="5200650" y="1657350"/>
              <a:ext cx="1790700" cy="304800"/>
            </a:xfrm>
            <a:prstGeom prst="roundRect">
              <a:avLst>
                <a:gd name="adj" fmla="val 31250"/>
              </a:avLst>
            </a:prstGeom>
            <a:solidFill>
              <a:srgbClr val="14284B"/>
            </a:solidFill>
            <a:ln>
              <a:noFill/>
            </a:ln>
          </p:spPr>
          <p:txBody>
            <a:bodyPr rtlCol="0" anchor="ctr"/>
            <a:lstStyle/>
            <a:p>
              <a:pPr algn="ctr"/>
              <a:endParaRPr/>
            </a:p>
          </p:txBody>
        </p:sp>
        <p:sp>
          <p:nvSpPr>
            <p:cNvPr id="31" name="TextBox 30"/>
            <p:cNvSpPr txBox="1"/>
            <p:nvPr/>
          </p:nvSpPr>
          <p:spPr>
            <a:xfrm>
              <a:off x="5200650" y="1657350"/>
              <a:ext cx="1790700" cy="304800"/>
            </a:xfrm>
            <a:prstGeom prst="rect">
              <a:avLst/>
            </a:prstGeom>
            <a:noFill/>
          </p:spPr>
          <p:txBody>
            <a:bodyPr wrap="square" lIns="0" tIns="0" rIns="0" bIns="0" anchor="ctr">
              <a:spAutoFit/>
            </a:bodyPr>
            <a:lstStyle/>
            <a:p>
              <a:pPr algn="ctr"/>
              <a:r>
                <a:rPr sz="1150" b="1">
                  <a:solidFill>
                    <a:srgbClr val="59BEC9"/>
                  </a:solidFill>
                  <a:latin typeface="Consolas"/>
                </a:rPr>
                <a:t>aks_backup_extension</a:t>
              </a:r>
            </a:p>
          </p:txBody>
        </p:sp>
        <p:sp>
          <p:nvSpPr>
            <p:cNvPr id="32" name="TextBox 31"/>
            <p:cNvSpPr txBox="1"/>
            <p:nvPr/>
          </p:nvSpPr>
          <p:spPr>
            <a:xfrm>
              <a:off x="5238750" y="2152650"/>
              <a:ext cx="1714500" cy="171450"/>
            </a:xfrm>
            <a:prstGeom prst="rect">
              <a:avLst/>
            </a:prstGeom>
            <a:noFill/>
          </p:spPr>
          <p:txBody>
            <a:bodyPr wrap="square" lIns="0" tIns="0" rIns="0" bIns="0" anchor="t">
              <a:spAutoFit/>
            </a:bodyPr>
            <a:lstStyle/>
            <a:p>
              <a:pPr algn="l"/>
              <a:r>
                <a:rPr sz="1000" b="1" spc="200">
                  <a:solidFill>
                    <a:srgbClr val="59BEC9"/>
                  </a:solidFill>
                  <a:latin typeface="Century Gothic"/>
                </a:rPr>
                <a:t>YOU PUT IN</a:t>
              </a:r>
            </a:p>
          </p:txBody>
        </p:sp>
        <p:sp>
          <p:nvSpPr>
            <p:cNvPr id="33" name="TextBox 32"/>
            <p:cNvSpPr txBox="1"/>
            <p:nvPr/>
          </p:nvSpPr>
          <p:spPr>
            <a:xfrm>
              <a:off x="5238750" y="2381250"/>
              <a:ext cx="1714500" cy="666750"/>
            </a:xfrm>
            <a:prstGeom prst="rect">
              <a:avLst/>
            </a:prstGeom>
            <a:noFill/>
          </p:spPr>
          <p:txBody>
            <a:bodyPr wrap="square" lIns="0" tIns="0" rIns="0" bIns="0" anchor="t">
              <a:spAutoFit/>
            </a:bodyPr>
            <a:lstStyle/>
            <a:p>
              <a:pPr algn="l"/>
              <a:r>
                <a:rPr sz="1400" b="1">
                  <a:solidFill>
                    <a:srgbClr val="FFFFFF"/>
                  </a:solidFill>
                  <a:latin typeface="Segoe UI"/>
                </a:rPr>
                <a:t>Cluster, storage account, container</a:t>
              </a:r>
            </a:p>
          </p:txBody>
        </p:sp>
        <p:sp>
          <p:nvSpPr>
            <p:cNvPr id="34" name="Rectangle 33"/>
            <p:cNvSpPr/>
            <p:nvPr/>
          </p:nvSpPr>
          <p:spPr>
            <a:xfrm>
              <a:off x="5238750" y="3143250"/>
              <a:ext cx="1714500" cy="19050"/>
            </a:xfrm>
            <a:prstGeom prst="rect">
              <a:avLst/>
            </a:prstGeom>
            <a:solidFill>
              <a:srgbClr val="2E5286"/>
            </a:solidFill>
            <a:ln>
              <a:noFill/>
            </a:ln>
          </p:spPr>
          <p:txBody>
            <a:bodyPr rtlCol="0" anchor="ctr"/>
            <a:lstStyle/>
            <a:p>
              <a:pPr algn="ctr"/>
              <a:endParaRPr/>
            </a:p>
          </p:txBody>
        </p:sp>
        <p:sp>
          <p:nvSpPr>
            <p:cNvPr id="35" name="TextBox 34"/>
            <p:cNvSpPr txBox="1"/>
            <p:nvPr/>
          </p:nvSpPr>
          <p:spPr>
            <a:xfrm>
              <a:off x="5238750" y="3295650"/>
              <a:ext cx="1714500" cy="171450"/>
            </a:xfrm>
            <a:prstGeom prst="rect">
              <a:avLst/>
            </a:prstGeom>
            <a:noFill/>
          </p:spPr>
          <p:txBody>
            <a:bodyPr wrap="square" lIns="0" tIns="0" rIns="0" bIns="0" anchor="t">
              <a:spAutoFit/>
            </a:bodyPr>
            <a:lstStyle/>
            <a:p>
              <a:pPr algn="l"/>
              <a:r>
                <a:rPr sz="1000" b="1" spc="200">
                  <a:solidFill>
                    <a:srgbClr val="FFB938"/>
                  </a:solidFill>
                  <a:latin typeface="Century Gothic"/>
                </a:rPr>
                <a:t>IT CREATES</a:t>
              </a:r>
            </a:p>
          </p:txBody>
        </p:sp>
        <p:sp>
          <p:nvSpPr>
            <p:cNvPr id="36" name="TextBox 35"/>
            <p:cNvSpPr txBox="1"/>
            <p:nvPr/>
          </p:nvSpPr>
          <p:spPr>
            <a:xfrm>
              <a:off x="5238750" y="3524250"/>
              <a:ext cx="1714500" cy="1047750"/>
            </a:xfrm>
            <a:prstGeom prst="rect">
              <a:avLst/>
            </a:prstGeom>
            <a:noFill/>
          </p:spPr>
          <p:txBody>
            <a:bodyPr wrap="square" lIns="0" tIns="0" rIns="0" bIns="0" anchor="t">
              <a:spAutoFit/>
            </a:bodyPr>
            <a:lstStyle/>
            <a:p>
              <a:pPr algn="l"/>
              <a:r>
                <a:rPr sz="1350" b="0">
                  <a:solidFill>
                    <a:srgbClr val="B0C0D9"/>
                  </a:solidFill>
                  <a:latin typeface="Segoe UI"/>
                </a:rPr>
                <a:t>Backup extension on that cluster</a:t>
              </a:r>
            </a:p>
          </p:txBody>
        </p:sp>
      </p:grpSp>
      <p:grpSp>
        <p:nvGrpSpPr>
          <p:cNvPr id="37" name="anim|rise|0.97"/>
          <p:cNvGrpSpPr/>
          <p:nvPr/>
        </p:nvGrpSpPr>
        <p:grpSpPr>
          <a:xfrm>
            <a:off x="7315200" y="1485900"/>
            <a:ext cx="2057400" cy="3162300"/>
            <a:chOff x="7315200" y="1485900"/>
            <a:chExt cx="2057400" cy="3162300"/>
          </a:xfrm>
        </p:grpSpPr>
        <p:sp>
          <p:nvSpPr>
            <p:cNvPr id="38" name="Rounded Rectangle 37"/>
            <p:cNvSpPr/>
            <p:nvPr/>
          </p:nvSpPr>
          <p:spPr>
            <a:xfrm>
              <a:off x="7315200" y="1485900"/>
              <a:ext cx="2057400" cy="3162300"/>
            </a:xfrm>
            <a:prstGeom prst="roundRect">
              <a:avLst>
                <a:gd name="adj" fmla="val 8333"/>
              </a:avLst>
            </a:prstGeom>
            <a:solidFill>
              <a:srgbClr val="1E3A68"/>
            </a:solidFill>
            <a:ln>
              <a:noFill/>
            </a:ln>
          </p:spPr>
          <p:txBody>
            <a:bodyPr rtlCol="0" anchor="ctr"/>
            <a:lstStyle/>
            <a:p>
              <a:pPr algn="ctr"/>
              <a:endParaRPr/>
            </a:p>
          </p:txBody>
        </p:sp>
        <p:sp>
          <p:nvSpPr>
            <p:cNvPr id="39" name="Rounded Rectangle 38"/>
            <p:cNvSpPr/>
            <p:nvPr/>
          </p:nvSpPr>
          <p:spPr>
            <a:xfrm>
              <a:off x="7448550" y="1657350"/>
              <a:ext cx="1790700" cy="304800"/>
            </a:xfrm>
            <a:prstGeom prst="roundRect">
              <a:avLst>
                <a:gd name="adj" fmla="val 31250"/>
              </a:avLst>
            </a:prstGeom>
            <a:solidFill>
              <a:srgbClr val="14284B"/>
            </a:solidFill>
            <a:ln>
              <a:noFill/>
            </a:ln>
          </p:spPr>
          <p:txBody>
            <a:bodyPr rtlCol="0" anchor="ctr"/>
            <a:lstStyle/>
            <a:p>
              <a:pPr algn="ctr"/>
              <a:endParaRPr/>
            </a:p>
          </p:txBody>
        </p:sp>
        <p:sp>
          <p:nvSpPr>
            <p:cNvPr id="40" name="TextBox 39"/>
            <p:cNvSpPr txBox="1"/>
            <p:nvPr/>
          </p:nvSpPr>
          <p:spPr>
            <a:xfrm>
              <a:off x="7448550" y="1657350"/>
              <a:ext cx="1790700" cy="304800"/>
            </a:xfrm>
            <a:prstGeom prst="rect">
              <a:avLst/>
            </a:prstGeom>
            <a:noFill/>
          </p:spPr>
          <p:txBody>
            <a:bodyPr wrap="square" lIns="0" tIns="0" rIns="0" bIns="0" anchor="ctr">
              <a:spAutoFit/>
            </a:bodyPr>
            <a:lstStyle/>
            <a:p>
              <a:pPr algn="ctr"/>
              <a:r>
                <a:rPr sz="1150" b="1">
                  <a:solidFill>
                    <a:srgbClr val="59BEC9"/>
                  </a:solidFill>
                  <a:latin typeface="Consolas"/>
                </a:rPr>
                <a:t>backup_policy</a:t>
              </a:r>
            </a:p>
          </p:txBody>
        </p:sp>
        <p:sp>
          <p:nvSpPr>
            <p:cNvPr id="41" name="TextBox 40"/>
            <p:cNvSpPr txBox="1"/>
            <p:nvPr/>
          </p:nvSpPr>
          <p:spPr>
            <a:xfrm>
              <a:off x="7486650" y="2152650"/>
              <a:ext cx="1714500" cy="171450"/>
            </a:xfrm>
            <a:prstGeom prst="rect">
              <a:avLst/>
            </a:prstGeom>
            <a:noFill/>
          </p:spPr>
          <p:txBody>
            <a:bodyPr wrap="square" lIns="0" tIns="0" rIns="0" bIns="0" anchor="t">
              <a:spAutoFit/>
            </a:bodyPr>
            <a:lstStyle/>
            <a:p>
              <a:pPr algn="l"/>
              <a:r>
                <a:rPr sz="1000" b="1" spc="200">
                  <a:solidFill>
                    <a:srgbClr val="59BEC9"/>
                  </a:solidFill>
                  <a:latin typeface="Century Gothic"/>
                </a:rPr>
                <a:t>YOU PUT IN</a:t>
              </a:r>
            </a:p>
          </p:txBody>
        </p:sp>
        <p:sp>
          <p:nvSpPr>
            <p:cNvPr id="42" name="TextBox 41"/>
            <p:cNvSpPr txBox="1"/>
            <p:nvPr/>
          </p:nvSpPr>
          <p:spPr>
            <a:xfrm>
              <a:off x="7486650" y="2381250"/>
              <a:ext cx="1714500" cy="666750"/>
            </a:xfrm>
            <a:prstGeom prst="rect">
              <a:avLst/>
            </a:prstGeom>
            <a:noFill/>
          </p:spPr>
          <p:txBody>
            <a:bodyPr wrap="square" lIns="0" tIns="0" rIns="0" bIns="0" anchor="t">
              <a:spAutoFit/>
            </a:bodyPr>
            <a:lstStyle/>
            <a:p>
              <a:pPr algn="l"/>
              <a:r>
                <a:rPr sz="1400" b="1">
                  <a:solidFill>
                    <a:srgbClr val="FFFFFF"/>
                  </a:solidFill>
                  <a:latin typeface="Segoe UI"/>
                </a:rPr>
                <a:t>Name and vault</a:t>
              </a:r>
            </a:p>
          </p:txBody>
        </p:sp>
        <p:sp>
          <p:nvSpPr>
            <p:cNvPr id="43" name="Rectangle 42"/>
            <p:cNvSpPr/>
            <p:nvPr/>
          </p:nvSpPr>
          <p:spPr>
            <a:xfrm>
              <a:off x="7486650" y="3143250"/>
              <a:ext cx="1714500" cy="19050"/>
            </a:xfrm>
            <a:prstGeom prst="rect">
              <a:avLst/>
            </a:prstGeom>
            <a:solidFill>
              <a:srgbClr val="2E5286"/>
            </a:solidFill>
            <a:ln>
              <a:noFill/>
            </a:ln>
          </p:spPr>
          <p:txBody>
            <a:bodyPr rtlCol="0" anchor="ctr"/>
            <a:lstStyle/>
            <a:p>
              <a:pPr algn="ctr"/>
              <a:endParaRPr/>
            </a:p>
          </p:txBody>
        </p:sp>
        <p:sp>
          <p:nvSpPr>
            <p:cNvPr id="44" name="TextBox 43"/>
            <p:cNvSpPr txBox="1"/>
            <p:nvPr/>
          </p:nvSpPr>
          <p:spPr>
            <a:xfrm>
              <a:off x="7486650" y="3295650"/>
              <a:ext cx="1714500" cy="171450"/>
            </a:xfrm>
            <a:prstGeom prst="rect">
              <a:avLst/>
            </a:prstGeom>
            <a:noFill/>
          </p:spPr>
          <p:txBody>
            <a:bodyPr wrap="square" lIns="0" tIns="0" rIns="0" bIns="0" anchor="t">
              <a:spAutoFit/>
            </a:bodyPr>
            <a:lstStyle/>
            <a:p>
              <a:pPr algn="l"/>
              <a:r>
                <a:rPr sz="1000" b="1" spc="200">
                  <a:solidFill>
                    <a:srgbClr val="FFB938"/>
                  </a:solidFill>
                  <a:latin typeface="Century Gothic"/>
                </a:rPr>
                <a:t>IT CREATES</a:t>
              </a:r>
            </a:p>
          </p:txBody>
        </p:sp>
        <p:sp>
          <p:nvSpPr>
            <p:cNvPr id="45" name="TextBox 44"/>
            <p:cNvSpPr txBox="1"/>
            <p:nvPr/>
          </p:nvSpPr>
          <p:spPr>
            <a:xfrm>
              <a:off x="7486650" y="3524250"/>
              <a:ext cx="1714500" cy="1047750"/>
            </a:xfrm>
            <a:prstGeom prst="rect">
              <a:avLst/>
            </a:prstGeom>
            <a:noFill/>
          </p:spPr>
          <p:txBody>
            <a:bodyPr wrap="square" lIns="0" tIns="0" rIns="0" bIns="0" anchor="t">
              <a:spAutoFit/>
            </a:bodyPr>
            <a:lstStyle/>
            <a:p>
              <a:pPr algn="l"/>
              <a:r>
                <a:rPr sz="1350" b="0">
                  <a:solidFill>
                    <a:srgbClr val="B0C0D9"/>
                  </a:solidFill>
                  <a:latin typeface="Segoe UI"/>
                </a:rPr>
                <a:t>Backup policy on the vault. Interval and retention are set in backup.tf, not here.</a:t>
              </a:r>
            </a:p>
          </p:txBody>
        </p:sp>
      </p:grpSp>
      <p:grpSp>
        <p:nvGrpSpPr>
          <p:cNvPr id="46" name="anim|rise|1.11"/>
          <p:cNvGrpSpPr/>
          <p:nvPr/>
        </p:nvGrpSpPr>
        <p:grpSpPr>
          <a:xfrm>
            <a:off x="9563100" y="1485900"/>
            <a:ext cx="2057400" cy="3162300"/>
            <a:chOff x="9563100" y="1485900"/>
            <a:chExt cx="2057400" cy="3162300"/>
          </a:xfrm>
        </p:grpSpPr>
        <p:sp>
          <p:nvSpPr>
            <p:cNvPr id="47" name="Rounded Rectangle 46"/>
            <p:cNvSpPr/>
            <p:nvPr/>
          </p:nvSpPr>
          <p:spPr>
            <a:xfrm>
              <a:off x="9563100" y="1485900"/>
              <a:ext cx="2057400" cy="3162300"/>
            </a:xfrm>
            <a:prstGeom prst="roundRect">
              <a:avLst>
                <a:gd name="adj" fmla="val 8333"/>
              </a:avLst>
            </a:prstGeom>
            <a:solidFill>
              <a:srgbClr val="1E3A68"/>
            </a:solidFill>
            <a:ln>
              <a:noFill/>
            </a:ln>
          </p:spPr>
          <p:txBody>
            <a:bodyPr rtlCol="0" anchor="ctr"/>
            <a:lstStyle/>
            <a:p>
              <a:pPr algn="ctr"/>
              <a:endParaRPr/>
            </a:p>
          </p:txBody>
        </p:sp>
        <p:sp>
          <p:nvSpPr>
            <p:cNvPr id="48" name="Rounded Rectangle 47"/>
            <p:cNvSpPr/>
            <p:nvPr/>
          </p:nvSpPr>
          <p:spPr>
            <a:xfrm>
              <a:off x="9696450" y="1657350"/>
              <a:ext cx="1790700" cy="304800"/>
            </a:xfrm>
            <a:prstGeom prst="roundRect">
              <a:avLst>
                <a:gd name="adj" fmla="val 31250"/>
              </a:avLst>
            </a:prstGeom>
            <a:solidFill>
              <a:srgbClr val="14284B"/>
            </a:solidFill>
            <a:ln>
              <a:noFill/>
            </a:ln>
          </p:spPr>
          <p:txBody>
            <a:bodyPr rtlCol="0" anchor="ctr"/>
            <a:lstStyle/>
            <a:p>
              <a:pPr algn="ctr"/>
              <a:endParaRPr/>
            </a:p>
          </p:txBody>
        </p:sp>
        <p:sp>
          <p:nvSpPr>
            <p:cNvPr id="49" name="TextBox 48"/>
            <p:cNvSpPr txBox="1"/>
            <p:nvPr/>
          </p:nvSpPr>
          <p:spPr>
            <a:xfrm>
              <a:off x="9696450" y="1657350"/>
              <a:ext cx="1790700" cy="304800"/>
            </a:xfrm>
            <a:prstGeom prst="rect">
              <a:avLst/>
            </a:prstGeom>
            <a:noFill/>
          </p:spPr>
          <p:txBody>
            <a:bodyPr wrap="square" lIns="0" tIns="0" rIns="0" bIns="0" anchor="ctr">
              <a:spAutoFit/>
            </a:bodyPr>
            <a:lstStyle/>
            <a:p>
              <a:pPr algn="ctr"/>
              <a:r>
                <a:rPr sz="1150" b="1">
                  <a:solidFill>
                    <a:srgbClr val="59BEC9"/>
                  </a:solidFill>
                  <a:latin typeface="Consolas"/>
                </a:rPr>
                <a:t>backup_instance</a:t>
              </a:r>
            </a:p>
          </p:txBody>
        </p:sp>
        <p:sp>
          <p:nvSpPr>
            <p:cNvPr id="50" name="TextBox 49"/>
            <p:cNvSpPr txBox="1"/>
            <p:nvPr/>
          </p:nvSpPr>
          <p:spPr>
            <a:xfrm>
              <a:off x="9734550" y="2152650"/>
              <a:ext cx="1714500" cy="171450"/>
            </a:xfrm>
            <a:prstGeom prst="rect">
              <a:avLst/>
            </a:prstGeom>
            <a:noFill/>
          </p:spPr>
          <p:txBody>
            <a:bodyPr wrap="square" lIns="0" tIns="0" rIns="0" bIns="0" anchor="t">
              <a:spAutoFit/>
            </a:bodyPr>
            <a:lstStyle/>
            <a:p>
              <a:pPr algn="l"/>
              <a:r>
                <a:rPr sz="1000" b="1" spc="200">
                  <a:solidFill>
                    <a:srgbClr val="59BEC9"/>
                  </a:solidFill>
                  <a:latin typeface="Century Gothic"/>
                </a:rPr>
                <a:t>YOU PUT IN</a:t>
              </a:r>
            </a:p>
          </p:txBody>
        </p:sp>
        <p:sp>
          <p:nvSpPr>
            <p:cNvPr id="51" name="TextBox 50"/>
            <p:cNvSpPr txBox="1"/>
            <p:nvPr/>
          </p:nvSpPr>
          <p:spPr>
            <a:xfrm>
              <a:off x="9734550" y="2381250"/>
              <a:ext cx="1714500" cy="666750"/>
            </a:xfrm>
            <a:prstGeom prst="rect">
              <a:avLst/>
            </a:prstGeom>
            <a:noFill/>
          </p:spPr>
          <p:txBody>
            <a:bodyPr wrap="square" lIns="0" tIns="0" rIns="0" bIns="0" anchor="t">
              <a:spAutoFit/>
            </a:bodyPr>
            <a:lstStyle/>
            <a:p>
              <a:pPr algn="l"/>
              <a:r>
                <a:rPr sz="1400" b="1">
                  <a:solidFill>
                    <a:srgbClr val="FFFFFF"/>
                  </a:solidFill>
                  <a:latin typeface="Segoe UI"/>
                </a:rPr>
                <a:t>Cluster and policy</a:t>
              </a:r>
            </a:p>
          </p:txBody>
        </p:sp>
        <p:sp>
          <p:nvSpPr>
            <p:cNvPr id="52" name="Rectangle 51"/>
            <p:cNvSpPr/>
            <p:nvPr/>
          </p:nvSpPr>
          <p:spPr>
            <a:xfrm>
              <a:off x="9734550" y="3143250"/>
              <a:ext cx="1714500" cy="19050"/>
            </a:xfrm>
            <a:prstGeom prst="rect">
              <a:avLst/>
            </a:prstGeom>
            <a:solidFill>
              <a:srgbClr val="2E5286"/>
            </a:solidFill>
            <a:ln>
              <a:noFill/>
            </a:ln>
          </p:spPr>
          <p:txBody>
            <a:bodyPr rtlCol="0" anchor="ctr"/>
            <a:lstStyle/>
            <a:p>
              <a:pPr algn="ctr"/>
              <a:endParaRPr/>
            </a:p>
          </p:txBody>
        </p:sp>
        <p:sp>
          <p:nvSpPr>
            <p:cNvPr id="53" name="TextBox 52"/>
            <p:cNvSpPr txBox="1"/>
            <p:nvPr/>
          </p:nvSpPr>
          <p:spPr>
            <a:xfrm>
              <a:off x="9734550" y="3295650"/>
              <a:ext cx="1714500" cy="171450"/>
            </a:xfrm>
            <a:prstGeom prst="rect">
              <a:avLst/>
            </a:prstGeom>
            <a:noFill/>
          </p:spPr>
          <p:txBody>
            <a:bodyPr wrap="square" lIns="0" tIns="0" rIns="0" bIns="0" anchor="t">
              <a:spAutoFit/>
            </a:bodyPr>
            <a:lstStyle/>
            <a:p>
              <a:pPr algn="l"/>
              <a:r>
                <a:rPr sz="1000" b="1" spc="200">
                  <a:solidFill>
                    <a:srgbClr val="FFB938"/>
                  </a:solidFill>
                  <a:latin typeface="Century Gothic"/>
                </a:rPr>
                <a:t>IT CREATES</a:t>
              </a:r>
            </a:p>
          </p:txBody>
        </p:sp>
        <p:sp>
          <p:nvSpPr>
            <p:cNvPr id="54" name="TextBox 53"/>
            <p:cNvSpPr txBox="1"/>
            <p:nvPr/>
          </p:nvSpPr>
          <p:spPr>
            <a:xfrm>
              <a:off x="9734550" y="3524250"/>
              <a:ext cx="1714500" cy="1047750"/>
            </a:xfrm>
            <a:prstGeom prst="rect">
              <a:avLst/>
            </a:prstGeom>
            <a:noFill/>
          </p:spPr>
          <p:txBody>
            <a:bodyPr wrap="square" lIns="0" tIns="0" rIns="0" bIns="0" anchor="t">
              <a:spAutoFit/>
            </a:bodyPr>
            <a:lstStyle/>
            <a:p>
              <a:pPr algn="l"/>
              <a:r>
                <a:rPr sz="1350" b="0">
                  <a:solidFill>
                    <a:srgbClr val="B0C0D9"/>
                  </a:solidFill>
                  <a:latin typeface="Segoe UI"/>
                </a:rPr>
                <a:t>Backup instance, plus Trusted Access and role assignments for that cluster</a:t>
              </a:r>
            </a:p>
          </p:txBody>
        </p:sp>
      </p:grpSp>
      <p:grpSp>
        <p:nvGrpSpPr>
          <p:cNvPr id="55" name="anim|rise|1.25"/>
          <p:cNvGrpSpPr/>
          <p:nvPr/>
        </p:nvGrpSpPr>
        <p:grpSpPr>
          <a:xfrm>
            <a:off x="571500" y="4838700"/>
            <a:ext cx="11049000" cy="1257300"/>
            <a:chOff x="571500" y="4838700"/>
            <a:chExt cx="11049000" cy="1257300"/>
          </a:xfrm>
        </p:grpSpPr>
        <p:sp>
          <p:nvSpPr>
            <p:cNvPr id="56" name="Rounded Rectangle 55"/>
            <p:cNvSpPr/>
            <p:nvPr/>
          </p:nvSpPr>
          <p:spPr>
            <a:xfrm>
              <a:off x="571500" y="4838700"/>
              <a:ext cx="11049000" cy="1257300"/>
            </a:xfrm>
            <a:prstGeom prst="roundRect">
              <a:avLst>
                <a:gd name="adj" fmla="val 13636"/>
              </a:avLst>
            </a:prstGeom>
            <a:solidFill>
              <a:srgbClr val="1E3A68"/>
            </a:solidFill>
            <a:ln w="19050">
              <a:solidFill>
                <a:srgbClr val="FFB938"/>
              </a:solidFill>
            </a:ln>
          </p:spPr>
          <p:txBody>
            <a:bodyPr rtlCol="0" anchor="ctr"/>
            <a:lstStyle/>
            <a:p>
              <a:pPr algn="ctr"/>
              <a:endParaRPr/>
            </a:p>
          </p:txBody>
        </p:sp>
        <p:pic>
          <p:nvPicPr>
            <p:cNvPr id="57" name="Picture 56" descr="target_amber.png"/>
            <p:cNvPicPr>
              <a:picLocks noChangeAspect="1"/>
            </p:cNvPicPr>
            <p:nvPr/>
          </p:nvPicPr>
          <p:blipFill>
            <a:blip r:embed="rId2"/>
            <a:stretch>
              <a:fillRect/>
            </a:stretch>
          </p:blipFill>
          <p:spPr>
            <a:xfrm>
              <a:off x="781050" y="5324475"/>
              <a:ext cx="285750" cy="285750"/>
            </a:xfrm>
            <a:prstGeom prst="rect">
              <a:avLst/>
            </a:prstGeom>
          </p:spPr>
        </p:pic>
        <p:sp>
          <p:nvSpPr>
            <p:cNvPr id="58" name="TextBox 57"/>
            <p:cNvSpPr txBox="1"/>
            <p:nvPr/>
          </p:nvSpPr>
          <p:spPr>
            <a:xfrm>
              <a:off x="1200150" y="4838700"/>
              <a:ext cx="10191750" cy="1257300"/>
            </a:xfrm>
            <a:prstGeom prst="rect">
              <a:avLst/>
            </a:prstGeom>
            <a:noFill/>
          </p:spPr>
          <p:txBody>
            <a:bodyPr wrap="square" lIns="0" tIns="0" rIns="0" bIns="0" anchor="ctr">
              <a:spAutoFit/>
            </a:bodyPr>
            <a:lstStyle/>
            <a:p>
              <a:pPr algn="l"/>
              <a:r>
                <a:rPr sz="1450" b="0">
                  <a:solidFill>
                    <a:srgbClr val="FFFFFF"/>
                  </a:solidFill>
                  <a:latin typeface="Segoe UI"/>
                </a:rPr>
                <a:t>The -rst cluster: every -rst entry is commented out in the dev conf.yaml (the cluster definition, the backup extension, and per-cluster entries such as cert_manager and ACR). It gets an extension but no backup instance, so it is a restore target and is not backed up itself.</a:t>
              </a:r>
            </a:p>
          </p:txBody>
        </p:sp>
      </p:grpSp>
    </p:spTree>
  </p:cSld>
  <p:clrMapOvr>
    <a:masterClrMapping/>
  </p:clrMapOvr>
  <mc:AlternateContent xmlns:mc="http://schemas.openxmlformats.org/markup-compatibility/2006">
    <mc:Choice xmlns:p14="http://schemas.microsoft.com/office/powerpoint/2010/main" Requires="p14">
      <p:transition spd="slow" p14:dur="800">
        <p:fad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5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50"/>
                                        <p:tgtEl>
                                          <p:spTgt spid="3"/>
                                        </p:tgtEl>
                                      </p:cBhvr>
                                    </p:animEffect>
                                  </p:childTnLst>
                                </p:cTn>
                              </p:par>
                              <p:par>
                                <p:cTn id="8" presetID="22" presetClass="entr" presetSubtype="8" fill="hold" grpId="0" nodeType="withEffect">
                                  <p:stCondLst>
                                    <p:cond delay="100"/>
                                  </p:stCondLst>
                                  <p:childTnLst>
                                    <p:set>
                                      <p:cBhvr>
                                        <p:cTn id="9" dur="1" fill="hold">
                                          <p:stCondLst>
                                            <p:cond delay="0"/>
                                          </p:stCondLst>
                                        </p:cTn>
                                        <p:tgtEl>
                                          <p:spTgt spid="6"/>
                                        </p:tgtEl>
                                        <p:attrNameLst>
                                          <p:attrName>style.visibility</p:attrName>
                                        </p:attrNameLst>
                                      </p:cBhvr>
                                      <p:to>
                                        <p:strVal val="visible"/>
                                      </p:to>
                                    </p:set>
                                    <p:animEffect transition="in" filter="wipe(left)">
                                      <p:cBhvr>
                                        <p:cTn id="10" dur="700"/>
                                        <p:tgtEl>
                                          <p:spTgt spid="6"/>
                                        </p:tgtEl>
                                      </p:cBhvr>
                                    </p:animEffect>
                                  </p:childTnLst>
                                </p:cTn>
                              </p:par>
                              <p:par>
                                <p:cTn id="11" presetID="10" presetClass="entr" presetSubtype="0" fill="hold" grpId="0" nodeType="withEffect">
                                  <p:stCondLst>
                                    <p:cond delay="45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50"/>
                                        <p:tgtEl>
                                          <p:spTgt spid="7"/>
                                        </p:tgtEl>
                                      </p:cBhvr>
                                    </p:animEffect>
                                  </p:childTnLst>
                                </p:cTn>
                              </p:par>
                              <p:par>
                                <p:cTn id="14" presetID="37" presetClass="entr" presetSubtype="0" fill="hold" nodeType="withEffect">
                                  <p:stCondLst>
                                    <p:cond delay="55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50"/>
                                        <p:tgtEl>
                                          <p:spTgt spid="10"/>
                                        </p:tgtEl>
                                      </p:cBhvr>
                                    </p:animEffect>
                                    <p:anim calcmode="lin" valueType="num">
                                      <p:cBhvr>
                                        <p:cTn id="17" dur="550" fill="hold"/>
                                        <p:tgtEl>
                                          <p:spTgt spid="10"/>
                                        </p:tgtEl>
                                        <p:attrNameLst>
                                          <p:attrName>ppt_x</p:attrName>
                                        </p:attrNameLst>
                                      </p:cBhvr>
                                      <p:tavLst>
                                        <p:tav tm="0">
                                          <p:val>
                                            <p:strVal val="#ppt_x"/>
                                          </p:val>
                                        </p:tav>
                                        <p:tav tm="100000">
                                          <p:val>
                                            <p:strVal val="#ppt_x"/>
                                          </p:val>
                                        </p:tav>
                                      </p:tavLst>
                                    </p:anim>
                                    <p:anim calcmode="lin" valueType="num">
                                      <p:cBhvr>
                                        <p:cTn id="18" dur="495" decel="100000" fill="hold"/>
                                        <p:tgtEl>
                                          <p:spTgt spid="10"/>
                                        </p:tgtEl>
                                        <p:attrNameLst>
                                          <p:attrName>ppt_y</p:attrName>
                                        </p:attrNameLst>
                                      </p:cBhvr>
                                      <p:tavLst>
                                        <p:tav tm="0">
                                          <p:val>
                                            <p:strVal val="#ppt_y+1"/>
                                          </p:val>
                                        </p:tav>
                                        <p:tav tm="100000">
                                          <p:val>
                                            <p:strVal val="#ppt_y-.03"/>
                                          </p:val>
                                        </p:tav>
                                      </p:tavLst>
                                    </p:anim>
                                    <p:anim calcmode="lin" valueType="num">
                                      <p:cBhvr>
                                        <p:cTn id="19" dur="55" accel="100000" fill="hold">
                                          <p:stCondLst>
                                            <p:cond delay="495"/>
                                          </p:stCondLst>
                                        </p:cTn>
                                        <p:tgtEl>
                                          <p:spTgt spid="10"/>
                                        </p:tgtEl>
                                        <p:attrNameLst>
                                          <p:attrName>ppt_y</p:attrName>
                                        </p:attrNameLst>
                                      </p:cBhvr>
                                      <p:tavLst>
                                        <p:tav tm="0">
                                          <p:val>
                                            <p:strVal val="#ppt_y-.03"/>
                                          </p:val>
                                        </p:tav>
                                        <p:tav tm="100000">
                                          <p:val>
                                            <p:strVal val="#ppt_y"/>
                                          </p:val>
                                        </p:tav>
                                      </p:tavLst>
                                    </p:anim>
                                  </p:childTnLst>
                                </p:cTn>
                              </p:par>
                              <p:par>
                                <p:cTn id="20" presetID="37" presetClass="entr" presetSubtype="0" fill="hold" nodeType="withEffect">
                                  <p:stCondLst>
                                    <p:cond delay="690"/>
                                  </p:stCondLst>
                                  <p:childTnLst>
                                    <p:set>
                                      <p:cBhvr>
                                        <p:cTn id="21" dur="1" fill="hold">
                                          <p:stCondLst>
                                            <p:cond delay="0"/>
                                          </p:stCondLst>
                                        </p:cTn>
                                        <p:tgtEl>
                                          <p:spTgt spid="19"/>
                                        </p:tgtEl>
                                        <p:attrNameLst>
                                          <p:attrName>style.visibility</p:attrName>
                                        </p:attrNameLst>
                                      </p:cBhvr>
                                      <p:to>
                                        <p:strVal val="visible"/>
                                      </p:to>
                                    </p:set>
                                    <p:animEffect transition="in" filter="fade">
                                      <p:cBhvr>
                                        <p:cTn id="22" dur="550"/>
                                        <p:tgtEl>
                                          <p:spTgt spid="19"/>
                                        </p:tgtEl>
                                      </p:cBhvr>
                                    </p:animEffect>
                                    <p:anim calcmode="lin" valueType="num">
                                      <p:cBhvr>
                                        <p:cTn id="23" dur="550" fill="hold"/>
                                        <p:tgtEl>
                                          <p:spTgt spid="19"/>
                                        </p:tgtEl>
                                        <p:attrNameLst>
                                          <p:attrName>ppt_x</p:attrName>
                                        </p:attrNameLst>
                                      </p:cBhvr>
                                      <p:tavLst>
                                        <p:tav tm="0">
                                          <p:val>
                                            <p:strVal val="#ppt_x"/>
                                          </p:val>
                                        </p:tav>
                                        <p:tav tm="100000">
                                          <p:val>
                                            <p:strVal val="#ppt_x"/>
                                          </p:val>
                                        </p:tav>
                                      </p:tavLst>
                                    </p:anim>
                                    <p:anim calcmode="lin" valueType="num">
                                      <p:cBhvr>
                                        <p:cTn id="24" dur="495" decel="100000" fill="hold"/>
                                        <p:tgtEl>
                                          <p:spTgt spid="19"/>
                                        </p:tgtEl>
                                        <p:attrNameLst>
                                          <p:attrName>ppt_y</p:attrName>
                                        </p:attrNameLst>
                                      </p:cBhvr>
                                      <p:tavLst>
                                        <p:tav tm="0">
                                          <p:val>
                                            <p:strVal val="#ppt_y+1"/>
                                          </p:val>
                                        </p:tav>
                                        <p:tav tm="100000">
                                          <p:val>
                                            <p:strVal val="#ppt_y-.03"/>
                                          </p:val>
                                        </p:tav>
                                      </p:tavLst>
                                    </p:anim>
                                    <p:anim calcmode="lin" valueType="num">
                                      <p:cBhvr>
                                        <p:cTn id="25" dur="55" accel="100000" fill="hold">
                                          <p:stCondLst>
                                            <p:cond delay="495"/>
                                          </p:stCondLst>
                                        </p:cTn>
                                        <p:tgtEl>
                                          <p:spTgt spid="19"/>
                                        </p:tgtEl>
                                        <p:attrNameLst>
                                          <p:attrName>ppt_y</p:attrName>
                                        </p:attrNameLst>
                                      </p:cBhvr>
                                      <p:tavLst>
                                        <p:tav tm="0">
                                          <p:val>
                                            <p:strVal val="#ppt_y-.03"/>
                                          </p:val>
                                        </p:tav>
                                        <p:tav tm="100000">
                                          <p:val>
                                            <p:strVal val="#ppt_y"/>
                                          </p:val>
                                        </p:tav>
                                      </p:tavLst>
                                    </p:anim>
                                  </p:childTnLst>
                                </p:cTn>
                              </p:par>
                              <p:par>
                                <p:cTn id="26" presetID="37" presetClass="entr" presetSubtype="0" fill="hold" nodeType="withEffect">
                                  <p:stCondLst>
                                    <p:cond delay="830"/>
                                  </p:stCondLst>
                                  <p:childTnLst>
                                    <p:set>
                                      <p:cBhvr>
                                        <p:cTn id="27" dur="1" fill="hold">
                                          <p:stCondLst>
                                            <p:cond delay="0"/>
                                          </p:stCondLst>
                                        </p:cTn>
                                        <p:tgtEl>
                                          <p:spTgt spid="28"/>
                                        </p:tgtEl>
                                        <p:attrNameLst>
                                          <p:attrName>style.visibility</p:attrName>
                                        </p:attrNameLst>
                                      </p:cBhvr>
                                      <p:to>
                                        <p:strVal val="visible"/>
                                      </p:to>
                                    </p:set>
                                    <p:animEffect transition="in" filter="fade">
                                      <p:cBhvr>
                                        <p:cTn id="28" dur="550"/>
                                        <p:tgtEl>
                                          <p:spTgt spid="28"/>
                                        </p:tgtEl>
                                      </p:cBhvr>
                                    </p:animEffect>
                                    <p:anim calcmode="lin" valueType="num">
                                      <p:cBhvr>
                                        <p:cTn id="29" dur="550" fill="hold"/>
                                        <p:tgtEl>
                                          <p:spTgt spid="28"/>
                                        </p:tgtEl>
                                        <p:attrNameLst>
                                          <p:attrName>ppt_x</p:attrName>
                                        </p:attrNameLst>
                                      </p:cBhvr>
                                      <p:tavLst>
                                        <p:tav tm="0">
                                          <p:val>
                                            <p:strVal val="#ppt_x"/>
                                          </p:val>
                                        </p:tav>
                                        <p:tav tm="100000">
                                          <p:val>
                                            <p:strVal val="#ppt_x"/>
                                          </p:val>
                                        </p:tav>
                                      </p:tavLst>
                                    </p:anim>
                                    <p:anim calcmode="lin" valueType="num">
                                      <p:cBhvr>
                                        <p:cTn id="30" dur="495" decel="100000" fill="hold"/>
                                        <p:tgtEl>
                                          <p:spTgt spid="28"/>
                                        </p:tgtEl>
                                        <p:attrNameLst>
                                          <p:attrName>ppt_y</p:attrName>
                                        </p:attrNameLst>
                                      </p:cBhvr>
                                      <p:tavLst>
                                        <p:tav tm="0">
                                          <p:val>
                                            <p:strVal val="#ppt_y+1"/>
                                          </p:val>
                                        </p:tav>
                                        <p:tav tm="100000">
                                          <p:val>
                                            <p:strVal val="#ppt_y-.03"/>
                                          </p:val>
                                        </p:tav>
                                      </p:tavLst>
                                    </p:anim>
                                    <p:anim calcmode="lin" valueType="num">
                                      <p:cBhvr>
                                        <p:cTn id="31" dur="55" accel="100000" fill="hold">
                                          <p:stCondLst>
                                            <p:cond delay="495"/>
                                          </p:stCondLst>
                                        </p:cTn>
                                        <p:tgtEl>
                                          <p:spTgt spid="28"/>
                                        </p:tgtEl>
                                        <p:attrNameLst>
                                          <p:attrName>ppt_y</p:attrName>
                                        </p:attrNameLst>
                                      </p:cBhvr>
                                      <p:tavLst>
                                        <p:tav tm="0">
                                          <p:val>
                                            <p:strVal val="#ppt_y-.03"/>
                                          </p:val>
                                        </p:tav>
                                        <p:tav tm="100000">
                                          <p:val>
                                            <p:strVal val="#ppt_y"/>
                                          </p:val>
                                        </p:tav>
                                      </p:tavLst>
                                    </p:anim>
                                  </p:childTnLst>
                                </p:cTn>
                              </p:par>
                              <p:par>
                                <p:cTn id="32" presetID="37" presetClass="entr" presetSubtype="0" fill="hold" nodeType="withEffect">
                                  <p:stCondLst>
                                    <p:cond delay="970"/>
                                  </p:stCondLst>
                                  <p:childTnLst>
                                    <p:set>
                                      <p:cBhvr>
                                        <p:cTn id="33" dur="1" fill="hold">
                                          <p:stCondLst>
                                            <p:cond delay="0"/>
                                          </p:stCondLst>
                                        </p:cTn>
                                        <p:tgtEl>
                                          <p:spTgt spid="37"/>
                                        </p:tgtEl>
                                        <p:attrNameLst>
                                          <p:attrName>style.visibility</p:attrName>
                                        </p:attrNameLst>
                                      </p:cBhvr>
                                      <p:to>
                                        <p:strVal val="visible"/>
                                      </p:to>
                                    </p:set>
                                    <p:animEffect transition="in" filter="fade">
                                      <p:cBhvr>
                                        <p:cTn id="34" dur="550"/>
                                        <p:tgtEl>
                                          <p:spTgt spid="37"/>
                                        </p:tgtEl>
                                      </p:cBhvr>
                                    </p:animEffect>
                                    <p:anim calcmode="lin" valueType="num">
                                      <p:cBhvr>
                                        <p:cTn id="35" dur="550" fill="hold"/>
                                        <p:tgtEl>
                                          <p:spTgt spid="37"/>
                                        </p:tgtEl>
                                        <p:attrNameLst>
                                          <p:attrName>ppt_x</p:attrName>
                                        </p:attrNameLst>
                                      </p:cBhvr>
                                      <p:tavLst>
                                        <p:tav tm="0">
                                          <p:val>
                                            <p:strVal val="#ppt_x"/>
                                          </p:val>
                                        </p:tav>
                                        <p:tav tm="100000">
                                          <p:val>
                                            <p:strVal val="#ppt_x"/>
                                          </p:val>
                                        </p:tav>
                                      </p:tavLst>
                                    </p:anim>
                                    <p:anim calcmode="lin" valueType="num">
                                      <p:cBhvr>
                                        <p:cTn id="36" dur="495" decel="100000" fill="hold"/>
                                        <p:tgtEl>
                                          <p:spTgt spid="37"/>
                                        </p:tgtEl>
                                        <p:attrNameLst>
                                          <p:attrName>ppt_y</p:attrName>
                                        </p:attrNameLst>
                                      </p:cBhvr>
                                      <p:tavLst>
                                        <p:tav tm="0">
                                          <p:val>
                                            <p:strVal val="#ppt_y+1"/>
                                          </p:val>
                                        </p:tav>
                                        <p:tav tm="100000">
                                          <p:val>
                                            <p:strVal val="#ppt_y-.03"/>
                                          </p:val>
                                        </p:tav>
                                      </p:tavLst>
                                    </p:anim>
                                    <p:anim calcmode="lin" valueType="num">
                                      <p:cBhvr>
                                        <p:cTn id="37" dur="55" accel="100000" fill="hold">
                                          <p:stCondLst>
                                            <p:cond delay="495"/>
                                          </p:stCondLst>
                                        </p:cTn>
                                        <p:tgtEl>
                                          <p:spTgt spid="37"/>
                                        </p:tgtEl>
                                        <p:attrNameLst>
                                          <p:attrName>ppt_y</p:attrName>
                                        </p:attrNameLst>
                                      </p:cBhvr>
                                      <p:tavLst>
                                        <p:tav tm="0">
                                          <p:val>
                                            <p:strVal val="#ppt_y-.03"/>
                                          </p:val>
                                        </p:tav>
                                        <p:tav tm="100000">
                                          <p:val>
                                            <p:strVal val="#ppt_y"/>
                                          </p:val>
                                        </p:tav>
                                      </p:tavLst>
                                    </p:anim>
                                  </p:childTnLst>
                                </p:cTn>
                              </p:par>
                              <p:par>
                                <p:cTn id="38" presetID="37" presetClass="entr" presetSubtype="0" fill="hold" nodeType="withEffect">
                                  <p:stCondLst>
                                    <p:cond delay="1110"/>
                                  </p:stCondLst>
                                  <p:childTnLst>
                                    <p:set>
                                      <p:cBhvr>
                                        <p:cTn id="39" dur="1" fill="hold">
                                          <p:stCondLst>
                                            <p:cond delay="0"/>
                                          </p:stCondLst>
                                        </p:cTn>
                                        <p:tgtEl>
                                          <p:spTgt spid="46"/>
                                        </p:tgtEl>
                                        <p:attrNameLst>
                                          <p:attrName>style.visibility</p:attrName>
                                        </p:attrNameLst>
                                      </p:cBhvr>
                                      <p:to>
                                        <p:strVal val="visible"/>
                                      </p:to>
                                    </p:set>
                                    <p:animEffect transition="in" filter="fade">
                                      <p:cBhvr>
                                        <p:cTn id="40" dur="550"/>
                                        <p:tgtEl>
                                          <p:spTgt spid="46"/>
                                        </p:tgtEl>
                                      </p:cBhvr>
                                    </p:animEffect>
                                    <p:anim calcmode="lin" valueType="num">
                                      <p:cBhvr>
                                        <p:cTn id="41" dur="550" fill="hold"/>
                                        <p:tgtEl>
                                          <p:spTgt spid="46"/>
                                        </p:tgtEl>
                                        <p:attrNameLst>
                                          <p:attrName>ppt_x</p:attrName>
                                        </p:attrNameLst>
                                      </p:cBhvr>
                                      <p:tavLst>
                                        <p:tav tm="0">
                                          <p:val>
                                            <p:strVal val="#ppt_x"/>
                                          </p:val>
                                        </p:tav>
                                        <p:tav tm="100000">
                                          <p:val>
                                            <p:strVal val="#ppt_x"/>
                                          </p:val>
                                        </p:tav>
                                      </p:tavLst>
                                    </p:anim>
                                    <p:anim calcmode="lin" valueType="num">
                                      <p:cBhvr>
                                        <p:cTn id="42" dur="495" decel="100000" fill="hold"/>
                                        <p:tgtEl>
                                          <p:spTgt spid="46"/>
                                        </p:tgtEl>
                                        <p:attrNameLst>
                                          <p:attrName>ppt_y</p:attrName>
                                        </p:attrNameLst>
                                      </p:cBhvr>
                                      <p:tavLst>
                                        <p:tav tm="0">
                                          <p:val>
                                            <p:strVal val="#ppt_y+1"/>
                                          </p:val>
                                        </p:tav>
                                        <p:tav tm="100000">
                                          <p:val>
                                            <p:strVal val="#ppt_y-.03"/>
                                          </p:val>
                                        </p:tav>
                                      </p:tavLst>
                                    </p:anim>
                                    <p:anim calcmode="lin" valueType="num">
                                      <p:cBhvr>
                                        <p:cTn id="43" dur="55" accel="100000" fill="hold">
                                          <p:stCondLst>
                                            <p:cond delay="495"/>
                                          </p:stCondLst>
                                        </p:cTn>
                                        <p:tgtEl>
                                          <p:spTgt spid="46"/>
                                        </p:tgtEl>
                                        <p:attrNameLst>
                                          <p:attrName>ppt_y</p:attrName>
                                        </p:attrNameLst>
                                      </p:cBhvr>
                                      <p:tavLst>
                                        <p:tav tm="0">
                                          <p:val>
                                            <p:strVal val="#ppt_y-.03"/>
                                          </p:val>
                                        </p:tav>
                                        <p:tav tm="100000">
                                          <p:val>
                                            <p:strVal val="#ppt_y"/>
                                          </p:val>
                                        </p:tav>
                                      </p:tavLst>
                                    </p:anim>
                                  </p:childTnLst>
                                </p:cTn>
                              </p:par>
                              <p:par>
                                <p:cTn id="44" presetID="37" presetClass="entr" presetSubtype="0" fill="hold" nodeType="withEffect">
                                  <p:stCondLst>
                                    <p:cond delay="1250"/>
                                  </p:stCondLst>
                                  <p:childTnLst>
                                    <p:set>
                                      <p:cBhvr>
                                        <p:cTn id="45" dur="1" fill="hold">
                                          <p:stCondLst>
                                            <p:cond delay="0"/>
                                          </p:stCondLst>
                                        </p:cTn>
                                        <p:tgtEl>
                                          <p:spTgt spid="55"/>
                                        </p:tgtEl>
                                        <p:attrNameLst>
                                          <p:attrName>style.visibility</p:attrName>
                                        </p:attrNameLst>
                                      </p:cBhvr>
                                      <p:to>
                                        <p:strVal val="visible"/>
                                      </p:to>
                                    </p:set>
                                    <p:animEffect transition="in" filter="fade">
                                      <p:cBhvr>
                                        <p:cTn id="46" dur="550"/>
                                        <p:tgtEl>
                                          <p:spTgt spid="55"/>
                                        </p:tgtEl>
                                      </p:cBhvr>
                                    </p:animEffect>
                                    <p:anim calcmode="lin" valueType="num">
                                      <p:cBhvr>
                                        <p:cTn id="47" dur="550" fill="hold"/>
                                        <p:tgtEl>
                                          <p:spTgt spid="55"/>
                                        </p:tgtEl>
                                        <p:attrNameLst>
                                          <p:attrName>ppt_x</p:attrName>
                                        </p:attrNameLst>
                                      </p:cBhvr>
                                      <p:tavLst>
                                        <p:tav tm="0">
                                          <p:val>
                                            <p:strVal val="#ppt_x"/>
                                          </p:val>
                                        </p:tav>
                                        <p:tav tm="100000">
                                          <p:val>
                                            <p:strVal val="#ppt_x"/>
                                          </p:val>
                                        </p:tav>
                                      </p:tavLst>
                                    </p:anim>
                                    <p:anim calcmode="lin" valueType="num">
                                      <p:cBhvr>
                                        <p:cTn id="48" dur="495" decel="100000" fill="hold"/>
                                        <p:tgtEl>
                                          <p:spTgt spid="55"/>
                                        </p:tgtEl>
                                        <p:attrNameLst>
                                          <p:attrName>ppt_y</p:attrName>
                                        </p:attrNameLst>
                                      </p:cBhvr>
                                      <p:tavLst>
                                        <p:tav tm="0">
                                          <p:val>
                                            <p:strVal val="#ppt_y+1"/>
                                          </p:val>
                                        </p:tav>
                                        <p:tav tm="100000">
                                          <p:val>
                                            <p:strVal val="#ppt_y-.03"/>
                                          </p:val>
                                        </p:tav>
                                      </p:tavLst>
                                    </p:anim>
                                    <p:anim calcmode="lin" valueType="num">
                                      <p:cBhvr>
                                        <p:cTn id="49" dur="55" accel="100000" fill="hold">
                                          <p:stCondLst>
                                            <p:cond delay="495"/>
                                          </p:stCondLst>
                                        </p:cTn>
                                        <p:tgtEl>
                                          <p:spTgt spid="55"/>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4284B"/>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57150"/>
          </a:xfrm>
          <a:prstGeom prst="rect">
            <a:avLst/>
          </a:prstGeom>
          <a:solidFill>
            <a:srgbClr val="59BEC9"/>
          </a:solidFill>
          <a:ln>
            <a:noFill/>
          </a:ln>
        </p:spPr>
        <p:txBody>
          <a:bodyPr rtlCol="0" anchor="ctr"/>
          <a:lstStyle/>
          <a:p>
            <a:pPr algn="ctr"/>
            <a:endParaRPr/>
          </a:p>
        </p:txBody>
      </p:sp>
      <p:grpSp>
        <p:nvGrpSpPr>
          <p:cNvPr id="3" name="anim|fade|0.05"/>
          <p:cNvGrpSpPr/>
          <p:nvPr/>
        </p:nvGrpSpPr>
        <p:grpSpPr>
          <a:xfrm>
            <a:off x="571500" y="266700"/>
            <a:ext cx="7105650" cy="190500"/>
            <a:chOff x="571500" y="266700"/>
            <a:chExt cx="7105650" cy="190500"/>
          </a:xfrm>
        </p:grpSpPr>
        <p:sp>
          <p:nvSpPr>
            <p:cNvPr id="4" name="Rectangle 3"/>
            <p:cNvSpPr/>
            <p:nvPr/>
          </p:nvSpPr>
          <p:spPr>
            <a:xfrm>
              <a:off x="571500" y="342900"/>
              <a:ext cx="342900" cy="47625"/>
            </a:xfrm>
            <a:prstGeom prst="rect">
              <a:avLst/>
            </a:prstGeom>
            <a:solidFill>
              <a:srgbClr val="FFB938"/>
            </a:solidFill>
            <a:ln>
              <a:noFill/>
            </a:ln>
          </p:spPr>
          <p:txBody>
            <a:bodyPr rtlCol="0" anchor="ctr"/>
            <a:lstStyle/>
            <a:p>
              <a:pPr algn="ctr"/>
              <a:endParaRPr/>
            </a:p>
          </p:txBody>
        </p:sp>
        <p:sp>
          <p:nvSpPr>
            <p:cNvPr id="5" name="TextBox 4"/>
            <p:cNvSpPr txBox="1"/>
            <p:nvPr/>
          </p:nvSpPr>
          <p:spPr>
            <a:xfrm>
              <a:off x="1009650" y="266700"/>
              <a:ext cx="6667500" cy="190500"/>
            </a:xfrm>
            <a:prstGeom prst="rect">
              <a:avLst/>
            </a:prstGeom>
            <a:noFill/>
          </p:spPr>
          <p:txBody>
            <a:bodyPr wrap="square" lIns="0" tIns="0" rIns="0" bIns="0" anchor="t">
              <a:spAutoFit/>
            </a:bodyPr>
            <a:lstStyle/>
            <a:p>
              <a:pPr algn="l"/>
              <a:r>
                <a:rPr sz="1100" b="1" spc="300">
                  <a:solidFill>
                    <a:srgbClr val="59BEC9"/>
                  </a:solidFill>
                  <a:latin typeface="Century Gothic"/>
                </a:rPr>
                <a:t>WHAT WE BUILT</a:t>
              </a:r>
            </a:p>
          </p:txBody>
        </p:sp>
      </p:grpSp>
      <p:sp>
        <p:nvSpPr>
          <p:cNvPr id="6" name="anim|wipeL|0.1"/>
          <p:cNvSpPr txBox="1"/>
          <p:nvPr/>
        </p:nvSpPr>
        <p:spPr>
          <a:xfrm>
            <a:off x="571500" y="533400"/>
            <a:ext cx="11049000" cy="533400"/>
          </a:xfrm>
          <a:prstGeom prst="rect">
            <a:avLst/>
          </a:prstGeom>
          <a:noFill/>
        </p:spPr>
        <p:txBody>
          <a:bodyPr wrap="square" lIns="0" tIns="0" rIns="0" bIns="0" anchor="t">
            <a:spAutoFit/>
          </a:bodyPr>
          <a:lstStyle/>
          <a:p>
            <a:pPr algn="l"/>
            <a:r>
              <a:rPr sz="3100" b="1">
                <a:solidFill>
                  <a:srgbClr val="FFFFFF"/>
                </a:solidFill>
                <a:latin typeface="Century Gothic"/>
              </a:rPr>
              <a:t>How we deploy AKS Backup</a:t>
            </a:r>
          </a:p>
        </p:txBody>
      </p:sp>
      <p:sp>
        <p:nvSpPr>
          <p:cNvPr id="7" name="anim|fade|0.45"/>
          <p:cNvSpPr txBox="1"/>
          <p:nvPr/>
        </p:nvSpPr>
        <p:spPr>
          <a:xfrm>
            <a:off x="571500" y="1028700"/>
            <a:ext cx="11049000" cy="247650"/>
          </a:xfrm>
          <a:prstGeom prst="rect">
            <a:avLst/>
          </a:prstGeom>
          <a:noFill/>
        </p:spPr>
        <p:txBody>
          <a:bodyPr wrap="square" lIns="0" tIns="0" rIns="0" bIns="0" anchor="t">
            <a:spAutoFit/>
          </a:bodyPr>
          <a:lstStyle/>
          <a:p>
            <a:pPr algn="l"/>
            <a:r>
              <a:rPr sz="1500" b="0">
                <a:solidFill>
                  <a:srgbClr val="B0C0D9"/>
                </a:solidFill>
                <a:latin typeface="Segoe UI"/>
              </a:rPr>
              <a:t>Four steps, all through code and the pipeline</a:t>
            </a:r>
          </a:p>
        </p:txBody>
      </p:sp>
      <p:sp>
        <p:nvSpPr>
          <p:cNvPr id="8" name="TextBox 7"/>
          <p:cNvSpPr txBox="1"/>
          <p:nvPr/>
        </p:nvSpPr>
        <p:spPr>
          <a:xfrm>
            <a:off x="571500" y="6534150"/>
            <a:ext cx="6667500" cy="171450"/>
          </a:xfrm>
          <a:prstGeom prst="rect">
            <a:avLst/>
          </a:prstGeom>
          <a:noFill/>
        </p:spPr>
        <p:txBody>
          <a:bodyPr wrap="square" lIns="0" tIns="0" rIns="0" bIns="0" anchor="t">
            <a:spAutoFit/>
          </a:bodyPr>
          <a:lstStyle/>
          <a:p>
            <a:pPr algn="l"/>
            <a:r>
              <a:rPr sz="950" b="0">
                <a:solidFill>
                  <a:srgbClr val="B0C0D9"/>
                </a:solidFill>
                <a:latin typeface="Segoe UI"/>
              </a:rPr>
              <a:t>AKS Backup &amp; Restore  |  BFH AKS IHUB Platform Team</a:t>
            </a:r>
          </a:p>
        </p:txBody>
      </p:sp>
      <p:sp>
        <p:nvSpPr>
          <p:cNvPr id="9" name="TextBox 8"/>
          <p:cNvSpPr txBox="1"/>
          <p:nvPr/>
        </p:nvSpPr>
        <p:spPr>
          <a:xfrm>
            <a:off x="10668000" y="6534150"/>
            <a:ext cx="952500" cy="171450"/>
          </a:xfrm>
          <a:prstGeom prst="rect">
            <a:avLst/>
          </a:prstGeom>
          <a:noFill/>
        </p:spPr>
        <p:txBody>
          <a:bodyPr wrap="square" lIns="0" tIns="0" rIns="0" bIns="0" anchor="t">
            <a:spAutoFit/>
          </a:bodyPr>
          <a:lstStyle/>
          <a:p>
            <a:pPr algn="r"/>
            <a:r>
              <a:rPr sz="1000" b="1">
                <a:solidFill>
                  <a:srgbClr val="FFB938"/>
                </a:solidFill>
                <a:latin typeface="Century Gothic"/>
              </a:rPr>
              <a:t>11</a:t>
            </a:r>
          </a:p>
        </p:txBody>
      </p:sp>
      <p:grpSp>
        <p:nvGrpSpPr>
          <p:cNvPr id="10" name="anim|wipeL|0.55"/>
          <p:cNvGrpSpPr/>
          <p:nvPr/>
        </p:nvGrpSpPr>
        <p:grpSpPr>
          <a:xfrm>
            <a:off x="1047750" y="2019300"/>
            <a:ext cx="10096500" cy="28575"/>
            <a:chOff x="1047750" y="2019300"/>
            <a:chExt cx="10096500" cy="28575"/>
          </a:xfrm>
        </p:grpSpPr>
        <p:sp>
          <p:nvSpPr>
            <p:cNvPr id="11" name="Rectangle 10"/>
            <p:cNvSpPr/>
            <p:nvPr/>
          </p:nvSpPr>
          <p:spPr>
            <a:xfrm>
              <a:off x="1047750" y="2019300"/>
              <a:ext cx="10096500" cy="28575"/>
            </a:xfrm>
            <a:prstGeom prst="rect">
              <a:avLst/>
            </a:prstGeom>
            <a:solidFill>
              <a:srgbClr val="59BEC9"/>
            </a:solidFill>
            <a:ln>
              <a:noFill/>
            </a:ln>
          </p:spPr>
          <p:txBody>
            <a:bodyPr rtlCol="0" anchor="ctr"/>
            <a:lstStyle/>
            <a:p>
              <a:pPr algn="ctr"/>
              <a:endParaRPr/>
            </a:p>
          </p:txBody>
        </p:sp>
      </p:grpSp>
      <p:grpSp>
        <p:nvGrpSpPr>
          <p:cNvPr id="12" name="anim|rise|0.65"/>
          <p:cNvGrpSpPr/>
          <p:nvPr/>
        </p:nvGrpSpPr>
        <p:grpSpPr>
          <a:xfrm>
            <a:off x="381000" y="2457450"/>
            <a:ext cx="2571750" cy="2057400"/>
            <a:chOff x="381000" y="2457450"/>
            <a:chExt cx="2571750" cy="2057400"/>
          </a:xfrm>
        </p:grpSpPr>
        <p:sp>
          <p:nvSpPr>
            <p:cNvPr id="13" name="Rounded Rectangle 12"/>
            <p:cNvSpPr/>
            <p:nvPr/>
          </p:nvSpPr>
          <p:spPr>
            <a:xfrm>
              <a:off x="381000" y="2457450"/>
              <a:ext cx="2571750" cy="2057400"/>
            </a:xfrm>
            <a:prstGeom prst="roundRect">
              <a:avLst>
                <a:gd name="adj" fmla="val 8333"/>
              </a:avLst>
            </a:prstGeom>
            <a:solidFill>
              <a:srgbClr val="1E3A68"/>
            </a:solidFill>
            <a:ln>
              <a:noFill/>
            </a:ln>
          </p:spPr>
          <p:txBody>
            <a:bodyPr rtlCol="0" anchor="ctr"/>
            <a:lstStyle/>
            <a:p>
              <a:pPr algn="ctr"/>
              <a:endParaRPr/>
            </a:p>
          </p:txBody>
        </p:sp>
        <p:pic>
          <p:nvPicPr>
            <p:cNvPr id="14" name="Picture 13" descr="doc_teal.png"/>
            <p:cNvPicPr>
              <a:picLocks noChangeAspect="1"/>
            </p:cNvPicPr>
            <p:nvPr/>
          </p:nvPicPr>
          <p:blipFill>
            <a:blip r:embed="rId2"/>
            <a:stretch>
              <a:fillRect/>
            </a:stretch>
          </p:blipFill>
          <p:spPr>
            <a:xfrm>
              <a:off x="609600" y="2609850"/>
              <a:ext cx="342900" cy="342900"/>
            </a:xfrm>
            <a:prstGeom prst="rect">
              <a:avLst/>
            </a:prstGeom>
          </p:spPr>
        </p:pic>
        <p:sp>
          <p:nvSpPr>
            <p:cNvPr id="15" name="TextBox 14"/>
            <p:cNvSpPr txBox="1"/>
            <p:nvPr/>
          </p:nvSpPr>
          <p:spPr>
            <a:xfrm>
              <a:off x="609600" y="3028950"/>
              <a:ext cx="2114550" cy="457200"/>
            </a:xfrm>
            <a:prstGeom prst="rect">
              <a:avLst/>
            </a:prstGeom>
            <a:noFill/>
          </p:spPr>
          <p:txBody>
            <a:bodyPr wrap="square" lIns="0" tIns="0" rIns="0" bIns="0" anchor="t">
              <a:spAutoFit/>
            </a:bodyPr>
            <a:lstStyle/>
            <a:p>
              <a:pPr algn="l"/>
              <a:r>
                <a:rPr sz="1600" b="1">
                  <a:solidFill>
                    <a:srgbClr val="FFFFFF"/>
                  </a:solidFill>
                  <a:latin typeface="Century Gothic"/>
                </a:rPr>
                <a:t>Update conf.yaml</a:t>
              </a:r>
            </a:p>
          </p:txBody>
        </p:sp>
        <p:sp>
          <p:nvSpPr>
            <p:cNvPr id="16" name="TextBox 15"/>
            <p:cNvSpPr txBox="1"/>
            <p:nvPr/>
          </p:nvSpPr>
          <p:spPr>
            <a:xfrm>
              <a:off x="609600" y="3543300"/>
              <a:ext cx="2114550" cy="914400"/>
            </a:xfrm>
            <a:prstGeom prst="rect">
              <a:avLst/>
            </a:prstGeom>
            <a:noFill/>
          </p:spPr>
          <p:txBody>
            <a:bodyPr wrap="square" lIns="0" tIns="0" rIns="0" bIns="0" anchor="t">
              <a:spAutoFit/>
            </a:bodyPr>
            <a:lstStyle/>
            <a:p>
              <a:pPr algn="l"/>
              <a:r>
                <a:rPr sz="1300" b="0">
                  <a:solidFill>
                    <a:srgbClr val="B0C0D9"/>
                  </a:solidFill>
                  <a:latin typeface="Segoe UI"/>
                </a:rPr>
                <a:t>Add the backup settings for the environment you need: storage account, vault, policy and cluster.</a:t>
              </a:r>
            </a:p>
          </p:txBody>
        </p:sp>
      </p:grpSp>
      <p:grpSp>
        <p:nvGrpSpPr>
          <p:cNvPr id="17" name="anim|zoom|0.87"/>
          <p:cNvGrpSpPr/>
          <p:nvPr/>
        </p:nvGrpSpPr>
        <p:grpSpPr>
          <a:xfrm>
            <a:off x="1409700" y="1762125"/>
            <a:ext cx="514350" cy="514350"/>
            <a:chOff x="1409700" y="1762125"/>
            <a:chExt cx="514350" cy="514350"/>
          </a:xfrm>
        </p:grpSpPr>
        <p:sp>
          <p:nvSpPr>
            <p:cNvPr id="18" name="Oval 17"/>
            <p:cNvSpPr/>
            <p:nvPr/>
          </p:nvSpPr>
          <p:spPr>
            <a:xfrm>
              <a:off x="1409700" y="1762125"/>
              <a:ext cx="514350" cy="514350"/>
            </a:xfrm>
            <a:prstGeom prst="ellipse">
              <a:avLst/>
            </a:prstGeom>
            <a:solidFill>
              <a:srgbClr val="FFB938"/>
            </a:solidFill>
            <a:ln>
              <a:noFill/>
            </a:ln>
          </p:spPr>
          <p:txBody>
            <a:bodyPr rtlCol="0" anchor="ctr"/>
            <a:lstStyle/>
            <a:p>
              <a:pPr algn="ctr"/>
              <a:endParaRPr/>
            </a:p>
          </p:txBody>
        </p:sp>
        <p:sp>
          <p:nvSpPr>
            <p:cNvPr id="19" name="TextBox 18"/>
            <p:cNvSpPr txBox="1"/>
            <p:nvPr/>
          </p:nvSpPr>
          <p:spPr>
            <a:xfrm>
              <a:off x="1409700" y="1762125"/>
              <a:ext cx="514350" cy="514350"/>
            </a:xfrm>
            <a:prstGeom prst="rect">
              <a:avLst/>
            </a:prstGeom>
            <a:noFill/>
          </p:spPr>
          <p:txBody>
            <a:bodyPr wrap="square" lIns="0" tIns="0" rIns="0" bIns="0" anchor="ctr">
              <a:spAutoFit/>
            </a:bodyPr>
            <a:lstStyle/>
            <a:p>
              <a:pPr algn="ctr"/>
              <a:r>
                <a:rPr sz="2200" b="1">
                  <a:solidFill>
                    <a:srgbClr val="14284B"/>
                  </a:solidFill>
                  <a:latin typeface="Century Gothic"/>
                </a:rPr>
                <a:t>1</a:t>
              </a:r>
            </a:p>
          </p:txBody>
        </p:sp>
      </p:grpSp>
      <p:grpSp>
        <p:nvGrpSpPr>
          <p:cNvPr id="20" name="anim|rise|0.92"/>
          <p:cNvGrpSpPr/>
          <p:nvPr/>
        </p:nvGrpSpPr>
        <p:grpSpPr>
          <a:xfrm>
            <a:off x="3143250" y="2457450"/>
            <a:ext cx="2571750" cy="2133600"/>
            <a:chOff x="3143250" y="2457450"/>
            <a:chExt cx="2571750" cy="2133600"/>
          </a:xfrm>
        </p:grpSpPr>
        <p:sp>
          <p:nvSpPr>
            <p:cNvPr id="21" name="Rounded Rectangle 20"/>
            <p:cNvSpPr/>
            <p:nvPr/>
          </p:nvSpPr>
          <p:spPr>
            <a:xfrm>
              <a:off x="3143250" y="2457450"/>
              <a:ext cx="2571750" cy="2057400"/>
            </a:xfrm>
            <a:prstGeom prst="roundRect">
              <a:avLst>
                <a:gd name="adj" fmla="val 8333"/>
              </a:avLst>
            </a:prstGeom>
            <a:solidFill>
              <a:srgbClr val="1E3A68"/>
            </a:solidFill>
            <a:ln>
              <a:noFill/>
            </a:ln>
          </p:spPr>
          <p:txBody>
            <a:bodyPr rtlCol="0" anchor="ctr"/>
            <a:lstStyle/>
            <a:p>
              <a:pPr algn="ctr"/>
              <a:endParaRPr/>
            </a:p>
          </p:txBody>
        </p:sp>
        <p:pic>
          <p:nvPicPr>
            <p:cNvPr id="22" name="Picture 21" descr="branch_teal.png"/>
            <p:cNvPicPr>
              <a:picLocks noChangeAspect="1"/>
            </p:cNvPicPr>
            <p:nvPr/>
          </p:nvPicPr>
          <p:blipFill>
            <a:blip r:embed="rId3"/>
            <a:stretch>
              <a:fillRect/>
            </a:stretch>
          </p:blipFill>
          <p:spPr>
            <a:xfrm>
              <a:off x="3371850" y="2609850"/>
              <a:ext cx="342900" cy="342900"/>
            </a:xfrm>
            <a:prstGeom prst="rect">
              <a:avLst/>
            </a:prstGeom>
          </p:spPr>
        </p:pic>
        <p:sp>
          <p:nvSpPr>
            <p:cNvPr id="23" name="TextBox 22"/>
            <p:cNvSpPr txBox="1"/>
            <p:nvPr/>
          </p:nvSpPr>
          <p:spPr>
            <a:xfrm>
              <a:off x="3371850" y="3028950"/>
              <a:ext cx="2114550" cy="457200"/>
            </a:xfrm>
            <a:prstGeom prst="rect">
              <a:avLst/>
            </a:prstGeom>
            <a:noFill/>
          </p:spPr>
          <p:txBody>
            <a:bodyPr wrap="square" lIns="0" tIns="0" rIns="0" bIns="0" anchor="t">
              <a:spAutoFit/>
            </a:bodyPr>
            <a:lstStyle/>
            <a:p>
              <a:pPr algn="l"/>
              <a:r>
                <a:rPr sz="1600" b="1">
                  <a:solidFill>
                    <a:srgbClr val="FFFFFF"/>
                  </a:solidFill>
                  <a:latin typeface="Century Gothic"/>
                </a:rPr>
                <a:t>Create a PR and merge to main</a:t>
              </a:r>
            </a:p>
          </p:txBody>
        </p:sp>
        <p:sp>
          <p:nvSpPr>
            <p:cNvPr id="24" name="TextBox 23"/>
            <p:cNvSpPr txBox="1"/>
            <p:nvPr/>
          </p:nvSpPr>
          <p:spPr>
            <a:xfrm>
              <a:off x="3371850" y="3676650"/>
              <a:ext cx="2114550" cy="914400"/>
            </a:xfrm>
            <a:prstGeom prst="rect">
              <a:avLst/>
            </a:prstGeom>
            <a:noFill/>
          </p:spPr>
          <p:txBody>
            <a:bodyPr wrap="square" lIns="0" tIns="0" rIns="0" bIns="0" anchor="t">
              <a:spAutoFit/>
            </a:bodyPr>
            <a:lstStyle/>
            <a:p>
              <a:pPr algn="l"/>
              <a:r>
                <a:rPr sz="1300" b="0">
                  <a:solidFill>
                    <a:srgbClr val="B0C0D9"/>
                  </a:solidFill>
                  <a:latin typeface="Segoe UI"/>
                </a:rPr>
                <a:t>Raise a pull request with the conf.yaml change, and merge it to main after review.</a:t>
              </a:r>
            </a:p>
          </p:txBody>
        </p:sp>
      </p:grpSp>
      <p:grpSp>
        <p:nvGrpSpPr>
          <p:cNvPr id="25" name="anim|zoom|1.14"/>
          <p:cNvGrpSpPr/>
          <p:nvPr/>
        </p:nvGrpSpPr>
        <p:grpSpPr>
          <a:xfrm>
            <a:off x="4171950" y="1762125"/>
            <a:ext cx="514350" cy="514350"/>
            <a:chOff x="4171950" y="1762125"/>
            <a:chExt cx="514350" cy="514350"/>
          </a:xfrm>
        </p:grpSpPr>
        <p:sp>
          <p:nvSpPr>
            <p:cNvPr id="26" name="Oval 25"/>
            <p:cNvSpPr/>
            <p:nvPr/>
          </p:nvSpPr>
          <p:spPr>
            <a:xfrm>
              <a:off x="4171950" y="1762125"/>
              <a:ext cx="514350" cy="514350"/>
            </a:xfrm>
            <a:prstGeom prst="ellipse">
              <a:avLst/>
            </a:prstGeom>
            <a:solidFill>
              <a:srgbClr val="FFB938"/>
            </a:solidFill>
            <a:ln>
              <a:noFill/>
            </a:ln>
          </p:spPr>
          <p:txBody>
            <a:bodyPr rtlCol="0" anchor="ctr"/>
            <a:lstStyle/>
            <a:p>
              <a:pPr algn="ctr"/>
              <a:endParaRPr/>
            </a:p>
          </p:txBody>
        </p:sp>
        <p:sp>
          <p:nvSpPr>
            <p:cNvPr id="27" name="TextBox 26"/>
            <p:cNvSpPr txBox="1"/>
            <p:nvPr/>
          </p:nvSpPr>
          <p:spPr>
            <a:xfrm>
              <a:off x="4171950" y="1762125"/>
              <a:ext cx="514350" cy="514350"/>
            </a:xfrm>
            <a:prstGeom prst="rect">
              <a:avLst/>
            </a:prstGeom>
            <a:noFill/>
          </p:spPr>
          <p:txBody>
            <a:bodyPr wrap="square" lIns="0" tIns="0" rIns="0" bIns="0" anchor="ctr">
              <a:spAutoFit/>
            </a:bodyPr>
            <a:lstStyle/>
            <a:p>
              <a:pPr algn="ctr"/>
              <a:r>
                <a:rPr sz="2200" b="1">
                  <a:solidFill>
                    <a:srgbClr val="14284B"/>
                  </a:solidFill>
                  <a:latin typeface="Century Gothic"/>
                </a:rPr>
                <a:t>2</a:t>
              </a:r>
            </a:p>
          </p:txBody>
        </p:sp>
      </p:grpSp>
      <p:grpSp>
        <p:nvGrpSpPr>
          <p:cNvPr id="28" name="anim|rise|1.19"/>
          <p:cNvGrpSpPr/>
          <p:nvPr/>
        </p:nvGrpSpPr>
        <p:grpSpPr>
          <a:xfrm>
            <a:off x="5905500" y="2457450"/>
            <a:ext cx="2571750" cy="2133600"/>
            <a:chOff x="5905500" y="2457450"/>
            <a:chExt cx="2571750" cy="2133600"/>
          </a:xfrm>
        </p:grpSpPr>
        <p:sp>
          <p:nvSpPr>
            <p:cNvPr id="29" name="Rounded Rectangle 28"/>
            <p:cNvSpPr/>
            <p:nvPr/>
          </p:nvSpPr>
          <p:spPr>
            <a:xfrm>
              <a:off x="5905500" y="2457450"/>
              <a:ext cx="2571750" cy="2057400"/>
            </a:xfrm>
            <a:prstGeom prst="roundRect">
              <a:avLst>
                <a:gd name="adj" fmla="val 8333"/>
              </a:avLst>
            </a:prstGeom>
            <a:solidFill>
              <a:srgbClr val="1E3A68"/>
            </a:solidFill>
            <a:ln>
              <a:noFill/>
            </a:ln>
          </p:spPr>
          <p:txBody>
            <a:bodyPr rtlCol="0" anchor="ctr"/>
            <a:lstStyle/>
            <a:p>
              <a:pPr algn="ctr"/>
              <a:endParaRPr/>
            </a:p>
          </p:txBody>
        </p:sp>
        <p:pic>
          <p:nvPicPr>
            <p:cNvPr id="30" name="Picture 29" descr="play_teal.png"/>
            <p:cNvPicPr>
              <a:picLocks noChangeAspect="1"/>
            </p:cNvPicPr>
            <p:nvPr/>
          </p:nvPicPr>
          <p:blipFill>
            <a:blip r:embed="rId4"/>
            <a:stretch>
              <a:fillRect/>
            </a:stretch>
          </p:blipFill>
          <p:spPr>
            <a:xfrm>
              <a:off x="6134100" y="2609850"/>
              <a:ext cx="342900" cy="342900"/>
            </a:xfrm>
            <a:prstGeom prst="rect">
              <a:avLst/>
            </a:prstGeom>
          </p:spPr>
        </p:pic>
        <p:sp>
          <p:nvSpPr>
            <p:cNvPr id="31" name="TextBox 30"/>
            <p:cNvSpPr txBox="1"/>
            <p:nvPr/>
          </p:nvSpPr>
          <p:spPr>
            <a:xfrm>
              <a:off x="6134100" y="3028950"/>
              <a:ext cx="2114550" cy="457200"/>
            </a:xfrm>
            <a:prstGeom prst="rect">
              <a:avLst/>
            </a:prstGeom>
            <a:noFill/>
          </p:spPr>
          <p:txBody>
            <a:bodyPr wrap="square" lIns="0" tIns="0" rIns="0" bIns="0" anchor="t">
              <a:spAutoFit/>
            </a:bodyPr>
            <a:lstStyle/>
            <a:p>
              <a:pPr algn="l"/>
              <a:r>
                <a:rPr sz="1600" b="1">
                  <a:solidFill>
                    <a:srgbClr val="FFFFFF"/>
                  </a:solidFill>
                  <a:latin typeface="Century Gothic"/>
                </a:rPr>
                <a:t>Run the aksplatform release pipeline</a:t>
              </a:r>
            </a:p>
          </p:txBody>
        </p:sp>
        <p:sp>
          <p:nvSpPr>
            <p:cNvPr id="32" name="TextBox 31"/>
            <p:cNvSpPr txBox="1"/>
            <p:nvPr/>
          </p:nvSpPr>
          <p:spPr>
            <a:xfrm>
              <a:off x="6134100" y="3676650"/>
              <a:ext cx="2114550" cy="914400"/>
            </a:xfrm>
            <a:prstGeom prst="rect">
              <a:avLst/>
            </a:prstGeom>
            <a:noFill/>
          </p:spPr>
          <p:txBody>
            <a:bodyPr wrap="square" lIns="0" tIns="0" rIns="0" bIns="0" anchor="t">
              <a:spAutoFit/>
            </a:bodyPr>
            <a:lstStyle/>
            <a:p>
              <a:pPr algn="l"/>
              <a:r>
                <a:rPr sz="1300" b="0">
                  <a:solidFill>
                    <a:srgbClr val="B0C0D9"/>
                  </a:solidFill>
                  <a:latin typeface="Segoe UI"/>
                </a:rPr>
                <a:t>Run the release for that environment. It creates the backup resources.</a:t>
              </a:r>
            </a:p>
          </p:txBody>
        </p:sp>
      </p:grpSp>
      <p:grpSp>
        <p:nvGrpSpPr>
          <p:cNvPr id="33" name="anim|zoom|1.41"/>
          <p:cNvGrpSpPr/>
          <p:nvPr/>
        </p:nvGrpSpPr>
        <p:grpSpPr>
          <a:xfrm>
            <a:off x="6934200" y="1762125"/>
            <a:ext cx="514350" cy="514350"/>
            <a:chOff x="6934200" y="1762125"/>
            <a:chExt cx="514350" cy="514350"/>
          </a:xfrm>
        </p:grpSpPr>
        <p:sp>
          <p:nvSpPr>
            <p:cNvPr id="34" name="Oval 33"/>
            <p:cNvSpPr/>
            <p:nvPr/>
          </p:nvSpPr>
          <p:spPr>
            <a:xfrm>
              <a:off x="6934200" y="1762125"/>
              <a:ext cx="514350" cy="514350"/>
            </a:xfrm>
            <a:prstGeom prst="ellipse">
              <a:avLst/>
            </a:prstGeom>
            <a:solidFill>
              <a:srgbClr val="FFB938"/>
            </a:solidFill>
            <a:ln>
              <a:noFill/>
            </a:ln>
          </p:spPr>
          <p:txBody>
            <a:bodyPr rtlCol="0" anchor="ctr"/>
            <a:lstStyle/>
            <a:p>
              <a:pPr algn="ctr"/>
              <a:endParaRPr/>
            </a:p>
          </p:txBody>
        </p:sp>
        <p:sp>
          <p:nvSpPr>
            <p:cNvPr id="35" name="TextBox 34"/>
            <p:cNvSpPr txBox="1"/>
            <p:nvPr/>
          </p:nvSpPr>
          <p:spPr>
            <a:xfrm>
              <a:off x="6934200" y="1762125"/>
              <a:ext cx="514350" cy="514350"/>
            </a:xfrm>
            <a:prstGeom prst="rect">
              <a:avLst/>
            </a:prstGeom>
            <a:noFill/>
          </p:spPr>
          <p:txBody>
            <a:bodyPr wrap="square" lIns="0" tIns="0" rIns="0" bIns="0" anchor="ctr">
              <a:spAutoFit/>
            </a:bodyPr>
            <a:lstStyle/>
            <a:p>
              <a:pPr algn="ctr"/>
              <a:r>
                <a:rPr sz="2200" b="1">
                  <a:solidFill>
                    <a:srgbClr val="14284B"/>
                  </a:solidFill>
                  <a:latin typeface="Century Gothic"/>
                </a:rPr>
                <a:t>3</a:t>
              </a:r>
            </a:p>
          </p:txBody>
        </p:sp>
      </p:grpSp>
      <p:grpSp>
        <p:nvGrpSpPr>
          <p:cNvPr id="36" name="anim|rise|1.46"/>
          <p:cNvGrpSpPr/>
          <p:nvPr/>
        </p:nvGrpSpPr>
        <p:grpSpPr>
          <a:xfrm>
            <a:off x="8667750" y="2457450"/>
            <a:ext cx="2571750" cy="2057400"/>
            <a:chOff x="8667750" y="2457450"/>
            <a:chExt cx="2571750" cy="2057400"/>
          </a:xfrm>
        </p:grpSpPr>
        <p:sp>
          <p:nvSpPr>
            <p:cNvPr id="37" name="Rounded Rectangle 36"/>
            <p:cNvSpPr/>
            <p:nvPr/>
          </p:nvSpPr>
          <p:spPr>
            <a:xfrm>
              <a:off x="8667750" y="2457450"/>
              <a:ext cx="2571750" cy="2057400"/>
            </a:xfrm>
            <a:prstGeom prst="roundRect">
              <a:avLst>
                <a:gd name="adj" fmla="val 8333"/>
              </a:avLst>
            </a:prstGeom>
            <a:solidFill>
              <a:srgbClr val="1E3A68"/>
            </a:solidFill>
            <a:ln>
              <a:noFill/>
            </a:ln>
          </p:spPr>
          <p:txBody>
            <a:bodyPr rtlCol="0" anchor="ctr"/>
            <a:lstStyle/>
            <a:p>
              <a:pPr algn="ctr"/>
              <a:endParaRPr/>
            </a:p>
          </p:txBody>
        </p:sp>
        <p:pic>
          <p:nvPicPr>
            <p:cNvPr id="38" name="Picture 37" descr="check_teal.png"/>
            <p:cNvPicPr>
              <a:picLocks noChangeAspect="1"/>
            </p:cNvPicPr>
            <p:nvPr/>
          </p:nvPicPr>
          <p:blipFill>
            <a:blip r:embed="rId5"/>
            <a:stretch>
              <a:fillRect/>
            </a:stretch>
          </p:blipFill>
          <p:spPr>
            <a:xfrm>
              <a:off x="8896350" y="2609850"/>
              <a:ext cx="342900" cy="342900"/>
            </a:xfrm>
            <a:prstGeom prst="rect">
              <a:avLst/>
            </a:prstGeom>
          </p:spPr>
        </p:pic>
        <p:sp>
          <p:nvSpPr>
            <p:cNvPr id="39" name="TextBox 38"/>
            <p:cNvSpPr txBox="1"/>
            <p:nvPr/>
          </p:nvSpPr>
          <p:spPr>
            <a:xfrm>
              <a:off x="8896350" y="3028950"/>
              <a:ext cx="2114550" cy="457200"/>
            </a:xfrm>
            <a:prstGeom prst="rect">
              <a:avLst/>
            </a:prstGeom>
            <a:noFill/>
          </p:spPr>
          <p:txBody>
            <a:bodyPr wrap="square" lIns="0" tIns="0" rIns="0" bIns="0" anchor="t">
              <a:spAutoFit/>
            </a:bodyPr>
            <a:lstStyle/>
            <a:p>
              <a:pPr algn="l"/>
              <a:r>
                <a:rPr sz="1600" b="1">
                  <a:solidFill>
                    <a:srgbClr val="FFFFFF"/>
                  </a:solidFill>
                  <a:latin typeface="Century Gothic"/>
                </a:rPr>
                <a:t>Verify the resources</a:t>
              </a:r>
            </a:p>
          </p:txBody>
        </p:sp>
        <p:sp>
          <p:nvSpPr>
            <p:cNvPr id="40" name="TextBox 39"/>
            <p:cNvSpPr txBox="1"/>
            <p:nvPr/>
          </p:nvSpPr>
          <p:spPr>
            <a:xfrm>
              <a:off x="8896350" y="3543300"/>
              <a:ext cx="2114550" cy="914400"/>
            </a:xfrm>
            <a:prstGeom prst="rect">
              <a:avLst/>
            </a:prstGeom>
            <a:noFill/>
          </p:spPr>
          <p:txBody>
            <a:bodyPr wrap="square" lIns="0" tIns="0" rIns="0" bIns="0" anchor="t">
              <a:spAutoFit/>
            </a:bodyPr>
            <a:lstStyle/>
            <a:p>
              <a:pPr algn="l"/>
              <a:r>
                <a:rPr sz="1300" b="0">
                  <a:solidFill>
                    <a:srgbClr val="B0C0D9"/>
                  </a:solidFill>
                  <a:latin typeface="Segoe UI"/>
                </a:rPr>
                <a:t>Check the vault, the extension, the backup instance and the first backup job.</a:t>
              </a:r>
            </a:p>
          </p:txBody>
        </p:sp>
      </p:grpSp>
      <p:grpSp>
        <p:nvGrpSpPr>
          <p:cNvPr id="41" name="anim|zoom|1.68"/>
          <p:cNvGrpSpPr/>
          <p:nvPr/>
        </p:nvGrpSpPr>
        <p:grpSpPr>
          <a:xfrm>
            <a:off x="9696450" y="1762125"/>
            <a:ext cx="514350" cy="514350"/>
            <a:chOff x="9696450" y="1762125"/>
            <a:chExt cx="514350" cy="514350"/>
          </a:xfrm>
        </p:grpSpPr>
        <p:sp>
          <p:nvSpPr>
            <p:cNvPr id="42" name="Oval 41"/>
            <p:cNvSpPr/>
            <p:nvPr/>
          </p:nvSpPr>
          <p:spPr>
            <a:xfrm>
              <a:off x="9696450" y="1762125"/>
              <a:ext cx="514350" cy="514350"/>
            </a:xfrm>
            <a:prstGeom prst="ellipse">
              <a:avLst/>
            </a:prstGeom>
            <a:solidFill>
              <a:srgbClr val="FFB938"/>
            </a:solidFill>
            <a:ln>
              <a:noFill/>
            </a:ln>
          </p:spPr>
          <p:txBody>
            <a:bodyPr rtlCol="0" anchor="ctr"/>
            <a:lstStyle/>
            <a:p>
              <a:pPr algn="ctr"/>
              <a:endParaRPr/>
            </a:p>
          </p:txBody>
        </p:sp>
        <p:sp>
          <p:nvSpPr>
            <p:cNvPr id="43" name="TextBox 42"/>
            <p:cNvSpPr txBox="1"/>
            <p:nvPr/>
          </p:nvSpPr>
          <p:spPr>
            <a:xfrm>
              <a:off x="9696450" y="1762125"/>
              <a:ext cx="514350" cy="514350"/>
            </a:xfrm>
            <a:prstGeom prst="rect">
              <a:avLst/>
            </a:prstGeom>
            <a:noFill/>
          </p:spPr>
          <p:txBody>
            <a:bodyPr wrap="square" lIns="0" tIns="0" rIns="0" bIns="0" anchor="ctr">
              <a:spAutoFit/>
            </a:bodyPr>
            <a:lstStyle/>
            <a:p>
              <a:pPr algn="ctr"/>
              <a:r>
                <a:rPr sz="2200" b="1">
                  <a:solidFill>
                    <a:srgbClr val="14284B"/>
                  </a:solidFill>
                  <a:latin typeface="Century Gothic"/>
                </a:rPr>
                <a:t>4</a:t>
              </a:r>
            </a:p>
          </p:txBody>
        </p:sp>
      </p:grpSp>
      <p:sp>
        <p:nvSpPr>
          <p:cNvPr id="44" name="anim|fade|1.73"/>
          <p:cNvSpPr txBox="1"/>
          <p:nvPr/>
        </p:nvSpPr>
        <p:spPr>
          <a:xfrm>
            <a:off x="571500" y="4648200"/>
            <a:ext cx="3810000" cy="190500"/>
          </a:xfrm>
          <a:prstGeom prst="rect">
            <a:avLst/>
          </a:prstGeom>
          <a:noFill/>
        </p:spPr>
        <p:txBody>
          <a:bodyPr wrap="square" lIns="0" tIns="0" rIns="0" bIns="0" anchor="t">
            <a:spAutoFit/>
          </a:bodyPr>
          <a:lstStyle/>
          <a:p>
            <a:pPr algn="l"/>
            <a:r>
              <a:rPr sz="1100" b="1" spc="300">
                <a:solidFill>
                  <a:srgbClr val="59BEC9"/>
                </a:solidFill>
                <a:latin typeface="Century Gothic"/>
              </a:rPr>
              <a:t>VERIFY CHECKLIST</a:t>
            </a:r>
          </a:p>
        </p:txBody>
      </p:sp>
      <p:grpSp>
        <p:nvGrpSpPr>
          <p:cNvPr id="45" name="anim|rise|1.95"/>
          <p:cNvGrpSpPr/>
          <p:nvPr/>
        </p:nvGrpSpPr>
        <p:grpSpPr>
          <a:xfrm>
            <a:off x="571500" y="4914900"/>
            <a:ext cx="2095500" cy="1219200"/>
            <a:chOff x="571500" y="4914900"/>
            <a:chExt cx="2095500" cy="1219200"/>
          </a:xfrm>
        </p:grpSpPr>
        <p:sp>
          <p:nvSpPr>
            <p:cNvPr id="46" name="Rounded Rectangle 45"/>
            <p:cNvSpPr/>
            <p:nvPr/>
          </p:nvSpPr>
          <p:spPr>
            <a:xfrm>
              <a:off x="571500" y="4914900"/>
              <a:ext cx="2095500" cy="1219200"/>
            </a:xfrm>
            <a:prstGeom prst="roundRect">
              <a:avLst>
                <a:gd name="adj" fmla="val 12500"/>
              </a:avLst>
            </a:prstGeom>
            <a:solidFill>
              <a:srgbClr val="14284B"/>
            </a:solidFill>
            <a:ln w="19050">
              <a:solidFill>
                <a:srgbClr val="2E5286"/>
              </a:solidFill>
            </a:ln>
          </p:spPr>
          <p:txBody>
            <a:bodyPr rtlCol="0" anchor="ctr"/>
            <a:lstStyle/>
            <a:p>
              <a:pPr algn="ctr"/>
              <a:endParaRPr/>
            </a:p>
          </p:txBody>
        </p:sp>
        <p:pic>
          <p:nvPicPr>
            <p:cNvPr id="47" name="Picture 46" descr="check_amber.png"/>
            <p:cNvPicPr>
              <a:picLocks noChangeAspect="1"/>
            </p:cNvPicPr>
            <p:nvPr/>
          </p:nvPicPr>
          <p:blipFill>
            <a:blip r:embed="rId6"/>
            <a:stretch>
              <a:fillRect/>
            </a:stretch>
          </p:blipFill>
          <p:spPr>
            <a:xfrm>
              <a:off x="742950" y="5048250"/>
              <a:ext cx="285750" cy="285750"/>
            </a:xfrm>
            <a:prstGeom prst="rect">
              <a:avLst/>
            </a:prstGeom>
          </p:spPr>
        </p:pic>
        <p:sp>
          <p:nvSpPr>
            <p:cNvPr id="48" name="TextBox 47"/>
            <p:cNvSpPr txBox="1"/>
            <p:nvPr/>
          </p:nvSpPr>
          <p:spPr>
            <a:xfrm>
              <a:off x="742950" y="5410200"/>
              <a:ext cx="1771650" cy="666750"/>
            </a:xfrm>
            <a:prstGeom prst="rect">
              <a:avLst/>
            </a:prstGeom>
            <a:noFill/>
          </p:spPr>
          <p:txBody>
            <a:bodyPr wrap="square" lIns="0" tIns="0" rIns="0" bIns="0" anchor="t">
              <a:spAutoFit/>
            </a:bodyPr>
            <a:lstStyle/>
            <a:p>
              <a:pPr algn="l"/>
              <a:r>
                <a:rPr sz="1300" b="1">
                  <a:solidFill>
                    <a:srgbClr val="FFFFFF"/>
                  </a:solidFill>
                  <a:latin typeface="Segoe UI"/>
                </a:rPr>
                <a:t>Backup vault created</a:t>
              </a:r>
            </a:p>
          </p:txBody>
        </p:sp>
      </p:grpSp>
      <p:grpSp>
        <p:nvGrpSpPr>
          <p:cNvPr id="49" name="anim|rise|2.05"/>
          <p:cNvGrpSpPr/>
          <p:nvPr/>
        </p:nvGrpSpPr>
        <p:grpSpPr>
          <a:xfrm>
            <a:off x="2809875" y="4914900"/>
            <a:ext cx="2095500" cy="1219200"/>
            <a:chOff x="2809875" y="4914900"/>
            <a:chExt cx="2095500" cy="1219200"/>
          </a:xfrm>
        </p:grpSpPr>
        <p:sp>
          <p:nvSpPr>
            <p:cNvPr id="50" name="Rounded Rectangle 49"/>
            <p:cNvSpPr/>
            <p:nvPr/>
          </p:nvSpPr>
          <p:spPr>
            <a:xfrm>
              <a:off x="2809875" y="4914900"/>
              <a:ext cx="2095500" cy="1219200"/>
            </a:xfrm>
            <a:prstGeom prst="roundRect">
              <a:avLst>
                <a:gd name="adj" fmla="val 12500"/>
              </a:avLst>
            </a:prstGeom>
            <a:solidFill>
              <a:srgbClr val="14284B"/>
            </a:solidFill>
            <a:ln w="19050">
              <a:solidFill>
                <a:srgbClr val="2E5286"/>
              </a:solidFill>
            </a:ln>
          </p:spPr>
          <p:txBody>
            <a:bodyPr rtlCol="0" anchor="ctr"/>
            <a:lstStyle/>
            <a:p>
              <a:pPr algn="ctr"/>
              <a:endParaRPr/>
            </a:p>
          </p:txBody>
        </p:sp>
        <p:pic>
          <p:nvPicPr>
            <p:cNvPr id="51" name="Picture 50" descr="check_amber.png"/>
            <p:cNvPicPr>
              <a:picLocks noChangeAspect="1"/>
            </p:cNvPicPr>
            <p:nvPr/>
          </p:nvPicPr>
          <p:blipFill>
            <a:blip r:embed="rId6"/>
            <a:stretch>
              <a:fillRect/>
            </a:stretch>
          </p:blipFill>
          <p:spPr>
            <a:xfrm>
              <a:off x="2981325" y="5048250"/>
              <a:ext cx="285750" cy="285750"/>
            </a:xfrm>
            <a:prstGeom prst="rect">
              <a:avLst/>
            </a:prstGeom>
          </p:spPr>
        </p:pic>
        <p:sp>
          <p:nvSpPr>
            <p:cNvPr id="52" name="TextBox 51"/>
            <p:cNvSpPr txBox="1"/>
            <p:nvPr/>
          </p:nvSpPr>
          <p:spPr>
            <a:xfrm>
              <a:off x="2981325" y="5410200"/>
              <a:ext cx="1771650" cy="666750"/>
            </a:xfrm>
            <a:prstGeom prst="rect">
              <a:avLst/>
            </a:prstGeom>
            <a:noFill/>
          </p:spPr>
          <p:txBody>
            <a:bodyPr wrap="square" lIns="0" tIns="0" rIns="0" bIns="0" anchor="t">
              <a:spAutoFit/>
            </a:bodyPr>
            <a:lstStyle/>
            <a:p>
              <a:pPr algn="l"/>
              <a:r>
                <a:rPr sz="1300" b="1">
                  <a:solidFill>
                    <a:srgbClr val="FFFFFF"/>
                  </a:solidFill>
                  <a:latin typeface="Segoe UI"/>
                </a:rPr>
                <a:t>Backup extension on the cluster</a:t>
              </a:r>
            </a:p>
          </p:txBody>
        </p:sp>
      </p:grpSp>
      <p:grpSp>
        <p:nvGrpSpPr>
          <p:cNvPr id="53" name="anim|rise|2.15"/>
          <p:cNvGrpSpPr/>
          <p:nvPr/>
        </p:nvGrpSpPr>
        <p:grpSpPr>
          <a:xfrm>
            <a:off x="5048250" y="4914900"/>
            <a:ext cx="2095500" cy="1219200"/>
            <a:chOff x="5048250" y="4914900"/>
            <a:chExt cx="2095500" cy="1219200"/>
          </a:xfrm>
        </p:grpSpPr>
        <p:sp>
          <p:nvSpPr>
            <p:cNvPr id="54" name="Rounded Rectangle 53"/>
            <p:cNvSpPr/>
            <p:nvPr/>
          </p:nvSpPr>
          <p:spPr>
            <a:xfrm>
              <a:off x="5048250" y="4914900"/>
              <a:ext cx="2095500" cy="1219200"/>
            </a:xfrm>
            <a:prstGeom prst="roundRect">
              <a:avLst>
                <a:gd name="adj" fmla="val 12500"/>
              </a:avLst>
            </a:prstGeom>
            <a:solidFill>
              <a:srgbClr val="14284B"/>
            </a:solidFill>
            <a:ln w="19050">
              <a:solidFill>
                <a:srgbClr val="2E5286"/>
              </a:solidFill>
            </a:ln>
          </p:spPr>
          <p:txBody>
            <a:bodyPr rtlCol="0" anchor="ctr"/>
            <a:lstStyle/>
            <a:p>
              <a:pPr algn="ctr"/>
              <a:endParaRPr/>
            </a:p>
          </p:txBody>
        </p:sp>
        <p:pic>
          <p:nvPicPr>
            <p:cNvPr id="55" name="Picture 54" descr="check_amber.png"/>
            <p:cNvPicPr>
              <a:picLocks noChangeAspect="1"/>
            </p:cNvPicPr>
            <p:nvPr/>
          </p:nvPicPr>
          <p:blipFill>
            <a:blip r:embed="rId6"/>
            <a:stretch>
              <a:fillRect/>
            </a:stretch>
          </p:blipFill>
          <p:spPr>
            <a:xfrm>
              <a:off x="5219700" y="5048250"/>
              <a:ext cx="285750" cy="285750"/>
            </a:xfrm>
            <a:prstGeom prst="rect">
              <a:avLst/>
            </a:prstGeom>
          </p:spPr>
        </p:pic>
        <p:sp>
          <p:nvSpPr>
            <p:cNvPr id="56" name="TextBox 55"/>
            <p:cNvSpPr txBox="1"/>
            <p:nvPr/>
          </p:nvSpPr>
          <p:spPr>
            <a:xfrm>
              <a:off x="5219700" y="5410200"/>
              <a:ext cx="1771650" cy="666750"/>
            </a:xfrm>
            <a:prstGeom prst="rect">
              <a:avLst/>
            </a:prstGeom>
            <a:noFill/>
          </p:spPr>
          <p:txBody>
            <a:bodyPr wrap="square" lIns="0" tIns="0" rIns="0" bIns="0" anchor="t">
              <a:spAutoFit/>
            </a:bodyPr>
            <a:lstStyle/>
            <a:p>
              <a:pPr algn="l"/>
              <a:r>
                <a:rPr sz="1300" b="1">
                  <a:solidFill>
                    <a:srgbClr val="FFFFFF"/>
                  </a:solidFill>
                  <a:latin typeface="Segoe UI"/>
                </a:rPr>
                <a:t>Backup instance configured</a:t>
              </a:r>
            </a:p>
          </p:txBody>
        </p:sp>
      </p:grpSp>
      <p:grpSp>
        <p:nvGrpSpPr>
          <p:cNvPr id="57" name="anim|rise|2.25"/>
          <p:cNvGrpSpPr/>
          <p:nvPr/>
        </p:nvGrpSpPr>
        <p:grpSpPr>
          <a:xfrm>
            <a:off x="7286625" y="4914900"/>
            <a:ext cx="2095500" cy="1219200"/>
            <a:chOff x="7286625" y="4914900"/>
            <a:chExt cx="2095500" cy="1219200"/>
          </a:xfrm>
        </p:grpSpPr>
        <p:sp>
          <p:nvSpPr>
            <p:cNvPr id="58" name="Rounded Rectangle 57"/>
            <p:cNvSpPr/>
            <p:nvPr/>
          </p:nvSpPr>
          <p:spPr>
            <a:xfrm>
              <a:off x="7286625" y="4914900"/>
              <a:ext cx="2095500" cy="1219200"/>
            </a:xfrm>
            <a:prstGeom prst="roundRect">
              <a:avLst>
                <a:gd name="adj" fmla="val 12500"/>
              </a:avLst>
            </a:prstGeom>
            <a:solidFill>
              <a:srgbClr val="14284B"/>
            </a:solidFill>
            <a:ln w="19050">
              <a:solidFill>
                <a:srgbClr val="2E5286"/>
              </a:solidFill>
            </a:ln>
          </p:spPr>
          <p:txBody>
            <a:bodyPr rtlCol="0" anchor="ctr"/>
            <a:lstStyle/>
            <a:p>
              <a:pPr algn="ctr"/>
              <a:endParaRPr/>
            </a:p>
          </p:txBody>
        </p:sp>
        <p:pic>
          <p:nvPicPr>
            <p:cNvPr id="59" name="Picture 58" descr="check_amber.png"/>
            <p:cNvPicPr>
              <a:picLocks noChangeAspect="1"/>
            </p:cNvPicPr>
            <p:nvPr/>
          </p:nvPicPr>
          <p:blipFill>
            <a:blip r:embed="rId6"/>
            <a:stretch>
              <a:fillRect/>
            </a:stretch>
          </p:blipFill>
          <p:spPr>
            <a:xfrm>
              <a:off x="7458075" y="5048250"/>
              <a:ext cx="285750" cy="285750"/>
            </a:xfrm>
            <a:prstGeom prst="rect">
              <a:avLst/>
            </a:prstGeom>
          </p:spPr>
        </p:pic>
        <p:sp>
          <p:nvSpPr>
            <p:cNvPr id="60" name="TextBox 59"/>
            <p:cNvSpPr txBox="1"/>
            <p:nvPr/>
          </p:nvSpPr>
          <p:spPr>
            <a:xfrm>
              <a:off x="7458075" y="5410200"/>
              <a:ext cx="1771650" cy="666750"/>
            </a:xfrm>
            <a:prstGeom prst="rect">
              <a:avLst/>
            </a:prstGeom>
            <a:noFill/>
          </p:spPr>
          <p:txBody>
            <a:bodyPr wrap="square" lIns="0" tIns="0" rIns="0" bIns="0" anchor="t">
              <a:spAutoFit/>
            </a:bodyPr>
            <a:lstStyle/>
            <a:p>
              <a:pPr algn="l"/>
              <a:r>
                <a:rPr sz="1300" b="1">
                  <a:solidFill>
                    <a:srgbClr val="FFFFFF"/>
                  </a:solidFill>
                  <a:latin typeface="Segoe UI"/>
                </a:rPr>
                <a:t>First backup job completed</a:t>
              </a:r>
            </a:p>
          </p:txBody>
        </p:sp>
      </p:grpSp>
      <p:grpSp>
        <p:nvGrpSpPr>
          <p:cNvPr id="61" name="anim|rise|2.35"/>
          <p:cNvGrpSpPr/>
          <p:nvPr/>
        </p:nvGrpSpPr>
        <p:grpSpPr>
          <a:xfrm>
            <a:off x="9525000" y="4914900"/>
            <a:ext cx="2095500" cy="1219200"/>
            <a:chOff x="9525000" y="4914900"/>
            <a:chExt cx="2095500" cy="1219200"/>
          </a:xfrm>
        </p:grpSpPr>
        <p:sp>
          <p:nvSpPr>
            <p:cNvPr id="62" name="Rounded Rectangle 61"/>
            <p:cNvSpPr/>
            <p:nvPr/>
          </p:nvSpPr>
          <p:spPr>
            <a:xfrm>
              <a:off x="9525000" y="4914900"/>
              <a:ext cx="2095500" cy="1219200"/>
            </a:xfrm>
            <a:prstGeom prst="roundRect">
              <a:avLst>
                <a:gd name="adj" fmla="val 12500"/>
              </a:avLst>
            </a:prstGeom>
            <a:solidFill>
              <a:srgbClr val="14284B"/>
            </a:solidFill>
            <a:ln w="19050">
              <a:solidFill>
                <a:srgbClr val="2E5286"/>
              </a:solidFill>
            </a:ln>
          </p:spPr>
          <p:txBody>
            <a:bodyPr rtlCol="0" anchor="ctr"/>
            <a:lstStyle/>
            <a:p>
              <a:pPr algn="ctr"/>
              <a:endParaRPr/>
            </a:p>
          </p:txBody>
        </p:sp>
        <p:pic>
          <p:nvPicPr>
            <p:cNvPr id="63" name="Picture 62" descr="check_amber.png"/>
            <p:cNvPicPr>
              <a:picLocks noChangeAspect="1"/>
            </p:cNvPicPr>
            <p:nvPr/>
          </p:nvPicPr>
          <p:blipFill>
            <a:blip r:embed="rId6"/>
            <a:stretch>
              <a:fillRect/>
            </a:stretch>
          </p:blipFill>
          <p:spPr>
            <a:xfrm>
              <a:off x="9696450" y="5048250"/>
              <a:ext cx="285750" cy="285750"/>
            </a:xfrm>
            <a:prstGeom prst="rect">
              <a:avLst/>
            </a:prstGeom>
          </p:spPr>
        </p:pic>
        <p:sp>
          <p:nvSpPr>
            <p:cNvPr id="64" name="TextBox 63"/>
            <p:cNvSpPr txBox="1"/>
            <p:nvPr/>
          </p:nvSpPr>
          <p:spPr>
            <a:xfrm>
              <a:off x="9696450" y="5410200"/>
              <a:ext cx="1771650" cy="666750"/>
            </a:xfrm>
            <a:prstGeom prst="rect">
              <a:avLst/>
            </a:prstGeom>
            <a:noFill/>
          </p:spPr>
          <p:txBody>
            <a:bodyPr wrap="square" lIns="0" tIns="0" rIns="0" bIns="0" anchor="t">
              <a:spAutoFit/>
            </a:bodyPr>
            <a:lstStyle/>
            <a:p>
              <a:pPr algn="l"/>
              <a:r>
                <a:rPr sz="1300" b="1">
                  <a:solidFill>
                    <a:srgbClr val="FFFFFF"/>
                  </a:solidFill>
                  <a:latin typeface="Segoe UI"/>
                </a:rPr>
                <a:t>Private endpoint requested from the cloud team</a:t>
              </a:r>
            </a:p>
          </p:txBody>
        </p:sp>
      </p:grpSp>
    </p:spTree>
  </p:cSld>
  <p:clrMapOvr>
    <a:masterClrMapping/>
  </p:clrMapOvr>
  <mc:AlternateContent xmlns:mc="http://schemas.openxmlformats.org/markup-compatibility/2006">
    <mc:Choice xmlns:p14="http://schemas.microsoft.com/office/powerpoint/2010/main" Requires="p14">
      <p:transition spd="slow" p14:dur="800">
        <p:fad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5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50"/>
                                        <p:tgtEl>
                                          <p:spTgt spid="3"/>
                                        </p:tgtEl>
                                      </p:cBhvr>
                                    </p:animEffect>
                                  </p:childTnLst>
                                </p:cTn>
                              </p:par>
                              <p:par>
                                <p:cTn id="8" presetID="22" presetClass="entr" presetSubtype="8" fill="hold" grpId="0" nodeType="withEffect">
                                  <p:stCondLst>
                                    <p:cond delay="100"/>
                                  </p:stCondLst>
                                  <p:childTnLst>
                                    <p:set>
                                      <p:cBhvr>
                                        <p:cTn id="9" dur="1" fill="hold">
                                          <p:stCondLst>
                                            <p:cond delay="0"/>
                                          </p:stCondLst>
                                        </p:cTn>
                                        <p:tgtEl>
                                          <p:spTgt spid="6"/>
                                        </p:tgtEl>
                                        <p:attrNameLst>
                                          <p:attrName>style.visibility</p:attrName>
                                        </p:attrNameLst>
                                      </p:cBhvr>
                                      <p:to>
                                        <p:strVal val="visible"/>
                                      </p:to>
                                    </p:set>
                                    <p:animEffect transition="in" filter="wipe(left)">
                                      <p:cBhvr>
                                        <p:cTn id="10" dur="700"/>
                                        <p:tgtEl>
                                          <p:spTgt spid="6"/>
                                        </p:tgtEl>
                                      </p:cBhvr>
                                    </p:animEffect>
                                  </p:childTnLst>
                                </p:cTn>
                              </p:par>
                              <p:par>
                                <p:cTn id="11" presetID="10" presetClass="entr" presetSubtype="0" fill="hold" grpId="0" nodeType="withEffect">
                                  <p:stCondLst>
                                    <p:cond delay="45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50"/>
                                        <p:tgtEl>
                                          <p:spTgt spid="7"/>
                                        </p:tgtEl>
                                      </p:cBhvr>
                                    </p:animEffect>
                                  </p:childTnLst>
                                </p:cTn>
                              </p:par>
                              <p:par>
                                <p:cTn id="14" presetID="22" presetClass="entr" presetSubtype="8" fill="hold" nodeType="withEffect">
                                  <p:stCondLst>
                                    <p:cond delay="550"/>
                                  </p:stCondLst>
                                  <p:childTnLst>
                                    <p:set>
                                      <p:cBhvr>
                                        <p:cTn id="15" dur="1" fill="hold">
                                          <p:stCondLst>
                                            <p:cond delay="0"/>
                                          </p:stCondLst>
                                        </p:cTn>
                                        <p:tgtEl>
                                          <p:spTgt spid="10"/>
                                        </p:tgtEl>
                                        <p:attrNameLst>
                                          <p:attrName>style.visibility</p:attrName>
                                        </p:attrNameLst>
                                      </p:cBhvr>
                                      <p:to>
                                        <p:strVal val="visible"/>
                                      </p:to>
                                    </p:set>
                                    <p:animEffect transition="in" filter="wipe(left)">
                                      <p:cBhvr>
                                        <p:cTn id="16" dur="700"/>
                                        <p:tgtEl>
                                          <p:spTgt spid="10"/>
                                        </p:tgtEl>
                                      </p:cBhvr>
                                    </p:animEffect>
                                  </p:childTnLst>
                                </p:cTn>
                              </p:par>
                              <p:par>
                                <p:cTn id="17" presetID="37" presetClass="entr" presetSubtype="0" fill="hold" nodeType="withEffect">
                                  <p:stCondLst>
                                    <p:cond delay="65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550"/>
                                        <p:tgtEl>
                                          <p:spTgt spid="12"/>
                                        </p:tgtEl>
                                      </p:cBhvr>
                                    </p:animEffect>
                                    <p:anim calcmode="lin" valueType="num">
                                      <p:cBhvr>
                                        <p:cTn id="20" dur="550" fill="hold"/>
                                        <p:tgtEl>
                                          <p:spTgt spid="12"/>
                                        </p:tgtEl>
                                        <p:attrNameLst>
                                          <p:attrName>ppt_x</p:attrName>
                                        </p:attrNameLst>
                                      </p:cBhvr>
                                      <p:tavLst>
                                        <p:tav tm="0">
                                          <p:val>
                                            <p:strVal val="#ppt_x"/>
                                          </p:val>
                                        </p:tav>
                                        <p:tav tm="100000">
                                          <p:val>
                                            <p:strVal val="#ppt_x"/>
                                          </p:val>
                                        </p:tav>
                                      </p:tavLst>
                                    </p:anim>
                                    <p:anim calcmode="lin" valueType="num">
                                      <p:cBhvr>
                                        <p:cTn id="21" dur="495" decel="100000" fill="hold"/>
                                        <p:tgtEl>
                                          <p:spTgt spid="12"/>
                                        </p:tgtEl>
                                        <p:attrNameLst>
                                          <p:attrName>ppt_y</p:attrName>
                                        </p:attrNameLst>
                                      </p:cBhvr>
                                      <p:tavLst>
                                        <p:tav tm="0">
                                          <p:val>
                                            <p:strVal val="#ppt_y+1"/>
                                          </p:val>
                                        </p:tav>
                                        <p:tav tm="100000">
                                          <p:val>
                                            <p:strVal val="#ppt_y-.03"/>
                                          </p:val>
                                        </p:tav>
                                      </p:tavLst>
                                    </p:anim>
                                    <p:anim calcmode="lin" valueType="num">
                                      <p:cBhvr>
                                        <p:cTn id="22" dur="55" accel="100000" fill="hold">
                                          <p:stCondLst>
                                            <p:cond delay="495"/>
                                          </p:stCondLst>
                                        </p:cTn>
                                        <p:tgtEl>
                                          <p:spTgt spid="12"/>
                                        </p:tgtEl>
                                        <p:attrNameLst>
                                          <p:attrName>ppt_y</p:attrName>
                                        </p:attrNameLst>
                                      </p:cBhvr>
                                      <p:tavLst>
                                        <p:tav tm="0">
                                          <p:val>
                                            <p:strVal val="#ppt_y-.03"/>
                                          </p:val>
                                        </p:tav>
                                        <p:tav tm="100000">
                                          <p:val>
                                            <p:strVal val="#ppt_y"/>
                                          </p:val>
                                        </p:tav>
                                      </p:tavLst>
                                    </p:anim>
                                  </p:childTnLst>
                                </p:cTn>
                              </p:par>
                              <p:par>
                                <p:cTn id="23" presetID="23" presetClass="entr" presetSubtype="16" fill="hold" nodeType="withEffect">
                                  <p:stCondLst>
                                    <p:cond delay="870"/>
                                  </p:stCondLst>
                                  <p:childTnLst>
                                    <p:set>
                                      <p:cBhvr>
                                        <p:cTn id="24" dur="1" fill="hold">
                                          <p:stCondLst>
                                            <p:cond delay="0"/>
                                          </p:stCondLst>
                                        </p:cTn>
                                        <p:tgtEl>
                                          <p:spTgt spid="17"/>
                                        </p:tgtEl>
                                        <p:attrNameLst>
                                          <p:attrName>style.visibility</p:attrName>
                                        </p:attrNameLst>
                                      </p:cBhvr>
                                      <p:to>
                                        <p:strVal val="visible"/>
                                      </p:to>
                                    </p:set>
                                    <p:anim calcmode="lin" valueType="num">
                                      <p:cBhvr>
                                        <p:cTn id="25" dur="550" fill="hold"/>
                                        <p:tgtEl>
                                          <p:spTgt spid="17"/>
                                        </p:tgtEl>
                                        <p:attrNameLst>
                                          <p:attrName>ppt_w</p:attrName>
                                        </p:attrNameLst>
                                      </p:cBhvr>
                                      <p:tavLst>
                                        <p:tav tm="0">
                                          <p:val>
                                            <p:fltVal val="0"/>
                                          </p:val>
                                        </p:tav>
                                        <p:tav tm="100000">
                                          <p:val>
                                            <p:strVal val="#ppt_w"/>
                                          </p:val>
                                        </p:tav>
                                      </p:tavLst>
                                    </p:anim>
                                    <p:anim calcmode="lin" valueType="num">
                                      <p:cBhvr>
                                        <p:cTn id="26" dur="550" fill="hold"/>
                                        <p:tgtEl>
                                          <p:spTgt spid="17"/>
                                        </p:tgtEl>
                                        <p:attrNameLst>
                                          <p:attrName>ppt_h</p:attrName>
                                        </p:attrNameLst>
                                      </p:cBhvr>
                                      <p:tavLst>
                                        <p:tav tm="0">
                                          <p:val>
                                            <p:fltVal val="0"/>
                                          </p:val>
                                        </p:tav>
                                        <p:tav tm="100000">
                                          <p:val>
                                            <p:strVal val="#ppt_h"/>
                                          </p:val>
                                        </p:tav>
                                      </p:tavLst>
                                    </p:anim>
                                  </p:childTnLst>
                                </p:cTn>
                              </p:par>
                              <p:par>
                                <p:cTn id="27" presetID="37" presetClass="entr" presetSubtype="0" fill="hold" nodeType="withEffect">
                                  <p:stCondLst>
                                    <p:cond delay="920"/>
                                  </p:stCondLst>
                                  <p:childTnLst>
                                    <p:set>
                                      <p:cBhvr>
                                        <p:cTn id="28" dur="1" fill="hold">
                                          <p:stCondLst>
                                            <p:cond delay="0"/>
                                          </p:stCondLst>
                                        </p:cTn>
                                        <p:tgtEl>
                                          <p:spTgt spid="20"/>
                                        </p:tgtEl>
                                        <p:attrNameLst>
                                          <p:attrName>style.visibility</p:attrName>
                                        </p:attrNameLst>
                                      </p:cBhvr>
                                      <p:to>
                                        <p:strVal val="visible"/>
                                      </p:to>
                                    </p:set>
                                    <p:animEffect transition="in" filter="fade">
                                      <p:cBhvr>
                                        <p:cTn id="29" dur="550"/>
                                        <p:tgtEl>
                                          <p:spTgt spid="20"/>
                                        </p:tgtEl>
                                      </p:cBhvr>
                                    </p:animEffect>
                                    <p:anim calcmode="lin" valueType="num">
                                      <p:cBhvr>
                                        <p:cTn id="30" dur="550" fill="hold"/>
                                        <p:tgtEl>
                                          <p:spTgt spid="20"/>
                                        </p:tgtEl>
                                        <p:attrNameLst>
                                          <p:attrName>ppt_x</p:attrName>
                                        </p:attrNameLst>
                                      </p:cBhvr>
                                      <p:tavLst>
                                        <p:tav tm="0">
                                          <p:val>
                                            <p:strVal val="#ppt_x"/>
                                          </p:val>
                                        </p:tav>
                                        <p:tav tm="100000">
                                          <p:val>
                                            <p:strVal val="#ppt_x"/>
                                          </p:val>
                                        </p:tav>
                                      </p:tavLst>
                                    </p:anim>
                                    <p:anim calcmode="lin" valueType="num">
                                      <p:cBhvr>
                                        <p:cTn id="31" dur="495" decel="100000" fill="hold"/>
                                        <p:tgtEl>
                                          <p:spTgt spid="20"/>
                                        </p:tgtEl>
                                        <p:attrNameLst>
                                          <p:attrName>ppt_y</p:attrName>
                                        </p:attrNameLst>
                                      </p:cBhvr>
                                      <p:tavLst>
                                        <p:tav tm="0">
                                          <p:val>
                                            <p:strVal val="#ppt_y+1"/>
                                          </p:val>
                                        </p:tav>
                                        <p:tav tm="100000">
                                          <p:val>
                                            <p:strVal val="#ppt_y-.03"/>
                                          </p:val>
                                        </p:tav>
                                      </p:tavLst>
                                    </p:anim>
                                    <p:anim calcmode="lin" valueType="num">
                                      <p:cBhvr>
                                        <p:cTn id="32" dur="55" accel="100000" fill="hold">
                                          <p:stCondLst>
                                            <p:cond delay="495"/>
                                          </p:stCondLst>
                                        </p:cTn>
                                        <p:tgtEl>
                                          <p:spTgt spid="20"/>
                                        </p:tgtEl>
                                        <p:attrNameLst>
                                          <p:attrName>ppt_y</p:attrName>
                                        </p:attrNameLst>
                                      </p:cBhvr>
                                      <p:tavLst>
                                        <p:tav tm="0">
                                          <p:val>
                                            <p:strVal val="#ppt_y-.03"/>
                                          </p:val>
                                        </p:tav>
                                        <p:tav tm="100000">
                                          <p:val>
                                            <p:strVal val="#ppt_y"/>
                                          </p:val>
                                        </p:tav>
                                      </p:tavLst>
                                    </p:anim>
                                  </p:childTnLst>
                                </p:cTn>
                              </p:par>
                              <p:par>
                                <p:cTn id="33" presetID="23" presetClass="entr" presetSubtype="16" fill="hold" nodeType="withEffect">
                                  <p:stCondLst>
                                    <p:cond delay="1140"/>
                                  </p:stCondLst>
                                  <p:childTnLst>
                                    <p:set>
                                      <p:cBhvr>
                                        <p:cTn id="34" dur="1" fill="hold">
                                          <p:stCondLst>
                                            <p:cond delay="0"/>
                                          </p:stCondLst>
                                        </p:cTn>
                                        <p:tgtEl>
                                          <p:spTgt spid="25"/>
                                        </p:tgtEl>
                                        <p:attrNameLst>
                                          <p:attrName>style.visibility</p:attrName>
                                        </p:attrNameLst>
                                      </p:cBhvr>
                                      <p:to>
                                        <p:strVal val="visible"/>
                                      </p:to>
                                    </p:set>
                                    <p:anim calcmode="lin" valueType="num">
                                      <p:cBhvr>
                                        <p:cTn id="35" dur="550" fill="hold"/>
                                        <p:tgtEl>
                                          <p:spTgt spid="25"/>
                                        </p:tgtEl>
                                        <p:attrNameLst>
                                          <p:attrName>ppt_w</p:attrName>
                                        </p:attrNameLst>
                                      </p:cBhvr>
                                      <p:tavLst>
                                        <p:tav tm="0">
                                          <p:val>
                                            <p:fltVal val="0"/>
                                          </p:val>
                                        </p:tav>
                                        <p:tav tm="100000">
                                          <p:val>
                                            <p:strVal val="#ppt_w"/>
                                          </p:val>
                                        </p:tav>
                                      </p:tavLst>
                                    </p:anim>
                                    <p:anim calcmode="lin" valueType="num">
                                      <p:cBhvr>
                                        <p:cTn id="36" dur="550" fill="hold"/>
                                        <p:tgtEl>
                                          <p:spTgt spid="25"/>
                                        </p:tgtEl>
                                        <p:attrNameLst>
                                          <p:attrName>ppt_h</p:attrName>
                                        </p:attrNameLst>
                                      </p:cBhvr>
                                      <p:tavLst>
                                        <p:tav tm="0">
                                          <p:val>
                                            <p:fltVal val="0"/>
                                          </p:val>
                                        </p:tav>
                                        <p:tav tm="100000">
                                          <p:val>
                                            <p:strVal val="#ppt_h"/>
                                          </p:val>
                                        </p:tav>
                                      </p:tavLst>
                                    </p:anim>
                                  </p:childTnLst>
                                </p:cTn>
                              </p:par>
                              <p:par>
                                <p:cTn id="37" presetID="37" presetClass="entr" presetSubtype="0" fill="hold" nodeType="withEffect">
                                  <p:stCondLst>
                                    <p:cond delay="1190"/>
                                  </p:stCondLst>
                                  <p:childTnLst>
                                    <p:set>
                                      <p:cBhvr>
                                        <p:cTn id="38" dur="1" fill="hold">
                                          <p:stCondLst>
                                            <p:cond delay="0"/>
                                          </p:stCondLst>
                                        </p:cTn>
                                        <p:tgtEl>
                                          <p:spTgt spid="28"/>
                                        </p:tgtEl>
                                        <p:attrNameLst>
                                          <p:attrName>style.visibility</p:attrName>
                                        </p:attrNameLst>
                                      </p:cBhvr>
                                      <p:to>
                                        <p:strVal val="visible"/>
                                      </p:to>
                                    </p:set>
                                    <p:animEffect transition="in" filter="fade">
                                      <p:cBhvr>
                                        <p:cTn id="39" dur="550"/>
                                        <p:tgtEl>
                                          <p:spTgt spid="28"/>
                                        </p:tgtEl>
                                      </p:cBhvr>
                                    </p:animEffect>
                                    <p:anim calcmode="lin" valueType="num">
                                      <p:cBhvr>
                                        <p:cTn id="40" dur="550" fill="hold"/>
                                        <p:tgtEl>
                                          <p:spTgt spid="28"/>
                                        </p:tgtEl>
                                        <p:attrNameLst>
                                          <p:attrName>ppt_x</p:attrName>
                                        </p:attrNameLst>
                                      </p:cBhvr>
                                      <p:tavLst>
                                        <p:tav tm="0">
                                          <p:val>
                                            <p:strVal val="#ppt_x"/>
                                          </p:val>
                                        </p:tav>
                                        <p:tav tm="100000">
                                          <p:val>
                                            <p:strVal val="#ppt_x"/>
                                          </p:val>
                                        </p:tav>
                                      </p:tavLst>
                                    </p:anim>
                                    <p:anim calcmode="lin" valueType="num">
                                      <p:cBhvr>
                                        <p:cTn id="41" dur="495" decel="100000" fill="hold"/>
                                        <p:tgtEl>
                                          <p:spTgt spid="28"/>
                                        </p:tgtEl>
                                        <p:attrNameLst>
                                          <p:attrName>ppt_y</p:attrName>
                                        </p:attrNameLst>
                                      </p:cBhvr>
                                      <p:tavLst>
                                        <p:tav tm="0">
                                          <p:val>
                                            <p:strVal val="#ppt_y+1"/>
                                          </p:val>
                                        </p:tav>
                                        <p:tav tm="100000">
                                          <p:val>
                                            <p:strVal val="#ppt_y-.03"/>
                                          </p:val>
                                        </p:tav>
                                      </p:tavLst>
                                    </p:anim>
                                    <p:anim calcmode="lin" valueType="num">
                                      <p:cBhvr>
                                        <p:cTn id="42" dur="55" accel="100000" fill="hold">
                                          <p:stCondLst>
                                            <p:cond delay="495"/>
                                          </p:stCondLst>
                                        </p:cTn>
                                        <p:tgtEl>
                                          <p:spTgt spid="28"/>
                                        </p:tgtEl>
                                        <p:attrNameLst>
                                          <p:attrName>ppt_y</p:attrName>
                                        </p:attrNameLst>
                                      </p:cBhvr>
                                      <p:tavLst>
                                        <p:tav tm="0">
                                          <p:val>
                                            <p:strVal val="#ppt_y-.03"/>
                                          </p:val>
                                        </p:tav>
                                        <p:tav tm="100000">
                                          <p:val>
                                            <p:strVal val="#ppt_y"/>
                                          </p:val>
                                        </p:tav>
                                      </p:tavLst>
                                    </p:anim>
                                  </p:childTnLst>
                                </p:cTn>
                              </p:par>
                              <p:par>
                                <p:cTn id="43" presetID="23" presetClass="entr" presetSubtype="16" fill="hold" nodeType="withEffect">
                                  <p:stCondLst>
                                    <p:cond delay="1410"/>
                                  </p:stCondLst>
                                  <p:childTnLst>
                                    <p:set>
                                      <p:cBhvr>
                                        <p:cTn id="44" dur="1" fill="hold">
                                          <p:stCondLst>
                                            <p:cond delay="0"/>
                                          </p:stCondLst>
                                        </p:cTn>
                                        <p:tgtEl>
                                          <p:spTgt spid="33"/>
                                        </p:tgtEl>
                                        <p:attrNameLst>
                                          <p:attrName>style.visibility</p:attrName>
                                        </p:attrNameLst>
                                      </p:cBhvr>
                                      <p:to>
                                        <p:strVal val="visible"/>
                                      </p:to>
                                    </p:set>
                                    <p:anim calcmode="lin" valueType="num">
                                      <p:cBhvr>
                                        <p:cTn id="45" dur="550" fill="hold"/>
                                        <p:tgtEl>
                                          <p:spTgt spid="33"/>
                                        </p:tgtEl>
                                        <p:attrNameLst>
                                          <p:attrName>ppt_w</p:attrName>
                                        </p:attrNameLst>
                                      </p:cBhvr>
                                      <p:tavLst>
                                        <p:tav tm="0">
                                          <p:val>
                                            <p:fltVal val="0"/>
                                          </p:val>
                                        </p:tav>
                                        <p:tav tm="100000">
                                          <p:val>
                                            <p:strVal val="#ppt_w"/>
                                          </p:val>
                                        </p:tav>
                                      </p:tavLst>
                                    </p:anim>
                                    <p:anim calcmode="lin" valueType="num">
                                      <p:cBhvr>
                                        <p:cTn id="46" dur="550" fill="hold"/>
                                        <p:tgtEl>
                                          <p:spTgt spid="33"/>
                                        </p:tgtEl>
                                        <p:attrNameLst>
                                          <p:attrName>ppt_h</p:attrName>
                                        </p:attrNameLst>
                                      </p:cBhvr>
                                      <p:tavLst>
                                        <p:tav tm="0">
                                          <p:val>
                                            <p:fltVal val="0"/>
                                          </p:val>
                                        </p:tav>
                                        <p:tav tm="100000">
                                          <p:val>
                                            <p:strVal val="#ppt_h"/>
                                          </p:val>
                                        </p:tav>
                                      </p:tavLst>
                                    </p:anim>
                                  </p:childTnLst>
                                </p:cTn>
                              </p:par>
                              <p:par>
                                <p:cTn id="47" presetID="37" presetClass="entr" presetSubtype="0" fill="hold" nodeType="withEffect">
                                  <p:stCondLst>
                                    <p:cond delay="1460"/>
                                  </p:stCondLst>
                                  <p:childTnLst>
                                    <p:set>
                                      <p:cBhvr>
                                        <p:cTn id="48" dur="1" fill="hold">
                                          <p:stCondLst>
                                            <p:cond delay="0"/>
                                          </p:stCondLst>
                                        </p:cTn>
                                        <p:tgtEl>
                                          <p:spTgt spid="36"/>
                                        </p:tgtEl>
                                        <p:attrNameLst>
                                          <p:attrName>style.visibility</p:attrName>
                                        </p:attrNameLst>
                                      </p:cBhvr>
                                      <p:to>
                                        <p:strVal val="visible"/>
                                      </p:to>
                                    </p:set>
                                    <p:animEffect transition="in" filter="fade">
                                      <p:cBhvr>
                                        <p:cTn id="49" dur="550"/>
                                        <p:tgtEl>
                                          <p:spTgt spid="36"/>
                                        </p:tgtEl>
                                      </p:cBhvr>
                                    </p:animEffect>
                                    <p:anim calcmode="lin" valueType="num">
                                      <p:cBhvr>
                                        <p:cTn id="50" dur="550" fill="hold"/>
                                        <p:tgtEl>
                                          <p:spTgt spid="36"/>
                                        </p:tgtEl>
                                        <p:attrNameLst>
                                          <p:attrName>ppt_x</p:attrName>
                                        </p:attrNameLst>
                                      </p:cBhvr>
                                      <p:tavLst>
                                        <p:tav tm="0">
                                          <p:val>
                                            <p:strVal val="#ppt_x"/>
                                          </p:val>
                                        </p:tav>
                                        <p:tav tm="100000">
                                          <p:val>
                                            <p:strVal val="#ppt_x"/>
                                          </p:val>
                                        </p:tav>
                                      </p:tavLst>
                                    </p:anim>
                                    <p:anim calcmode="lin" valueType="num">
                                      <p:cBhvr>
                                        <p:cTn id="51" dur="495" decel="100000" fill="hold"/>
                                        <p:tgtEl>
                                          <p:spTgt spid="36"/>
                                        </p:tgtEl>
                                        <p:attrNameLst>
                                          <p:attrName>ppt_y</p:attrName>
                                        </p:attrNameLst>
                                      </p:cBhvr>
                                      <p:tavLst>
                                        <p:tav tm="0">
                                          <p:val>
                                            <p:strVal val="#ppt_y+1"/>
                                          </p:val>
                                        </p:tav>
                                        <p:tav tm="100000">
                                          <p:val>
                                            <p:strVal val="#ppt_y-.03"/>
                                          </p:val>
                                        </p:tav>
                                      </p:tavLst>
                                    </p:anim>
                                    <p:anim calcmode="lin" valueType="num">
                                      <p:cBhvr>
                                        <p:cTn id="52" dur="55" accel="100000" fill="hold">
                                          <p:stCondLst>
                                            <p:cond delay="495"/>
                                          </p:stCondLst>
                                        </p:cTn>
                                        <p:tgtEl>
                                          <p:spTgt spid="36"/>
                                        </p:tgtEl>
                                        <p:attrNameLst>
                                          <p:attrName>ppt_y</p:attrName>
                                        </p:attrNameLst>
                                      </p:cBhvr>
                                      <p:tavLst>
                                        <p:tav tm="0">
                                          <p:val>
                                            <p:strVal val="#ppt_y-.03"/>
                                          </p:val>
                                        </p:tav>
                                        <p:tav tm="100000">
                                          <p:val>
                                            <p:strVal val="#ppt_y"/>
                                          </p:val>
                                        </p:tav>
                                      </p:tavLst>
                                    </p:anim>
                                  </p:childTnLst>
                                </p:cTn>
                              </p:par>
                              <p:par>
                                <p:cTn id="53" presetID="23" presetClass="entr" presetSubtype="16" fill="hold" nodeType="withEffect">
                                  <p:stCondLst>
                                    <p:cond delay="1680"/>
                                  </p:stCondLst>
                                  <p:childTnLst>
                                    <p:set>
                                      <p:cBhvr>
                                        <p:cTn id="54" dur="1" fill="hold">
                                          <p:stCondLst>
                                            <p:cond delay="0"/>
                                          </p:stCondLst>
                                        </p:cTn>
                                        <p:tgtEl>
                                          <p:spTgt spid="41"/>
                                        </p:tgtEl>
                                        <p:attrNameLst>
                                          <p:attrName>style.visibility</p:attrName>
                                        </p:attrNameLst>
                                      </p:cBhvr>
                                      <p:to>
                                        <p:strVal val="visible"/>
                                      </p:to>
                                    </p:set>
                                    <p:anim calcmode="lin" valueType="num">
                                      <p:cBhvr>
                                        <p:cTn id="55" dur="550" fill="hold"/>
                                        <p:tgtEl>
                                          <p:spTgt spid="41"/>
                                        </p:tgtEl>
                                        <p:attrNameLst>
                                          <p:attrName>ppt_w</p:attrName>
                                        </p:attrNameLst>
                                      </p:cBhvr>
                                      <p:tavLst>
                                        <p:tav tm="0">
                                          <p:val>
                                            <p:fltVal val="0"/>
                                          </p:val>
                                        </p:tav>
                                        <p:tav tm="100000">
                                          <p:val>
                                            <p:strVal val="#ppt_w"/>
                                          </p:val>
                                        </p:tav>
                                      </p:tavLst>
                                    </p:anim>
                                    <p:anim calcmode="lin" valueType="num">
                                      <p:cBhvr>
                                        <p:cTn id="56" dur="550" fill="hold"/>
                                        <p:tgtEl>
                                          <p:spTgt spid="41"/>
                                        </p:tgtEl>
                                        <p:attrNameLst>
                                          <p:attrName>ppt_h</p:attrName>
                                        </p:attrNameLst>
                                      </p:cBhvr>
                                      <p:tavLst>
                                        <p:tav tm="0">
                                          <p:val>
                                            <p:fltVal val="0"/>
                                          </p:val>
                                        </p:tav>
                                        <p:tav tm="100000">
                                          <p:val>
                                            <p:strVal val="#ppt_h"/>
                                          </p:val>
                                        </p:tav>
                                      </p:tavLst>
                                    </p:anim>
                                  </p:childTnLst>
                                </p:cTn>
                              </p:par>
                              <p:par>
                                <p:cTn id="57" presetID="10" presetClass="entr" presetSubtype="0" fill="hold" grpId="0" nodeType="withEffect">
                                  <p:stCondLst>
                                    <p:cond delay="1730"/>
                                  </p:stCondLst>
                                  <p:childTnLst>
                                    <p:set>
                                      <p:cBhvr>
                                        <p:cTn id="58" dur="1" fill="hold">
                                          <p:stCondLst>
                                            <p:cond delay="0"/>
                                          </p:stCondLst>
                                        </p:cTn>
                                        <p:tgtEl>
                                          <p:spTgt spid="44"/>
                                        </p:tgtEl>
                                        <p:attrNameLst>
                                          <p:attrName>style.visibility</p:attrName>
                                        </p:attrNameLst>
                                      </p:cBhvr>
                                      <p:to>
                                        <p:strVal val="visible"/>
                                      </p:to>
                                    </p:set>
                                    <p:animEffect transition="in" filter="fade">
                                      <p:cBhvr>
                                        <p:cTn id="59" dur="550"/>
                                        <p:tgtEl>
                                          <p:spTgt spid="44"/>
                                        </p:tgtEl>
                                      </p:cBhvr>
                                    </p:animEffect>
                                  </p:childTnLst>
                                </p:cTn>
                              </p:par>
                              <p:par>
                                <p:cTn id="60" presetID="37" presetClass="entr" presetSubtype="0" fill="hold" nodeType="withEffect">
                                  <p:stCondLst>
                                    <p:cond delay="1950"/>
                                  </p:stCondLst>
                                  <p:childTnLst>
                                    <p:set>
                                      <p:cBhvr>
                                        <p:cTn id="61" dur="1" fill="hold">
                                          <p:stCondLst>
                                            <p:cond delay="0"/>
                                          </p:stCondLst>
                                        </p:cTn>
                                        <p:tgtEl>
                                          <p:spTgt spid="45"/>
                                        </p:tgtEl>
                                        <p:attrNameLst>
                                          <p:attrName>style.visibility</p:attrName>
                                        </p:attrNameLst>
                                      </p:cBhvr>
                                      <p:to>
                                        <p:strVal val="visible"/>
                                      </p:to>
                                    </p:set>
                                    <p:animEffect transition="in" filter="fade">
                                      <p:cBhvr>
                                        <p:cTn id="62" dur="550"/>
                                        <p:tgtEl>
                                          <p:spTgt spid="45"/>
                                        </p:tgtEl>
                                      </p:cBhvr>
                                    </p:animEffect>
                                    <p:anim calcmode="lin" valueType="num">
                                      <p:cBhvr>
                                        <p:cTn id="63" dur="550" fill="hold"/>
                                        <p:tgtEl>
                                          <p:spTgt spid="45"/>
                                        </p:tgtEl>
                                        <p:attrNameLst>
                                          <p:attrName>ppt_x</p:attrName>
                                        </p:attrNameLst>
                                      </p:cBhvr>
                                      <p:tavLst>
                                        <p:tav tm="0">
                                          <p:val>
                                            <p:strVal val="#ppt_x"/>
                                          </p:val>
                                        </p:tav>
                                        <p:tav tm="100000">
                                          <p:val>
                                            <p:strVal val="#ppt_x"/>
                                          </p:val>
                                        </p:tav>
                                      </p:tavLst>
                                    </p:anim>
                                    <p:anim calcmode="lin" valueType="num">
                                      <p:cBhvr>
                                        <p:cTn id="64" dur="495" decel="100000" fill="hold"/>
                                        <p:tgtEl>
                                          <p:spTgt spid="45"/>
                                        </p:tgtEl>
                                        <p:attrNameLst>
                                          <p:attrName>ppt_y</p:attrName>
                                        </p:attrNameLst>
                                      </p:cBhvr>
                                      <p:tavLst>
                                        <p:tav tm="0">
                                          <p:val>
                                            <p:strVal val="#ppt_y+1"/>
                                          </p:val>
                                        </p:tav>
                                        <p:tav tm="100000">
                                          <p:val>
                                            <p:strVal val="#ppt_y-.03"/>
                                          </p:val>
                                        </p:tav>
                                      </p:tavLst>
                                    </p:anim>
                                    <p:anim calcmode="lin" valueType="num">
                                      <p:cBhvr>
                                        <p:cTn id="65" dur="55" accel="100000" fill="hold">
                                          <p:stCondLst>
                                            <p:cond delay="495"/>
                                          </p:stCondLst>
                                        </p:cTn>
                                        <p:tgtEl>
                                          <p:spTgt spid="45"/>
                                        </p:tgtEl>
                                        <p:attrNameLst>
                                          <p:attrName>ppt_y</p:attrName>
                                        </p:attrNameLst>
                                      </p:cBhvr>
                                      <p:tavLst>
                                        <p:tav tm="0">
                                          <p:val>
                                            <p:strVal val="#ppt_y-.03"/>
                                          </p:val>
                                        </p:tav>
                                        <p:tav tm="100000">
                                          <p:val>
                                            <p:strVal val="#ppt_y"/>
                                          </p:val>
                                        </p:tav>
                                      </p:tavLst>
                                    </p:anim>
                                  </p:childTnLst>
                                </p:cTn>
                              </p:par>
                              <p:par>
                                <p:cTn id="66" presetID="37" presetClass="entr" presetSubtype="0" fill="hold" nodeType="withEffect">
                                  <p:stCondLst>
                                    <p:cond delay="2050"/>
                                  </p:stCondLst>
                                  <p:childTnLst>
                                    <p:set>
                                      <p:cBhvr>
                                        <p:cTn id="67" dur="1" fill="hold">
                                          <p:stCondLst>
                                            <p:cond delay="0"/>
                                          </p:stCondLst>
                                        </p:cTn>
                                        <p:tgtEl>
                                          <p:spTgt spid="49"/>
                                        </p:tgtEl>
                                        <p:attrNameLst>
                                          <p:attrName>style.visibility</p:attrName>
                                        </p:attrNameLst>
                                      </p:cBhvr>
                                      <p:to>
                                        <p:strVal val="visible"/>
                                      </p:to>
                                    </p:set>
                                    <p:animEffect transition="in" filter="fade">
                                      <p:cBhvr>
                                        <p:cTn id="68" dur="550"/>
                                        <p:tgtEl>
                                          <p:spTgt spid="49"/>
                                        </p:tgtEl>
                                      </p:cBhvr>
                                    </p:animEffect>
                                    <p:anim calcmode="lin" valueType="num">
                                      <p:cBhvr>
                                        <p:cTn id="69" dur="550" fill="hold"/>
                                        <p:tgtEl>
                                          <p:spTgt spid="49"/>
                                        </p:tgtEl>
                                        <p:attrNameLst>
                                          <p:attrName>ppt_x</p:attrName>
                                        </p:attrNameLst>
                                      </p:cBhvr>
                                      <p:tavLst>
                                        <p:tav tm="0">
                                          <p:val>
                                            <p:strVal val="#ppt_x"/>
                                          </p:val>
                                        </p:tav>
                                        <p:tav tm="100000">
                                          <p:val>
                                            <p:strVal val="#ppt_x"/>
                                          </p:val>
                                        </p:tav>
                                      </p:tavLst>
                                    </p:anim>
                                    <p:anim calcmode="lin" valueType="num">
                                      <p:cBhvr>
                                        <p:cTn id="70" dur="495" decel="100000" fill="hold"/>
                                        <p:tgtEl>
                                          <p:spTgt spid="49"/>
                                        </p:tgtEl>
                                        <p:attrNameLst>
                                          <p:attrName>ppt_y</p:attrName>
                                        </p:attrNameLst>
                                      </p:cBhvr>
                                      <p:tavLst>
                                        <p:tav tm="0">
                                          <p:val>
                                            <p:strVal val="#ppt_y+1"/>
                                          </p:val>
                                        </p:tav>
                                        <p:tav tm="100000">
                                          <p:val>
                                            <p:strVal val="#ppt_y-.03"/>
                                          </p:val>
                                        </p:tav>
                                      </p:tavLst>
                                    </p:anim>
                                    <p:anim calcmode="lin" valueType="num">
                                      <p:cBhvr>
                                        <p:cTn id="71" dur="55" accel="100000" fill="hold">
                                          <p:stCondLst>
                                            <p:cond delay="495"/>
                                          </p:stCondLst>
                                        </p:cTn>
                                        <p:tgtEl>
                                          <p:spTgt spid="49"/>
                                        </p:tgtEl>
                                        <p:attrNameLst>
                                          <p:attrName>ppt_y</p:attrName>
                                        </p:attrNameLst>
                                      </p:cBhvr>
                                      <p:tavLst>
                                        <p:tav tm="0">
                                          <p:val>
                                            <p:strVal val="#ppt_y-.03"/>
                                          </p:val>
                                        </p:tav>
                                        <p:tav tm="100000">
                                          <p:val>
                                            <p:strVal val="#ppt_y"/>
                                          </p:val>
                                        </p:tav>
                                      </p:tavLst>
                                    </p:anim>
                                  </p:childTnLst>
                                </p:cTn>
                              </p:par>
                              <p:par>
                                <p:cTn id="72" presetID="37" presetClass="entr" presetSubtype="0" fill="hold" nodeType="withEffect">
                                  <p:stCondLst>
                                    <p:cond delay="2150"/>
                                  </p:stCondLst>
                                  <p:childTnLst>
                                    <p:set>
                                      <p:cBhvr>
                                        <p:cTn id="73" dur="1" fill="hold">
                                          <p:stCondLst>
                                            <p:cond delay="0"/>
                                          </p:stCondLst>
                                        </p:cTn>
                                        <p:tgtEl>
                                          <p:spTgt spid="53"/>
                                        </p:tgtEl>
                                        <p:attrNameLst>
                                          <p:attrName>style.visibility</p:attrName>
                                        </p:attrNameLst>
                                      </p:cBhvr>
                                      <p:to>
                                        <p:strVal val="visible"/>
                                      </p:to>
                                    </p:set>
                                    <p:animEffect transition="in" filter="fade">
                                      <p:cBhvr>
                                        <p:cTn id="74" dur="550"/>
                                        <p:tgtEl>
                                          <p:spTgt spid="53"/>
                                        </p:tgtEl>
                                      </p:cBhvr>
                                    </p:animEffect>
                                    <p:anim calcmode="lin" valueType="num">
                                      <p:cBhvr>
                                        <p:cTn id="75" dur="550" fill="hold"/>
                                        <p:tgtEl>
                                          <p:spTgt spid="53"/>
                                        </p:tgtEl>
                                        <p:attrNameLst>
                                          <p:attrName>ppt_x</p:attrName>
                                        </p:attrNameLst>
                                      </p:cBhvr>
                                      <p:tavLst>
                                        <p:tav tm="0">
                                          <p:val>
                                            <p:strVal val="#ppt_x"/>
                                          </p:val>
                                        </p:tav>
                                        <p:tav tm="100000">
                                          <p:val>
                                            <p:strVal val="#ppt_x"/>
                                          </p:val>
                                        </p:tav>
                                      </p:tavLst>
                                    </p:anim>
                                    <p:anim calcmode="lin" valueType="num">
                                      <p:cBhvr>
                                        <p:cTn id="76" dur="495" decel="100000" fill="hold"/>
                                        <p:tgtEl>
                                          <p:spTgt spid="53"/>
                                        </p:tgtEl>
                                        <p:attrNameLst>
                                          <p:attrName>ppt_y</p:attrName>
                                        </p:attrNameLst>
                                      </p:cBhvr>
                                      <p:tavLst>
                                        <p:tav tm="0">
                                          <p:val>
                                            <p:strVal val="#ppt_y+1"/>
                                          </p:val>
                                        </p:tav>
                                        <p:tav tm="100000">
                                          <p:val>
                                            <p:strVal val="#ppt_y-.03"/>
                                          </p:val>
                                        </p:tav>
                                      </p:tavLst>
                                    </p:anim>
                                    <p:anim calcmode="lin" valueType="num">
                                      <p:cBhvr>
                                        <p:cTn id="77" dur="55" accel="100000" fill="hold">
                                          <p:stCondLst>
                                            <p:cond delay="495"/>
                                          </p:stCondLst>
                                        </p:cTn>
                                        <p:tgtEl>
                                          <p:spTgt spid="53"/>
                                        </p:tgtEl>
                                        <p:attrNameLst>
                                          <p:attrName>ppt_y</p:attrName>
                                        </p:attrNameLst>
                                      </p:cBhvr>
                                      <p:tavLst>
                                        <p:tav tm="0">
                                          <p:val>
                                            <p:strVal val="#ppt_y-.03"/>
                                          </p:val>
                                        </p:tav>
                                        <p:tav tm="100000">
                                          <p:val>
                                            <p:strVal val="#ppt_y"/>
                                          </p:val>
                                        </p:tav>
                                      </p:tavLst>
                                    </p:anim>
                                  </p:childTnLst>
                                </p:cTn>
                              </p:par>
                              <p:par>
                                <p:cTn id="78" presetID="37" presetClass="entr" presetSubtype="0" fill="hold" nodeType="withEffect">
                                  <p:stCondLst>
                                    <p:cond delay="2250"/>
                                  </p:stCondLst>
                                  <p:childTnLst>
                                    <p:set>
                                      <p:cBhvr>
                                        <p:cTn id="79" dur="1" fill="hold">
                                          <p:stCondLst>
                                            <p:cond delay="0"/>
                                          </p:stCondLst>
                                        </p:cTn>
                                        <p:tgtEl>
                                          <p:spTgt spid="57"/>
                                        </p:tgtEl>
                                        <p:attrNameLst>
                                          <p:attrName>style.visibility</p:attrName>
                                        </p:attrNameLst>
                                      </p:cBhvr>
                                      <p:to>
                                        <p:strVal val="visible"/>
                                      </p:to>
                                    </p:set>
                                    <p:animEffect transition="in" filter="fade">
                                      <p:cBhvr>
                                        <p:cTn id="80" dur="550"/>
                                        <p:tgtEl>
                                          <p:spTgt spid="57"/>
                                        </p:tgtEl>
                                      </p:cBhvr>
                                    </p:animEffect>
                                    <p:anim calcmode="lin" valueType="num">
                                      <p:cBhvr>
                                        <p:cTn id="81" dur="550" fill="hold"/>
                                        <p:tgtEl>
                                          <p:spTgt spid="57"/>
                                        </p:tgtEl>
                                        <p:attrNameLst>
                                          <p:attrName>ppt_x</p:attrName>
                                        </p:attrNameLst>
                                      </p:cBhvr>
                                      <p:tavLst>
                                        <p:tav tm="0">
                                          <p:val>
                                            <p:strVal val="#ppt_x"/>
                                          </p:val>
                                        </p:tav>
                                        <p:tav tm="100000">
                                          <p:val>
                                            <p:strVal val="#ppt_x"/>
                                          </p:val>
                                        </p:tav>
                                      </p:tavLst>
                                    </p:anim>
                                    <p:anim calcmode="lin" valueType="num">
                                      <p:cBhvr>
                                        <p:cTn id="82" dur="495" decel="100000" fill="hold"/>
                                        <p:tgtEl>
                                          <p:spTgt spid="57"/>
                                        </p:tgtEl>
                                        <p:attrNameLst>
                                          <p:attrName>ppt_y</p:attrName>
                                        </p:attrNameLst>
                                      </p:cBhvr>
                                      <p:tavLst>
                                        <p:tav tm="0">
                                          <p:val>
                                            <p:strVal val="#ppt_y+1"/>
                                          </p:val>
                                        </p:tav>
                                        <p:tav tm="100000">
                                          <p:val>
                                            <p:strVal val="#ppt_y-.03"/>
                                          </p:val>
                                        </p:tav>
                                      </p:tavLst>
                                    </p:anim>
                                    <p:anim calcmode="lin" valueType="num">
                                      <p:cBhvr>
                                        <p:cTn id="83" dur="55" accel="100000" fill="hold">
                                          <p:stCondLst>
                                            <p:cond delay="495"/>
                                          </p:stCondLst>
                                        </p:cTn>
                                        <p:tgtEl>
                                          <p:spTgt spid="57"/>
                                        </p:tgtEl>
                                        <p:attrNameLst>
                                          <p:attrName>ppt_y</p:attrName>
                                        </p:attrNameLst>
                                      </p:cBhvr>
                                      <p:tavLst>
                                        <p:tav tm="0">
                                          <p:val>
                                            <p:strVal val="#ppt_y-.03"/>
                                          </p:val>
                                        </p:tav>
                                        <p:tav tm="100000">
                                          <p:val>
                                            <p:strVal val="#ppt_y"/>
                                          </p:val>
                                        </p:tav>
                                      </p:tavLst>
                                    </p:anim>
                                  </p:childTnLst>
                                </p:cTn>
                              </p:par>
                              <p:par>
                                <p:cTn id="84" presetID="37" presetClass="entr" presetSubtype="0" fill="hold" nodeType="withEffect">
                                  <p:stCondLst>
                                    <p:cond delay="2350"/>
                                  </p:stCondLst>
                                  <p:childTnLst>
                                    <p:set>
                                      <p:cBhvr>
                                        <p:cTn id="85" dur="1" fill="hold">
                                          <p:stCondLst>
                                            <p:cond delay="0"/>
                                          </p:stCondLst>
                                        </p:cTn>
                                        <p:tgtEl>
                                          <p:spTgt spid="61"/>
                                        </p:tgtEl>
                                        <p:attrNameLst>
                                          <p:attrName>style.visibility</p:attrName>
                                        </p:attrNameLst>
                                      </p:cBhvr>
                                      <p:to>
                                        <p:strVal val="visible"/>
                                      </p:to>
                                    </p:set>
                                    <p:animEffect transition="in" filter="fade">
                                      <p:cBhvr>
                                        <p:cTn id="86" dur="550"/>
                                        <p:tgtEl>
                                          <p:spTgt spid="61"/>
                                        </p:tgtEl>
                                      </p:cBhvr>
                                    </p:animEffect>
                                    <p:anim calcmode="lin" valueType="num">
                                      <p:cBhvr>
                                        <p:cTn id="87" dur="550" fill="hold"/>
                                        <p:tgtEl>
                                          <p:spTgt spid="61"/>
                                        </p:tgtEl>
                                        <p:attrNameLst>
                                          <p:attrName>ppt_x</p:attrName>
                                        </p:attrNameLst>
                                      </p:cBhvr>
                                      <p:tavLst>
                                        <p:tav tm="0">
                                          <p:val>
                                            <p:strVal val="#ppt_x"/>
                                          </p:val>
                                        </p:tav>
                                        <p:tav tm="100000">
                                          <p:val>
                                            <p:strVal val="#ppt_x"/>
                                          </p:val>
                                        </p:tav>
                                      </p:tavLst>
                                    </p:anim>
                                    <p:anim calcmode="lin" valueType="num">
                                      <p:cBhvr>
                                        <p:cTn id="88" dur="495" decel="100000" fill="hold"/>
                                        <p:tgtEl>
                                          <p:spTgt spid="61"/>
                                        </p:tgtEl>
                                        <p:attrNameLst>
                                          <p:attrName>ppt_y</p:attrName>
                                        </p:attrNameLst>
                                      </p:cBhvr>
                                      <p:tavLst>
                                        <p:tav tm="0">
                                          <p:val>
                                            <p:strVal val="#ppt_y+1"/>
                                          </p:val>
                                        </p:tav>
                                        <p:tav tm="100000">
                                          <p:val>
                                            <p:strVal val="#ppt_y-.03"/>
                                          </p:val>
                                        </p:tav>
                                      </p:tavLst>
                                    </p:anim>
                                    <p:anim calcmode="lin" valueType="num">
                                      <p:cBhvr>
                                        <p:cTn id="89" dur="55" accel="100000" fill="hold">
                                          <p:stCondLst>
                                            <p:cond delay="495"/>
                                          </p:stCondLst>
                                        </p:cTn>
                                        <p:tgtEl>
                                          <p:spTgt spid="61"/>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44" grpId="0"/>
    </p:bld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4284B"/>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57150"/>
          </a:xfrm>
          <a:prstGeom prst="rect">
            <a:avLst/>
          </a:prstGeom>
          <a:solidFill>
            <a:srgbClr val="59BEC9"/>
          </a:solidFill>
          <a:ln>
            <a:noFill/>
          </a:ln>
        </p:spPr>
        <p:txBody>
          <a:bodyPr rtlCol="0" anchor="ctr"/>
          <a:lstStyle/>
          <a:p>
            <a:pPr algn="ctr"/>
            <a:endParaRPr/>
          </a:p>
        </p:txBody>
      </p:sp>
      <p:grpSp>
        <p:nvGrpSpPr>
          <p:cNvPr id="3" name="anim|fade|0.05"/>
          <p:cNvGrpSpPr/>
          <p:nvPr/>
        </p:nvGrpSpPr>
        <p:grpSpPr>
          <a:xfrm>
            <a:off x="571500" y="266700"/>
            <a:ext cx="7105650" cy="190500"/>
            <a:chOff x="571500" y="266700"/>
            <a:chExt cx="7105650" cy="190500"/>
          </a:xfrm>
        </p:grpSpPr>
        <p:sp>
          <p:nvSpPr>
            <p:cNvPr id="4" name="Rectangle 3"/>
            <p:cNvSpPr/>
            <p:nvPr/>
          </p:nvSpPr>
          <p:spPr>
            <a:xfrm>
              <a:off x="571500" y="342900"/>
              <a:ext cx="342900" cy="47625"/>
            </a:xfrm>
            <a:prstGeom prst="rect">
              <a:avLst/>
            </a:prstGeom>
            <a:solidFill>
              <a:srgbClr val="FFB938"/>
            </a:solidFill>
            <a:ln>
              <a:noFill/>
            </a:ln>
          </p:spPr>
          <p:txBody>
            <a:bodyPr rtlCol="0" anchor="ctr"/>
            <a:lstStyle/>
            <a:p>
              <a:pPr algn="ctr"/>
              <a:endParaRPr/>
            </a:p>
          </p:txBody>
        </p:sp>
        <p:sp>
          <p:nvSpPr>
            <p:cNvPr id="5" name="TextBox 4"/>
            <p:cNvSpPr txBox="1"/>
            <p:nvPr/>
          </p:nvSpPr>
          <p:spPr>
            <a:xfrm>
              <a:off x="1009650" y="266700"/>
              <a:ext cx="6667500" cy="190500"/>
            </a:xfrm>
            <a:prstGeom prst="rect">
              <a:avLst/>
            </a:prstGeom>
            <a:noFill/>
          </p:spPr>
          <p:txBody>
            <a:bodyPr wrap="square" lIns="0" tIns="0" rIns="0" bIns="0" anchor="t">
              <a:spAutoFit/>
            </a:bodyPr>
            <a:lstStyle/>
            <a:p>
              <a:pPr algn="l"/>
              <a:r>
                <a:rPr sz="1100" b="1" spc="300">
                  <a:solidFill>
                    <a:srgbClr val="59BEC9"/>
                  </a:solidFill>
                  <a:latin typeface="Century Gothic"/>
                </a:rPr>
                <a:t>WHAT WE BUILT</a:t>
              </a:r>
            </a:p>
          </p:txBody>
        </p:sp>
      </p:grpSp>
      <p:sp>
        <p:nvSpPr>
          <p:cNvPr id="6" name="anim|wipeL|0.1"/>
          <p:cNvSpPr txBox="1"/>
          <p:nvPr/>
        </p:nvSpPr>
        <p:spPr>
          <a:xfrm>
            <a:off x="571500" y="533400"/>
            <a:ext cx="11049000" cy="533400"/>
          </a:xfrm>
          <a:prstGeom prst="rect">
            <a:avLst/>
          </a:prstGeom>
          <a:noFill/>
        </p:spPr>
        <p:txBody>
          <a:bodyPr wrap="square" lIns="0" tIns="0" rIns="0" bIns="0" anchor="t">
            <a:spAutoFit/>
          </a:bodyPr>
          <a:lstStyle/>
          <a:p>
            <a:pPr algn="l"/>
            <a:r>
              <a:rPr sz="3100" b="1">
                <a:solidFill>
                  <a:srgbClr val="FFFFFF"/>
                </a:solidFill>
                <a:latin typeface="Century Gothic"/>
              </a:rPr>
              <a:t>What we did in workload onboarding</a:t>
            </a:r>
          </a:p>
        </p:txBody>
      </p:sp>
      <p:sp>
        <p:nvSpPr>
          <p:cNvPr id="7" name="anim|fade|0.45"/>
          <p:cNvSpPr txBox="1"/>
          <p:nvPr/>
        </p:nvSpPr>
        <p:spPr>
          <a:xfrm>
            <a:off x="571500" y="1028700"/>
            <a:ext cx="11049000" cy="247650"/>
          </a:xfrm>
          <a:prstGeom prst="rect">
            <a:avLst/>
          </a:prstGeom>
          <a:noFill/>
        </p:spPr>
        <p:txBody>
          <a:bodyPr wrap="square" lIns="0" tIns="0" rIns="0" bIns="0" anchor="t">
            <a:spAutoFit/>
          </a:bodyPr>
          <a:lstStyle/>
          <a:p>
            <a:pPr algn="l"/>
            <a:r>
              <a:rPr sz="1500" b="0">
                <a:solidFill>
                  <a:srgbClr val="B0C0D9"/>
                </a:solidFill>
                <a:latin typeface="Segoe UI"/>
              </a:rPr>
              <a:t>Three changes so the -rst cluster works without touching the original</a:t>
            </a:r>
          </a:p>
        </p:txBody>
      </p:sp>
      <p:sp>
        <p:nvSpPr>
          <p:cNvPr id="8" name="TextBox 7"/>
          <p:cNvSpPr txBox="1"/>
          <p:nvPr/>
        </p:nvSpPr>
        <p:spPr>
          <a:xfrm>
            <a:off x="571500" y="6534150"/>
            <a:ext cx="6667500" cy="171450"/>
          </a:xfrm>
          <a:prstGeom prst="rect">
            <a:avLst/>
          </a:prstGeom>
          <a:noFill/>
        </p:spPr>
        <p:txBody>
          <a:bodyPr wrap="square" lIns="0" tIns="0" rIns="0" bIns="0" anchor="t">
            <a:spAutoFit/>
          </a:bodyPr>
          <a:lstStyle/>
          <a:p>
            <a:pPr algn="l"/>
            <a:r>
              <a:rPr sz="950" b="0">
                <a:solidFill>
                  <a:srgbClr val="B0C0D9"/>
                </a:solidFill>
                <a:latin typeface="Segoe UI"/>
              </a:rPr>
              <a:t>AKS Backup &amp; Restore  |  BFH AKS IHUB Platform Team</a:t>
            </a:r>
          </a:p>
        </p:txBody>
      </p:sp>
      <p:sp>
        <p:nvSpPr>
          <p:cNvPr id="9" name="TextBox 8"/>
          <p:cNvSpPr txBox="1"/>
          <p:nvPr/>
        </p:nvSpPr>
        <p:spPr>
          <a:xfrm>
            <a:off x="10668000" y="6534150"/>
            <a:ext cx="952500" cy="171450"/>
          </a:xfrm>
          <a:prstGeom prst="rect">
            <a:avLst/>
          </a:prstGeom>
          <a:noFill/>
        </p:spPr>
        <p:txBody>
          <a:bodyPr wrap="square" lIns="0" tIns="0" rIns="0" bIns="0" anchor="t">
            <a:spAutoFit/>
          </a:bodyPr>
          <a:lstStyle/>
          <a:p>
            <a:pPr algn="r"/>
            <a:r>
              <a:rPr sz="1000" b="1">
                <a:solidFill>
                  <a:srgbClr val="FFB938"/>
                </a:solidFill>
                <a:latin typeface="Century Gothic"/>
              </a:rPr>
              <a:t>12</a:t>
            </a:r>
          </a:p>
        </p:txBody>
      </p:sp>
      <p:grpSp>
        <p:nvGrpSpPr>
          <p:cNvPr id="10" name="anim|rise|0.55"/>
          <p:cNvGrpSpPr/>
          <p:nvPr/>
        </p:nvGrpSpPr>
        <p:grpSpPr>
          <a:xfrm>
            <a:off x="571500" y="1485900"/>
            <a:ext cx="3581400" cy="3505200"/>
            <a:chOff x="571500" y="1485900"/>
            <a:chExt cx="3581400" cy="3505200"/>
          </a:xfrm>
        </p:grpSpPr>
        <p:sp>
          <p:nvSpPr>
            <p:cNvPr id="11" name="Rounded Rectangle 10"/>
            <p:cNvSpPr/>
            <p:nvPr/>
          </p:nvSpPr>
          <p:spPr>
            <a:xfrm>
              <a:off x="571500" y="1485900"/>
              <a:ext cx="3581400" cy="3505200"/>
            </a:xfrm>
            <a:prstGeom prst="roundRect">
              <a:avLst>
                <a:gd name="adj" fmla="val 4891"/>
              </a:avLst>
            </a:prstGeom>
            <a:solidFill>
              <a:srgbClr val="1E3A68"/>
            </a:solidFill>
            <a:ln>
              <a:noFill/>
            </a:ln>
          </p:spPr>
          <p:txBody>
            <a:bodyPr rtlCol="0" anchor="ctr"/>
            <a:lstStyle/>
            <a:p>
              <a:pPr algn="ctr"/>
              <a:endParaRPr/>
            </a:p>
          </p:txBody>
        </p:sp>
        <p:sp>
          <p:nvSpPr>
            <p:cNvPr id="12" name="TextBox 11"/>
            <p:cNvSpPr txBox="1"/>
            <p:nvPr/>
          </p:nvSpPr>
          <p:spPr>
            <a:xfrm>
              <a:off x="819150" y="1695450"/>
              <a:ext cx="1905000" cy="171450"/>
            </a:xfrm>
            <a:prstGeom prst="rect">
              <a:avLst/>
            </a:prstGeom>
            <a:noFill/>
          </p:spPr>
          <p:txBody>
            <a:bodyPr wrap="square" lIns="0" tIns="0" rIns="0" bIns="0" anchor="t">
              <a:spAutoFit/>
            </a:bodyPr>
            <a:lstStyle/>
            <a:p>
              <a:pPr algn="l"/>
              <a:r>
                <a:rPr sz="1100" b="1" spc="300">
                  <a:solidFill>
                    <a:srgbClr val="FFB938"/>
                  </a:solidFill>
                  <a:latin typeface="Century Gothic"/>
                </a:rPr>
                <a:t>PHASE 1</a:t>
              </a:r>
            </a:p>
          </p:txBody>
        </p:sp>
        <p:sp>
          <p:nvSpPr>
            <p:cNvPr id="13" name="TextBox 12"/>
            <p:cNvSpPr txBox="1"/>
            <p:nvPr/>
          </p:nvSpPr>
          <p:spPr>
            <a:xfrm>
              <a:off x="819150" y="1943100"/>
              <a:ext cx="3086100" cy="304800"/>
            </a:xfrm>
            <a:prstGeom prst="rect">
              <a:avLst/>
            </a:prstGeom>
            <a:noFill/>
          </p:spPr>
          <p:txBody>
            <a:bodyPr wrap="square" lIns="0" tIns="0" rIns="0" bIns="0" anchor="t">
              <a:spAutoFit/>
            </a:bodyPr>
            <a:lstStyle/>
            <a:p>
              <a:pPr algn="l"/>
              <a:r>
                <a:rPr sz="1900" b="1">
                  <a:solidFill>
                    <a:srgbClr val="FFFFFF"/>
                  </a:solidFill>
                  <a:latin typeface="Century Gothic"/>
                </a:rPr>
                <a:t>Keep -rst out of alerts</a:t>
              </a:r>
            </a:p>
          </p:txBody>
        </p:sp>
        <p:sp>
          <p:nvSpPr>
            <p:cNvPr id="14" name="Rectangle 13"/>
            <p:cNvSpPr/>
            <p:nvPr/>
          </p:nvSpPr>
          <p:spPr>
            <a:xfrm>
              <a:off x="819150" y="2362200"/>
              <a:ext cx="419100" cy="38100"/>
            </a:xfrm>
            <a:prstGeom prst="rect">
              <a:avLst/>
            </a:prstGeom>
            <a:solidFill>
              <a:srgbClr val="59BEC9"/>
            </a:solidFill>
            <a:ln>
              <a:noFill/>
            </a:ln>
          </p:spPr>
          <p:txBody>
            <a:bodyPr rtlCol="0" anchor="ctr"/>
            <a:lstStyle/>
            <a:p>
              <a:pPr algn="ctr"/>
              <a:endParaRPr/>
            </a:p>
          </p:txBody>
        </p:sp>
        <p:sp>
          <p:nvSpPr>
            <p:cNvPr id="15" name="TextBox 14"/>
            <p:cNvSpPr txBox="1"/>
            <p:nvPr/>
          </p:nvSpPr>
          <p:spPr>
            <a:xfrm>
              <a:off x="819150" y="2552700"/>
              <a:ext cx="3086100" cy="2381250"/>
            </a:xfrm>
            <a:prstGeom prst="rect">
              <a:avLst/>
            </a:prstGeom>
            <a:noFill/>
          </p:spPr>
          <p:txBody>
            <a:bodyPr wrap="square" lIns="0" tIns="0" rIns="0" bIns="0" anchor="t">
              <a:spAutoFit/>
            </a:bodyPr>
            <a:lstStyle/>
            <a:p>
              <a:pPr algn="l"/>
              <a:r>
                <a:rPr sz="1350" b="0">
                  <a:solidFill>
                    <a:srgbClr val="B0C0D9"/>
                  </a:solidFill>
                  <a:latin typeface="Segoe UI"/>
                </a:rPr>
                <a:t>Clusters with -rst- in the name are left out of the Prometheus alert list, so alert rule names no longer clash. The cluster-names output that Phase 2 uses is the filtered list too, which fixed the workspace routing failure. The old hard-coded exclusion list was removed.</a:t>
              </a:r>
            </a:p>
          </p:txBody>
        </p:sp>
      </p:grpSp>
      <p:grpSp>
        <p:nvGrpSpPr>
          <p:cNvPr id="16" name="anim|rise|0.75"/>
          <p:cNvGrpSpPr/>
          <p:nvPr/>
        </p:nvGrpSpPr>
        <p:grpSpPr>
          <a:xfrm>
            <a:off x="4305300" y="1485900"/>
            <a:ext cx="3581400" cy="3505200"/>
            <a:chOff x="4305300" y="1485900"/>
            <a:chExt cx="3581400" cy="3505200"/>
          </a:xfrm>
        </p:grpSpPr>
        <p:sp>
          <p:nvSpPr>
            <p:cNvPr id="17" name="Rounded Rectangle 16"/>
            <p:cNvSpPr/>
            <p:nvPr/>
          </p:nvSpPr>
          <p:spPr>
            <a:xfrm>
              <a:off x="4305300" y="1485900"/>
              <a:ext cx="3581400" cy="3505200"/>
            </a:xfrm>
            <a:prstGeom prst="roundRect">
              <a:avLst>
                <a:gd name="adj" fmla="val 4891"/>
              </a:avLst>
            </a:prstGeom>
            <a:solidFill>
              <a:srgbClr val="1E3A68"/>
            </a:solidFill>
            <a:ln>
              <a:noFill/>
            </a:ln>
          </p:spPr>
          <p:txBody>
            <a:bodyPr rtlCol="0" anchor="ctr"/>
            <a:lstStyle/>
            <a:p>
              <a:pPr algn="ctr"/>
              <a:endParaRPr/>
            </a:p>
          </p:txBody>
        </p:sp>
        <p:sp>
          <p:nvSpPr>
            <p:cNvPr id="18" name="TextBox 17"/>
            <p:cNvSpPr txBox="1"/>
            <p:nvPr/>
          </p:nvSpPr>
          <p:spPr>
            <a:xfrm>
              <a:off x="4552950" y="1695450"/>
              <a:ext cx="1905000" cy="171450"/>
            </a:xfrm>
            <a:prstGeom prst="rect">
              <a:avLst/>
            </a:prstGeom>
            <a:noFill/>
          </p:spPr>
          <p:txBody>
            <a:bodyPr wrap="square" lIns="0" tIns="0" rIns="0" bIns="0" anchor="t">
              <a:spAutoFit/>
            </a:bodyPr>
            <a:lstStyle/>
            <a:p>
              <a:pPr algn="l"/>
              <a:r>
                <a:rPr sz="1100" b="1" spc="300">
                  <a:solidFill>
                    <a:srgbClr val="FFB938"/>
                  </a:solidFill>
                  <a:latin typeface="Century Gothic"/>
                </a:rPr>
                <a:t>PHASE 2</a:t>
              </a:r>
            </a:p>
          </p:txBody>
        </p:sp>
        <p:sp>
          <p:nvSpPr>
            <p:cNvPr id="19" name="TextBox 18"/>
            <p:cNvSpPr txBox="1"/>
            <p:nvPr/>
          </p:nvSpPr>
          <p:spPr>
            <a:xfrm>
              <a:off x="4552950" y="1943100"/>
              <a:ext cx="3086100" cy="304800"/>
            </a:xfrm>
            <a:prstGeom prst="rect">
              <a:avLst/>
            </a:prstGeom>
            <a:noFill/>
          </p:spPr>
          <p:txBody>
            <a:bodyPr wrap="square" lIns="0" tIns="0" rIns="0" bIns="0" anchor="t">
              <a:spAutoFit/>
            </a:bodyPr>
            <a:lstStyle/>
            <a:p>
              <a:pPr algn="l"/>
              <a:r>
                <a:rPr sz="1900" b="1">
                  <a:solidFill>
                    <a:srgbClr val="FFFFFF"/>
                  </a:solidFill>
                  <a:latin typeface="Century Gothic"/>
                </a:rPr>
                <a:t>Find the -rst cluster</a:t>
              </a:r>
            </a:p>
          </p:txBody>
        </p:sp>
        <p:sp>
          <p:nvSpPr>
            <p:cNvPr id="20" name="Rectangle 19"/>
            <p:cNvSpPr/>
            <p:nvPr/>
          </p:nvSpPr>
          <p:spPr>
            <a:xfrm>
              <a:off x="4552950" y="2362200"/>
              <a:ext cx="419100" cy="38100"/>
            </a:xfrm>
            <a:prstGeom prst="rect">
              <a:avLst/>
            </a:prstGeom>
            <a:solidFill>
              <a:srgbClr val="59BEC9"/>
            </a:solidFill>
            <a:ln>
              <a:noFill/>
            </a:ln>
          </p:spPr>
          <p:txBody>
            <a:bodyPr rtlCol="0" anchor="ctr"/>
            <a:lstStyle/>
            <a:p>
              <a:pPr algn="ctr"/>
              <a:endParaRPr/>
            </a:p>
          </p:txBody>
        </p:sp>
        <p:sp>
          <p:nvSpPr>
            <p:cNvPr id="21" name="TextBox 20"/>
            <p:cNvSpPr txBox="1"/>
            <p:nvPr/>
          </p:nvSpPr>
          <p:spPr>
            <a:xfrm>
              <a:off x="4552950" y="2552700"/>
              <a:ext cx="3086100" cy="2381250"/>
            </a:xfrm>
            <a:prstGeom prst="rect">
              <a:avLst/>
            </a:prstGeom>
            <a:noFill/>
          </p:spPr>
          <p:txBody>
            <a:bodyPr wrap="square" lIns="0" tIns="0" rIns="0" bIns="0" anchor="t">
              <a:spAutoFit/>
            </a:bodyPr>
            <a:lstStyle/>
            <a:p>
              <a:pPr algn="l"/>
              <a:r>
                <a:rPr sz="1350" b="0">
                  <a:solidFill>
                    <a:srgbClr val="B0C0D9"/>
                  </a:solidFill>
                  <a:latin typeface="Segoe UI"/>
                </a:rPr>
                <a:t>A hard-coded environment mapping was replaced by detection from conf.yaml: any cluster with -rst- in its name is treated as a restore target. The code looks up that cluster in the same resource group and reads its OIDC issuer.</a:t>
              </a:r>
            </a:p>
          </p:txBody>
        </p:sp>
      </p:grpSp>
      <p:grpSp>
        <p:nvGrpSpPr>
          <p:cNvPr id="22" name="anim|rise|0.95"/>
          <p:cNvGrpSpPr/>
          <p:nvPr/>
        </p:nvGrpSpPr>
        <p:grpSpPr>
          <a:xfrm>
            <a:off x="8039100" y="1485900"/>
            <a:ext cx="3581400" cy="3505200"/>
            <a:chOff x="8039100" y="1485900"/>
            <a:chExt cx="3581400" cy="3505200"/>
          </a:xfrm>
        </p:grpSpPr>
        <p:sp>
          <p:nvSpPr>
            <p:cNvPr id="23" name="Rounded Rectangle 22"/>
            <p:cNvSpPr/>
            <p:nvPr/>
          </p:nvSpPr>
          <p:spPr>
            <a:xfrm>
              <a:off x="8039100" y="1485900"/>
              <a:ext cx="3581400" cy="3505200"/>
            </a:xfrm>
            <a:prstGeom prst="roundRect">
              <a:avLst>
                <a:gd name="adj" fmla="val 4891"/>
              </a:avLst>
            </a:prstGeom>
            <a:solidFill>
              <a:srgbClr val="1E3A68"/>
            </a:solidFill>
            <a:ln>
              <a:noFill/>
            </a:ln>
          </p:spPr>
          <p:txBody>
            <a:bodyPr rtlCol="0" anchor="ctr"/>
            <a:lstStyle/>
            <a:p>
              <a:pPr algn="ctr"/>
              <a:endParaRPr/>
            </a:p>
          </p:txBody>
        </p:sp>
        <p:sp>
          <p:nvSpPr>
            <p:cNvPr id="24" name="TextBox 23"/>
            <p:cNvSpPr txBox="1"/>
            <p:nvPr/>
          </p:nvSpPr>
          <p:spPr>
            <a:xfrm>
              <a:off x="8286750" y="1695450"/>
              <a:ext cx="1905000" cy="171450"/>
            </a:xfrm>
            <a:prstGeom prst="rect">
              <a:avLst/>
            </a:prstGeom>
            <a:noFill/>
          </p:spPr>
          <p:txBody>
            <a:bodyPr wrap="square" lIns="0" tIns="0" rIns="0" bIns="0" anchor="t">
              <a:spAutoFit/>
            </a:bodyPr>
            <a:lstStyle/>
            <a:p>
              <a:pPr algn="l"/>
              <a:r>
                <a:rPr sz="1100" b="1" spc="300">
                  <a:solidFill>
                    <a:srgbClr val="FFB938"/>
                  </a:solidFill>
                  <a:latin typeface="Century Gothic"/>
                </a:rPr>
                <a:t>MODULE</a:t>
              </a:r>
            </a:p>
          </p:txBody>
        </p:sp>
        <p:sp>
          <p:nvSpPr>
            <p:cNvPr id="25" name="TextBox 24"/>
            <p:cNvSpPr txBox="1"/>
            <p:nvPr/>
          </p:nvSpPr>
          <p:spPr>
            <a:xfrm>
              <a:off x="8286750" y="1943100"/>
              <a:ext cx="3086100" cy="304800"/>
            </a:xfrm>
            <a:prstGeom prst="rect">
              <a:avLst/>
            </a:prstGeom>
            <a:noFill/>
          </p:spPr>
          <p:txBody>
            <a:bodyPr wrap="square" lIns="0" tIns="0" rIns="0" bIns="0" anchor="t">
              <a:spAutoFit/>
            </a:bodyPr>
            <a:lstStyle/>
            <a:p>
              <a:pPr algn="l"/>
              <a:r>
                <a:rPr sz="1900" b="1">
                  <a:solidFill>
                    <a:srgbClr val="FFFFFF"/>
                  </a:solidFill>
                  <a:latin typeface="Century Gothic"/>
                </a:rPr>
                <a:t>Add, never replace</a:t>
              </a:r>
            </a:p>
          </p:txBody>
        </p:sp>
        <p:sp>
          <p:nvSpPr>
            <p:cNvPr id="26" name="Rectangle 25"/>
            <p:cNvSpPr/>
            <p:nvPr/>
          </p:nvSpPr>
          <p:spPr>
            <a:xfrm>
              <a:off x="8286750" y="2362200"/>
              <a:ext cx="419100" cy="38100"/>
            </a:xfrm>
            <a:prstGeom prst="rect">
              <a:avLst/>
            </a:prstGeom>
            <a:solidFill>
              <a:srgbClr val="59BEC9"/>
            </a:solidFill>
            <a:ln>
              <a:noFill/>
            </a:ln>
          </p:spPr>
          <p:txBody>
            <a:bodyPr rtlCol="0" anchor="ctr"/>
            <a:lstStyle/>
            <a:p>
              <a:pPr algn="ctr"/>
              <a:endParaRPr/>
            </a:p>
          </p:txBody>
        </p:sp>
        <p:sp>
          <p:nvSpPr>
            <p:cNvPr id="27" name="TextBox 26"/>
            <p:cNvSpPr txBox="1"/>
            <p:nvPr/>
          </p:nvSpPr>
          <p:spPr>
            <a:xfrm>
              <a:off x="8286750" y="2552700"/>
              <a:ext cx="3086100" cy="2381250"/>
            </a:xfrm>
            <a:prstGeom prst="rect">
              <a:avLst/>
            </a:prstGeom>
            <a:noFill/>
          </p:spPr>
          <p:txBody>
            <a:bodyPr wrap="square" lIns="0" tIns="0" rIns="0" bIns="0" anchor="t">
              <a:spAutoFit/>
            </a:bodyPr>
            <a:lstStyle/>
            <a:p>
              <a:pPr algn="l"/>
              <a:r>
                <a:rPr sz="1350" b="0">
                  <a:solidFill>
                    <a:srgbClr val="B0C0D9"/>
                  </a:solidFill>
                  <a:latin typeface="Segoe UI"/>
                </a:rPr>
                <a:t>For each workload component that uses workload identity, an extra federated credential is created for the -rst cluster. Same identity, same subject, different issuer. Each cluster has its own issuer, so without it pods on the -rst cluster fail the token exchange and stick in Init. The original cluster's credentials are never changed.</a:t>
              </a:r>
            </a:p>
          </p:txBody>
        </p:sp>
      </p:grpSp>
      <p:grpSp>
        <p:nvGrpSpPr>
          <p:cNvPr id="28" name="anim|zoom|1.15"/>
          <p:cNvGrpSpPr/>
          <p:nvPr/>
        </p:nvGrpSpPr>
        <p:grpSpPr>
          <a:xfrm>
            <a:off x="571500" y="5181600"/>
            <a:ext cx="11049000" cy="914400"/>
            <a:chOff x="571500" y="5181600"/>
            <a:chExt cx="11049000" cy="914400"/>
          </a:xfrm>
        </p:grpSpPr>
        <p:sp>
          <p:nvSpPr>
            <p:cNvPr id="29" name="Rounded Rectangle 28"/>
            <p:cNvSpPr/>
            <p:nvPr/>
          </p:nvSpPr>
          <p:spPr>
            <a:xfrm>
              <a:off x="571500" y="5181600"/>
              <a:ext cx="11049000" cy="914400"/>
            </a:xfrm>
            <a:prstGeom prst="roundRect">
              <a:avLst>
                <a:gd name="adj" fmla="val 18750"/>
              </a:avLst>
            </a:prstGeom>
            <a:solidFill>
              <a:srgbClr val="FFB938"/>
            </a:solidFill>
            <a:ln>
              <a:noFill/>
            </a:ln>
          </p:spPr>
          <p:txBody>
            <a:bodyPr rtlCol="0" anchor="ctr"/>
            <a:lstStyle/>
            <a:p>
              <a:pPr algn="ctr"/>
              <a:endParaRPr/>
            </a:p>
          </p:txBody>
        </p:sp>
        <p:sp>
          <p:nvSpPr>
            <p:cNvPr id="30" name="TextBox 29"/>
            <p:cNvSpPr txBox="1"/>
            <p:nvPr/>
          </p:nvSpPr>
          <p:spPr>
            <a:xfrm>
              <a:off x="914400" y="5181600"/>
              <a:ext cx="10382250" cy="914400"/>
            </a:xfrm>
            <a:prstGeom prst="rect">
              <a:avLst/>
            </a:prstGeom>
            <a:noFill/>
          </p:spPr>
          <p:txBody>
            <a:bodyPr wrap="square" lIns="0" tIns="0" rIns="0" bIns="0" anchor="ctr">
              <a:spAutoFit/>
            </a:bodyPr>
            <a:lstStyle/>
            <a:p>
              <a:pPr algn="l"/>
              <a:r>
                <a:rPr sz="1800" b="1">
                  <a:solidFill>
                    <a:srgbClr val="14284B"/>
                  </a:solidFill>
                  <a:latin typeface="Century Gothic"/>
                </a:rPr>
                <a:t>Result: the Phase 1 plan showed only an output change and no resource changes for the original cluster.</a:t>
              </a:r>
            </a:p>
          </p:txBody>
        </p:sp>
      </p:grpSp>
    </p:spTree>
  </p:cSld>
  <p:clrMapOvr>
    <a:masterClrMapping/>
  </p:clrMapOvr>
  <mc:AlternateContent xmlns:mc="http://schemas.openxmlformats.org/markup-compatibility/2006">
    <mc:Choice xmlns:p14="http://schemas.microsoft.com/office/powerpoint/2010/main" Requires="p14">
      <p:transition spd="slow" p14:dur="800">
        <p:fad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5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50"/>
                                        <p:tgtEl>
                                          <p:spTgt spid="3"/>
                                        </p:tgtEl>
                                      </p:cBhvr>
                                    </p:animEffect>
                                  </p:childTnLst>
                                </p:cTn>
                              </p:par>
                              <p:par>
                                <p:cTn id="8" presetID="22" presetClass="entr" presetSubtype="8" fill="hold" grpId="0" nodeType="withEffect">
                                  <p:stCondLst>
                                    <p:cond delay="100"/>
                                  </p:stCondLst>
                                  <p:childTnLst>
                                    <p:set>
                                      <p:cBhvr>
                                        <p:cTn id="9" dur="1" fill="hold">
                                          <p:stCondLst>
                                            <p:cond delay="0"/>
                                          </p:stCondLst>
                                        </p:cTn>
                                        <p:tgtEl>
                                          <p:spTgt spid="6"/>
                                        </p:tgtEl>
                                        <p:attrNameLst>
                                          <p:attrName>style.visibility</p:attrName>
                                        </p:attrNameLst>
                                      </p:cBhvr>
                                      <p:to>
                                        <p:strVal val="visible"/>
                                      </p:to>
                                    </p:set>
                                    <p:animEffect transition="in" filter="wipe(left)">
                                      <p:cBhvr>
                                        <p:cTn id="10" dur="700"/>
                                        <p:tgtEl>
                                          <p:spTgt spid="6"/>
                                        </p:tgtEl>
                                      </p:cBhvr>
                                    </p:animEffect>
                                  </p:childTnLst>
                                </p:cTn>
                              </p:par>
                              <p:par>
                                <p:cTn id="11" presetID="10" presetClass="entr" presetSubtype="0" fill="hold" grpId="0" nodeType="withEffect">
                                  <p:stCondLst>
                                    <p:cond delay="45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50"/>
                                        <p:tgtEl>
                                          <p:spTgt spid="7"/>
                                        </p:tgtEl>
                                      </p:cBhvr>
                                    </p:animEffect>
                                  </p:childTnLst>
                                </p:cTn>
                              </p:par>
                              <p:par>
                                <p:cTn id="14" presetID="37" presetClass="entr" presetSubtype="0" fill="hold" nodeType="withEffect">
                                  <p:stCondLst>
                                    <p:cond delay="55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50"/>
                                        <p:tgtEl>
                                          <p:spTgt spid="10"/>
                                        </p:tgtEl>
                                      </p:cBhvr>
                                    </p:animEffect>
                                    <p:anim calcmode="lin" valueType="num">
                                      <p:cBhvr>
                                        <p:cTn id="17" dur="550" fill="hold"/>
                                        <p:tgtEl>
                                          <p:spTgt spid="10"/>
                                        </p:tgtEl>
                                        <p:attrNameLst>
                                          <p:attrName>ppt_x</p:attrName>
                                        </p:attrNameLst>
                                      </p:cBhvr>
                                      <p:tavLst>
                                        <p:tav tm="0">
                                          <p:val>
                                            <p:strVal val="#ppt_x"/>
                                          </p:val>
                                        </p:tav>
                                        <p:tav tm="100000">
                                          <p:val>
                                            <p:strVal val="#ppt_x"/>
                                          </p:val>
                                        </p:tav>
                                      </p:tavLst>
                                    </p:anim>
                                    <p:anim calcmode="lin" valueType="num">
                                      <p:cBhvr>
                                        <p:cTn id="18" dur="495" decel="100000" fill="hold"/>
                                        <p:tgtEl>
                                          <p:spTgt spid="10"/>
                                        </p:tgtEl>
                                        <p:attrNameLst>
                                          <p:attrName>ppt_y</p:attrName>
                                        </p:attrNameLst>
                                      </p:cBhvr>
                                      <p:tavLst>
                                        <p:tav tm="0">
                                          <p:val>
                                            <p:strVal val="#ppt_y+1"/>
                                          </p:val>
                                        </p:tav>
                                        <p:tav tm="100000">
                                          <p:val>
                                            <p:strVal val="#ppt_y-.03"/>
                                          </p:val>
                                        </p:tav>
                                      </p:tavLst>
                                    </p:anim>
                                    <p:anim calcmode="lin" valueType="num">
                                      <p:cBhvr>
                                        <p:cTn id="19" dur="55" accel="100000" fill="hold">
                                          <p:stCondLst>
                                            <p:cond delay="495"/>
                                          </p:stCondLst>
                                        </p:cTn>
                                        <p:tgtEl>
                                          <p:spTgt spid="10"/>
                                        </p:tgtEl>
                                        <p:attrNameLst>
                                          <p:attrName>ppt_y</p:attrName>
                                        </p:attrNameLst>
                                      </p:cBhvr>
                                      <p:tavLst>
                                        <p:tav tm="0">
                                          <p:val>
                                            <p:strVal val="#ppt_y-.03"/>
                                          </p:val>
                                        </p:tav>
                                        <p:tav tm="100000">
                                          <p:val>
                                            <p:strVal val="#ppt_y"/>
                                          </p:val>
                                        </p:tav>
                                      </p:tavLst>
                                    </p:anim>
                                  </p:childTnLst>
                                </p:cTn>
                              </p:par>
                              <p:par>
                                <p:cTn id="20" presetID="37" presetClass="entr" presetSubtype="0" fill="hold" nodeType="withEffect">
                                  <p:stCondLst>
                                    <p:cond delay="75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550"/>
                                        <p:tgtEl>
                                          <p:spTgt spid="16"/>
                                        </p:tgtEl>
                                      </p:cBhvr>
                                    </p:animEffect>
                                    <p:anim calcmode="lin" valueType="num">
                                      <p:cBhvr>
                                        <p:cTn id="23" dur="550" fill="hold"/>
                                        <p:tgtEl>
                                          <p:spTgt spid="16"/>
                                        </p:tgtEl>
                                        <p:attrNameLst>
                                          <p:attrName>ppt_x</p:attrName>
                                        </p:attrNameLst>
                                      </p:cBhvr>
                                      <p:tavLst>
                                        <p:tav tm="0">
                                          <p:val>
                                            <p:strVal val="#ppt_x"/>
                                          </p:val>
                                        </p:tav>
                                        <p:tav tm="100000">
                                          <p:val>
                                            <p:strVal val="#ppt_x"/>
                                          </p:val>
                                        </p:tav>
                                      </p:tavLst>
                                    </p:anim>
                                    <p:anim calcmode="lin" valueType="num">
                                      <p:cBhvr>
                                        <p:cTn id="24" dur="495" decel="100000" fill="hold"/>
                                        <p:tgtEl>
                                          <p:spTgt spid="16"/>
                                        </p:tgtEl>
                                        <p:attrNameLst>
                                          <p:attrName>ppt_y</p:attrName>
                                        </p:attrNameLst>
                                      </p:cBhvr>
                                      <p:tavLst>
                                        <p:tav tm="0">
                                          <p:val>
                                            <p:strVal val="#ppt_y+1"/>
                                          </p:val>
                                        </p:tav>
                                        <p:tav tm="100000">
                                          <p:val>
                                            <p:strVal val="#ppt_y-.03"/>
                                          </p:val>
                                        </p:tav>
                                      </p:tavLst>
                                    </p:anim>
                                    <p:anim calcmode="lin" valueType="num">
                                      <p:cBhvr>
                                        <p:cTn id="25" dur="55" accel="100000" fill="hold">
                                          <p:stCondLst>
                                            <p:cond delay="495"/>
                                          </p:stCondLst>
                                        </p:cTn>
                                        <p:tgtEl>
                                          <p:spTgt spid="16"/>
                                        </p:tgtEl>
                                        <p:attrNameLst>
                                          <p:attrName>ppt_y</p:attrName>
                                        </p:attrNameLst>
                                      </p:cBhvr>
                                      <p:tavLst>
                                        <p:tav tm="0">
                                          <p:val>
                                            <p:strVal val="#ppt_y-.03"/>
                                          </p:val>
                                        </p:tav>
                                        <p:tav tm="100000">
                                          <p:val>
                                            <p:strVal val="#ppt_y"/>
                                          </p:val>
                                        </p:tav>
                                      </p:tavLst>
                                    </p:anim>
                                  </p:childTnLst>
                                </p:cTn>
                              </p:par>
                              <p:par>
                                <p:cTn id="26" presetID="37" presetClass="entr" presetSubtype="0" fill="hold" nodeType="withEffect">
                                  <p:stCondLst>
                                    <p:cond delay="950"/>
                                  </p:stCondLst>
                                  <p:childTnLst>
                                    <p:set>
                                      <p:cBhvr>
                                        <p:cTn id="27" dur="1" fill="hold">
                                          <p:stCondLst>
                                            <p:cond delay="0"/>
                                          </p:stCondLst>
                                        </p:cTn>
                                        <p:tgtEl>
                                          <p:spTgt spid="22"/>
                                        </p:tgtEl>
                                        <p:attrNameLst>
                                          <p:attrName>style.visibility</p:attrName>
                                        </p:attrNameLst>
                                      </p:cBhvr>
                                      <p:to>
                                        <p:strVal val="visible"/>
                                      </p:to>
                                    </p:set>
                                    <p:animEffect transition="in" filter="fade">
                                      <p:cBhvr>
                                        <p:cTn id="28" dur="550"/>
                                        <p:tgtEl>
                                          <p:spTgt spid="22"/>
                                        </p:tgtEl>
                                      </p:cBhvr>
                                    </p:animEffect>
                                    <p:anim calcmode="lin" valueType="num">
                                      <p:cBhvr>
                                        <p:cTn id="29" dur="550" fill="hold"/>
                                        <p:tgtEl>
                                          <p:spTgt spid="22"/>
                                        </p:tgtEl>
                                        <p:attrNameLst>
                                          <p:attrName>ppt_x</p:attrName>
                                        </p:attrNameLst>
                                      </p:cBhvr>
                                      <p:tavLst>
                                        <p:tav tm="0">
                                          <p:val>
                                            <p:strVal val="#ppt_x"/>
                                          </p:val>
                                        </p:tav>
                                        <p:tav tm="100000">
                                          <p:val>
                                            <p:strVal val="#ppt_x"/>
                                          </p:val>
                                        </p:tav>
                                      </p:tavLst>
                                    </p:anim>
                                    <p:anim calcmode="lin" valueType="num">
                                      <p:cBhvr>
                                        <p:cTn id="30" dur="495" decel="100000" fill="hold"/>
                                        <p:tgtEl>
                                          <p:spTgt spid="22"/>
                                        </p:tgtEl>
                                        <p:attrNameLst>
                                          <p:attrName>ppt_y</p:attrName>
                                        </p:attrNameLst>
                                      </p:cBhvr>
                                      <p:tavLst>
                                        <p:tav tm="0">
                                          <p:val>
                                            <p:strVal val="#ppt_y+1"/>
                                          </p:val>
                                        </p:tav>
                                        <p:tav tm="100000">
                                          <p:val>
                                            <p:strVal val="#ppt_y-.03"/>
                                          </p:val>
                                        </p:tav>
                                      </p:tavLst>
                                    </p:anim>
                                    <p:anim calcmode="lin" valueType="num">
                                      <p:cBhvr>
                                        <p:cTn id="31" dur="55" accel="100000" fill="hold">
                                          <p:stCondLst>
                                            <p:cond delay="495"/>
                                          </p:stCondLst>
                                        </p:cTn>
                                        <p:tgtEl>
                                          <p:spTgt spid="22"/>
                                        </p:tgtEl>
                                        <p:attrNameLst>
                                          <p:attrName>ppt_y</p:attrName>
                                        </p:attrNameLst>
                                      </p:cBhvr>
                                      <p:tavLst>
                                        <p:tav tm="0">
                                          <p:val>
                                            <p:strVal val="#ppt_y-.03"/>
                                          </p:val>
                                        </p:tav>
                                        <p:tav tm="100000">
                                          <p:val>
                                            <p:strVal val="#ppt_y"/>
                                          </p:val>
                                        </p:tav>
                                      </p:tavLst>
                                    </p:anim>
                                  </p:childTnLst>
                                </p:cTn>
                              </p:par>
                              <p:par>
                                <p:cTn id="32" presetID="23" presetClass="entr" presetSubtype="16" fill="hold" nodeType="withEffect">
                                  <p:stCondLst>
                                    <p:cond delay="1150"/>
                                  </p:stCondLst>
                                  <p:childTnLst>
                                    <p:set>
                                      <p:cBhvr>
                                        <p:cTn id="33" dur="1" fill="hold">
                                          <p:stCondLst>
                                            <p:cond delay="0"/>
                                          </p:stCondLst>
                                        </p:cTn>
                                        <p:tgtEl>
                                          <p:spTgt spid="28"/>
                                        </p:tgtEl>
                                        <p:attrNameLst>
                                          <p:attrName>style.visibility</p:attrName>
                                        </p:attrNameLst>
                                      </p:cBhvr>
                                      <p:to>
                                        <p:strVal val="visible"/>
                                      </p:to>
                                    </p:set>
                                    <p:anim calcmode="lin" valueType="num">
                                      <p:cBhvr>
                                        <p:cTn id="34" dur="550" fill="hold"/>
                                        <p:tgtEl>
                                          <p:spTgt spid="28"/>
                                        </p:tgtEl>
                                        <p:attrNameLst>
                                          <p:attrName>ppt_w</p:attrName>
                                        </p:attrNameLst>
                                      </p:cBhvr>
                                      <p:tavLst>
                                        <p:tav tm="0">
                                          <p:val>
                                            <p:fltVal val="0"/>
                                          </p:val>
                                        </p:tav>
                                        <p:tav tm="100000">
                                          <p:val>
                                            <p:strVal val="#ppt_w"/>
                                          </p:val>
                                        </p:tav>
                                      </p:tavLst>
                                    </p:anim>
                                    <p:anim calcmode="lin" valueType="num">
                                      <p:cBhvr>
                                        <p:cTn id="35" dur="550" fill="hold"/>
                                        <p:tgtEl>
                                          <p:spTgt spid="28"/>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4284B"/>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57150"/>
          </a:xfrm>
          <a:prstGeom prst="rect">
            <a:avLst/>
          </a:prstGeom>
          <a:solidFill>
            <a:srgbClr val="59BEC9"/>
          </a:solidFill>
          <a:ln>
            <a:noFill/>
          </a:ln>
        </p:spPr>
        <p:txBody>
          <a:bodyPr rtlCol="0" anchor="ctr"/>
          <a:lstStyle/>
          <a:p>
            <a:pPr algn="ctr"/>
            <a:endParaRPr/>
          </a:p>
        </p:txBody>
      </p:sp>
      <p:grpSp>
        <p:nvGrpSpPr>
          <p:cNvPr id="3" name="anim|fade|0.05"/>
          <p:cNvGrpSpPr/>
          <p:nvPr/>
        </p:nvGrpSpPr>
        <p:grpSpPr>
          <a:xfrm>
            <a:off x="571500" y="266700"/>
            <a:ext cx="7105650" cy="190500"/>
            <a:chOff x="571500" y="266700"/>
            <a:chExt cx="7105650" cy="190500"/>
          </a:xfrm>
        </p:grpSpPr>
        <p:sp>
          <p:nvSpPr>
            <p:cNvPr id="4" name="Rectangle 3"/>
            <p:cNvSpPr/>
            <p:nvPr/>
          </p:nvSpPr>
          <p:spPr>
            <a:xfrm>
              <a:off x="571500" y="342900"/>
              <a:ext cx="342900" cy="47625"/>
            </a:xfrm>
            <a:prstGeom prst="rect">
              <a:avLst/>
            </a:prstGeom>
            <a:solidFill>
              <a:srgbClr val="FFB938"/>
            </a:solidFill>
            <a:ln>
              <a:noFill/>
            </a:ln>
          </p:spPr>
          <p:txBody>
            <a:bodyPr rtlCol="0" anchor="ctr"/>
            <a:lstStyle/>
            <a:p>
              <a:pPr algn="ctr"/>
              <a:endParaRPr/>
            </a:p>
          </p:txBody>
        </p:sp>
        <p:sp>
          <p:nvSpPr>
            <p:cNvPr id="5" name="TextBox 4"/>
            <p:cNvSpPr txBox="1"/>
            <p:nvPr/>
          </p:nvSpPr>
          <p:spPr>
            <a:xfrm>
              <a:off x="1009650" y="266700"/>
              <a:ext cx="6667500" cy="190500"/>
            </a:xfrm>
            <a:prstGeom prst="rect">
              <a:avLst/>
            </a:prstGeom>
            <a:noFill/>
          </p:spPr>
          <p:txBody>
            <a:bodyPr wrap="square" lIns="0" tIns="0" rIns="0" bIns="0" anchor="t">
              <a:spAutoFit/>
            </a:bodyPr>
            <a:lstStyle/>
            <a:p>
              <a:pPr algn="l"/>
              <a:r>
                <a:rPr sz="1100" b="1" spc="300">
                  <a:solidFill>
                    <a:srgbClr val="59BEC9"/>
                  </a:solidFill>
                  <a:latin typeface="Century Gothic"/>
                </a:rPr>
                <a:t>RESTORE OPTIONS</a:t>
              </a:r>
            </a:p>
          </p:txBody>
        </p:sp>
      </p:grpSp>
      <p:sp>
        <p:nvSpPr>
          <p:cNvPr id="6" name="anim|wipeL|0.1"/>
          <p:cNvSpPr txBox="1"/>
          <p:nvPr/>
        </p:nvSpPr>
        <p:spPr>
          <a:xfrm>
            <a:off x="571500" y="533400"/>
            <a:ext cx="11049000" cy="533400"/>
          </a:xfrm>
          <a:prstGeom prst="rect">
            <a:avLst/>
          </a:prstGeom>
          <a:noFill/>
        </p:spPr>
        <p:txBody>
          <a:bodyPr wrap="square" lIns="0" tIns="0" rIns="0" bIns="0" anchor="t">
            <a:spAutoFit/>
          </a:bodyPr>
          <a:lstStyle/>
          <a:p>
            <a:pPr algn="l"/>
            <a:r>
              <a:rPr sz="3100" b="1">
                <a:solidFill>
                  <a:srgbClr val="FFFFFF"/>
                </a:solidFill>
                <a:latin typeface="Century Gothic"/>
              </a:rPr>
              <a:t>Restore options at a glance</a:t>
            </a:r>
          </a:p>
        </p:txBody>
      </p:sp>
      <p:sp>
        <p:nvSpPr>
          <p:cNvPr id="7" name="anim|fade|0.45"/>
          <p:cNvSpPr txBox="1"/>
          <p:nvPr/>
        </p:nvSpPr>
        <p:spPr>
          <a:xfrm>
            <a:off x="571500" y="1028700"/>
            <a:ext cx="11049000" cy="247650"/>
          </a:xfrm>
          <a:prstGeom prst="rect">
            <a:avLst/>
          </a:prstGeom>
          <a:noFill/>
        </p:spPr>
        <p:txBody>
          <a:bodyPr wrap="square" lIns="0" tIns="0" rIns="0" bIns="0" anchor="t">
            <a:spAutoFit/>
          </a:bodyPr>
          <a:lstStyle/>
          <a:p>
            <a:pPr algn="l"/>
            <a:r>
              <a:rPr sz="1500" b="0">
                <a:solidFill>
                  <a:srgbClr val="B0C0D9"/>
                </a:solidFill>
                <a:latin typeface="Segoe UI"/>
              </a:rPr>
              <a:t>AKS Backup is flexible about what and where you restore</a:t>
            </a:r>
          </a:p>
        </p:txBody>
      </p:sp>
      <p:sp>
        <p:nvSpPr>
          <p:cNvPr id="8" name="TextBox 7"/>
          <p:cNvSpPr txBox="1"/>
          <p:nvPr/>
        </p:nvSpPr>
        <p:spPr>
          <a:xfrm>
            <a:off x="571500" y="6534150"/>
            <a:ext cx="6667500" cy="171450"/>
          </a:xfrm>
          <a:prstGeom prst="rect">
            <a:avLst/>
          </a:prstGeom>
          <a:noFill/>
        </p:spPr>
        <p:txBody>
          <a:bodyPr wrap="square" lIns="0" tIns="0" rIns="0" bIns="0" anchor="t">
            <a:spAutoFit/>
          </a:bodyPr>
          <a:lstStyle/>
          <a:p>
            <a:pPr algn="l"/>
            <a:r>
              <a:rPr sz="950" b="0">
                <a:solidFill>
                  <a:srgbClr val="B0C0D9"/>
                </a:solidFill>
                <a:latin typeface="Segoe UI"/>
              </a:rPr>
              <a:t>AKS Backup &amp; Restore  |  BFH AKS IHUB Platform Team</a:t>
            </a:r>
          </a:p>
        </p:txBody>
      </p:sp>
      <p:sp>
        <p:nvSpPr>
          <p:cNvPr id="9" name="TextBox 8"/>
          <p:cNvSpPr txBox="1"/>
          <p:nvPr/>
        </p:nvSpPr>
        <p:spPr>
          <a:xfrm>
            <a:off x="10668000" y="6534150"/>
            <a:ext cx="952500" cy="171450"/>
          </a:xfrm>
          <a:prstGeom prst="rect">
            <a:avLst/>
          </a:prstGeom>
          <a:noFill/>
        </p:spPr>
        <p:txBody>
          <a:bodyPr wrap="square" lIns="0" tIns="0" rIns="0" bIns="0" anchor="t">
            <a:spAutoFit/>
          </a:bodyPr>
          <a:lstStyle/>
          <a:p>
            <a:pPr algn="r"/>
            <a:r>
              <a:rPr sz="1000" b="1">
                <a:solidFill>
                  <a:srgbClr val="FFB938"/>
                </a:solidFill>
                <a:latin typeface="Century Gothic"/>
              </a:rPr>
              <a:t>13</a:t>
            </a:r>
          </a:p>
        </p:txBody>
      </p:sp>
      <p:grpSp>
        <p:nvGrpSpPr>
          <p:cNvPr id="10" name="anim|rise|0.55"/>
          <p:cNvGrpSpPr/>
          <p:nvPr/>
        </p:nvGrpSpPr>
        <p:grpSpPr>
          <a:xfrm>
            <a:off x="571500" y="1485900"/>
            <a:ext cx="5448300" cy="2114550"/>
            <a:chOff x="571500" y="1485900"/>
            <a:chExt cx="5448300" cy="2114550"/>
          </a:xfrm>
        </p:grpSpPr>
        <p:sp>
          <p:nvSpPr>
            <p:cNvPr id="11" name="Rounded Rectangle 10"/>
            <p:cNvSpPr/>
            <p:nvPr/>
          </p:nvSpPr>
          <p:spPr>
            <a:xfrm>
              <a:off x="571500" y="1485900"/>
              <a:ext cx="5448300" cy="2114550"/>
            </a:xfrm>
            <a:prstGeom prst="roundRect">
              <a:avLst>
                <a:gd name="adj" fmla="val 8108"/>
              </a:avLst>
            </a:prstGeom>
            <a:solidFill>
              <a:srgbClr val="1E3A68"/>
            </a:solidFill>
            <a:ln>
              <a:noFill/>
            </a:ln>
          </p:spPr>
          <p:txBody>
            <a:bodyPr rtlCol="0" anchor="ctr"/>
            <a:lstStyle/>
            <a:p>
              <a:pPr algn="ctr"/>
              <a:endParaRPr/>
            </a:p>
          </p:txBody>
        </p:sp>
        <p:sp>
          <p:nvSpPr>
            <p:cNvPr id="12" name="Oval 11"/>
            <p:cNvSpPr/>
            <p:nvPr/>
          </p:nvSpPr>
          <p:spPr>
            <a:xfrm>
              <a:off x="819150" y="1733550"/>
              <a:ext cx="609600" cy="609600"/>
            </a:xfrm>
            <a:prstGeom prst="ellipse">
              <a:avLst/>
            </a:prstGeom>
            <a:solidFill>
              <a:srgbClr val="14284B"/>
            </a:solidFill>
            <a:ln>
              <a:noFill/>
            </a:ln>
          </p:spPr>
          <p:txBody>
            <a:bodyPr rtlCol="0" anchor="ctr"/>
            <a:lstStyle/>
            <a:p>
              <a:pPr algn="ctr"/>
              <a:endParaRPr/>
            </a:p>
          </p:txBody>
        </p:sp>
        <p:pic>
          <p:nvPicPr>
            <p:cNvPr id="13" name="Picture 12" descr="layers_teal.png"/>
            <p:cNvPicPr>
              <a:picLocks noChangeAspect="1"/>
            </p:cNvPicPr>
            <p:nvPr/>
          </p:nvPicPr>
          <p:blipFill>
            <a:blip r:embed="rId2"/>
            <a:stretch>
              <a:fillRect/>
            </a:stretch>
          </p:blipFill>
          <p:spPr>
            <a:xfrm>
              <a:off x="959358" y="1873758"/>
              <a:ext cx="329184" cy="329184"/>
            </a:xfrm>
            <a:prstGeom prst="rect">
              <a:avLst/>
            </a:prstGeom>
          </p:spPr>
        </p:pic>
        <p:sp>
          <p:nvSpPr>
            <p:cNvPr id="14" name="TextBox 13"/>
            <p:cNvSpPr txBox="1"/>
            <p:nvPr/>
          </p:nvSpPr>
          <p:spPr>
            <a:xfrm>
              <a:off x="1638300" y="1771650"/>
              <a:ext cx="4114800" cy="266700"/>
            </a:xfrm>
            <a:prstGeom prst="rect">
              <a:avLst/>
            </a:prstGeom>
            <a:noFill/>
          </p:spPr>
          <p:txBody>
            <a:bodyPr wrap="square" lIns="0" tIns="0" rIns="0" bIns="0" anchor="t">
              <a:spAutoFit/>
            </a:bodyPr>
            <a:lstStyle/>
            <a:p>
              <a:pPr algn="l"/>
              <a:r>
                <a:rPr sz="1900" b="1">
                  <a:solidFill>
                    <a:srgbClr val="FFFFFF"/>
                  </a:solidFill>
                  <a:latin typeface="Century Gothic"/>
                </a:rPr>
                <a:t>Full restore</a:t>
              </a:r>
            </a:p>
          </p:txBody>
        </p:sp>
        <p:sp>
          <p:nvSpPr>
            <p:cNvPr id="15" name="TextBox 14"/>
            <p:cNvSpPr txBox="1"/>
            <p:nvPr/>
          </p:nvSpPr>
          <p:spPr>
            <a:xfrm>
              <a:off x="1638300" y="2133600"/>
              <a:ext cx="4114800" cy="1352550"/>
            </a:xfrm>
            <a:prstGeom prst="rect">
              <a:avLst/>
            </a:prstGeom>
            <a:noFill/>
          </p:spPr>
          <p:txBody>
            <a:bodyPr wrap="square" lIns="0" tIns="0" rIns="0" bIns="0" anchor="t">
              <a:spAutoFit/>
            </a:bodyPr>
            <a:lstStyle/>
            <a:p>
              <a:pPr algn="l"/>
              <a:r>
                <a:rPr sz="1550" b="0">
                  <a:solidFill>
                    <a:srgbClr val="B0C0D9"/>
                  </a:solidFill>
                  <a:latin typeface="Segoe UI"/>
                </a:rPr>
                <a:t>Bring back everything that was backed up: the cluster resources. Volume data is not part of our backups.</a:t>
              </a:r>
            </a:p>
          </p:txBody>
        </p:sp>
      </p:grpSp>
      <p:grpSp>
        <p:nvGrpSpPr>
          <p:cNvPr id="16" name="anim|rise|0.71"/>
          <p:cNvGrpSpPr/>
          <p:nvPr/>
        </p:nvGrpSpPr>
        <p:grpSpPr>
          <a:xfrm>
            <a:off x="6172200" y="1485900"/>
            <a:ext cx="5448300" cy="2114550"/>
            <a:chOff x="6172200" y="1485900"/>
            <a:chExt cx="5448300" cy="2114550"/>
          </a:xfrm>
        </p:grpSpPr>
        <p:sp>
          <p:nvSpPr>
            <p:cNvPr id="17" name="Rounded Rectangle 16"/>
            <p:cNvSpPr/>
            <p:nvPr/>
          </p:nvSpPr>
          <p:spPr>
            <a:xfrm>
              <a:off x="6172200" y="1485900"/>
              <a:ext cx="5448300" cy="2114550"/>
            </a:xfrm>
            <a:prstGeom prst="roundRect">
              <a:avLst>
                <a:gd name="adj" fmla="val 8108"/>
              </a:avLst>
            </a:prstGeom>
            <a:solidFill>
              <a:srgbClr val="1E3A68"/>
            </a:solidFill>
            <a:ln>
              <a:noFill/>
            </a:ln>
          </p:spPr>
          <p:txBody>
            <a:bodyPr rtlCol="0" anchor="ctr"/>
            <a:lstStyle/>
            <a:p>
              <a:pPr algn="ctr"/>
              <a:endParaRPr/>
            </a:p>
          </p:txBody>
        </p:sp>
        <p:sp>
          <p:nvSpPr>
            <p:cNvPr id="18" name="Oval 17"/>
            <p:cNvSpPr/>
            <p:nvPr/>
          </p:nvSpPr>
          <p:spPr>
            <a:xfrm>
              <a:off x="6419850" y="1733550"/>
              <a:ext cx="609600" cy="609600"/>
            </a:xfrm>
            <a:prstGeom prst="ellipse">
              <a:avLst/>
            </a:prstGeom>
            <a:solidFill>
              <a:srgbClr val="14284B"/>
            </a:solidFill>
            <a:ln>
              <a:noFill/>
            </a:ln>
          </p:spPr>
          <p:txBody>
            <a:bodyPr rtlCol="0" anchor="ctr"/>
            <a:lstStyle/>
            <a:p>
              <a:pPr algn="ctr"/>
              <a:endParaRPr/>
            </a:p>
          </p:txBody>
        </p:sp>
        <p:pic>
          <p:nvPicPr>
            <p:cNvPr id="19" name="Picture 18" descr="funnel_teal.png"/>
            <p:cNvPicPr>
              <a:picLocks noChangeAspect="1"/>
            </p:cNvPicPr>
            <p:nvPr/>
          </p:nvPicPr>
          <p:blipFill>
            <a:blip r:embed="rId3"/>
            <a:stretch>
              <a:fillRect/>
            </a:stretch>
          </p:blipFill>
          <p:spPr>
            <a:xfrm>
              <a:off x="6560058" y="1873758"/>
              <a:ext cx="329184" cy="329184"/>
            </a:xfrm>
            <a:prstGeom prst="rect">
              <a:avLst/>
            </a:prstGeom>
          </p:spPr>
        </p:pic>
        <p:sp>
          <p:nvSpPr>
            <p:cNvPr id="20" name="TextBox 19"/>
            <p:cNvSpPr txBox="1"/>
            <p:nvPr/>
          </p:nvSpPr>
          <p:spPr>
            <a:xfrm>
              <a:off x="7239000" y="1771650"/>
              <a:ext cx="4114800" cy="266700"/>
            </a:xfrm>
            <a:prstGeom prst="rect">
              <a:avLst/>
            </a:prstGeom>
            <a:noFill/>
          </p:spPr>
          <p:txBody>
            <a:bodyPr wrap="square" lIns="0" tIns="0" rIns="0" bIns="0" anchor="t">
              <a:spAutoFit/>
            </a:bodyPr>
            <a:lstStyle/>
            <a:p>
              <a:pPr algn="l"/>
              <a:r>
                <a:rPr sz="1900" b="1">
                  <a:solidFill>
                    <a:srgbClr val="FFFFFF"/>
                  </a:solidFill>
                  <a:latin typeface="Century Gothic"/>
                </a:rPr>
                <a:t>Item-level restore</a:t>
              </a:r>
            </a:p>
          </p:txBody>
        </p:sp>
        <p:sp>
          <p:nvSpPr>
            <p:cNvPr id="21" name="TextBox 20"/>
            <p:cNvSpPr txBox="1"/>
            <p:nvPr/>
          </p:nvSpPr>
          <p:spPr>
            <a:xfrm>
              <a:off x="7239000" y="2133600"/>
              <a:ext cx="4114800" cy="1352550"/>
            </a:xfrm>
            <a:prstGeom prst="rect">
              <a:avLst/>
            </a:prstGeom>
            <a:noFill/>
          </p:spPr>
          <p:txBody>
            <a:bodyPr wrap="square" lIns="0" tIns="0" rIns="0" bIns="0" anchor="t">
              <a:spAutoFit/>
            </a:bodyPr>
            <a:lstStyle/>
            <a:p>
              <a:pPr algn="l"/>
              <a:r>
                <a:rPr sz="1550" b="0">
                  <a:solidFill>
                    <a:srgbClr val="B0C0D9"/>
                  </a:solidFill>
                  <a:latin typeface="Segoe UI"/>
                </a:rPr>
                <a:t>Pick only what you need: namespaces, labels, or specific resource kinds.</a:t>
              </a:r>
            </a:p>
          </p:txBody>
        </p:sp>
      </p:grpSp>
      <p:grpSp>
        <p:nvGrpSpPr>
          <p:cNvPr id="22" name="anim|rise|0.87"/>
          <p:cNvGrpSpPr/>
          <p:nvPr/>
        </p:nvGrpSpPr>
        <p:grpSpPr>
          <a:xfrm>
            <a:off x="571500" y="3752850"/>
            <a:ext cx="5448300" cy="2114550"/>
            <a:chOff x="571500" y="3752850"/>
            <a:chExt cx="5448300" cy="2114550"/>
          </a:xfrm>
        </p:grpSpPr>
        <p:sp>
          <p:nvSpPr>
            <p:cNvPr id="23" name="Rounded Rectangle 22"/>
            <p:cNvSpPr/>
            <p:nvPr/>
          </p:nvSpPr>
          <p:spPr>
            <a:xfrm>
              <a:off x="571500" y="3752850"/>
              <a:ext cx="5448300" cy="2114550"/>
            </a:xfrm>
            <a:prstGeom prst="roundRect">
              <a:avLst>
                <a:gd name="adj" fmla="val 8108"/>
              </a:avLst>
            </a:prstGeom>
            <a:solidFill>
              <a:srgbClr val="1E3A68"/>
            </a:solidFill>
            <a:ln>
              <a:noFill/>
            </a:ln>
          </p:spPr>
          <p:txBody>
            <a:bodyPr rtlCol="0" anchor="ctr"/>
            <a:lstStyle/>
            <a:p>
              <a:pPr algn="ctr"/>
              <a:endParaRPr/>
            </a:p>
          </p:txBody>
        </p:sp>
        <p:sp>
          <p:nvSpPr>
            <p:cNvPr id="24" name="Oval 23"/>
            <p:cNvSpPr/>
            <p:nvPr/>
          </p:nvSpPr>
          <p:spPr>
            <a:xfrm>
              <a:off x="819150" y="4000500"/>
              <a:ext cx="609600" cy="609600"/>
            </a:xfrm>
            <a:prstGeom prst="ellipse">
              <a:avLst/>
            </a:prstGeom>
            <a:solidFill>
              <a:srgbClr val="14284B"/>
            </a:solidFill>
            <a:ln>
              <a:noFill/>
            </a:ln>
          </p:spPr>
          <p:txBody>
            <a:bodyPr rtlCol="0" anchor="ctr"/>
            <a:lstStyle/>
            <a:p>
              <a:pPr algn="ctr"/>
              <a:endParaRPr/>
            </a:p>
          </p:txBody>
        </p:sp>
        <p:pic>
          <p:nvPicPr>
            <p:cNvPr id="25" name="Picture 24" descr="server_teal.png"/>
            <p:cNvPicPr>
              <a:picLocks noChangeAspect="1"/>
            </p:cNvPicPr>
            <p:nvPr/>
          </p:nvPicPr>
          <p:blipFill>
            <a:blip r:embed="rId4"/>
            <a:stretch>
              <a:fillRect/>
            </a:stretch>
          </p:blipFill>
          <p:spPr>
            <a:xfrm>
              <a:off x="959358" y="4140708"/>
              <a:ext cx="329184" cy="329184"/>
            </a:xfrm>
            <a:prstGeom prst="rect">
              <a:avLst/>
            </a:prstGeom>
          </p:spPr>
        </p:pic>
        <p:sp>
          <p:nvSpPr>
            <p:cNvPr id="26" name="TextBox 25"/>
            <p:cNvSpPr txBox="1"/>
            <p:nvPr/>
          </p:nvSpPr>
          <p:spPr>
            <a:xfrm>
              <a:off x="1638300" y="4038600"/>
              <a:ext cx="4114800" cy="266700"/>
            </a:xfrm>
            <a:prstGeom prst="rect">
              <a:avLst/>
            </a:prstGeom>
            <a:noFill/>
          </p:spPr>
          <p:txBody>
            <a:bodyPr wrap="square" lIns="0" tIns="0" rIns="0" bIns="0" anchor="t">
              <a:spAutoFit/>
            </a:bodyPr>
            <a:lstStyle/>
            <a:p>
              <a:pPr algn="l"/>
              <a:r>
                <a:rPr sz="1900" b="1">
                  <a:solidFill>
                    <a:srgbClr val="FFFFFF"/>
                  </a:solidFill>
                  <a:latin typeface="Century Gothic"/>
                </a:rPr>
                <a:t>Original cluster</a:t>
              </a:r>
            </a:p>
          </p:txBody>
        </p:sp>
        <p:sp>
          <p:nvSpPr>
            <p:cNvPr id="27" name="TextBox 26"/>
            <p:cNvSpPr txBox="1"/>
            <p:nvPr/>
          </p:nvSpPr>
          <p:spPr>
            <a:xfrm>
              <a:off x="1638300" y="4400550"/>
              <a:ext cx="4114800" cy="1352550"/>
            </a:xfrm>
            <a:prstGeom prst="rect">
              <a:avLst/>
            </a:prstGeom>
            <a:noFill/>
          </p:spPr>
          <p:txBody>
            <a:bodyPr wrap="square" lIns="0" tIns="0" rIns="0" bIns="0" anchor="t">
              <a:spAutoFit/>
            </a:bodyPr>
            <a:lstStyle/>
            <a:p>
              <a:pPr algn="l"/>
              <a:r>
                <a:rPr sz="1550" b="0">
                  <a:solidFill>
                    <a:srgbClr val="B0C0D9"/>
                  </a:solidFill>
                  <a:latin typeface="Segoe UI"/>
                </a:rPr>
                <a:t>Restore back to the cluster that was backed up. Existing resources with the same name must be deleted first, or patched.</a:t>
              </a:r>
            </a:p>
          </p:txBody>
        </p:sp>
      </p:grpSp>
      <p:grpSp>
        <p:nvGrpSpPr>
          <p:cNvPr id="28" name="anim|rise|1.03"/>
          <p:cNvGrpSpPr/>
          <p:nvPr/>
        </p:nvGrpSpPr>
        <p:grpSpPr>
          <a:xfrm>
            <a:off x="6172200" y="3752850"/>
            <a:ext cx="5448300" cy="2114550"/>
            <a:chOff x="6172200" y="3752850"/>
            <a:chExt cx="5448300" cy="2114550"/>
          </a:xfrm>
        </p:grpSpPr>
        <p:sp>
          <p:nvSpPr>
            <p:cNvPr id="29" name="Rounded Rectangle 28"/>
            <p:cNvSpPr/>
            <p:nvPr/>
          </p:nvSpPr>
          <p:spPr>
            <a:xfrm>
              <a:off x="6172200" y="3752850"/>
              <a:ext cx="5448300" cy="2114550"/>
            </a:xfrm>
            <a:prstGeom prst="roundRect">
              <a:avLst>
                <a:gd name="adj" fmla="val 8108"/>
              </a:avLst>
            </a:prstGeom>
            <a:solidFill>
              <a:srgbClr val="1E3A68"/>
            </a:solidFill>
            <a:ln w="19050">
              <a:solidFill>
                <a:srgbClr val="FFB938"/>
              </a:solidFill>
            </a:ln>
          </p:spPr>
          <p:txBody>
            <a:bodyPr rtlCol="0" anchor="ctr"/>
            <a:lstStyle/>
            <a:p>
              <a:pPr algn="ctr"/>
              <a:endParaRPr/>
            </a:p>
          </p:txBody>
        </p:sp>
        <p:sp>
          <p:nvSpPr>
            <p:cNvPr id="30" name="Oval 29"/>
            <p:cNvSpPr/>
            <p:nvPr/>
          </p:nvSpPr>
          <p:spPr>
            <a:xfrm>
              <a:off x="6419850" y="4000500"/>
              <a:ext cx="609600" cy="609600"/>
            </a:xfrm>
            <a:prstGeom prst="ellipse">
              <a:avLst/>
            </a:prstGeom>
            <a:solidFill>
              <a:srgbClr val="14284B"/>
            </a:solidFill>
            <a:ln>
              <a:noFill/>
            </a:ln>
          </p:spPr>
          <p:txBody>
            <a:bodyPr rtlCol="0" anchor="ctr"/>
            <a:lstStyle/>
            <a:p>
              <a:pPr algn="ctr"/>
              <a:endParaRPr/>
            </a:p>
          </p:txBody>
        </p:sp>
        <p:pic>
          <p:nvPicPr>
            <p:cNvPr id="31" name="Picture 30" descr="target_amber.png"/>
            <p:cNvPicPr>
              <a:picLocks noChangeAspect="1"/>
            </p:cNvPicPr>
            <p:nvPr/>
          </p:nvPicPr>
          <p:blipFill>
            <a:blip r:embed="rId5"/>
            <a:stretch>
              <a:fillRect/>
            </a:stretch>
          </p:blipFill>
          <p:spPr>
            <a:xfrm>
              <a:off x="6560058" y="4140708"/>
              <a:ext cx="329184" cy="329184"/>
            </a:xfrm>
            <a:prstGeom prst="rect">
              <a:avLst/>
            </a:prstGeom>
          </p:spPr>
        </p:pic>
        <p:sp>
          <p:nvSpPr>
            <p:cNvPr id="32" name="TextBox 31"/>
            <p:cNvSpPr txBox="1"/>
            <p:nvPr/>
          </p:nvSpPr>
          <p:spPr>
            <a:xfrm>
              <a:off x="7239000" y="4038600"/>
              <a:ext cx="4114800" cy="266700"/>
            </a:xfrm>
            <a:prstGeom prst="rect">
              <a:avLst/>
            </a:prstGeom>
            <a:noFill/>
          </p:spPr>
          <p:txBody>
            <a:bodyPr wrap="square" lIns="0" tIns="0" rIns="0" bIns="0" anchor="t">
              <a:spAutoFit/>
            </a:bodyPr>
            <a:lstStyle/>
            <a:p>
              <a:pPr algn="l"/>
              <a:r>
                <a:rPr sz="1900" b="1">
                  <a:solidFill>
                    <a:srgbClr val="FFFFFF"/>
                  </a:solidFill>
                  <a:latin typeface="Century Gothic"/>
                </a:rPr>
                <a:t>Alternate cluster</a:t>
              </a:r>
            </a:p>
          </p:txBody>
        </p:sp>
        <p:sp>
          <p:nvSpPr>
            <p:cNvPr id="33" name="TextBox 32"/>
            <p:cNvSpPr txBox="1"/>
            <p:nvPr/>
          </p:nvSpPr>
          <p:spPr>
            <a:xfrm>
              <a:off x="7239000" y="4400550"/>
              <a:ext cx="4114800" cy="1352550"/>
            </a:xfrm>
            <a:prstGeom prst="rect">
              <a:avLst/>
            </a:prstGeom>
            <a:noFill/>
          </p:spPr>
          <p:txBody>
            <a:bodyPr wrap="square" lIns="0" tIns="0" rIns="0" bIns="0" anchor="t">
              <a:spAutoFit/>
            </a:bodyPr>
            <a:lstStyle/>
            <a:p>
              <a:pPr algn="l"/>
              <a:r>
                <a:rPr sz="1550" b="0">
                  <a:solidFill>
                    <a:srgbClr val="B0C0D9"/>
                  </a:solidFill>
                  <a:latin typeface="Segoe UI"/>
                </a:rPr>
                <a:t>Restore to a different cluster. This is how we validate with the -rst cluster.</a:t>
              </a:r>
            </a:p>
          </p:txBody>
        </p:sp>
      </p:grpSp>
      <p:sp>
        <p:nvSpPr>
          <p:cNvPr id="34" name="anim|fade|1.19"/>
          <p:cNvSpPr txBox="1"/>
          <p:nvPr/>
        </p:nvSpPr>
        <p:spPr>
          <a:xfrm>
            <a:off x="571500" y="6153150"/>
            <a:ext cx="6667500" cy="171450"/>
          </a:xfrm>
          <a:prstGeom prst="rect">
            <a:avLst/>
          </a:prstGeom>
          <a:noFill/>
        </p:spPr>
        <p:txBody>
          <a:bodyPr wrap="square" lIns="0" tIns="0" rIns="0" bIns="0" anchor="t">
            <a:spAutoFit/>
          </a:bodyPr>
          <a:lstStyle/>
          <a:p>
            <a:pPr algn="l"/>
            <a:r>
              <a:rPr sz="1100" b="0">
                <a:solidFill>
                  <a:srgbClr val="B0C0D9"/>
                </a:solidFill>
                <a:latin typeface="Segoe UI"/>
              </a:rPr>
              <a:t>Source: Microsoft Learn, Restore AKS using Azure Backup</a:t>
            </a:r>
          </a:p>
        </p:txBody>
      </p:sp>
    </p:spTree>
  </p:cSld>
  <p:clrMapOvr>
    <a:masterClrMapping/>
  </p:clrMapOvr>
  <mc:AlternateContent xmlns:mc="http://schemas.openxmlformats.org/markup-compatibility/2006">
    <mc:Choice xmlns:p14="http://schemas.microsoft.com/office/powerpoint/2010/main" Requires="p14">
      <p:transition spd="slow" p14:dur="800">
        <p:fad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5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50"/>
                                        <p:tgtEl>
                                          <p:spTgt spid="3"/>
                                        </p:tgtEl>
                                      </p:cBhvr>
                                    </p:animEffect>
                                  </p:childTnLst>
                                </p:cTn>
                              </p:par>
                              <p:par>
                                <p:cTn id="8" presetID="22" presetClass="entr" presetSubtype="8" fill="hold" grpId="0" nodeType="withEffect">
                                  <p:stCondLst>
                                    <p:cond delay="100"/>
                                  </p:stCondLst>
                                  <p:childTnLst>
                                    <p:set>
                                      <p:cBhvr>
                                        <p:cTn id="9" dur="1" fill="hold">
                                          <p:stCondLst>
                                            <p:cond delay="0"/>
                                          </p:stCondLst>
                                        </p:cTn>
                                        <p:tgtEl>
                                          <p:spTgt spid="6"/>
                                        </p:tgtEl>
                                        <p:attrNameLst>
                                          <p:attrName>style.visibility</p:attrName>
                                        </p:attrNameLst>
                                      </p:cBhvr>
                                      <p:to>
                                        <p:strVal val="visible"/>
                                      </p:to>
                                    </p:set>
                                    <p:animEffect transition="in" filter="wipe(left)">
                                      <p:cBhvr>
                                        <p:cTn id="10" dur="700"/>
                                        <p:tgtEl>
                                          <p:spTgt spid="6"/>
                                        </p:tgtEl>
                                      </p:cBhvr>
                                    </p:animEffect>
                                  </p:childTnLst>
                                </p:cTn>
                              </p:par>
                              <p:par>
                                <p:cTn id="11" presetID="10" presetClass="entr" presetSubtype="0" fill="hold" grpId="0" nodeType="withEffect">
                                  <p:stCondLst>
                                    <p:cond delay="45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50"/>
                                        <p:tgtEl>
                                          <p:spTgt spid="7"/>
                                        </p:tgtEl>
                                      </p:cBhvr>
                                    </p:animEffect>
                                  </p:childTnLst>
                                </p:cTn>
                              </p:par>
                              <p:par>
                                <p:cTn id="14" presetID="37" presetClass="entr" presetSubtype="0" fill="hold" nodeType="withEffect">
                                  <p:stCondLst>
                                    <p:cond delay="55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50"/>
                                        <p:tgtEl>
                                          <p:spTgt spid="10"/>
                                        </p:tgtEl>
                                      </p:cBhvr>
                                    </p:animEffect>
                                    <p:anim calcmode="lin" valueType="num">
                                      <p:cBhvr>
                                        <p:cTn id="17" dur="550" fill="hold"/>
                                        <p:tgtEl>
                                          <p:spTgt spid="10"/>
                                        </p:tgtEl>
                                        <p:attrNameLst>
                                          <p:attrName>ppt_x</p:attrName>
                                        </p:attrNameLst>
                                      </p:cBhvr>
                                      <p:tavLst>
                                        <p:tav tm="0">
                                          <p:val>
                                            <p:strVal val="#ppt_x"/>
                                          </p:val>
                                        </p:tav>
                                        <p:tav tm="100000">
                                          <p:val>
                                            <p:strVal val="#ppt_x"/>
                                          </p:val>
                                        </p:tav>
                                      </p:tavLst>
                                    </p:anim>
                                    <p:anim calcmode="lin" valueType="num">
                                      <p:cBhvr>
                                        <p:cTn id="18" dur="495" decel="100000" fill="hold"/>
                                        <p:tgtEl>
                                          <p:spTgt spid="10"/>
                                        </p:tgtEl>
                                        <p:attrNameLst>
                                          <p:attrName>ppt_y</p:attrName>
                                        </p:attrNameLst>
                                      </p:cBhvr>
                                      <p:tavLst>
                                        <p:tav tm="0">
                                          <p:val>
                                            <p:strVal val="#ppt_y+1"/>
                                          </p:val>
                                        </p:tav>
                                        <p:tav tm="100000">
                                          <p:val>
                                            <p:strVal val="#ppt_y-.03"/>
                                          </p:val>
                                        </p:tav>
                                      </p:tavLst>
                                    </p:anim>
                                    <p:anim calcmode="lin" valueType="num">
                                      <p:cBhvr>
                                        <p:cTn id="19" dur="55" accel="100000" fill="hold">
                                          <p:stCondLst>
                                            <p:cond delay="495"/>
                                          </p:stCondLst>
                                        </p:cTn>
                                        <p:tgtEl>
                                          <p:spTgt spid="10"/>
                                        </p:tgtEl>
                                        <p:attrNameLst>
                                          <p:attrName>ppt_y</p:attrName>
                                        </p:attrNameLst>
                                      </p:cBhvr>
                                      <p:tavLst>
                                        <p:tav tm="0">
                                          <p:val>
                                            <p:strVal val="#ppt_y-.03"/>
                                          </p:val>
                                        </p:tav>
                                        <p:tav tm="100000">
                                          <p:val>
                                            <p:strVal val="#ppt_y"/>
                                          </p:val>
                                        </p:tav>
                                      </p:tavLst>
                                    </p:anim>
                                  </p:childTnLst>
                                </p:cTn>
                              </p:par>
                              <p:par>
                                <p:cTn id="20" presetID="37" presetClass="entr" presetSubtype="0" fill="hold" nodeType="withEffect">
                                  <p:stCondLst>
                                    <p:cond delay="71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550"/>
                                        <p:tgtEl>
                                          <p:spTgt spid="16"/>
                                        </p:tgtEl>
                                      </p:cBhvr>
                                    </p:animEffect>
                                    <p:anim calcmode="lin" valueType="num">
                                      <p:cBhvr>
                                        <p:cTn id="23" dur="550" fill="hold"/>
                                        <p:tgtEl>
                                          <p:spTgt spid="16"/>
                                        </p:tgtEl>
                                        <p:attrNameLst>
                                          <p:attrName>ppt_x</p:attrName>
                                        </p:attrNameLst>
                                      </p:cBhvr>
                                      <p:tavLst>
                                        <p:tav tm="0">
                                          <p:val>
                                            <p:strVal val="#ppt_x"/>
                                          </p:val>
                                        </p:tav>
                                        <p:tav tm="100000">
                                          <p:val>
                                            <p:strVal val="#ppt_x"/>
                                          </p:val>
                                        </p:tav>
                                      </p:tavLst>
                                    </p:anim>
                                    <p:anim calcmode="lin" valueType="num">
                                      <p:cBhvr>
                                        <p:cTn id="24" dur="495" decel="100000" fill="hold"/>
                                        <p:tgtEl>
                                          <p:spTgt spid="16"/>
                                        </p:tgtEl>
                                        <p:attrNameLst>
                                          <p:attrName>ppt_y</p:attrName>
                                        </p:attrNameLst>
                                      </p:cBhvr>
                                      <p:tavLst>
                                        <p:tav tm="0">
                                          <p:val>
                                            <p:strVal val="#ppt_y+1"/>
                                          </p:val>
                                        </p:tav>
                                        <p:tav tm="100000">
                                          <p:val>
                                            <p:strVal val="#ppt_y-.03"/>
                                          </p:val>
                                        </p:tav>
                                      </p:tavLst>
                                    </p:anim>
                                    <p:anim calcmode="lin" valueType="num">
                                      <p:cBhvr>
                                        <p:cTn id="25" dur="55" accel="100000" fill="hold">
                                          <p:stCondLst>
                                            <p:cond delay="495"/>
                                          </p:stCondLst>
                                        </p:cTn>
                                        <p:tgtEl>
                                          <p:spTgt spid="16"/>
                                        </p:tgtEl>
                                        <p:attrNameLst>
                                          <p:attrName>ppt_y</p:attrName>
                                        </p:attrNameLst>
                                      </p:cBhvr>
                                      <p:tavLst>
                                        <p:tav tm="0">
                                          <p:val>
                                            <p:strVal val="#ppt_y-.03"/>
                                          </p:val>
                                        </p:tav>
                                        <p:tav tm="100000">
                                          <p:val>
                                            <p:strVal val="#ppt_y"/>
                                          </p:val>
                                        </p:tav>
                                      </p:tavLst>
                                    </p:anim>
                                  </p:childTnLst>
                                </p:cTn>
                              </p:par>
                              <p:par>
                                <p:cTn id="26" presetID="37" presetClass="entr" presetSubtype="0" fill="hold" nodeType="withEffect">
                                  <p:stCondLst>
                                    <p:cond delay="870"/>
                                  </p:stCondLst>
                                  <p:childTnLst>
                                    <p:set>
                                      <p:cBhvr>
                                        <p:cTn id="27" dur="1" fill="hold">
                                          <p:stCondLst>
                                            <p:cond delay="0"/>
                                          </p:stCondLst>
                                        </p:cTn>
                                        <p:tgtEl>
                                          <p:spTgt spid="22"/>
                                        </p:tgtEl>
                                        <p:attrNameLst>
                                          <p:attrName>style.visibility</p:attrName>
                                        </p:attrNameLst>
                                      </p:cBhvr>
                                      <p:to>
                                        <p:strVal val="visible"/>
                                      </p:to>
                                    </p:set>
                                    <p:animEffect transition="in" filter="fade">
                                      <p:cBhvr>
                                        <p:cTn id="28" dur="550"/>
                                        <p:tgtEl>
                                          <p:spTgt spid="22"/>
                                        </p:tgtEl>
                                      </p:cBhvr>
                                    </p:animEffect>
                                    <p:anim calcmode="lin" valueType="num">
                                      <p:cBhvr>
                                        <p:cTn id="29" dur="550" fill="hold"/>
                                        <p:tgtEl>
                                          <p:spTgt spid="22"/>
                                        </p:tgtEl>
                                        <p:attrNameLst>
                                          <p:attrName>ppt_x</p:attrName>
                                        </p:attrNameLst>
                                      </p:cBhvr>
                                      <p:tavLst>
                                        <p:tav tm="0">
                                          <p:val>
                                            <p:strVal val="#ppt_x"/>
                                          </p:val>
                                        </p:tav>
                                        <p:tav tm="100000">
                                          <p:val>
                                            <p:strVal val="#ppt_x"/>
                                          </p:val>
                                        </p:tav>
                                      </p:tavLst>
                                    </p:anim>
                                    <p:anim calcmode="lin" valueType="num">
                                      <p:cBhvr>
                                        <p:cTn id="30" dur="495" decel="100000" fill="hold"/>
                                        <p:tgtEl>
                                          <p:spTgt spid="22"/>
                                        </p:tgtEl>
                                        <p:attrNameLst>
                                          <p:attrName>ppt_y</p:attrName>
                                        </p:attrNameLst>
                                      </p:cBhvr>
                                      <p:tavLst>
                                        <p:tav tm="0">
                                          <p:val>
                                            <p:strVal val="#ppt_y+1"/>
                                          </p:val>
                                        </p:tav>
                                        <p:tav tm="100000">
                                          <p:val>
                                            <p:strVal val="#ppt_y-.03"/>
                                          </p:val>
                                        </p:tav>
                                      </p:tavLst>
                                    </p:anim>
                                    <p:anim calcmode="lin" valueType="num">
                                      <p:cBhvr>
                                        <p:cTn id="31" dur="55" accel="100000" fill="hold">
                                          <p:stCondLst>
                                            <p:cond delay="495"/>
                                          </p:stCondLst>
                                        </p:cTn>
                                        <p:tgtEl>
                                          <p:spTgt spid="22"/>
                                        </p:tgtEl>
                                        <p:attrNameLst>
                                          <p:attrName>ppt_y</p:attrName>
                                        </p:attrNameLst>
                                      </p:cBhvr>
                                      <p:tavLst>
                                        <p:tav tm="0">
                                          <p:val>
                                            <p:strVal val="#ppt_y-.03"/>
                                          </p:val>
                                        </p:tav>
                                        <p:tav tm="100000">
                                          <p:val>
                                            <p:strVal val="#ppt_y"/>
                                          </p:val>
                                        </p:tav>
                                      </p:tavLst>
                                    </p:anim>
                                  </p:childTnLst>
                                </p:cTn>
                              </p:par>
                              <p:par>
                                <p:cTn id="32" presetID="37" presetClass="entr" presetSubtype="0" fill="hold" nodeType="withEffect">
                                  <p:stCondLst>
                                    <p:cond delay="1030"/>
                                  </p:stCondLst>
                                  <p:childTnLst>
                                    <p:set>
                                      <p:cBhvr>
                                        <p:cTn id="33" dur="1" fill="hold">
                                          <p:stCondLst>
                                            <p:cond delay="0"/>
                                          </p:stCondLst>
                                        </p:cTn>
                                        <p:tgtEl>
                                          <p:spTgt spid="28"/>
                                        </p:tgtEl>
                                        <p:attrNameLst>
                                          <p:attrName>style.visibility</p:attrName>
                                        </p:attrNameLst>
                                      </p:cBhvr>
                                      <p:to>
                                        <p:strVal val="visible"/>
                                      </p:to>
                                    </p:set>
                                    <p:animEffect transition="in" filter="fade">
                                      <p:cBhvr>
                                        <p:cTn id="34" dur="550"/>
                                        <p:tgtEl>
                                          <p:spTgt spid="28"/>
                                        </p:tgtEl>
                                      </p:cBhvr>
                                    </p:animEffect>
                                    <p:anim calcmode="lin" valueType="num">
                                      <p:cBhvr>
                                        <p:cTn id="35" dur="550" fill="hold"/>
                                        <p:tgtEl>
                                          <p:spTgt spid="28"/>
                                        </p:tgtEl>
                                        <p:attrNameLst>
                                          <p:attrName>ppt_x</p:attrName>
                                        </p:attrNameLst>
                                      </p:cBhvr>
                                      <p:tavLst>
                                        <p:tav tm="0">
                                          <p:val>
                                            <p:strVal val="#ppt_x"/>
                                          </p:val>
                                        </p:tav>
                                        <p:tav tm="100000">
                                          <p:val>
                                            <p:strVal val="#ppt_x"/>
                                          </p:val>
                                        </p:tav>
                                      </p:tavLst>
                                    </p:anim>
                                    <p:anim calcmode="lin" valueType="num">
                                      <p:cBhvr>
                                        <p:cTn id="36" dur="495" decel="100000" fill="hold"/>
                                        <p:tgtEl>
                                          <p:spTgt spid="28"/>
                                        </p:tgtEl>
                                        <p:attrNameLst>
                                          <p:attrName>ppt_y</p:attrName>
                                        </p:attrNameLst>
                                      </p:cBhvr>
                                      <p:tavLst>
                                        <p:tav tm="0">
                                          <p:val>
                                            <p:strVal val="#ppt_y+1"/>
                                          </p:val>
                                        </p:tav>
                                        <p:tav tm="100000">
                                          <p:val>
                                            <p:strVal val="#ppt_y-.03"/>
                                          </p:val>
                                        </p:tav>
                                      </p:tavLst>
                                    </p:anim>
                                    <p:anim calcmode="lin" valueType="num">
                                      <p:cBhvr>
                                        <p:cTn id="37" dur="55" accel="100000" fill="hold">
                                          <p:stCondLst>
                                            <p:cond delay="495"/>
                                          </p:stCondLst>
                                        </p:cTn>
                                        <p:tgtEl>
                                          <p:spTgt spid="28"/>
                                        </p:tgtEl>
                                        <p:attrNameLst>
                                          <p:attrName>ppt_y</p:attrName>
                                        </p:attrNameLst>
                                      </p:cBhvr>
                                      <p:tavLst>
                                        <p:tav tm="0">
                                          <p:val>
                                            <p:strVal val="#ppt_y-.03"/>
                                          </p:val>
                                        </p:tav>
                                        <p:tav tm="100000">
                                          <p:val>
                                            <p:strVal val="#ppt_y"/>
                                          </p:val>
                                        </p:tav>
                                      </p:tavLst>
                                    </p:anim>
                                  </p:childTnLst>
                                </p:cTn>
                              </p:par>
                              <p:par>
                                <p:cTn id="38" presetID="10" presetClass="entr" presetSubtype="0" fill="hold" grpId="0" nodeType="withEffect">
                                  <p:stCondLst>
                                    <p:cond delay="1190"/>
                                  </p:stCondLst>
                                  <p:childTnLst>
                                    <p:set>
                                      <p:cBhvr>
                                        <p:cTn id="39" dur="1" fill="hold">
                                          <p:stCondLst>
                                            <p:cond delay="0"/>
                                          </p:stCondLst>
                                        </p:cTn>
                                        <p:tgtEl>
                                          <p:spTgt spid="34"/>
                                        </p:tgtEl>
                                        <p:attrNameLst>
                                          <p:attrName>style.visibility</p:attrName>
                                        </p:attrNameLst>
                                      </p:cBhvr>
                                      <p:to>
                                        <p:strVal val="visible"/>
                                      </p:to>
                                    </p:set>
                                    <p:animEffect transition="in" filter="fade">
                                      <p:cBhvr>
                                        <p:cTn id="40" dur="55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34" grpId="0"/>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4284B"/>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57150"/>
          </a:xfrm>
          <a:prstGeom prst="rect">
            <a:avLst/>
          </a:prstGeom>
          <a:solidFill>
            <a:srgbClr val="59BEC9"/>
          </a:solidFill>
          <a:ln>
            <a:noFill/>
          </a:ln>
        </p:spPr>
        <p:txBody>
          <a:bodyPr rtlCol="0" anchor="ctr"/>
          <a:lstStyle/>
          <a:p>
            <a:pPr algn="ctr"/>
            <a:endParaRPr/>
          </a:p>
        </p:txBody>
      </p:sp>
      <p:grpSp>
        <p:nvGrpSpPr>
          <p:cNvPr id="3" name="anim|fade|0.05"/>
          <p:cNvGrpSpPr/>
          <p:nvPr/>
        </p:nvGrpSpPr>
        <p:grpSpPr>
          <a:xfrm>
            <a:off x="571500" y="266700"/>
            <a:ext cx="7105650" cy="190500"/>
            <a:chOff x="571500" y="266700"/>
            <a:chExt cx="7105650" cy="190500"/>
          </a:xfrm>
        </p:grpSpPr>
        <p:sp>
          <p:nvSpPr>
            <p:cNvPr id="4" name="Rectangle 3"/>
            <p:cNvSpPr/>
            <p:nvPr/>
          </p:nvSpPr>
          <p:spPr>
            <a:xfrm>
              <a:off x="571500" y="342900"/>
              <a:ext cx="342900" cy="47625"/>
            </a:xfrm>
            <a:prstGeom prst="rect">
              <a:avLst/>
            </a:prstGeom>
            <a:solidFill>
              <a:srgbClr val="FFB938"/>
            </a:solidFill>
            <a:ln>
              <a:noFill/>
            </a:ln>
          </p:spPr>
          <p:txBody>
            <a:bodyPr rtlCol="0" anchor="ctr"/>
            <a:lstStyle/>
            <a:p>
              <a:pPr algn="ctr"/>
              <a:endParaRPr/>
            </a:p>
          </p:txBody>
        </p:sp>
        <p:sp>
          <p:nvSpPr>
            <p:cNvPr id="5" name="TextBox 4"/>
            <p:cNvSpPr txBox="1"/>
            <p:nvPr/>
          </p:nvSpPr>
          <p:spPr>
            <a:xfrm>
              <a:off x="1009650" y="266700"/>
              <a:ext cx="6667500" cy="190500"/>
            </a:xfrm>
            <a:prstGeom prst="rect">
              <a:avLst/>
            </a:prstGeom>
            <a:noFill/>
          </p:spPr>
          <p:txBody>
            <a:bodyPr wrap="square" lIns="0" tIns="0" rIns="0" bIns="0" anchor="t">
              <a:spAutoFit/>
            </a:bodyPr>
            <a:lstStyle/>
            <a:p>
              <a:pPr algn="l"/>
              <a:r>
                <a:rPr sz="1100" b="1" spc="300">
                  <a:solidFill>
                    <a:srgbClr val="59BEC9"/>
                  </a:solidFill>
                  <a:latin typeface="Century Gothic"/>
                </a:rPr>
                <a:t>PERMISSIONS</a:t>
              </a:r>
            </a:p>
          </p:txBody>
        </p:sp>
      </p:grpSp>
      <p:sp>
        <p:nvSpPr>
          <p:cNvPr id="6" name="anim|wipeL|0.1"/>
          <p:cNvSpPr txBox="1"/>
          <p:nvPr/>
        </p:nvSpPr>
        <p:spPr>
          <a:xfrm>
            <a:off x="571500" y="533400"/>
            <a:ext cx="11049000" cy="533400"/>
          </a:xfrm>
          <a:prstGeom prst="rect">
            <a:avLst/>
          </a:prstGeom>
          <a:noFill/>
        </p:spPr>
        <p:txBody>
          <a:bodyPr wrap="square" lIns="0" tIns="0" rIns="0" bIns="0" anchor="t">
            <a:spAutoFit/>
          </a:bodyPr>
          <a:lstStyle/>
          <a:p>
            <a:pPr algn="l"/>
            <a:r>
              <a:rPr sz="3100" b="1">
                <a:solidFill>
                  <a:srgbClr val="FFFFFF"/>
                </a:solidFill>
                <a:latin typeface="Century Gothic"/>
              </a:rPr>
              <a:t>Permissions behind backup and restore</a:t>
            </a:r>
          </a:p>
        </p:txBody>
      </p:sp>
      <p:sp>
        <p:nvSpPr>
          <p:cNvPr id="7" name="anim|fade|0.45"/>
          <p:cNvSpPr txBox="1"/>
          <p:nvPr/>
        </p:nvSpPr>
        <p:spPr>
          <a:xfrm>
            <a:off x="571500" y="1028700"/>
            <a:ext cx="11049000" cy="247650"/>
          </a:xfrm>
          <a:prstGeom prst="rect">
            <a:avLst/>
          </a:prstGeom>
          <a:noFill/>
        </p:spPr>
        <p:txBody>
          <a:bodyPr wrap="square" lIns="0" tIns="0" rIns="0" bIns="0" anchor="t">
            <a:spAutoFit/>
          </a:bodyPr>
          <a:lstStyle/>
          <a:p>
            <a:pPr algn="l"/>
            <a:r>
              <a:rPr sz="1500" b="0">
                <a:solidFill>
                  <a:srgbClr val="B0C0D9"/>
                </a:solidFill>
                <a:latin typeface="Segoe UI"/>
              </a:rPr>
              <a:t>What backup.tf grants, and what the -rst cluster still needs</a:t>
            </a:r>
          </a:p>
        </p:txBody>
      </p:sp>
      <p:sp>
        <p:nvSpPr>
          <p:cNvPr id="8" name="TextBox 7"/>
          <p:cNvSpPr txBox="1"/>
          <p:nvPr/>
        </p:nvSpPr>
        <p:spPr>
          <a:xfrm>
            <a:off x="571500" y="6534150"/>
            <a:ext cx="6667500" cy="171450"/>
          </a:xfrm>
          <a:prstGeom prst="rect">
            <a:avLst/>
          </a:prstGeom>
          <a:noFill/>
        </p:spPr>
        <p:txBody>
          <a:bodyPr wrap="square" lIns="0" tIns="0" rIns="0" bIns="0" anchor="t">
            <a:spAutoFit/>
          </a:bodyPr>
          <a:lstStyle/>
          <a:p>
            <a:pPr algn="l"/>
            <a:r>
              <a:rPr sz="950" b="0">
                <a:solidFill>
                  <a:srgbClr val="B0C0D9"/>
                </a:solidFill>
                <a:latin typeface="Segoe UI"/>
              </a:rPr>
              <a:t>AKS Backup &amp; Restore  |  BFH AKS IHUB Platform Team</a:t>
            </a:r>
          </a:p>
        </p:txBody>
      </p:sp>
      <p:sp>
        <p:nvSpPr>
          <p:cNvPr id="9" name="TextBox 8"/>
          <p:cNvSpPr txBox="1"/>
          <p:nvPr/>
        </p:nvSpPr>
        <p:spPr>
          <a:xfrm>
            <a:off x="10668000" y="6534150"/>
            <a:ext cx="952500" cy="171450"/>
          </a:xfrm>
          <a:prstGeom prst="rect">
            <a:avLst/>
          </a:prstGeom>
          <a:noFill/>
        </p:spPr>
        <p:txBody>
          <a:bodyPr wrap="square" lIns="0" tIns="0" rIns="0" bIns="0" anchor="t">
            <a:spAutoFit/>
          </a:bodyPr>
          <a:lstStyle/>
          <a:p>
            <a:pPr algn="r"/>
            <a:r>
              <a:rPr sz="1000" b="1">
                <a:solidFill>
                  <a:srgbClr val="FFB938"/>
                </a:solidFill>
                <a:latin typeface="Century Gothic"/>
              </a:rPr>
              <a:t>14</a:t>
            </a:r>
          </a:p>
        </p:txBody>
      </p:sp>
      <p:grpSp>
        <p:nvGrpSpPr>
          <p:cNvPr id="10" name="anim|rise|0.55"/>
          <p:cNvGrpSpPr/>
          <p:nvPr/>
        </p:nvGrpSpPr>
        <p:grpSpPr>
          <a:xfrm>
            <a:off x="571500" y="1485900"/>
            <a:ext cx="3581400" cy="1428750"/>
            <a:chOff x="571500" y="1485900"/>
            <a:chExt cx="3581400" cy="1428750"/>
          </a:xfrm>
        </p:grpSpPr>
        <p:sp>
          <p:nvSpPr>
            <p:cNvPr id="11" name="Rounded Rectangle 10"/>
            <p:cNvSpPr/>
            <p:nvPr/>
          </p:nvSpPr>
          <p:spPr>
            <a:xfrm>
              <a:off x="571500" y="1485900"/>
              <a:ext cx="3581400" cy="1428750"/>
            </a:xfrm>
            <a:prstGeom prst="roundRect">
              <a:avLst>
                <a:gd name="adj" fmla="val 12000"/>
              </a:avLst>
            </a:prstGeom>
            <a:solidFill>
              <a:srgbClr val="1E3A68"/>
            </a:solidFill>
            <a:ln>
              <a:noFill/>
            </a:ln>
          </p:spPr>
          <p:txBody>
            <a:bodyPr rtlCol="0" anchor="ctr"/>
            <a:lstStyle/>
            <a:p>
              <a:pPr algn="ctr"/>
              <a:endParaRPr/>
            </a:p>
          </p:txBody>
        </p:sp>
        <p:pic>
          <p:nvPicPr>
            <p:cNvPr id="12" name="Picture 11" descr="key_teal.png"/>
            <p:cNvPicPr>
              <a:picLocks noChangeAspect="1"/>
            </p:cNvPicPr>
            <p:nvPr/>
          </p:nvPicPr>
          <p:blipFill>
            <a:blip r:embed="rId2"/>
            <a:stretch>
              <a:fillRect/>
            </a:stretch>
          </p:blipFill>
          <p:spPr>
            <a:xfrm>
              <a:off x="781050" y="1638300"/>
              <a:ext cx="266700" cy="266700"/>
            </a:xfrm>
            <a:prstGeom prst="rect">
              <a:avLst/>
            </a:prstGeom>
          </p:spPr>
        </p:pic>
        <p:sp>
          <p:nvSpPr>
            <p:cNvPr id="13" name="TextBox 12"/>
            <p:cNvSpPr txBox="1"/>
            <p:nvPr/>
          </p:nvSpPr>
          <p:spPr>
            <a:xfrm>
              <a:off x="1162050" y="1600200"/>
              <a:ext cx="2762250" cy="152400"/>
            </a:xfrm>
            <a:prstGeom prst="rect">
              <a:avLst/>
            </a:prstGeom>
            <a:noFill/>
          </p:spPr>
          <p:txBody>
            <a:bodyPr wrap="square" lIns="0" tIns="0" rIns="0" bIns="0" anchor="t">
              <a:spAutoFit/>
            </a:bodyPr>
            <a:lstStyle/>
            <a:p>
              <a:pPr algn="l"/>
              <a:r>
                <a:rPr sz="1000" b="1" spc="300">
                  <a:solidFill>
                    <a:srgbClr val="59BEC9"/>
                  </a:solidFill>
                  <a:latin typeface="Century Gothic"/>
                </a:rPr>
                <a:t>WHO</a:t>
              </a:r>
            </a:p>
          </p:txBody>
        </p:sp>
        <p:sp>
          <p:nvSpPr>
            <p:cNvPr id="14" name="TextBox 13"/>
            <p:cNvSpPr txBox="1"/>
            <p:nvPr/>
          </p:nvSpPr>
          <p:spPr>
            <a:xfrm>
              <a:off x="1162050" y="1771650"/>
              <a:ext cx="2762250" cy="228600"/>
            </a:xfrm>
            <a:prstGeom prst="rect">
              <a:avLst/>
            </a:prstGeom>
            <a:noFill/>
          </p:spPr>
          <p:txBody>
            <a:bodyPr wrap="square" lIns="0" tIns="0" rIns="0" bIns="0" anchor="t">
              <a:spAutoFit/>
            </a:bodyPr>
            <a:lstStyle/>
            <a:p>
              <a:pPr algn="l"/>
              <a:r>
                <a:rPr sz="1550" b="1">
                  <a:solidFill>
                    <a:srgbClr val="FFFFFF"/>
                  </a:solidFill>
                  <a:latin typeface="Century Gothic"/>
                </a:rPr>
                <a:t>AKS cluster identity</a:t>
              </a:r>
            </a:p>
          </p:txBody>
        </p:sp>
        <p:sp>
          <p:nvSpPr>
            <p:cNvPr id="15" name="TextBox 14"/>
            <p:cNvSpPr txBox="1"/>
            <p:nvPr/>
          </p:nvSpPr>
          <p:spPr>
            <a:xfrm>
              <a:off x="781050" y="2114550"/>
              <a:ext cx="3162300" cy="476250"/>
            </a:xfrm>
            <a:prstGeom prst="rect">
              <a:avLst/>
            </a:prstGeom>
            <a:noFill/>
          </p:spPr>
          <p:txBody>
            <a:bodyPr wrap="square" lIns="0" tIns="0" rIns="0" bIns="0" anchor="t">
              <a:spAutoFit/>
            </a:bodyPr>
            <a:lstStyle/>
            <a:p>
              <a:pPr algn="l"/>
              <a:r>
                <a:rPr sz="1450" b="1">
                  <a:solidFill>
                    <a:srgbClr val="FFB938"/>
                  </a:solidFill>
                  <a:latin typeface="Segoe UI"/>
                </a:rPr>
                <a:t>Contributor</a:t>
              </a:r>
            </a:p>
          </p:txBody>
        </p:sp>
        <p:sp>
          <p:nvSpPr>
            <p:cNvPr id="16" name="TextBox 15"/>
            <p:cNvSpPr txBox="1"/>
            <p:nvPr/>
          </p:nvSpPr>
          <p:spPr>
            <a:xfrm>
              <a:off x="781050" y="2628900"/>
              <a:ext cx="3162300" cy="209550"/>
            </a:xfrm>
            <a:prstGeom prst="rect">
              <a:avLst/>
            </a:prstGeom>
            <a:noFill/>
          </p:spPr>
          <p:txBody>
            <a:bodyPr wrap="square" lIns="0" tIns="0" rIns="0" bIns="0" anchor="t">
              <a:spAutoFit/>
            </a:bodyPr>
            <a:lstStyle/>
            <a:p>
              <a:pPr algn="l"/>
              <a:r>
                <a:rPr sz="1300" b="0">
                  <a:solidFill>
                    <a:srgbClr val="B0C0D9"/>
                  </a:solidFill>
                  <a:latin typeface="Segoe UI"/>
                </a:rPr>
                <a:t>on  Snapshot resource group</a:t>
              </a:r>
            </a:p>
          </p:txBody>
        </p:sp>
      </p:grpSp>
      <p:grpSp>
        <p:nvGrpSpPr>
          <p:cNvPr id="17" name="anim|rise|0.69"/>
          <p:cNvGrpSpPr/>
          <p:nvPr/>
        </p:nvGrpSpPr>
        <p:grpSpPr>
          <a:xfrm>
            <a:off x="4305300" y="1485900"/>
            <a:ext cx="3581400" cy="1428750"/>
            <a:chOff x="4305300" y="1485900"/>
            <a:chExt cx="3581400" cy="1428750"/>
          </a:xfrm>
        </p:grpSpPr>
        <p:sp>
          <p:nvSpPr>
            <p:cNvPr id="18" name="Rounded Rectangle 17"/>
            <p:cNvSpPr/>
            <p:nvPr/>
          </p:nvSpPr>
          <p:spPr>
            <a:xfrm>
              <a:off x="4305300" y="1485900"/>
              <a:ext cx="3581400" cy="1428750"/>
            </a:xfrm>
            <a:prstGeom prst="roundRect">
              <a:avLst>
                <a:gd name="adj" fmla="val 12000"/>
              </a:avLst>
            </a:prstGeom>
            <a:solidFill>
              <a:srgbClr val="1E3A68"/>
            </a:solidFill>
            <a:ln>
              <a:noFill/>
            </a:ln>
          </p:spPr>
          <p:txBody>
            <a:bodyPr rtlCol="0" anchor="ctr"/>
            <a:lstStyle/>
            <a:p>
              <a:pPr algn="ctr"/>
              <a:endParaRPr/>
            </a:p>
          </p:txBody>
        </p:sp>
        <p:pic>
          <p:nvPicPr>
            <p:cNvPr id="19" name="Picture 18" descr="key_teal.png"/>
            <p:cNvPicPr>
              <a:picLocks noChangeAspect="1"/>
            </p:cNvPicPr>
            <p:nvPr/>
          </p:nvPicPr>
          <p:blipFill>
            <a:blip r:embed="rId2"/>
            <a:stretch>
              <a:fillRect/>
            </a:stretch>
          </p:blipFill>
          <p:spPr>
            <a:xfrm>
              <a:off x="4514850" y="1638300"/>
              <a:ext cx="266700" cy="266700"/>
            </a:xfrm>
            <a:prstGeom prst="rect">
              <a:avLst/>
            </a:prstGeom>
          </p:spPr>
        </p:pic>
        <p:sp>
          <p:nvSpPr>
            <p:cNvPr id="20" name="TextBox 19"/>
            <p:cNvSpPr txBox="1"/>
            <p:nvPr/>
          </p:nvSpPr>
          <p:spPr>
            <a:xfrm>
              <a:off x="4895850" y="1600200"/>
              <a:ext cx="2762250" cy="152400"/>
            </a:xfrm>
            <a:prstGeom prst="rect">
              <a:avLst/>
            </a:prstGeom>
            <a:noFill/>
          </p:spPr>
          <p:txBody>
            <a:bodyPr wrap="square" lIns="0" tIns="0" rIns="0" bIns="0" anchor="t">
              <a:spAutoFit/>
            </a:bodyPr>
            <a:lstStyle/>
            <a:p>
              <a:pPr algn="l"/>
              <a:r>
                <a:rPr sz="1000" b="1" spc="300">
                  <a:solidFill>
                    <a:srgbClr val="59BEC9"/>
                  </a:solidFill>
                  <a:latin typeface="Century Gothic"/>
                </a:rPr>
                <a:t>WHO</a:t>
              </a:r>
            </a:p>
          </p:txBody>
        </p:sp>
        <p:sp>
          <p:nvSpPr>
            <p:cNvPr id="21" name="TextBox 20"/>
            <p:cNvSpPr txBox="1"/>
            <p:nvPr/>
          </p:nvSpPr>
          <p:spPr>
            <a:xfrm>
              <a:off x="4895850" y="1771650"/>
              <a:ext cx="2762250" cy="228600"/>
            </a:xfrm>
            <a:prstGeom prst="rect">
              <a:avLst/>
            </a:prstGeom>
            <a:noFill/>
          </p:spPr>
          <p:txBody>
            <a:bodyPr wrap="square" lIns="0" tIns="0" rIns="0" bIns="0" anchor="t">
              <a:spAutoFit/>
            </a:bodyPr>
            <a:lstStyle/>
            <a:p>
              <a:pPr algn="l"/>
              <a:r>
                <a:rPr sz="1550" b="1">
                  <a:solidFill>
                    <a:srgbClr val="FFFFFF"/>
                  </a:solidFill>
                  <a:latin typeface="Century Gothic"/>
                </a:rPr>
                <a:t>Backup vault</a:t>
              </a:r>
            </a:p>
          </p:txBody>
        </p:sp>
        <p:sp>
          <p:nvSpPr>
            <p:cNvPr id="22" name="TextBox 21"/>
            <p:cNvSpPr txBox="1"/>
            <p:nvPr/>
          </p:nvSpPr>
          <p:spPr>
            <a:xfrm>
              <a:off x="4514850" y="2114550"/>
              <a:ext cx="3162300" cy="476250"/>
            </a:xfrm>
            <a:prstGeom prst="rect">
              <a:avLst/>
            </a:prstGeom>
            <a:noFill/>
          </p:spPr>
          <p:txBody>
            <a:bodyPr wrap="square" lIns="0" tIns="0" rIns="0" bIns="0" anchor="t">
              <a:spAutoFit/>
            </a:bodyPr>
            <a:lstStyle/>
            <a:p>
              <a:pPr algn="l"/>
              <a:r>
                <a:rPr sz="1450" b="1">
                  <a:solidFill>
                    <a:srgbClr val="FFB938"/>
                  </a:solidFill>
                  <a:latin typeface="Segoe UI"/>
                </a:rPr>
                <a:t>Reader</a:t>
              </a:r>
            </a:p>
          </p:txBody>
        </p:sp>
        <p:sp>
          <p:nvSpPr>
            <p:cNvPr id="23" name="TextBox 22"/>
            <p:cNvSpPr txBox="1"/>
            <p:nvPr/>
          </p:nvSpPr>
          <p:spPr>
            <a:xfrm>
              <a:off x="4514850" y="2628900"/>
              <a:ext cx="3162300" cy="209550"/>
            </a:xfrm>
            <a:prstGeom prst="rect">
              <a:avLst/>
            </a:prstGeom>
            <a:noFill/>
          </p:spPr>
          <p:txBody>
            <a:bodyPr wrap="square" lIns="0" tIns="0" rIns="0" bIns="0" anchor="t">
              <a:spAutoFit/>
            </a:bodyPr>
            <a:lstStyle/>
            <a:p>
              <a:pPr algn="l"/>
              <a:r>
                <a:rPr sz="1300" b="0">
                  <a:solidFill>
                    <a:srgbClr val="B0C0D9"/>
                  </a:solidFill>
                  <a:latin typeface="Segoe UI"/>
                </a:rPr>
                <a:t>on  AKS cluster</a:t>
              </a:r>
            </a:p>
          </p:txBody>
        </p:sp>
      </p:grpSp>
      <p:grpSp>
        <p:nvGrpSpPr>
          <p:cNvPr id="24" name="anim|rise|0.83"/>
          <p:cNvGrpSpPr/>
          <p:nvPr/>
        </p:nvGrpSpPr>
        <p:grpSpPr>
          <a:xfrm>
            <a:off x="8039100" y="1485900"/>
            <a:ext cx="3581400" cy="1428750"/>
            <a:chOff x="8039100" y="1485900"/>
            <a:chExt cx="3581400" cy="1428750"/>
          </a:xfrm>
        </p:grpSpPr>
        <p:sp>
          <p:nvSpPr>
            <p:cNvPr id="25" name="Rounded Rectangle 24"/>
            <p:cNvSpPr/>
            <p:nvPr/>
          </p:nvSpPr>
          <p:spPr>
            <a:xfrm>
              <a:off x="8039100" y="1485900"/>
              <a:ext cx="3581400" cy="1428750"/>
            </a:xfrm>
            <a:prstGeom prst="roundRect">
              <a:avLst>
                <a:gd name="adj" fmla="val 12000"/>
              </a:avLst>
            </a:prstGeom>
            <a:solidFill>
              <a:srgbClr val="1E3A68"/>
            </a:solidFill>
            <a:ln>
              <a:noFill/>
            </a:ln>
          </p:spPr>
          <p:txBody>
            <a:bodyPr rtlCol="0" anchor="ctr"/>
            <a:lstStyle/>
            <a:p>
              <a:pPr algn="ctr"/>
              <a:endParaRPr/>
            </a:p>
          </p:txBody>
        </p:sp>
        <p:pic>
          <p:nvPicPr>
            <p:cNvPr id="26" name="Picture 25" descr="key_teal.png"/>
            <p:cNvPicPr>
              <a:picLocks noChangeAspect="1"/>
            </p:cNvPicPr>
            <p:nvPr/>
          </p:nvPicPr>
          <p:blipFill>
            <a:blip r:embed="rId2"/>
            <a:stretch>
              <a:fillRect/>
            </a:stretch>
          </p:blipFill>
          <p:spPr>
            <a:xfrm>
              <a:off x="8248650" y="1638300"/>
              <a:ext cx="266700" cy="266700"/>
            </a:xfrm>
            <a:prstGeom prst="rect">
              <a:avLst/>
            </a:prstGeom>
          </p:spPr>
        </p:pic>
        <p:sp>
          <p:nvSpPr>
            <p:cNvPr id="27" name="TextBox 26"/>
            <p:cNvSpPr txBox="1"/>
            <p:nvPr/>
          </p:nvSpPr>
          <p:spPr>
            <a:xfrm>
              <a:off x="8629650" y="1600200"/>
              <a:ext cx="2762250" cy="152400"/>
            </a:xfrm>
            <a:prstGeom prst="rect">
              <a:avLst/>
            </a:prstGeom>
            <a:noFill/>
          </p:spPr>
          <p:txBody>
            <a:bodyPr wrap="square" lIns="0" tIns="0" rIns="0" bIns="0" anchor="t">
              <a:spAutoFit/>
            </a:bodyPr>
            <a:lstStyle/>
            <a:p>
              <a:pPr algn="l"/>
              <a:r>
                <a:rPr sz="1000" b="1" spc="300">
                  <a:solidFill>
                    <a:srgbClr val="59BEC9"/>
                  </a:solidFill>
                  <a:latin typeface="Century Gothic"/>
                </a:rPr>
                <a:t>WHO</a:t>
              </a:r>
            </a:p>
          </p:txBody>
        </p:sp>
        <p:sp>
          <p:nvSpPr>
            <p:cNvPr id="28" name="TextBox 27"/>
            <p:cNvSpPr txBox="1"/>
            <p:nvPr/>
          </p:nvSpPr>
          <p:spPr>
            <a:xfrm>
              <a:off x="8629650" y="1771650"/>
              <a:ext cx="2762250" cy="228600"/>
            </a:xfrm>
            <a:prstGeom prst="rect">
              <a:avLst/>
            </a:prstGeom>
            <a:noFill/>
          </p:spPr>
          <p:txBody>
            <a:bodyPr wrap="square" lIns="0" tIns="0" rIns="0" bIns="0" anchor="t">
              <a:spAutoFit/>
            </a:bodyPr>
            <a:lstStyle/>
            <a:p>
              <a:pPr algn="l"/>
              <a:r>
                <a:rPr sz="1550" b="1">
                  <a:solidFill>
                    <a:srgbClr val="FFFFFF"/>
                  </a:solidFill>
                  <a:latin typeface="Century Gothic"/>
                </a:rPr>
                <a:t>Backup vault</a:t>
              </a:r>
            </a:p>
          </p:txBody>
        </p:sp>
        <p:sp>
          <p:nvSpPr>
            <p:cNvPr id="29" name="TextBox 28"/>
            <p:cNvSpPr txBox="1"/>
            <p:nvPr/>
          </p:nvSpPr>
          <p:spPr>
            <a:xfrm>
              <a:off x="8248650" y="2114550"/>
              <a:ext cx="3162300" cy="476250"/>
            </a:xfrm>
            <a:prstGeom prst="rect">
              <a:avLst/>
            </a:prstGeom>
            <a:noFill/>
          </p:spPr>
          <p:txBody>
            <a:bodyPr wrap="square" lIns="0" tIns="0" rIns="0" bIns="0" anchor="t">
              <a:spAutoFit/>
            </a:bodyPr>
            <a:lstStyle/>
            <a:p>
              <a:pPr algn="l"/>
              <a:r>
                <a:rPr sz="1450" b="1">
                  <a:solidFill>
                    <a:srgbClr val="FFB938"/>
                  </a:solidFill>
                  <a:latin typeface="Segoe UI"/>
                </a:rPr>
                <a:t>Reader, Disk Snapshot Contributor, Data Operator for Managed Disks</a:t>
              </a:r>
            </a:p>
          </p:txBody>
        </p:sp>
        <p:sp>
          <p:nvSpPr>
            <p:cNvPr id="30" name="TextBox 29"/>
            <p:cNvSpPr txBox="1"/>
            <p:nvPr/>
          </p:nvSpPr>
          <p:spPr>
            <a:xfrm>
              <a:off x="8248650" y="2628900"/>
              <a:ext cx="3162300" cy="209550"/>
            </a:xfrm>
            <a:prstGeom prst="rect">
              <a:avLst/>
            </a:prstGeom>
            <a:noFill/>
          </p:spPr>
          <p:txBody>
            <a:bodyPr wrap="square" lIns="0" tIns="0" rIns="0" bIns="0" anchor="t">
              <a:spAutoFit/>
            </a:bodyPr>
            <a:lstStyle/>
            <a:p>
              <a:pPr algn="l"/>
              <a:r>
                <a:rPr sz="1300" b="0">
                  <a:solidFill>
                    <a:srgbClr val="B0C0D9"/>
                  </a:solidFill>
                  <a:latin typeface="Segoe UI"/>
                </a:rPr>
                <a:t>on  Snapshot resource group</a:t>
              </a:r>
            </a:p>
          </p:txBody>
        </p:sp>
      </p:grpSp>
      <p:grpSp>
        <p:nvGrpSpPr>
          <p:cNvPr id="31" name="anim|rise|0.97"/>
          <p:cNvGrpSpPr/>
          <p:nvPr/>
        </p:nvGrpSpPr>
        <p:grpSpPr>
          <a:xfrm>
            <a:off x="571500" y="3048000"/>
            <a:ext cx="3581400" cy="1428750"/>
            <a:chOff x="571500" y="3048000"/>
            <a:chExt cx="3581400" cy="1428750"/>
          </a:xfrm>
        </p:grpSpPr>
        <p:sp>
          <p:nvSpPr>
            <p:cNvPr id="32" name="Rounded Rectangle 31"/>
            <p:cNvSpPr/>
            <p:nvPr/>
          </p:nvSpPr>
          <p:spPr>
            <a:xfrm>
              <a:off x="571500" y="3048000"/>
              <a:ext cx="3581400" cy="1428750"/>
            </a:xfrm>
            <a:prstGeom prst="roundRect">
              <a:avLst>
                <a:gd name="adj" fmla="val 12000"/>
              </a:avLst>
            </a:prstGeom>
            <a:solidFill>
              <a:srgbClr val="1E3A68"/>
            </a:solidFill>
            <a:ln>
              <a:noFill/>
            </a:ln>
          </p:spPr>
          <p:txBody>
            <a:bodyPr rtlCol="0" anchor="ctr"/>
            <a:lstStyle/>
            <a:p>
              <a:pPr algn="ctr"/>
              <a:endParaRPr/>
            </a:p>
          </p:txBody>
        </p:sp>
        <p:pic>
          <p:nvPicPr>
            <p:cNvPr id="33" name="Picture 32" descr="key_teal.png"/>
            <p:cNvPicPr>
              <a:picLocks noChangeAspect="1"/>
            </p:cNvPicPr>
            <p:nvPr/>
          </p:nvPicPr>
          <p:blipFill>
            <a:blip r:embed="rId2"/>
            <a:stretch>
              <a:fillRect/>
            </a:stretch>
          </p:blipFill>
          <p:spPr>
            <a:xfrm>
              <a:off x="781050" y="3200400"/>
              <a:ext cx="266700" cy="266700"/>
            </a:xfrm>
            <a:prstGeom prst="rect">
              <a:avLst/>
            </a:prstGeom>
          </p:spPr>
        </p:pic>
        <p:sp>
          <p:nvSpPr>
            <p:cNvPr id="34" name="TextBox 33"/>
            <p:cNvSpPr txBox="1"/>
            <p:nvPr/>
          </p:nvSpPr>
          <p:spPr>
            <a:xfrm>
              <a:off x="1162050" y="3162300"/>
              <a:ext cx="2762250" cy="152400"/>
            </a:xfrm>
            <a:prstGeom prst="rect">
              <a:avLst/>
            </a:prstGeom>
            <a:noFill/>
          </p:spPr>
          <p:txBody>
            <a:bodyPr wrap="square" lIns="0" tIns="0" rIns="0" bIns="0" anchor="t">
              <a:spAutoFit/>
            </a:bodyPr>
            <a:lstStyle/>
            <a:p>
              <a:pPr algn="l"/>
              <a:r>
                <a:rPr sz="1000" b="1" spc="300">
                  <a:solidFill>
                    <a:srgbClr val="59BEC9"/>
                  </a:solidFill>
                  <a:latin typeface="Century Gothic"/>
                </a:rPr>
                <a:t>WHO</a:t>
              </a:r>
            </a:p>
          </p:txBody>
        </p:sp>
        <p:sp>
          <p:nvSpPr>
            <p:cNvPr id="35" name="TextBox 34"/>
            <p:cNvSpPr txBox="1"/>
            <p:nvPr/>
          </p:nvSpPr>
          <p:spPr>
            <a:xfrm>
              <a:off x="1162050" y="3333750"/>
              <a:ext cx="2762250" cy="228600"/>
            </a:xfrm>
            <a:prstGeom prst="rect">
              <a:avLst/>
            </a:prstGeom>
            <a:noFill/>
          </p:spPr>
          <p:txBody>
            <a:bodyPr wrap="square" lIns="0" tIns="0" rIns="0" bIns="0" anchor="t">
              <a:spAutoFit/>
            </a:bodyPr>
            <a:lstStyle/>
            <a:p>
              <a:pPr algn="l"/>
              <a:r>
                <a:rPr sz="1550" b="1">
                  <a:solidFill>
                    <a:srgbClr val="FFFFFF"/>
                  </a:solidFill>
                  <a:latin typeface="Century Gothic"/>
                </a:rPr>
                <a:t>Backup vault</a:t>
              </a:r>
            </a:p>
          </p:txBody>
        </p:sp>
        <p:sp>
          <p:nvSpPr>
            <p:cNvPr id="36" name="TextBox 35"/>
            <p:cNvSpPr txBox="1"/>
            <p:nvPr/>
          </p:nvSpPr>
          <p:spPr>
            <a:xfrm>
              <a:off x="781050" y="3676650"/>
              <a:ext cx="3162300" cy="476250"/>
            </a:xfrm>
            <a:prstGeom prst="rect">
              <a:avLst/>
            </a:prstGeom>
            <a:noFill/>
          </p:spPr>
          <p:txBody>
            <a:bodyPr wrap="square" lIns="0" tIns="0" rIns="0" bIns="0" anchor="t">
              <a:spAutoFit/>
            </a:bodyPr>
            <a:lstStyle/>
            <a:p>
              <a:pPr algn="l"/>
              <a:r>
                <a:rPr sz="1450" b="1">
                  <a:solidFill>
                    <a:srgbClr val="FFB938"/>
                  </a:solidFill>
                  <a:latin typeface="Segoe UI"/>
                </a:rPr>
                <a:t>Storage Blob Data Contributor</a:t>
              </a:r>
            </a:p>
          </p:txBody>
        </p:sp>
        <p:sp>
          <p:nvSpPr>
            <p:cNvPr id="37" name="TextBox 36"/>
            <p:cNvSpPr txBox="1"/>
            <p:nvPr/>
          </p:nvSpPr>
          <p:spPr>
            <a:xfrm>
              <a:off x="781050" y="4191000"/>
              <a:ext cx="3162300" cy="209550"/>
            </a:xfrm>
            <a:prstGeom prst="rect">
              <a:avLst/>
            </a:prstGeom>
            <a:noFill/>
          </p:spPr>
          <p:txBody>
            <a:bodyPr wrap="square" lIns="0" tIns="0" rIns="0" bIns="0" anchor="t">
              <a:spAutoFit/>
            </a:bodyPr>
            <a:lstStyle/>
            <a:p>
              <a:pPr algn="l"/>
              <a:r>
                <a:rPr sz="1300" b="0">
                  <a:solidFill>
                    <a:srgbClr val="B0C0D9"/>
                  </a:solidFill>
                  <a:latin typeface="Segoe UI"/>
                </a:rPr>
                <a:t>on  Backup storage account</a:t>
              </a:r>
            </a:p>
          </p:txBody>
        </p:sp>
      </p:grpSp>
      <p:grpSp>
        <p:nvGrpSpPr>
          <p:cNvPr id="38" name="anim|rise|1.11"/>
          <p:cNvGrpSpPr/>
          <p:nvPr/>
        </p:nvGrpSpPr>
        <p:grpSpPr>
          <a:xfrm>
            <a:off x="4305300" y="3048000"/>
            <a:ext cx="3581400" cy="1428750"/>
            <a:chOff x="4305300" y="3048000"/>
            <a:chExt cx="3581400" cy="1428750"/>
          </a:xfrm>
        </p:grpSpPr>
        <p:sp>
          <p:nvSpPr>
            <p:cNvPr id="39" name="Rounded Rectangle 38"/>
            <p:cNvSpPr/>
            <p:nvPr/>
          </p:nvSpPr>
          <p:spPr>
            <a:xfrm>
              <a:off x="4305300" y="3048000"/>
              <a:ext cx="3581400" cy="1428750"/>
            </a:xfrm>
            <a:prstGeom prst="roundRect">
              <a:avLst>
                <a:gd name="adj" fmla="val 12000"/>
              </a:avLst>
            </a:prstGeom>
            <a:solidFill>
              <a:srgbClr val="1E3A68"/>
            </a:solidFill>
            <a:ln>
              <a:noFill/>
            </a:ln>
          </p:spPr>
          <p:txBody>
            <a:bodyPr rtlCol="0" anchor="ctr"/>
            <a:lstStyle/>
            <a:p>
              <a:pPr algn="ctr"/>
              <a:endParaRPr/>
            </a:p>
          </p:txBody>
        </p:sp>
        <p:pic>
          <p:nvPicPr>
            <p:cNvPr id="40" name="Picture 39" descr="key_teal.png"/>
            <p:cNvPicPr>
              <a:picLocks noChangeAspect="1"/>
            </p:cNvPicPr>
            <p:nvPr/>
          </p:nvPicPr>
          <p:blipFill>
            <a:blip r:embed="rId2"/>
            <a:stretch>
              <a:fillRect/>
            </a:stretch>
          </p:blipFill>
          <p:spPr>
            <a:xfrm>
              <a:off x="4514850" y="3200400"/>
              <a:ext cx="266700" cy="266700"/>
            </a:xfrm>
            <a:prstGeom prst="rect">
              <a:avLst/>
            </a:prstGeom>
          </p:spPr>
        </p:pic>
        <p:sp>
          <p:nvSpPr>
            <p:cNvPr id="41" name="TextBox 40"/>
            <p:cNvSpPr txBox="1"/>
            <p:nvPr/>
          </p:nvSpPr>
          <p:spPr>
            <a:xfrm>
              <a:off x="4895850" y="3162300"/>
              <a:ext cx="2762250" cy="152400"/>
            </a:xfrm>
            <a:prstGeom prst="rect">
              <a:avLst/>
            </a:prstGeom>
            <a:noFill/>
          </p:spPr>
          <p:txBody>
            <a:bodyPr wrap="square" lIns="0" tIns="0" rIns="0" bIns="0" anchor="t">
              <a:spAutoFit/>
            </a:bodyPr>
            <a:lstStyle/>
            <a:p>
              <a:pPr algn="l"/>
              <a:r>
                <a:rPr sz="1000" b="1" spc="300">
                  <a:solidFill>
                    <a:srgbClr val="59BEC9"/>
                  </a:solidFill>
                  <a:latin typeface="Century Gothic"/>
                </a:rPr>
                <a:t>WHO</a:t>
              </a:r>
            </a:p>
          </p:txBody>
        </p:sp>
        <p:sp>
          <p:nvSpPr>
            <p:cNvPr id="42" name="TextBox 41"/>
            <p:cNvSpPr txBox="1"/>
            <p:nvPr/>
          </p:nvSpPr>
          <p:spPr>
            <a:xfrm>
              <a:off x="4895850" y="3333750"/>
              <a:ext cx="2762250" cy="228600"/>
            </a:xfrm>
            <a:prstGeom prst="rect">
              <a:avLst/>
            </a:prstGeom>
            <a:noFill/>
          </p:spPr>
          <p:txBody>
            <a:bodyPr wrap="square" lIns="0" tIns="0" rIns="0" bIns="0" anchor="t">
              <a:spAutoFit/>
            </a:bodyPr>
            <a:lstStyle/>
            <a:p>
              <a:pPr algn="l"/>
              <a:r>
                <a:rPr sz="1550" b="1">
                  <a:solidFill>
                    <a:srgbClr val="FFFFFF"/>
                  </a:solidFill>
                  <a:latin typeface="Century Gothic"/>
                </a:rPr>
                <a:t>Backup extension identity</a:t>
              </a:r>
            </a:p>
          </p:txBody>
        </p:sp>
        <p:sp>
          <p:nvSpPr>
            <p:cNvPr id="43" name="TextBox 42"/>
            <p:cNvSpPr txBox="1"/>
            <p:nvPr/>
          </p:nvSpPr>
          <p:spPr>
            <a:xfrm>
              <a:off x="4514850" y="3676650"/>
              <a:ext cx="3162300" cy="476250"/>
            </a:xfrm>
            <a:prstGeom prst="rect">
              <a:avLst/>
            </a:prstGeom>
            <a:noFill/>
          </p:spPr>
          <p:txBody>
            <a:bodyPr wrap="square" lIns="0" tIns="0" rIns="0" bIns="0" anchor="t">
              <a:spAutoFit/>
            </a:bodyPr>
            <a:lstStyle/>
            <a:p>
              <a:pPr algn="l"/>
              <a:r>
                <a:rPr sz="1450" b="1">
                  <a:solidFill>
                    <a:srgbClr val="FFB938"/>
                  </a:solidFill>
                  <a:latin typeface="Segoe UI"/>
                </a:rPr>
                <a:t>Storage Account Contributor</a:t>
              </a:r>
            </a:p>
          </p:txBody>
        </p:sp>
        <p:sp>
          <p:nvSpPr>
            <p:cNvPr id="44" name="TextBox 43"/>
            <p:cNvSpPr txBox="1"/>
            <p:nvPr/>
          </p:nvSpPr>
          <p:spPr>
            <a:xfrm>
              <a:off x="4514850" y="4191000"/>
              <a:ext cx="3162300" cy="209550"/>
            </a:xfrm>
            <a:prstGeom prst="rect">
              <a:avLst/>
            </a:prstGeom>
            <a:noFill/>
          </p:spPr>
          <p:txBody>
            <a:bodyPr wrap="square" lIns="0" tIns="0" rIns="0" bIns="0" anchor="t">
              <a:spAutoFit/>
            </a:bodyPr>
            <a:lstStyle/>
            <a:p>
              <a:pPr algn="l"/>
              <a:r>
                <a:rPr sz="1300" b="0">
                  <a:solidFill>
                    <a:srgbClr val="B0C0D9"/>
                  </a:solidFill>
                  <a:latin typeface="Segoe UI"/>
                </a:rPr>
                <a:t>on  Backup storage account</a:t>
              </a:r>
            </a:p>
          </p:txBody>
        </p:sp>
      </p:grpSp>
      <p:grpSp>
        <p:nvGrpSpPr>
          <p:cNvPr id="45" name="anim|rise|1.25"/>
          <p:cNvGrpSpPr/>
          <p:nvPr/>
        </p:nvGrpSpPr>
        <p:grpSpPr>
          <a:xfrm>
            <a:off x="8039100" y="3048000"/>
            <a:ext cx="3581400" cy="1428750"/>
            <a:chOff x="8039100" y="3048000"/>
            <a:chExt cx="3581400" cy="1428750"/>
          </a:xfrm>
        </p:grpSpPr>
        <p:sp>
          <p:nvSpPr>
            <p:cNvPr id="46" name="Rounded Rectangle 45"/>
            <p:cNvSpPr/>
            <p:nvPr/>
          </p:nvSpPr>
          <p:spPr>
            <a:xfrm>
              <a:off x="8039100" y="3048000"/>
              <a:ext cx="3581400" cy="1428750"/>
            </a:xfrm>
            <a:prstGeom prst="roundRect">
              <a:avLst>
                <a:gd name="adj" fmla="val 12000"/>
              </a:avLst>
            </a:prstGeom>
            <a:solidFill>
              <a:srgbClr val="1E3A68"/>
            </a:solidFill>
            <a:ln>
              <a:noFill/>
            </a:ln>
          </p:spPr>
          <p:txBody>
            <a:bodyPr rtlCol="0" anchor="ctr"/>
            <a:lstStyle/>
            <a:p>
              <a:pPr algn="ctr"/>
              <a:endParaRPr/>
            </a:p>
          </p:txBody>
        </p:sp>
        <p:pic>
          <p:nvPicPr>
            <p:cNvPr id="47" name="Picture 46" descr="key_teal.png"/>
            <p:cNvPicPr>
              <a:picLocks noChangeAspect="1"/>
            </p:cNvPicPr>
            <p:nvPr/>
          </p:nvPicPr>
          <p:blipFill>
            <a:blip r:embed="rId2"/>
            <a:stretch>
              <a:fillRect/>
            </a:stretch>
          </p:blipFill>
          <p:spPr>
            <a:xfrm>
              <a:off x="8248650" y="3200400"/>
              <a:ext cx="266700" cy="266700"/>
            </a:xfrm>
            <a:prstGeom prst="rect">
              <a:avLst/>
            </a:prstGeom>
          </p:spPr>
        </p:pic>
        <p:sp>
          <p:nvSpPr>
            <p:cNvPr id="48" name="TextBox 47"/>
            <p:cNvSpPr txBox="1"/>
            <p:nvPr/>
          </p:nvSpPr>
          <p:spPr>
            <a:xfrm>
              <a:off x="8629650" y="3162300"/>
              <a:ext cx="2762250" cy="152400"/>
            </a:xfrm>
            <a:prstGeom prst="rect">
              <a:avLst/>
            </a:prstGeom>
            <a:noFill/>
          </p:spPr>
          <p:txBody>
            <a:bodyPr wrap="square" lIns="0" tIns="0" rIns="0" bIns="0" anchor="t">
              <a:spAutoFit/>
            </a:bodyPr>
            <a:lstStyle/>
            <a:p>
              <a:pPr algn="l"/>
              <a:r>
                <a:rPr sz="1000" b="1" spc="300">
                  <a:solidFill>
                    <a:srgbClr val="59BEC9"/>
                  </a:solidFill>
                  <a:latin typeface="Century Gothic"/>
                </a:rPr>
                <a:t>WHO</a:t>
              </a:r>
            </a:p>
          </p:txBody>
        </p:sp>
        <p:sp>
          <p:nvSpPr>
            <p:cNvPr id="49" name="TextBox 48"/>
            <p:cNvSpPr txBox="1"/>
            <p:nvPr/>
          </p:nvSpPr>
          <p:spPr>
            <a:xfrm>
              <a:off x="8629650" y="3333750"/>
              <a:ext cx="2762250" cy="228600"/>
            </a:xfrm>
            <a:prstGeom prst="rect">
              <a:avLst/>
            </a:prstGeom>
            <a:noFill/>
          </p:spPr>
          <p:txBody>
            <a:bodyPr wrap="square" lIns="0" tIns="0" rIns="0" bIns="0" anchor="t">
              <a:spAutoFit/>
            </a:bodyPr>
            <a:lstStyle/>
            <a:p>
              <a:pPr algn="l"/>
              <a:r>
                <a:rPr sz="1550" b="1">
                  <a:solidFill>
                    <a:srgbClr val="FFFFFF"/>
                  </a:solidFill>
                  <a:latin typeface="Century Gothic"/>
                </a:rPr>
                <a:t>Vault to AKS Trusted Access</a:t>
              </a:r>
            </a:p>
          </p:txBody>
        </p:sp>
        <p:sp>
          <p:nvSpPr>
            <p:cNvPr id="50" name="TextBox 49"/>
            <p:cNvSpPr txBox="1"/>
            <p:nvPr/>
          </p:nvSpPr>
          <p:spPr>
            <a:xfrm>
              <a:off x="8248650" y="3676650"/>
              <a:ext cx="3162300" cy="476250"/>
            </a:xfrm>
            <a:prstGeom prst="rect">
              <a:avLst/>
            </a:prstGeom>
            <a:noFill/>
          </p:spPr>
          <p:txBody>
            <a:bodyPr wrap="square" lIns="0" tIns="0" rIns="0" bIns="0" anchor="t">
              <a:spAutoFit/>
            </a:bodyPr>
            <a:lstStyle/>
            <a:p>
              <a:pPr algn="l"/>
              <a:r>
                <a:rPr sz="1450" b="1">
                  <a:solidFill>
                    <a:srgbClr val="FFB938"/>
                  </a:solidFill>
                  <a:latin typeface="Segoe UI"/>
                </a:rPr>
                <a:t>backup-operator</a:t>
              </a:r>
            </a:p>
          </p:txBody>
        </p:sp>
        <p:sp>
          <p:nvSpPr>
            <p:cNvPr id="51" name="TextBox 50"/>
            <p:cNvSpPr txBox="1"/>
            <p:nvPr/>
          </p:nvSpPr>
          <p:spPr>
            <a:xfrm>
              <a:off x="8248650" y="4191000"/>
              <a:ext cx="3162300" cy="209550"/>
            </a:xfrm>
            <a:prstGeom prst="rect">
              <a:avLst/>
            </a:prstGeom>
            <a:noFill/>
          </p:spPr>
          <p:txBody>
            <a:bodyPr wrap="square" lIns="0" tIns="0" rIns="0" bIns="0" anchor="t">
              <a:spAutoFit/>
            </a:bodyPr>
            <a:lstStyle/>
            <a:p>
              <a:pPr algn="l"/>
              <a:r>
                <a:rPr sz="1300" b="0">
                  <a:solidFill>
                    <a:srgbClr val="B0C0D9"/>
                  </a:solidFill>
                  <a:latin typeface="Segoe UI"/>
                </a:rPr>
                <a:t>on  AKS cluster</a:t>
              </a:r>
            </a:p>
          </p:txBody>
        </p:sp>
      </p:grpSp>
      <p:grpSp>
        <p:nvGrpSpPr>
          <p:cNvPr id="52" name="anim|rise|1.39"/>
          <p:cNvGrpSpPr/>
          <p:nvPr/>
        </p:nvGrpSpPr>
        <p:grpSpPr>
          <a:xfrm>
            <a:off x="571500" y="4686300"/>
            <a:ext cx="5448300" cy="1524000"/>
            <a:chOff x="571500" y="4686300"/>
            <a:chExt cx="5448300" cy="1524000"/>
          </a:xfrm>
        </p:grpSpPr>
        <p:sp>
          <p:nvSpPr>
            <p:cNvPr id="53" name="Rounded Rectangle 52"/>
            <p:cNvSpPr/>
            <p:nvPr/>
          </p:nvSpPr>
          <p:spPr>
            <a:xfrm>
              <a:off x="571500" y="4686300"/>
              <a:ext cx="5448300" cy="1524000"/>
            </a:xfrm>
            <a:prstGeom prst="roundRect">
              <a:avLst>
                <a:gd name="adj" fmla="val 11250"/>
              </a:avLst>
            </a:prstGeom>
            <a:solidFill>
              <a:srgbClr val="1E3A68"/>
            </a:solidFill>
            <a:ln>
              <a:noFill/>
            </a:ln>
          </p:spPr>
          <p:txBody>
            <a:bodyPr rtlCol="0" anchor="ctr"/>
            <a:lstStyle/>
            <a:p>
              <a:pPr algn="ctr"/>
              <a:endParaRPr/>
            </a:p>
          </p:txBody>
        </p:sp>
        <p:sp>
          <p:nvSpPr>
            <p:cNvPr id="54" name="Oval 53"/>
            <p:cNvSpPr/>
            <p:nvPr/>
          </p:nvSpPr>
          <p:spPr>
            <a:xfrm>
              <a:off x="819150" y="4933950"/>
              <a:ext cx="609600" cy="609600"/>
            </a:xfrm>
            <a:prstGeom prst="ellipse">
              <a:avLst/>
            </a:prstGeom>
            <a:solidFill>
              <a:srgbClr val="14284B"/>
            </a:solidFill>
            <a:ln>
              <a:noFill/>
            </a:ln>
          </p:spPr>
          <p:txBody>
            <a:bodyPr rtlCol="0" anchor="ctr"/>
            <a:lstStyle/>
            <a:p>
              <a:pPr algn="ctr"/>
              <a:endParaRPr/>
            </a:p>
          </p:txBody>
        </p:sp>
        <p:pic>
          <p:nvPicPr>
            <p:cNvPr id="55" name="Picture 54" descr="info_teal.png"/>
            <p:cNvPicPr>
              <a:picLocks noChangeAspect="1"/>
            </p:cNvPicPr>
            <p:nvPr/>
          </p:nvPicPr>
          <p:blipFill>
            <a:blip r:embed="rId3"/>
            <a:stretch>
              <a:fillRect/>
            </a:stretch>
          </p:blipFill>
          <p:spPr>
            <a:xfrm>
              <a:off x="959358" y="5074158"/>
              <a:ext cx="329184" cy="329184"/>
            </a:xfrm>
            <a:prstGeom prst="rect">
              <a:avLst/>
            </a:prstGeom>
          </p:spPr>
        </p:pic>
        <p:sp>
          <p:nvSpPr>
            <p:cNvPr id="56" name="TextBox 55"/>
            <p:cNvSpPr txBox="1"/>
            <p:nvPr/>
          </p:nvSpPr>
          <p:spPr>
            <a:xfrm>
              <a:off x="1638300" y="4972050"/>
              <a:ext cx="4114800" cy="266700"/>
            </a:xfrm>
            <a:prstGeom prst="rect">
              <a:avLst/>
            </a:prstGeom>
            <a:noFill/>
          </p:spPr>
          <p:txBody>
            <a:bodyPr wrap="square" lIns="0" tIns="0" rIns="0" bIns="0" anchor="t">
              <a:spAutoFit/>
            </a:bodyPr>
            <a:lstStyle/>
            <a:p>
              <a:pPr algn="l"/>
              <a:r>
                <a:rPr sz="1900" b="1">
                  <a:solidFill>
                    <a:srgbClr val="FFFFFF"/>
                  </a:solidFill>
                  <a:latin typeface="Century Gothic"/>
                </a:rPr>
                <a:t>Who gets these</a:t>
              </a:r>
            </a:p>
          </p:txBody>
        </p:sp>
        <p:sp>
          <p:nvSpPr>
            <p:cNvPr id="57" name="TextBox 56"/>
            <p:cNvSpPr txBox="1"/>
            <p:nvPr/>
          </p:nvSpPr>
          <p:spPr>
            <a:xfrm>
              <a:off x="1638300" y="5334000"/>
              <a:ext cx="4114800" cy="762000"/>
            </a:xfrm>
            <a:prstGeom prst="rect">
              <a:avLst/>
            </a:prstGeom>
            <a:noFill/>
          </p:spPr>
          <p:txBody>
            <a:bodyPr wrap="square" lIns="0" tIns="0" rIns="0" bIns="0" anchor="t">
              <a:spAutoFit/>
            </a:bodyPr>
            <a:lstStyle/>
            <a:p>
              <a:pPr algn="l"/>
              <a:r>
                <a:rPr sz="1350" b="0">
                  <a:solidFill>
                    <a:srgbClr val="B0C0D9"/>
                  </a:solidFill>
                  <a:latin typeface="Segoe UI"/>
                </a:rPr>
                <a:t>backup.tf creates these for clusters that have a backup_instance, so only the original cluster. The -rst cluster has an extension but no backup instance, so Validate will ask you to grant them.</a:t>
              </a:r>
            </a:p>
          </p:txBody>
        </p:sp>
      </p:grpSp>
      <p:grpSp>
        <p:nvGrpSpPr>
          <p:cNvPr id="58" name="anim|rise|1.53"/>
          <p:cNvGrpSpPr/>
          <p:nvPr/>
        </p:nvGrpSpPr>
        <p:grpSpPr>
          <a:xfrm>
            <a:off x="6172200" y="4686300"/>
            <a:ext cx="5448300" cy="1524000"/>
            <a:chOff x="6172200" y="4686300"/>
            <a:chExt cx="5448300" cy="1524000"/>
          </a:xfrm>
        </p:grpSpPr>
        <p:sp>
          <p:nvSpPr>
            <p:cNvPr id="59" name="Rounded Rectangle 58"/>
            <p:cNvSpPr/>
            <p:nvPr/>
          </p:nvSpPr>
          <p:spPr>
            <a:xfrm>
              <a:off x="6172200" y="4686300"/>
              <a:ext cx="5448300" cy="1524000"/>
            </a:xfrm>
            <a:prstGeom prst="roundRect">
              <a:avLst>
                <a:gd name="adj" fmla="val 11250"/>
              </a:avLst>
            </a:prstGeom>
            <a:solidFill>
              <a:srgbClr val="1E3A68"/>
            </a:solidFill>
            <a:ln w="19050">
              <a:solidFill>
                <a:srgbClr val="FFB938"/>
              </a:solidFill>
            </a:ln>
          </p:spPr>
          <p:txBody>
            <a:bodyPr rtlCol="0" anchor="ctr"/>
            <a:lstStyle/>
            <a:p>
              <a:pPr algn="ctr"/>
              <a:endParaRPr/>
            </a:p>
          </p:txBody>
        </p:sp>
        <p:sp>
          <p:nvSpPr>
            <p:cNvPr id="60" name="Oval 59"/>
            <p:cNvSpPr/>
            <p:nvPr/>
          </p:nvSpPr>
          <p:spPr>
            <a:xfrm>
              <a:off x="6419850" y="4933950"/>
              <a:ext cx="609600" cy="609600"/>
            </a:xfrm>
            <a:prstGeom prst="ellipse">
              <a:avLst/>
            </a:prstGeom>
            <a:solidFill>
              <a:srgbClr val="14284B"/>
            </a:solidFill>
            <a:ln>
              <a:noFill/>
            </a:ln>
          </p:spPr>
          <p:txBody>
            <a:bodyPr rtlCol="0" anchor="ctr"/>
            <a:lstStyle/>
            <a:p>
              <a:pPr algn="ctr"/>
              <a:endParaRPr/>
            </a:p>
          </p:txBody>
        </p:sp>
        <p:pic>
          <p:nvPicPr>
            <p:cNvPr id="61" name="Picture 60" descr="warning_amber.png"/>
            <p:cNvPicPr>
              <a:picLocks noChangeAspect="1"/>
            </p:cNvPicPr>
            <p:nvPr/>
          </p:nvPicPr>
          <p:blipFill>
            <a:blip r:embed="rId4"/>
            <a:stretch>
              <a:fillRect/>
            </a:stretch>
          </p:blipFill>
          <p:spPr>
            <a:xfrm>
              <a:off x="6560058" y="5074158"/>
              <a:ext cx="329184" cy="329184"/>
            </a:xfrm>
            <a:prstGeom prst="rect">
              <a:avLst/>
            </a:prstGeom>
          </p:spPr>
        </p:pic>
        <p:sp>
          <p:nvSpPr>
            <p:cNvPr id="62" name="TextBox 61"/>
            <p:cNvSpPr txBox="1"/>
            <p:nvPr/>
          </p:nvSpPr>
          <p:spPr>
            <a:xfrm>
              <a:off x="7239000" y="4972050"/>
              <a:ext cx="4114800" cy="266700"/>
            </a:xfrm>
            <a:prstGeom prst="rect">
              <a:avLst/>
            </a:prstGeom>
            <a:noFill/>
          </p:spPr>
          <p:txBody>
            <a:bodyPr wrap="square" lIns="0" tIns="0" rIns="0" bIns="0" anchor="t">
              <a:spAutoFit/>
            </a:bodyPr>
            <a:lstStyle/>
            <a:p>
              <a:pPr algn="l"/>
              <a:r>
                <a:rPr sz="1900" b="1">
                  <a:solidFill>
                    <a:srgbClr val="FFFFFF"/>
                  </a:solidFill>
                  <a:latin typeface="Century Gothic"/>
                </a:rPr>
                <a:t>Worth checking</a:t>
              </a:r>
            </a:p>
          </p:txBody>
        </p:sp>
        <p:sp>
          <p:nvSpPr>
            <p:cNvPr id="63" name="TextBox 62"/>
            <p:cNvSpPr txBox="1"/>
            <p:nvPr/>
          </p:nvSpPr>
          <p:spPr>
            <a:xfrm>
              <a:off x="7239000" y="5334000"/>
              <a:ext cx="4114800" cy="762000"/>
            </a:xfrm>
            <a:prstGeom prst="rect">
              <a:avLst/>
            </a:prstGeom>
            <a:noFill/>
          </p:spPr>
          <p:txBody>
            <a:bodyPr wrap="square" lIns="0" tIns="0" rIns="0" bIns="0" anchor="t">
              <a:spAutoFit/>
            </a:bodyPr>
            <a:lstStyle/>
            <a:p>
              <a:pPr algn="l"/>
              <a:r>
                <a:rPr sz="1350" b="0">
                  <a:solidFill>
                    <a:srgbClr val="B0C0D9"/>
                  </a:solidFill>
                  <a:latin typeface="Segoe UI"/>
                </a:rPr>
                <a:t>Microsoft's restore guidance lists Storage Blob Data Contributor for the extension identity, but backup.tf grants it Storage Account Contributor.</a:t>
              </a:r>
            </a:p>
          </p:txBody>
        </p:sp>
      </p:grpSp>
    </p:spTree>
  </p:cSld>
  <p:clrMapOvr>
    <a:masterClrMapping/>
  </p:clrMapOvr>
  <mc:AlternateContent xmlns:mc="http://schemas.openxmlformats.org/markup-compatibility/2006">
    <mc:Choice xmlns:p14="http://schemas.microsoft.com/office/powerpoint/2010/main" Requires="p14">
      <p:transition spd="slow" p14:dur="800">
        <p:fad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5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50"/>
                                        <p:tgtEl>
                                          <p:spTgt spid="3"/>
                                        </p:tgtEl>
                                      </p:cBhvr>
                                    </p:animEffect>
                                  </p:childTnLst>
                                </p:cTn>
                              </p:par>
                              <p:par>
                                <p:cTn id="8" presetID="22" presetClass="entr" presetSubtype="8" fill="hold" grpId="0" nodeType="withEffect">
                                  <p:stCondLst>
                                    <p:cond delay="100"/>
                                  </p:stCondLst>
                                  <p:childTnLst>
                                    <p:set>
                                      <p:cBhvr>
                                        <p:cTn id="9" dur="1" fill="hold">
                                          <p:stCondLst>
                                            <p:cond delay="0"/>
                                          </p:stCondLst>
                                        </p:cTn>
                                        <p:tgtEl>
                                          <p:spTgt spid="6"/>
                                        </p:tgtEl>
                                        <p:attrNameLst>
                                          <p:attrName>style.visibility</p:attrName>
                                        </p:attrNameLst>
                                      </p:cBhvr>
                                      <p:to>
                                        <p:strVal val="visible"/>
                                      </p:to>
                                    </p:set>
                                    <p:animEffect transition="in" filter="wipe(left)">
                                      <p:cBhvr>
                                        <p:cTn id="10" dur="700"/>
                                        <p:tgtEl>
                                          <p:spTgt spid="6"/>
                                        </p:tgtEl>
                                      </p:cBhvr>
                                    </p:animEffect>
                                  </p:childTnLst>
                                </p:cTn>
                              </p:par>
                              <p:par>
                                <p:cTn id="11" presetID="10" presetClass="entr" presetSubtype="0" fill="hold" grpId="0" nodeType="withEffect">
                                  <p:stCondLst>
                                    <p:cond delay="45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50"/>
                                        <p:tgtEl>
                                          <p:spTgt spid="7"/>
                                        </p:tgtEl>
                                      </p:cBhvr>
                                    </p:animEffect>
                                  </p:childTnLst>
                                </p:cTn>
                              </p:par>
                              <p:par>
                                <p:cTn id="14" presetID="37" presetClass="entr" presetSubtype="0" fill="hold" nodeType="withEffect">
                                  <p:stCondLst>
                                    <p:cond delay="55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50"/>
                                        <p:tgtEl>
                                          <p:spTgt spid="10"/>
                                        </p:tgtEl>
                                      </p:cBhvr>
                                    </p:animEffect>
                                    <p:anim calcmode="lin" valueType="num">
                                      <p:cBhvr>
                                        <p:cTn id="17" dur="550" fill="hold"/>
                                        <p:tgtEl>
                                          <p:spTgt spid="10"/>
                                        </p:tgtEl>
                                        <p:attrNameLst>
                                          <p:attrName>ppt_x</p:attrName>
                                        </p:attrNameLst>
                                      </p:cBhvr>
                                      <p:tavLst>
                                        <p:tav tm="0">
                                          <p:val>
                                            <p:strVal val="#ppt_x"/>
                                          </p:val>
                                        </p:tav>
                                        <p:tav tm="100000">
                                          <p:val>
                                            <p:strVal val="#ppt_x"/>
                                          </p:val>
                                        </p:tav>
                                      </p:tavLst>
                                    </p:anim>
                                    <p:anim calcmode="lin" valueType="num">
                                      <p:cBhvr>
                                        <p:cTn id="18" dur="495" decel="100000" fill="hold"/>
                                        <p:tgtEl>
                                          <p:spTgt spid="10"/>
                                        </p:tgtEl>
                                        <p:attrNameLst>
                                          <p:attrName>ppt_y</p:attrName>
                                        </p:attrNameLst>
                                      </p:cBhvr>
                                      <p:tavLst>
                                        <p:tav tm="0">
                                          <p:val>
                                            <p:strVal val="#ppt_y+1"/>
                                          </p:val>
                                        </p:tav>
                                        <p:tav tm="100000">
                                          <p:val>
                                            <p:strVal val="#ppt_y-.03"/>
                                          </p:val>
                                        </p:tav>
                                      </p:tavLst>
                                    </p:anim>
                                    <p:anim calcmode="lin" valueType="num">
                                      <p:cBhvr>
                                        <p:cTn id="19" dur="55" accel="100000" fill="hold">
                                          <p:stCondLst>
                                            <p:cond delay="495"/>
                                          </p:stCondLst>
                                        </p:cTn>
                                        <p:tgtEl>
                                          <p:spTgt spid="10"/>
                                        </p:tgtEl>
                                        <p:attrNameLst>
                                          <p:attrName>ppt_y</p:attrName>
                                        </p:attrNameLst>
                                      </p:cBhvr>
                                      <p:tavLst>
                                        <p:tav tm="0">
                                          <p:val>
                                            <p:strVal val="#ppt_y-.03"/>
                                          </p:val>
                                        </p:tav>
                                        <p:tav tm="100000">
                                          <p:val>
                                            <p:strVal val="#ppt_y"/>
                                          </p:val>
                                        </p:tav>
                                      </p:tavLst>
                                    </p:anim>
                                  </p:childTnLst>
                                </p:cTn>
                              </p:par>
                              <p:par>
                                <p:cTn id="20" presetID="37" presetClass="entr" presetSubtype="0" fill="hold" nodeType="withEffect">
                                  <p:stCondLst>
                                    <p:cond delay="69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550"/>
                                        <p:tgtEl>
                                          <p:spTgt spid="17"/>
                                        </p:tgtEl>
                                      </p:cBhvr>
                                    </p:animEffect>
                                    <p:anim calcmode="lin" valueType="num">
                                      <p:cBhvr>
                                        <p:cTn id="23" dur="550" fill="hold"/>
                                        <p:tgtEl>
                                          <p:spTgt spid="17"/>
                                        </p:tgtEl>
                                        <p:attrNameLst>
                                          <p:attrName>ppt_x</p:attrName>
                                        </p:attrNameLst>
                                      </p:cBhvr>
                                      <p:tavLst>
                                        <p:tav tm="0">
                                          <p:val>
                                            <p:strVal val="#ppt_x"/>
                                          </p:val>
                                        </p:tav>
                                        <p:tav tm="100000">
                                          <p:val>
                                            <p:strVal val="#ppt_x"/>
                                          </p:val>
                                        </p:tav>
                                      </p:tavLst>
                                    </p:anim>
                                    <p:anim calcmode="lin" valueType="num">
                                      <p:cBhvr>
                                        <p:cTn id="24" dur="495" decel="100000" fill="hold"/>
                                        <p:tgtEl>
                                          <p:spTgt spid="17"/>
                                        </p:tgtEl>
                                        <p:attrNameLst>
                                          <p:attrName>ppt_y</p:attrName>
                                        </p:attrNameLst>
                                      </p:cBhvr>
                                      <p:tavLst>
                                        <p:tav tm="0">
                                          <p:val>
                                            <p:strVal val="#ppt_y+1"/>
                                          </p:val>
                                        </p:tav>
                                        <p:tav tm="100000">
                                          <p:val>
                                            <p:strVal val="#ppt_y-.03"/>
                                          </p:val>
                                        </p:tav>
                                      </p:tavLst>
                                    </p:anim>
                                    <p:anim calcmode="lin" valueType="num">
                                      <p:cBhvr>
                                        <p:cTn id="25" dur="55" accel="100000" fill="hold">
                                          <p:stCondLst>
                                            <p:cond delay="495"/>
                                          </p:stCondLst>
                                        </p:cTn>
                                        <p:tgtEl>
                                          <p:spTgt spid="17"/>
                                        </p:tgtEl>
                                        <p:attrNameLst>
                                          <p:attrName>ppt_y</p:attrName>
                                        </p:attrNameLst>
                                      </p:cBhvr>
                                      <p:tavLst>
                                        <p:tav tm="0">
                                          <p:val>
                                            <p:strVal val="#ppt_y-.03"/>
                                          </p:val>
                                        </p:tav>
                                        <p:tav tm="100000">
                                          <p:val>
                                            <p:strVal val="#ppt_y"/>
                                          </p:val>
                                        </p:tav>
                                      </p:tavLst>
                                    </p:anim>
                                  </p:childTnLst>
                                </p:cTn>
                              </p:par>
                              <p:par>
                                <p:cTn id="26" presetID="37" presetClass="entr" presetSubtype="0" fill="hold" nodeType="withEffect">
                                  <p:stCondLst>
                                    <p:cond delay="830"/>
                                  </p:stCondLst>
                                  <p:childTnLst>
                                    <p:set>
                                      <p:cBhvr>
                                        <p:cTn id="27" dur="1" fill="hold">
                                          <p:stCondLst>
                                            <p:cond delay="0"/>
                                          </p:stCondLst>
                                        </p:cTn>
                                        <p:tgtEl>
                                          <p:spTgt spid="24"/>
                                        </p:tgtEl>
                                        <p:attrNameLst>
                                          <p:attrName>style.visibility</p:attrName>
                                        </p:attrNameLst>
                                      </p:cBhvr>
                                      <p:to>
                                        <p:strVal val="visible"/>
                                      </p:to>
                                    </p:set>
                                    <p:animEffect transition="in" filter="fade">
                                      <p:cBhvr>
                                        <p:cTn id="28" dur="550"/>
                                        <p:tgtEl>
                                          <p:spTgt spid="24"/>
                                        </p:tgtEl>
                                      </p:cBhvr>
                                    </p:animEffect>
                                    <p:anim calcmode="lin" valueType="num">
                                      <p:cBhvr>
                                        <p:cTn id="29" dur="550" fill="hold"/>
                                        <p:tgtEl>
                                          <p:spTgt spid="24"/>
                                        </p:tgtEl>
                                        <p:attrNameLst>
                                          <p:attrName>ppt_x</p:attrName>
                                        </p:attrNameLst>
                                      </p:cBhvr>
                                      <p:tavLst>
                                        <p:tav tm="0">
                                          <p:val>
                                            <p:strVal val="#ppt_x"/>
                                          </p:val>
                                        </p:tav>
                                        <p:tav tm="100000">
                                          <p:val>
                                            <p:strVal val="#ppt_x"/>
                                          </p:val>
                                        </p:tav>
                                      </p:tavLst>
                                    </p:anim>
                                    <p:anim calcmode="lin" valueType="num">
                                      <p:cBhvr>
                                        <p:cTn id="30" dur="495" decel="100000" fill="hold"/>
                                        <p:tgtEl>
                                          <p:spTgt spid="24"/>
                                        </p:tgtEl>
                                        <p:attrNameLst>
                                          <p:attrName>ppt_y</p:attrName>
                                        </p:attrNameLst>
                                      </p:cBhvr>
                                      <p:tavLst>
                                        <p:tav tm="0">
                                          <p:val>
                                            <p:strVal val="#ppt_y+1"/>
                                          </p:val>
                                        </p:tav>
                                        <p:tav tm="100000">
                                          <p:val>
                                            <p:strVal val="#ppt_y-.03"/>
                                          </p:val>
                                        </p:tav>
                                      </p:tavLst>
                                    </p:anim>
                                    <p:anim calcmode="lin" valueType="num">
                                      <p:cBhvr>
                                        <p:cTn id="31" dur="55" accel="100000" fill="hold">
                                          <p:stCondLst>
                                            <p:cond delay="495"/>
                                          </p:stCondLst>
                                        </p:cTn>
                                        <p:tgtEl>
                                          <p:spTgt spid="24"/>
                                        </p:tgtEl>
                                        <p:attrNameLst>
                                          <p:attrName>ppt_y</p:attrName>
                                        </p:attrNameLst>
                                      </p:cBhvr>
                                      <p:tavLst>
                                        <p:tav tm="0">
                                          <p:val>
                                            <p:strVal val="#ppt_y-.03"/>
                                          </p:val>
                                        </p:tav>
                                        <p:tav tm="100000">
                                          <p:val>
                                            <p:strVal val="#ppt_y"/>
                                          </p:val>
                                        </p:tav>
                                      </p:tavLst>
                                    </p:anim>
                                  </p:childTnLst>
                                </p:cTn>
                              </p:par>
                              <p:par>
                                <p:cTn id="32" presetID="37" presetClass="entr" presetSubtype="0" fill="hold" nodeType="withEffect">
                                  <p:stCondLst>
                                    <p:cond delay="970"/>
                                  </p:stCondLst>
                                  <p:childTnLst>
                                    <p:set>
                                      <p:cBhvr>
                                        <p:cTn id="33" dur="1" fill="hold">
                                          <p:stCondLst>
                                            <p:cond delay="0"/>
                                          </p:stCondLst>
                                        </p:cTn>
                                        <p:tgtEl>
                                          <p:spTgt spid="31"/>
                                        </p:tgtEl>
                                        <p:attrNameLst>
                                          <p:attrName>style.visibility</p:attrName>
                                        </p:attrNameLst>
                                      </p:cBhvr>
                                      <p:to>
                                        <p:strVal val="visible"/>
                                      </p:to>
                                    </p:set>
                                    <p:animEffect transition="in" filter="fade">
                                      <p:cBhvr>
                                        <p:cTn id="34" dur="550"/>
                                        <p:tgtEl>
                                          <p:spTgt spid="31"/>
                                        </p:tgtEl>
                                      </p:cBhvr>
                                    </p:animEffect>
                                    <p:anim calcmode="lin" valueType="num">
                                      <p:cBhvr>
                                        <p:cTn id="35" dur="550" fill="hold"/>
                                        <p:tgtEl>
                                          <p:spTgt spid="31"/>
                                        </p:tgtEl>
                                        <p:attrNameLst>
                                          <p:attrName>ppt_x</p:attrName>
                                        </p:attrNameLst>
                                      </p:cBhvr>
                                      <p:tavLst>
                                        <p:tav tm="0">
                                          <p:val>
                                            <p:strVal val="#ppt_x"/>
                                          </p:val>
                                        </p:tav>
                                        <p:tav tm="100000">
                                          <p:val>
                                            <p:strVal val="#ppt_x"/>
                                          </p:val>
                                        </p:tav>
                                      </p:tavLst>
                                    </p:anim>
                                    <p:anim calcmode="lin" valueType="num">
                                      <p:cBhvr>
                                        <p:cTn id="36" dur="495" decel="100000" fill="hold"/>
                                        <p:tgtEl>
                                          <p:spTgt spid="31"/>
                                        </p:tgtEl>
                                        <p:attrNameLst>
                                          <p:attrName>ppt_y</p:attrName>
                                        </p:attrNameLst>
                                      </p:cBhvr>
                                      <p:tavLst>
                                        <p:tav tm="0">
                                          <p:val>
                                            <p:strVal val="#ppt_y+1"/>
                                          </p:val>
                                        </p:tav>
                                        <p:tav tm="100000">
                                          <p:val>
                                            <p:strVal val="#ppt_y-.03"/>
                                          </p:val>
                                        </p:tav>
                                      </p:tavLst>
                                    </p:anim>
                                    <p:anim calcmode="lin" valueType="num">
                                      <p:cBhvr>
                                        <p:cTn id="37" dur="55" accel="100000" fill="hold">
                                          <p:stCondLst>
                                            <p:cond delay="495"/>
                                          </p:stCondLst>
                                        </p:cTn>
                                        <p:tgtEl>
                                          <p:spTgt spid="31"/>
                                        </p:tgtEl>
                                        <p:attrNameLst>
                                          <p:attrName>ppt_y</p:attrName>
                                        </p:attrNameLst>
                                      </p:cBhvr>
                                      <p:tavLst>
                                        <p:tav tm="0">
                                          <p:val>
                                            <p:strVal val="#ppt_y-.03"/>
                                          </p:val>
                                        </p:tav>
                                        <p:tav tm="100000">
                                          <p:val>
                                            <p:strVal val="#ppt_y"/>
                                          </p:val>
                                        </p:tav>
                                      </p:tavLst>
                                    </p:anim>
                                  </p:childTnLst>
                                </p:cTn>
                              </p:par>
                              <p:par>
                                <p:cTn id="38" presetID="37" presetClass="entr" presetSubtype="0" fill="hold" nodeType="withEffect">
                                  <p:stCondLst>
                                    <p:cond delay="1110"/>
                                  </p:stCondLst>
                                  <p:childTnLst>
                                    <p:set>
                                      <p:cBhvr>
                                        <p:cTn id="39" dur="1" fill="hold">
                                          <p:stCondLst>
                                            <p:cond delay="0"/>
                                          </p:stCondLst>
                                        </p:cTn>
                                        <p:tgtEl>
                                          <p:spTgt spid="38"/>
                                        </p:tgtEl>
                                        <p:attrNameLst>
                                          <p:attrName>style.visibility</p:attrName>
                                        </p:attrNameLst>
                                      </p:cBhvr>
                                      <p:to>
                                        <p:strVal val="visible"/>
                                      </p:to>
                                    </p:set>
                                    <p:animEffect transition="in" filter="fade">
                                      <p:cBhvr>
                                        <p:cTn id="40" dur="550"/>
                                        <p:tgtEl>
                                          <p:spTgt spid="38"/>
                                        </p:tgtEl>
                                      </p:cBhvr>
                                    </p:animEffect>
                                    <p:anim calcmode="lin" valueType="num">
                                      <p:cBhvr>
                                        <p:cTn id="41" dur="550" fill="hold"/>
                                        <p:tgtEl>
                                          <p:spTgt spid="38"/>
                                        </p:tgtEl>
                                        <p:attrNameLst>
                                          <p:attrName>ppt_x</p:attrName>
                                        </p:attrNameLst>
                                      </p:cBhvr>
                                      <p:tavLst>
                                        <p:tav tm="0">
                                          <p:val>
                                            <p:strVal val="#ppt_x"/>
                                          </p:val>
                                        </p:tav>
                                        <p:tav tm="100000">
                                          <p:val>
                                            <p:strVal val="#ppt_x"/>
                                          </p:val>
                                        </p:tav>
                                      </p:tavLst>
                                    </p:anim>
                                    <p:anim calcmode="lin" valueType="num">
                                      <p:cBhvr>
                                        <p:cTn id="42" dur="495" decel="100000" fill="hold"/>
                                        <p:tgtEl>
                                          <p:spTgt spid="38"/>
                                        </p:tgtEl>
                                        <p:attrNameLst>
                                          <p:attrName>ppt_y</p:attrName>
                                        </p:attrNameLst>
                                      </p:cBhvr>
                                      <p:tavLst>
                                        <p:tav tm="0">
                                          <p:val>
                                            <p:strVal val="#ppt_y+1"/>
                                          </p:val>
                                        </p:tav>
                                        <p:tav tm="100000">
                                          <p:val>
                                            <p:strVal val="#ppt_y-.03"/>
                                          </p:val>
                                        </p:tav>
                                      </p:tavLst>
                                    </p:anim>
                                    <p:anim calcmode="lin" valueType="num">
                                      <p:cBhvr>
                                        <p:cTn id="43" dur="55" accel="100000" fill="hold">
                                          <p:stCondLst>
                                            <p:cond delay="495"/>
                                          </p:stCondLst>
                                        </p:cTn>
                                        <p:tgtEl>
                                          <p:spTgt spid="38"/>
                                        </p:tgtEl>
                                        <p:attrNameLst>
                                          <p:attrName>ppt_y</p:attrName>
                                        </p:attrNameLst>
                                      </p:cBhvr>
                                      <p:tavLst>
                                        <p:tav tm="0">
                                          <p:val>
                                            <p:strVal val="#ppt_y-.03"/>
                                          </p:val>
                                        </p:tav>
                                        <p:tav tm="100000">
                                          <p:val>
                                            <p:strVal val="#ppt_y"/>
                                          </p:val>
                                        </p:tav>
                                      </p:tavLst>
                                    </p:anim>
                                  </p:childTnLst>
                                </p:cTn>
                              </p:par>
                              <p:par>
                                <p:cTn id="44" presetID="37" presetClass="entr" presetSubtype="0" fill="hold" nodeType="withEffect">
                                  <p:stCondLst>
                                    <p:cond delay="1250"/>
                                  </p:stCondLst>
                                  <p:childTnLst>
                                    <p:set>
                                      <p:cBhvr>
                                        <p:cTn id="45" dur="1" fill="hold">
                                          <p:stCondLst>
                                            <p:cond delay="0"/>
                                          </p:stCondLst>
                                        </p:cTn>
                                        <p:tgtEl>
                                          <p:spTgt spid="45"/>
                                        </p:tgtEl>
                                        <p:attrNameLst>
                                          <p:attrName>style.visibility</p:attrName>
                                        </p:attrNameLst>
                                      </p:cBhvr>
                                      <p:to>
                                        <p:strVal val="visible"/>
                                      </p:to>
                                    </p:set>
                                    <p:animEffect transition="in" filter="fade">
                                      <p:cBhvr>
                                        <p:cTn id="46" dur="550"/>
                                        <p:tgtEl>
                                          <p:spTgt spid="45"/>
                                        </p:tgtEl>
                                      </p:cBhvr>
                                    </p:animEffect>
                                    <p:anim calcmode="lin" valueType="num">
                                      <p:cBhvr>
                                        <p:cTn id="47" dur="550" fill="hold"/>
                                        <p:tgtEl>
                                          <p:spTgt spid="45"/>
                                        </p:tgtEl>
                                        <p:attrNameLst>
                                          <p:attrName>ppt_x</p:attrName>
                                        </p:attrNameLst>
                                      </p:cBhvr>
                                      <p:tavLst>
                                        <p:tav tm="0">
                                          <p:val>
                                            <p:strVal val="#ppt_x"/>
                                          </p:val>
                                        </p:tav>
                                        <p:tav tm="100000">
                                          <p:val>
                                            <p:strVal val="#ppt_x"/>
                                          </p:val>
                                        </p:tav>
                                      </p:tavLst>
                                    </p:anim>
                                    <p:anim calcmode="lin" valueType="num">
                                      <p:cBhvr>
                                        <p:cTn id="48" dur="495" decel="100000" fill="hold"/>
                                        <p:tgtEl>
                                          <p:spTgt spid="45"/>
                                        </p:tgtEl>
                                        <p:attrNameLst>
                                          <p:attrName>ppt_y</p:attrName>
                                        </p:attrNameLst>
                                      </p:cBhvr>
                                      <p:tavLst>
                                        <p:tav tm="0">
                                          <p:val>
                                            <p:strVal val="#ppt_y+1"/>
                                          </p:val>
                                        </p:tav>
                                        <p:tav tm="100000">
                                          <p:val>
                                            <p:strVal val="#ppt_y-.03"/>
                                          </p:val>
                                        </p:tav>
                                      </p:tavLst>
                                    </p:anim>
                                    <p:anim calcmode="lin" valueType="num">
                                      <p:cBhvr>
                                        <p:cTn id="49" dur="55" accel="100000" fill="hold">
                                          <p:stCondLst>
                                            <p:cond delay="495"/>
                                          </p:stCondLst>
                                        </p:cTn>
                                        <p:tgtEl>
                                          <p:spTgt spid="45"/>
                                        </p:tgtEl>
                                        <p:attrNameLst>
                                          <p:attrName>ppt_y</p:attrName>
                                        </p:attrNameLst>
                                      </p:cBhvr>
                                      <p:tavLst>
                                        <p:tav tm="0">
                                          <p:val>
                                            <p:strVal val="#ppt_y-.03"/>
                                          </p:val>
                                        </p:tav>
                                        <p:tav tm="100000">
                                          <p:val>
                                            <p:strVal val="#ppt_y"/>
                                          </p:val>
                                        </p:tav>
                                      </p:tavLst>
                                    </p:anim>
                                  </p:childTnLst>
                                </p:cTn>
                              </p:par>
                              <p:par>
                                <p:cTn id="50" presetID="37" presetClass="entr" presetSubtype="0" fill="hold" nodeType="withEffect">
                                  <p:stCondLst>
                                    <p:cond delay="1390"/>
                                  </p:stCondLst>
                                  <p:childTnLst>
                                    <p:set>
                                      <p:cBhvr>
                                        <p:cTn id="51" dur="1" fill="hold">
                                          <p:stCondLst>
                                            <p:cond delay="0"/>
                                          </p:stCondLst>
                                        </p:cTn>
                                        <p:tgtEl>
                                          <p:spTgt spid="52"/>
                                        </p:tgtEl>
                                        <p:attrNameLst>
                                          <p:attrName>style.visibility</p:attrName>
                                        </p:attrNameLst>
                                      </p:cBhvr>
                                      <p:to>
                                        <p:strVal val="visible"/>
                                      </p:to>
                                    </p:set>
                                    <p:animEffect transition="in" filter="fade">
                                      <p:cBhvr>
                                        <p:cTn id="52" dur="550"/>
                                        <p:tgtEl>
                                          <p:spTgt spid="52"/>
                                        </p:tgtEl>
                                      </p:cBhvr>
                                    </p:animEffect>
                                    <p:anim calcmode="lin" valueType="num">
                                      <p:cBhvr>
                                        <p:cTn id="53" dur="550" fill="hold"/>
                                        <p:tgtEl>
                                          <p:spTgt spid="52"/>
                                        </p:tgtEl>
                                        <p:attrNameLst>
                                          <p:attrName>ppt_x</p:attrName>
                                        </p:attrNameLst>
                                      </p:cBhvr>
                                      <p:tavLst>
                                        <p:tav tm="0">
                                          <p:val>
                                            <p:strVal val="#ppt_x"/>
                                          </p:val>
                                        </p:tav>
                                        <p:tav tm="100000">
                                          <p:val>
                                            <p:strVal val="#ppt_x"/>
                                          </p:val>
                                        </p:tav>
                                      </p:tavLst>
                                    </p:anim>
                                    <p:anim calcmode="lin" valueType="num">
                                      <p:cBhvr>
                                        <p:cTn id="54" dur="495" decel="100000" fill="hold"/>
                                        <p:tgtEl>
                                          <p:spTgt spid="52"/>
                                        </p:tgtEl>
                                        <p:attrNameLst>
                                          <p:attrName>ppt_y</p:attrName>
                                        </p:attrNameLst>
                                      </p:cBhvr>
                                      <p:tavLst>
                                        <p:tav tm="0">
                                          <p:val>
                                            <p:strVal val="#ppt_y+1"/>
                                          </p:val>
                                        </p:tav>
                                        <p:tav tm="100000">
                                          <p:val>
                                            <p:strVal val="#ppt_y-.03"/>
                                          </p:val>
                                        </p:tav>
                                      </p:tavLst>
                                    </p:anim>
                                    <p:anim calcmode="lin" valueType="num">
                                      <p:cBhvr>
                                        <p:cTn id="55" dur="55" accel="100000" fill="hold">
                                          <p:stCondLst>
                                            <p:cond delay="495"/>
                                          </p:stCondLst>
                                        </p:cTn>
                                        <p:tgtEl>
                                          <p:spTgt spid="52"/>
                                        </p:tgtEl>
                                        <p:attrNameLst>
                                          <p:attrName>ppt_y</p:attrName>
                                        </p:attrNameLst>
                                      </p:cBhvr>
                                      <p:tavLst>
                                        <p:tav tm="0">
                                          <p:val>
                                            <p:strVal val="#ppt_y-.03"/>
                                          </p:val>
                                        </p:tav>
                                        <p:tav tm="100000">
                                          <p:val>
                                            <p:strVal val="#ppt_y"/>
                                          </p:val>
                                        </p:tav>
                                      </p:tavLst>
                                    </p:anim>
                                  </p:childTnLst>
                                </p:cTn>
                              </p:par>
                              <p:par>
                                <p:cTn id="56" presetID="37" presetClass="entr" presetSubtype="0" fill="hold" nodeType="withEffect">
                                  <p:stCondLst>
                                    <p:cond delay="1530"/>
                                  </p:stCondLst>
                                  <p:childTnLst>
                                    <p:set>
                                      <p:cBhvr>
                                        <p:cTn id="57" dur="1" fill="hold">
                                          <p:stCondLst>
                                            <p:cond delay="0"/>
                                          </p:stCondLst>
                                        </p:cTn>
                                        <p:tgtEl>
                                          <p:spTgt spid="58"/>
                                        </p:tgtEl>
                                        <p:attrNameLst>
                                          <p:attrName>style.visibility</p:attrName>
                                        </p:attrNameLst>
                                      </p:cBhvr>
                                      <p:to>
                                        <p:strVal val="visible"/>
                                      </p:to>
                                    </p:set>
                                    <p:animEffect transition="in" filter="fade">
                                      <p:cBhvr>
                                        <p:cTn id="58" dur="550"/>
                                        <p:tgtEl>
                                          <p:spTgt spid="58"/>
                                        </p:tgtEl>
                                      </p:cBhvr>
                                    </p:animEffect>
                                    <p:anim calcmode="lin" valueType="num">
                                      <p:cBhvr>
                                        <p:cTn id="59" dur="550" fill="hold"/>
                                        <p:tgtEl>
                                          <p:spTgt spid="58"/>
                                        </p:tgtEl>
                                        <p:attrNameLst>
                                          <p:attrName>ppt_x</p:attrName>
                                        </p:attrNameLst>
                                      </p:cBhvr>
                                      <p:tavLst>
                                        <p:tav tm="0">
                                          <p:val>
                                            <p:strVal val="#ppt_x"/>
                                          </p:val>
                                        </p:tav>
                                        <p:tav tm="100000">
                                          <p:val>
                                            <p:strVal val="#ppt_x"/>
                                          </p:val>
                                        </p:tav>
                                      </p:tavLst>
                                    </p:anim>
                                    <p:anim calcmode="lin" valueType="num">
                                      <p:cBhvr>
                                        <p:cTn id="60" dur="495" decel="100000" fill="hold"/>
                                        <p:tgtEl>
                                          <p:spTgt spid="58"/>
                                        </p:tgtEl>
                                        <p:attrNameLst>
                                          <p:attrName>ppt_y</p:attrName>
                                        </p:attrNameLst>
                                      </p:cBhvr>
                                      <p:tavLst>
                                        <p:tav tm="0">
                                          <p:val>
                                            <p:strVal val="#ppt_y+1"/>
                                          </p:val>
                                        </p:tav>
                                        <p:tav tm="100000">
                                          <p:val>
                                            <p:strVal val="#ppt_y-.03"/>
                                          </p:val>
                                        </p:tav>
                                      </p:tavLst>
                                    </p:anim>
                                    <p:anim calcmode="lin" valueType="num">
                                      <p:cBhvr>
                                        <p:cTn id="61" dur="55" accel="100000" fill="hold">
                                          <p:stCondLst>
                                            <p:cond delay="495"/>
                                          </p:stCondLst>
                                        </p:cTn>
                                        <p:tgtEl>
                                          <p:spTgt spid="58"/>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4284B"/>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57150"/>
          </a:xfrm>
          <a:prstGeom prst="rect">
            <a:avLst/>
          </a:prstGeom>
          <a:solidFill>
            <a:srgbClr val="59BEC9"/>
          </a:solidFill>
          <a:ln>
            <a:noFill/>
          </a:ln>
        </p:spPr>
        <p:txBody>
          <a:bodyPr rtlCol="0" anchor="ctr"/>
          <a:lstStyle/>
          <a:p>
            <a:pPr algn="ctr"/>
            <a:endParaRPr/>
          </a:p>
        </p:txBody>
      </p:sp>
      <p:pic>
        <p:nvPicPr>
          <p:cNvPr id="3" name="anim|fade|0.1" descr="s15_Picture_15.png"/>
          <p:cNvPicPr>
            <a:picLocks noChangeAspect="1"/>
          </p:cNvPicPr>
          <p:nvPr/>
        </p:nvPicPr>
        <p:blipFill>
          <a:blip r:embed="rId2"/>
          <a:stretch>
            <a:fillRect/>
          </a:stretch>
        </p:blipFill>
        <p:spPr>
          <a:xfrm>
            <a:off x="571500" y="381000"/>
            <a:ext cx="2571750" cy="466725"/>
          </a:xfrm>
          <a:prstGeom prst="rect">
            <a:avLst/>
          </a:prstGeom>
        </p:spPr>
      </p:pic>
      <p:pic>
        <p:nvPicPr>
          <p:cNvPr id="4" name="Picture 3" descr="s15_Picture_13.png"/>
          <p:cNvPicPr>
            <a:picLocks noChangeAspect="1"/>
          </p:cNvPicPr>
          <p:nvPr/>
        </p:nvPicPr>
        <p:blipFill>
          <a:blip r:embed="rId3"/>
          <a:stretch>
            <a:fillRect/>
          </a:stretch>
        </p:blipFill>
        <p:spPr>
          <a:xfrm>
            <a:off x="0" y="6210300"/>
            <a:ext cx="12192000" cy="647700"/>
          </a:xfrm>
          <a:prstGeom prst="rect">
            <a:avLst/>
          </a:prstGeom>
        </p:spPr>
      </p:pic>
      <p:grpSp>
        <p:nvGrpSpPr>
          <p:cNvPr id="5" name="anim|zoom|0.2"/>
          <p:cNvGrpSpPr/>
          <p:nvPr/>
        </p:nvGrpSpPr>
        <p:grpSpPr>
          <a:xfrm>
            <a:off x="6286500" y="381000"/>
            <a:ext cx="5715000" cy="5715000"/>
            <a:chOff x="6286500" y="381000"/>
            <a:chExt cx="5715000" cy="5715000"/>
          </a:xfrm>
        </p:grpSpPr>
        <p:sp>
          <p:nvSpPr>
            <p:cNvPr id="6" name="Oval 5"/>
            <p:cNvSpPr/>
            <p:nvPr/>
          </p:nvSpPr>
          <p:spPr>
            <a:xfrm>
              <a:off x="6286500" y="381000"/>
              <a:ext cx="5715000" cy="5715000"/>
            </a:xfrm>
            <a:prstGeom prst="ellipse">
              <a:avLst/>
            </a:prstGeom>
            <a:noFill/>
            <a:ln w="19050">
              <a:solidFill>
                <a:srgbClr val="2E5286"/>
              </a:solidFill>
            </a:ln>
          </p:spPr>
          <p:txBody>
            <a:bodyPr rtlCol="0" anchor="ctr"/>
            <a:lstStyle/>
            <a:p>
              <a:pPr algn="ctr"/>
              <a:endParaRPr/>
            </a:p>
          </p:txBody>
        </p:sp>
        <p:sp>
          <p:nvSpPr>
            <p:cNvPr id="7" name="Oval 6"/>
            <p:cNvSpPr/>
            <p:nvPr/>
          </p:nvSpPr>
          <p:spPr>
            <a:xfrm>
              <a:off x="7105650" y="1200150"/>
              <a:ext cx="4076700" cy="4076700"/>
            </a:xfrm>
            <a:prstGeom prst="ellipse">
              <a:avLst/>
            </a:prstGeom>
            <a:noFill/>
            <a:ln w="19050">
              <a:solidFill>
                <a:srgbClr val="2E5286"/>
              </a:solidFill>
            </a:ln>
          </p:spPr>
          <p:txBody>
            <a:bodyPr rtlCol="0" anchor="ctr"/>
            <a:lstStyle/>
            <a:p>
              <a:pPr algn="ctr"/>
              <a:endParaRPr/>
            </a:p>
          </p:txBody>
        </p:sp>
        <p:sp>
          <p:nvSpPr>
            <p:cNvPr id="8" name="Oval 7"/>
            <p:cNvSpPr/>
            <p:nvPr/>
          </p:nvSpPr>
          <p:spPr>
            <a:xfrm>
              <a:off x="7924800" y="2019300"/>
              <a:ext cx="2438400" cy="2438400"/>
            </a:xfrm>
            <a:prstGeom prst="ellipse">
              <a:avLst/>
            </a:prstGeom>
            <a:noFill/>
            <a:ln w="19050">
              <a:solidFill>
                <a:srgbClr val="59BEC9"/>
              </a:solidFill>
            </a:ln>
          </p:spPr>
          <p:txBody>
            <a:bodyPr rtlCol="0" anchor="ctr"/>
            <a:lstStyle/>
            <a:p>
              <a:pPr algn="ctr"/>
              <a:endParaRPr/>
            </a:p>
          </p:txBody>
        </p:sp>
      </p:grpSp>
      <p:grpSp>
        <p:nvGrpSpPr>
          <p:cNvPr id="9" name="anim|zoom|0.5"/>
          <p:cNvGrpSpPr/>
          <p:nvPr/>
        </p:nvGrpSpPr>
        <p:grpSpPr>
          <a:xfrm>
            <a:off x="8267700" y="2362200"/>
            <a:ext cx="1752600" cy="1752600"/>
            <a:chOff x="8267700" y="2362200"/>
            <a:chExt cx="1752600" cy="1752600"/>
          </a:xfrm>
        </p:grpSpPr>
        <p:sp>
          <p:nvSpPr>
            <p:cNvPr id="10" name="Oval 9"/>
            <p:cNvSpPr/>
            <p:nvPr/>
          </p:nvSpPr>
          <p:spPr>
            <a:xfrm>
              <a:off x="8267700" y="2362200"/>
              <a:ext cx="1752600" cy="1752600"/>
            </a:xfrm>
            <a:prstGeom prst="ellipse">
              <a:avLst/>
            </a:prstGeom>
            <a:solidFill>
              <a:srgbClr val="1E3A68"/>
            </a:solidFill>
            <a:ln w="38100">
              <a:solidFill>
                <a:srgbClr val="FFB938"/>
              </a:solidFill>
            </a:ln>
          </p:spPr>
          <p:txBody>
            <a:bodyPr rtlCol="0" anchor="ctr"/>
            <a:lstStyle/>
            <a:p>
              <a:pPr algn="ctr"/>
              <a:endParaRPr/>
            </a:p>
          </p:txBody>
        </p:sp>
        <p:pic>
          <p:nvPicPr>
            <p:cNvPr id="11" name="Picture 10" descr="restore_amber.png"/>
            <p:cNvPicPr>
              <a:picLocks noChangeAspect="1"/>
            </p:cNvPicPr>
            <p:nvPr/>
          </p:nvPicPr>
          <p:blipFill>
            <a:blip r:embed="rId4"/>
            <a:stretch>
              <a:fillRect/>
            </a:stretch>
          </p:blipFill>
          <p:spPr>
            <a:xfrm>
              <a:off x="8553450" y="2647950"/>
              <a:ext cx="1181100" cy="1181100"/>
            </a:xfrm>
            <a:prstGeom prst="rect">
              <a:avLst/>
            </a:prstGeom>
          </p:spPr>
        </p:pic>
      </p:grpSp>
      <p:grpSp>
        <p:nvGrpSpPr>
          <p:cNvPr id="12" name="anim|fade|0.15"/>
          <p:cNvGrpSpPr/>
          <p:nvPr/>
        </p:nvGrpSpPr>
        <p:grpSpPr>
          <a:xfrm>
            <a:off x="571500" y="1962150"/>
            <a:ext cx="5200650" cy="190500"/>
            <a:chOff x="571500" y="1962150"/>
            <a:chExt cx="5200650" cy="190500"/>
          </a:xfrm>
        </p:grpSpPr>
        <p:sp>
          <p:nvSpPr>
            <p:cNvPr id="13" name="Rectangle 12"/>
            <p:cNvSpPr/>
            <p:nvPr/>
          </p:nvSpPr>
          <p:spPr>
            <a:xfrm>
              <a:off x="571500" y="2038350"/>
              <a:ext cx="342900" cy="47625"/>
            </a:xfrm>
            <a:prstGeom prst="rect">
              <a:avLst/>
            </a:prstGeom>
            <a:solidFill>
              <a:srgbClr val="FFB938"/>
            </a:solidFill>
            <a:ln>
              <a:noFill/>
            </a:ln>
          </p:spPr>
          <p:txBody>
            <a:bodyPr rtlCol="0" anchor="ctr"/>
            <a:lstStyle/>
            <a:p>
              <a:pPr algn="ctr"/>
              <a:endParaRPr/>
            </a:p>
          </p:txBody>
        </p:sp>
        <p:sp>
          <p:nvSpPr>
            <p:cNvPr id="14" name="TextBox 13"/>
            <p:cNvSpPr txBox="1"/>
            <p:nvPr/>
          </p:nvSpPr>
          <p:spPr>
            <a:xfrm>
              <a:off x="1009650" y="1962150"/>
              <a:ext cx="4762500" cy="190500"/>
            </a:xfrm>
            <a:prstGeom prst="rect">
              <a:avLst/>
            </a:prstGeom>
            <a:noFill/>
          </p:spPr>
          <p:txBody>
            <a:bodyPr wrap="square" lIns="0" tIns="0" rIns="0" bIns="0" anchor="t">
              <a:spAutoFit/>
            </a:bodyPr>
            <a:lstStyle/>
            <a:p>
              <a:pPr algn="l"/>
              <a:r>
                <a:rPr sz="1100" b="1" spc="300">
                  <a:solidFill>
                    <a:srgbClr val="59BEC9"/>
                  </a:solidFill>
                  <a:latin typeface="Century Gothic"/>
                </a:rPr>
                <a:t>PART TWO</a:t>
              </a:r>
            </a:p>
          </p:txBody>
        </p:sp>
      </p:grpSp>
      <p:sp>
        <p:nvSpPr>
          <p:cNvPr id="15" name="anim|wipeL|0.3"/>
          <p:cNvSpPr txBox="1"/>
          <p:nvPr/>
        </p:nvSpPr>
        <p:spPr>
          <a:xfrm>
            <a:off x="571500" y="2381250"/>
            <a:ext cx="6667500" cy="1428750"/>
          </a:xfrm>
          <a:prstGeom prst="rect">
            <a:avLst/>
          </a:prstGeom>
          <a:noFill/>
        </p:spPr>
        <p:txBody>
          <a:bodyPr wrap="square" lIns="0" tIns="0" rIns="0" bIns="0" anchor="t">
            <a:spAutoFit/>
          </a:bodyPr>
          <a:lstStyle/>
          <a:p>
            <a:pPr algn="l"/>
            <a:r>
              <a:rPr sz="5400" b="1">
                <a:solidFill>
                  <a:srgbClr val="FFFFFF"/>
                </a:solidFill>
                <a:latin typeface="Century Gothic"/>
              </a:rPr>
              <a:t>Restoring</a:t>
            </a:r>
          </a:p>
          <a:p>
            <a:pPr algn="l"/>
            <a:r>
              <a:rPr sz="5400" b="1">
                <a:solidFill>
                  <a:srgbClr val="FFFFFF"/>
                </a:solidFill>
                <a:latin typeface="Century Gothic"/>
              </a:rPr>
              <a:t>a cluster</a:t>
            </a:r>
          </a:p>
        </p:txBody>
      </p:sp>
      <p:sp>
        <p:nvSpPr>
          <p:cNvPr id="16" name="anim|fade|0.9"/>
          <p:cNvSpPr txBox="1"/>
          <p:nvPr/>
        </p:nvSpPr>
        <p:spPr>
          <a:xfrm>
            <a:off x="571500" y="4191000"/>
            <a:ext cx="6096000" cy="381000"/>
          </a:xfrm>
          <a:prstGeom prst="rect">
            <a:avLst/>
          </a:prstGeom>
          <a:noFill/>
        </p:spPr>
        <p:txBody>
          <a:bodyPr wrap="square" lIns="0" tIns="0" rIns="0" bIns="0" anchor="t">
            <a:spAutoFit/>
          </a:bodyPr>
          <a:lstStyle/>
          <a:p>
            <a:pPr algn="l"/>
            <a:r>
              <a:rPr sz="2200" b="0">
                <a:solidFill>
                  <a:srgbClr val="59BEC9"/>
                </a:solidFill>
                <a:latin typeface="Segoe UI"/>
              </a:rPr>
              <a:t>Azure Portal, step by step</a:t>
            </a:r>
          </a:p>
        </p:txBody>
      </p:sp>
    </p:spTree>
  </p:cSld>
  <p:clrMapOvr>
    <a:masterClrMapping/>
  </p:clrMapOvr>
  <mc:AlternateContent xmlns:mc="http://schemas.openxmlformats.org/markup-compatibility/2006">
    <mc:Choice xmlns:p14="http://schemas.microsoft.com/office/powerpoint/2010/main" Requires="p14">
      <p:transition spd="slow" p14:dur="800">
        <p:fad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10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50"/>
                                        <p:tgtEl>
                                          <p:spTgt spid="3"/>
                                        </p:tgtEl>
                                      </p:cBhvr>
                                    </p:animEffect>
                                  </p:childTnLst>
                                </p:cTn>
                              </p:par>
                              <p:par>
                                <p:cTn id="8" presetID="10" presetClass="entr" presetSubtype="0" fill="hold" nodeType="withEffect">
                                  <p:stCondLst>
                                    <p:cond delay="15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50"/>
                                        <p:tgtEl>
                                          <p:spTgt spid="12"/>
                                        </p:tgtEl>
                                      </p:cBhvr>
                                    </p:animEffect>
                                  </p:childTnLst>
                                </p:cTn>
                              </p:par>
                              <p:par>
                                <p:cTn id="11" presetID="23" presetClass="entr" presetSubtype="16" fill="hold" nodeType="withEffect">
                                  <p:stCondLst>
                                    <p:cond delay="200"/>
                                  </p:stCondLst>
                                  <p:childTnLst>
                                    <p:set>
                                      <p:cBhvr>
                                        <p:cTn id="12" dur="1" fill="hold">
                                          <p:stCondLst>
                                            <p:cond delay="0"/>
                                          </p:stCondLst>
                                        </p:cTn>
                                        <p:tgtEl>
                                          <p:spTgt spid="5"/>
                                        </p:tgtEl>
                                        <p:attrNameLst>
                                          <p:attrName>style.visibility</p:attrName>
                                        </p:attrNameLst>
                                      </p:cBhvr>
                                      <p:to>
                                        <p:strVal val="visible"/>
                                      </p:to>
                                    </p:set>
                                    <p:anim calcmode="lin" valueType="num">
                                      <p:cBhvr>
                                        <p:cTn id="13" dur="550" fill="hold"/>
                                        <p:tgtEl>
                                          <p:spTgt spid="5"/>
                                        </p:tgtEl>
                                        <p:attrNameLst>
                                          <p:attrName>ppt_w</p:attrName>
                                        </p:attrNameLst>
                                      </p:cBhvr>
                                      <p:tavLst>
                                        <p:tav tm="0">
                                          <p:val>
                                            <p:fltVal val="0"/>
                                          </p:val>
                                        </p:tav>
                                        <p:tav tm="100000">
                                          <p:val>
                                            <p:strVal val="#ppt_w"/>
                                          </p:val>
                                        </p:tav>
                                      </p:tavLst>
                                    </p:anim>
                                    <p:anim calcmode="lin" valueType="num">
                                      <p:cBhvr>
                                        <p:cTn id="14" dur="550" fill="hold"/>
                                        <p:tgtEl>
                                          <p:spTgt spid="5"/>
                                        </p:tgtEl>
                                        <p:attrNameLst>
                                          <p:attrName>ppt_h</p:attrName>
                                        </p:attrNameLst>
                                      </p:cBhvr>
                                      <p:tavLst>
                                        <p:tav tm="0">
                                          <p:val>
                                            <p:fltVal val="0"/>
                                          </p:val>
                                        </p:tav>
                                        <p:tav tm="100000">
                                          <p:val>
                                            <p:strVal val="#ppt_h"/>
                                          </p:val>
                                        </p:tav>
                                      </p:tavLst>
                                    </p:anim>
                                  </p:childTnLst>
                                </p:cTn>
                              </p:par>
                              <p:par>
                                <p:cTn id="15" presetID="22" presetClass="entr" presetSubtype="8" fill="hold" grpId="0" nodeType="withEffect">
                                  <p:stCondLst>
                                    <p:cond delay="300"/>
                                  </p:stCondLst>
                                  <p:childTnLst>
                                    <p:set>
                                      <p:cBhvr>
                                        <p:cTn id="16" dur="1" fill="hold">
                                          <p:stCondLst>
                                            <p:cond delay="0"/>
                                          </p:stCondLst>
                                        </p:cTn>
                                        <p:tgtEl>
                                          <p:spTgt spid="15"/>
                                        </p:tgtEl>
                                        <p:attrNameLst>
                                          <p:attrName>style.visibility</p:attrName>
                                        </p:attrNameLst>
                                      </p:cBhvr>
                                      <p:to>
                                        <p:strVal val="visible"/>
                                      </p:to>
                                    </p:set>
                                    <p:animEffect transition="in" filter="wipe(left)">
                                      <p:cBhvr>
                                        <p:cTn id="17" dur="700"/>
                                        <p:tgtEl>
                                          <p:spTgt spid="15"/>
                                        </p:tgtEl>
                                      </p:cBhvr>
                                    </p:animEffect>
                                  </p:childTnLst>
                                </p:cTn>
                              </p:par>
                              <p:par>
                                <p:cTn id="18" presetID="23" presetClass="entr" presetSubtype="16" fill="hold" nodeType="withEffect">
                                  <p:stCondLst>
                                    <p:cond delay="500"/>
                                  </p:stCondLst>
                                  <p:childTnLst>
                                    <p:set>
                                      <p:cBhvr>
                                        <p:cTn id="19" dur="1" fill="hold">
                                          <p:stCondLst>
                                            <p:cond delay="0"/>
                                          </p:stCondLst>
                                        </p:cTn>
                                        <p:tgtEl>
                                          <p:spTgt spid="9"/>
                                        </p:tgtEl>
                                        <p:attrNameLst>
                                          <p:attrName>style.visibility</p:attrName>
                                        </p:attrNameLst>
                                      </p:cBhvr>
                                      <p:to>
                                        <p:strVal val="visible"/>
                                      </p:to>
                                    </p:set>
                                    <p:anim calcmode="lin" valueType="num">
                                      <p:cBhvr>
                                        <p:cTn id="20" dur="550" fill="hold"/>
                                        <p:tgtEl>
                                          <p:spTgt spid="9"/>
                                        </p:tgtEl>
                                        <p:attrNameLst>
                                          <p:attrName>ppt_w</p:attrName>
                                        </p:attrNameLst>
                                      </p:cBhvr>
                                      <p:tavLst>
                                        <p:tav tm="0">
                                          <p:val>
                                            <p:fltVal val="0"/>
                                          </p:val>
                                        </p:tav>
                                        <p:tav tm="100000">
                                          <p:val>
                                            <p:strVal val="#ppt_w"/>
                                          </p:val>
                                        </p:tav>
                                      </p:tavLst>
                                    </p:anim>
                                    <p:anim calcmode="lin" valueType="num">
                                      <p:cBhvr>
                                        <p:cTn id="21" dur="550" fill="hold"/>
                                        <p:tgtEl>
                                          <p:spTgt spid="9"/>
                                        </p:tgtEl>
                                        <p:attrNameLst>
                                          <p:attrName>ppt_h</p:attrName>
                                        </p:attrNameLst>
                                      </p:cBhvr>
                                      <p:tavLst>
                                        <p:tav tm="0">
                                          <p:val>
                                            <p:fltVal val="0"/>
                                          </p:val>
                                        </p:tav>
                                        <p:tav tm="100000">
                                          <p:val>
                                            <p:strVal val="#ppt_h"/>
                                          </p:val>
                                        </p:tav>
                                      </p:tavLst>
                                    </p:anim>
                                  </p:childTnLst>
                                </p:cTn>
                              </p:par>
                              <p:par>
                                <p:cTn id="22" presetID="10" presetClass="entr" presetSubtype="0" fill="hold" grpId="0" nodeType="withEffect">
                                  <p:stCondLst>
                                    <p:cond delay="90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5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14284B"/>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57150"/>
          </a:xfrm>
          <a:prstGeom prst="rect">
            <a:avLst/>
          </a:prstGeom>
          <a:solidFill>
            <a:srgbClr val="59BEC9"/>
          </a:solidFill>
          <a:ln>
            <a:noFill/>
          </a:ln>
        </p:spPr>
        <p:txBody>
          <a:bodyPr rtlCol="0" anchor="ctr"/>
          <a:lstStyle/>
          <a:p>
            <a:pPr algn="ctr"/>
            <a:endParaRPr/>
          </a:p>
        </p:txBody>
      </p:sp>
      <p:grpSp>
        <p:nvGrpSpPr>
          <p:cNvPr id="3" name="anim|fade|0.05"/>
          <p:cNvGrpSpPr/>
          <p:nvPr/>
        </p:nvGrpSpPr>
        <p:grpSpPr>
          <a:xfrm>
            <a:off x="571500" y="266700"/>
            <a:ext cx="7105650" cy="190500"/>
            <a:chOff x="571500" y="266700"/>
            <a:chExt cx="7105650" cy="190500"/>
          </a:xfrm>
        </p:grpSpPr>
        <p:sp>
          <p:nvSpPr>
            <p:cNvPr id="4" name="Rectangle 3"/>
            <p:cNvSpPr/>
            <p:nvPr/>
          </p:nvSpPr>
          <p:spPr>
            <a:xfrm>
              <a:off x="571500" y="342900"/>
              <a:ext cx="342900" cy="47625"/>
            </a:xfrm>
            <a:prstGeom prst="rect">
              <a:avLst/>
            </a:prstGeom>
            <a:solidFill>
              <a:srgbClr val="FFB938"/>
            </a:solidFill>
            <a:ln>
              <a:noFill/>
            </a:ln>
          </p:spPr>
          <p:txBody>
            <a:bodyPr rtlCol="0" anchor="ctr"/>
            <a:lstStyle/>
            <a:p>
              <a:pPr algn="ctr"/>
              <a:endParaRPr/>
            </a:p>
          </p:txBody>
        </p:sp>
        <p:sp>
          <p:nvSpPr>
            <p:cNvPr id="5" name="TextBox 4"/>
            <p:cNvSpPr txBox="1"/>
            <p:nvPr/>
          </p:nvSpPr>
          <p:spPr>
            <a:xfrm>
              <a:off x="1009650" y="266700"/>
              <a:ext cx="6667500" cy="190500"/>
            </a:xfrm>
            <a:prstGeom prst="rect">
              <a:avLst/>
            </a:prstGeom>
            <a:noFill/>
          </p:spPr>
          <p:txBody>
            <a:bodyPr wrap="square" lIns="0" tIns="0" rIns="0" bIns="0" anchor="t">
              <a:spAutoFit/>
            </a:bodyPr>
            <a:lstStyle/>
            <a:p>
              <a:pPr algn="l"/>
              <a:r>
                <a:rPr sz="1100" b="1" spc="300">
                  <a:solidFill>
                    <a:srgbClr val="59BEC9"/>
                  </a:solidFill>
                  <a:latin typeface="Century Gothic"/>
                </a:rPr>
                <a:t>RESTORING</a:t>
              </a:r>
            </a:p>
          </p:txBody>
        </p:sp>
      </p:grpSp>
      <p:sp>
        <p:nvSpPr>
          <p:cNvPr id="6" name="anim|wipeL|0.1"/>
          <p:cNvSpPr txBox="1"/>
          <p:nvPr/>
        </p:nvSpPr>
        <p:spPr>
          <a:xfrm>
            <a:off x="571500" y="533400"/>
            <a:ext cx="11049000" cy="533400"/>
          </a:xfrm>
          <a:prstGeom prst="rect">
            <a:avLst/>
          </a:prstGeom>
          <a:noFill/>
        </p:spPr>
        <p:txBody>
          <a:bodyPr wrap="square" lIns="0" tIns="0" rIns="0" bIns="0" anchor="t">
            <a:spAutoFit/>
          </a:bodyPr>
          <a:lstStyle/>
          <a:p>
            <a:pPr algn="l"/>
            <a:r>
              <a:rPr sz="3100" b="1">
                <a:solidFill>
                  <a:srgbClr val="FFFFFF"/>
                </a:solidFill>
                <a:latin typeface="Century Gothic"/>
              </a:rPr>
              <a:t>The restore in six moves</a:t>
            </a:r>
          </a:p>
        </p:txBody>
      </p:sp>
      <p:sp>
        <p:nvSpPr>
          <p:cNvPr id="7" name="anim|fade|0.45"/>
          <p:cNvSpPr txBox="1"/>
          <p:nvPr/>
        </p:nvSpPr>
        <p:spPr>
          <a:xfrm>
            <a:off x="571500" y="1028700"/>
            <a:ext cx="11049000" cy="247650"/>
          </a:xfrm>
          <a:prstGeom prst="rect">
            <a:avLst/>
          </a:prstGeom>
          <a:noFill/>
        </p:spPr>
        <p:txBody>
          <a:bodyPr wrap="square" lIns="0" tIns="0" rIns="0" bIns="0" anchor="t">
            <a:spAutoFit/>
          </a:bodyPr>
          <a:lstStyle/>
          <a:p>
            <a:pPr algn="l"/>
            <a:r>
              <a:rPr sz="1500" b="0">
                <a:solidFill>
                  <a:srgbClr val="B0C0D9"/>
                </a:solidFill>
                <a:latin typeface="Segoe UI"/>
              </a:rPr>
              <a:t>Everything happens from the Backup vault of the environment</a:t>
            </a:r>
          </a:p>
        </p:txBody>
      </p:sp>
      <p:sp>
        <p:nvSpPr>
          <p:cNvPr id="8" name="TextBox 7"/>
          <p:cNvSpPr txBox="1"/>
          <p:nvPr/>
        </p:nvSpPr>
        <p:spPr>
          <a:xfrm>
            <a:off x="571500" y="6534150"/>
            <a:ext cx="6667500" cy="171450"/>
          </a:xfrm>
          <a:prstGeom prst="rect">
            <a:avLst/>
          </a:prstGeom>
          <a:noFill/>
        </p:spPr>
        <p:txBody>
          <a:bodyPr wrap="square" lIns="0" tIns="0" rIns="0" bIns="0" anchor="t">
            <a:spAutoFit/>
          </a:bodyPr>
          <a:lstStyle/>
          <a:p>
            <a:pPr algn="l"/>
            <a:r>
              <a:rPr sz="950" b="0">
                <a:solidFill>
                  <a:srgbClr val="B0C0D9"/>
                </a:solidFill>
                <a:latin typeface="Segoe UI"/>
              </a:rPr>
              <a:t>AKS Backup &amp; Restore  |  BFH AKS IHUB Platform Team</a:t>
            </a:r>
          </a:p>
        </p:txBody>
      </p:sp>
      <p:sp>
        <p:nvSpPr>
          <p:cNvPr id="9" name="TextBox 8"/>
          <p:cNvSpPr txBox="1"/>
          <p:nvPr/>
        </p:nvSpPr>
        <p:spPr>
          <a:xfrm>
            <a:off x="10668000" y="6534150"/>
            <a:ext cx="952500" cy="171450"/>
          </a:xfrm>
          <a:prstGeom prst="rect">
            <a:avLst/>
          </a:prstGeom>
          <a:noFill/>
        </p:spPr>
        <p:txBody>
          <a:bodyPr wrap="square" lIns="0" tIns="0" rIns="0" bIns="0" anchor="t">
            <a:spAutoFit/>
          </a:bodyPr>
          <a:lstStyle/>
          <a:p>
            <a:pPr algn="r"/>
            <a:r>
              <a:rPr sz="1000" b="1">
                <a:solidFill>
                  <a:srgbClr val="FFB938"/>
                </a:solidFill>
                <a:latin typeface="Century Gothic"/>
              </a:rPr>
              <a:t>16</a:t>
            </a:r>
          </a:p>
        </p:txBody>
      </p:sp>
      <p:grpSp>
        <p:nvGrpSpPr>
          <p:cNvPr id="10" name="anim|wipeL|0.5"/>
          <p:cNvGrpSpPr/>
          <p:nvPr/>
        </p:nvGrpSpPr>
        <p:grpSpPr>
          <a:xfrm>
            <a:off x="952500" y="2486025"/>
            <a:ext cx="10287000" cy="28575"/>
            <a:chOff x="952500" y="2486025"/>
            <a:chExt cx="10287000" cy="28575"/>
          </a:xfrm>
        </p:grpSpPr>
        <p:sp>
          <p:nvSpPr>
            <p:cNvPr id="11" name="Rectangle 10"/>
            <p:cNvSpPr/>
            <p:nvPr/>
          </p:nvSpPr>
          <p:spPr>
            <a:xfrm>
              <a:off x="952500" y="2486025"/>
              <a:ext cx="10287000" cy="28575"/>
            </a:xfrm>
            <a:prstGeom prst="rect">
              <a:avLst/>
            </a:prstGeom>
            <a:solidFill>
              <a:srgbClr val="59BEC9"/>
            </a:solidFill>
            <a:ln>
              <a:noFill/>
            </a:ln>
          </p:spPr>
          <p:txBody>
            <a:bodyPr rtlCol="0" anchor="ctr"/>
            <a:lstStyle/>
            <a:p>
              <a:pPr algn="ctr"/>
              <a:endParaRPr/>
            </a:p>
          </p:txBody>
        </p:sp>
      </p:grpSp>
      <p:grpSp>
        <p:nvGrpSpPr>
          <p:cNvPr id="12" name="anim|rise|0.7"/>
          <p:cNvGrpSpPr/>
          <p:nvPr/>
        </p:nvGrpSpPr>
        <p:grpSpPr>
          <a:xfrm>
            <a:off x="361950" y="1562100"/>
            <a:ext cx="1752600" cy="2114550"/>
            <a:chOff x="361950" y="1562100"/>
            <a:chExt cx="1752600" cy="2114550"/>
          </a:xfrm>
        </p:grpSpPr>
        <p:pic>
          <p:nvPicPr>
            <p:cNvPr id="13" name="Picture 12" descr="database_teal.png"/>
            <p:cNvPicPr>
              <a:picLocks noChangeAspect="1"/>
            </p:cNvPicPr>
            <p:nvPr/>
          </p:nvPicPr>
          <p:blipFill>
            <a:blip r:embed="rId2"/>
            <a:stretch>
              <a:fillRect/>
            </a:stretch>
          </p:blipFill>
          <p:spPr>
            <a:xfrm>
              <a:off x="1028700" y="1562100"/>
              <a:ext cx="419100" cy="419100"/>
            </a:xfrm>
            <a:prstGeom prst="rect">
              <a:avLst/>
            </a:prstGeom>
          </p:spPr>
        </p:pic>
        <p:sp>
          <p:nvSpPr>
            <p:cNvPr id="14" name="Oval 13"/>
            <p:cNvSpPr/>
            <p:nvPr/>
          </p:nvSpPr>
          <p:spPr>
            <a:xfrm>
              <a:off x="876300" y="2133600"/>
              <a:ext cx="723900" cy="723900"/>
            </a:xfrm>
            <a:prstGeom prst="ellipse">
              <a:avLst/>
            </a:prstGeom>
            <a:solidFill>
              <a:srgbClr val="1E3A68"/>
            </a:solidFill>
            <a:ln w="31750">
              <a:solidFill>
                <a:srgbClr val="59BEC9"/>
              </a:solidFill>
            </a:ln>
          </p:spPr>
          <p:txBody>
            <a:bodyPr rtlCol="0" anchor="ctr"/>
            <a:lstStyle/>
            <a:p>
              <a:pPr algn="ctr"/>
              <a:endParaRPr/>
            </a:p>
          </p:txBody>
        </p:sp>
        <p:sp>
          <p:nvSpPr>
            <p:cNvPr id="15" name="TextBox 14"/>
            <p:cNvSpPr txBox="1"/>
            <p:nvPr/>
          </p:nvSpPr>
          <p:spPr>
            <a:xfrm>
              <a:off x="876300" y="2133600"/>
              <a:ext cx="723900" cy="723900"/>
            </a:xfrm>
            <a:prstGeom prst="rect">
              <a:avLst/>
            </a:prstGeom>
            <a:noFill/>
          </p:spPr>
          <p:txBody>
            <a:bodyPr wrap="square" lIns="0" tIns="0" rIns="0" bIns="0" anchor="ctr">
              <a:spAutoFit/>
            </a:bodyPr>
            <a:lstStyle/>
            <a:p>
              <a:pPr algn="ctr"/>
              <a:r>
                <a:rPr sz="2600" b="1">
                  <a:solidFill>
                    <a:srgbClr val="FFB938"/>
                  </a:solidFill>
                  <a:latin typeface="Century Gothic"/>
                </a:rPr>
                <a:t>1</a:t>
              </a:r>
            </a:p>
          </p:txBody>
        </p:sp>
        <p:sp>
          <p:nvSpPr>
            <p:cNvPr id="16" name="TextBox 15"/>
            <p:cNvSpPr txBox="1"/>
            <p:nvPr/>
          </p:nvSpPr>
          <p:spPr>
            <a:xfrm>
              <a:off x="361950" y="3009900"/>
              <a:ext cx="1752600" cy="666750"/>
            </a:xfrm>
            <a:prstGeom prst="rect">
              <a:avLst/>
            </a:prstGeom>
            <a:noFill/>
          </p:spPr>
          <p:txBody>
            <a:bodyPr wrap="square" lIns="0" tIns="0" rIns="0" bIns="0" anchor="t">
              <a:spAutoFit/>
            </a:bodyPr>
            <a:lstStyle/>
            <a:p>
              <a:pPr algn="ctr"/>
              <a:r>
                <a:rPr sz="1450" b="1">
                  <a:solidFill>
                    <a:srgbClr val="FFFFFF"/>
                  </a:solidFill>
                  <a:latin typeface="Segoe UI"/>
                </a:rPr>
                <a:t>Open the Backup vault</a:t>
              </a:r>
            </a:p>
          </p:txBody>
        </p:sp>
      </p:grpSp>
      <p:grpSp>
        <p:nvGrpSpPr>
          <p:cNvPr id="17" name="anim|rise|0.86"/>
          <p:cNvGrpSpPr/>
          <p:nvPr/>
        </p:nvGrpSpPr>
        <p:grpSpPr>
          <a:xfrm>
            <a:off x="2305050" y="1562100"/>
            <a:ext cx="1752600" cy="2114550"/>
            <a:chOff x="2305050" y="1562100"/>
            <a:chExt cx="1752600" cy="2114550"/>
          </a:xfrm>
        </p:grpSpPr>
        <p:pic>
          <p:nvPicPr>
            <p:cNvPr id="18" name="Picture 17" descr="cluster_teal.png"/>
            <p:cNvPicPr>
              <a:picLocks noChangeAspect="1"/>
            </p:cNvPicPr>
            <p:nvPr/>
          </p:nvPicPr>
          <p:blipFill>
            <a:blip r:embed="rId3"/>
            <a:stretch>
              <a:fillRect/>
            </a:stretch>
          </p:blipFill>
          <p:spPr>
            <a:xfrm>
              <a:off x="2971800" y="1562100"/>
              <a:ext cx="419100" cy="419100"/>
            </a:xfrm>
            <a:prstGeom prst="rect">
              <a:avLst/>
            </a:prstGeom>
          </p:spPr>
        </p:pic>
        <p:sp>
          <p:nvSpPr>
            <p:cNvPr id="19" name="Oval 18"/>
            <p:cNvSpPr/>
            <p:nvPr/>
          </p:nvSpPr>
          <p:spPr>
            <a:xfrm>
              <a:off x="2819400" y="2133600"/>
              <a:ext cx="723900" cy="723900"/>
            </a:xfrm>
            <a:prstGeom prst="ellipse">
              <a:avLst/>
            </a:prstGeom>
            <a:solidFill>
              <a:srgbClr val="1E3A68"/>
            </a:solidFill>
            <a:ln w="31750">
              <a:solidFill>
                <a:srgbClr val="59BEC9"/>
              </a:solidFill>
            </a:ln>
          </p:spPr>
          <p:txBody>
            <a:bodyPr rtlCol="0" anchor="ctr"/>
            <a:lstStyle/>
            <a:p>
              <a:pPr algn="ctr"/>
              <a:endParaRPr/>
            </a:p>
          </p:txBody>
        </p:sp>
        <p:sp>
          <p:nvSpPr>
            <p:cNvPr id="20" name="TextBox 19"/>
            <p:cNvSpPr txBox="1"/>
            <p:nvPr/>
          </p:nvSpPr>
          <p:spPr>
            <a:xfrm>
              <a:off x="2819400" y="2133600"/>
              <a:ext cx="723900" cy="723900"/>
            </a:xfrm>
            <a:prstGeom prst="rect">
              <a:avLst/>
            </a:prstGeom>
            <a:noFill/>
          </p:spPr>
          <p:txBody>
            <a:bodyPr wrap="square" lIns="0" tIns="0" rIns="0" bIns="0" anchor="ctr">
              <a:spAutoFit/>
            </a:bodyPr>
            <a:lstStyle/>
            <a:p>
              <a:pPr algn="ctr"/>
              <a:r>
                <a:rPr sz="2600" b="1">
                  <a:solidFill>
                    <a:srgbClr val="FFB938"/>
                  </a:solidFill>
                  <a:latin typeface="Century Gothic"/>
                </a:rPr>
                <a:t>2</a:t>
              </a:r>
            </a:p>
          </p:txBody>
        </p:sp>
        <p:sp>
          <p:nvSpPr>
            <p:cNvPr id="21" name="TextBox 20"/>
            <p:cNvSpPr txBox="1"/>
            <p:nvPr/>
          </p:nvSpPr>
          <p:spPr>
            <a:xfrm>
              <a:off x="2305050" y="3009900"/>
              <a:ext cx="1752600" cy="666750"/>
            </a:xfrm>
            <a:prstGeom prst="rect">
              <a:avLst/>
            </a:prstGeom>
            <a:noFill/>
          </p:spPr>
          <p:txBody>
            <a:bodyPr wrap="square" lIns="0" tIns="0" rIns="0" bIns="0" anchor="t">
              <a:spAutoFit/>
            </a:bodyPr>
            <a:lstStyle/>
            <a:p>
              <a:pPr algn="ctr"/>
              <a:r>
                <a:rPr sz="1450" b="1">
                  <a:solidFill>
                    <a:srgbClr val="FFFFFF"/>
                  </a:solidFill>
                  <a:latin typeface="Segoe UI"/>
                </a:rPr>
                <a:t>Select the backup instance</a:t>
              </a:r>
            </a:p>
          </p:txBody>
        </p:sp>
      </p:grpSp>
      <p:grpSp>
        <p:nvGrpSpPr>
          <p:cNvPr id="22" name="anim|rise|1.02"/>
          <p:cNvGrpSpPr/>
          <p:nvPr/>
        </p:nvGrpSpPr>
        <p:grpSpPr>
          <a:xfrm>
            <a:off x="4248150" y="1562100"/>
            <a:ext cx="1752600" cy="2114550"/>
            <a:chOff x="4248150" y="1562100"/>
            <a:chExt cx="1752600" cy="2114550"/>
          </a:xfrm>
        </p:grpSpPr>
        <p:pic>
          <p:nvPicPr>
            <p:cNvPr id="23" name="Picture 22" descr="restore_teal.png"/>
            <p:cNvPicPr>
              <a:picLocks noChangeAspect="1"/>
            </p:cNvPicPr>
            <p:nvPr/>
          </p:nvPicPr>
          <p:blipFill>
            <a:blip r:embed="rId4"/>
            <a:stretch>
              <a:fillRect/>
            </a:stretch>
          </p:blipFill>
          <p:spPr>
            <a:xfrm>
              <a:off x="4914900" y="1562100"/>
              <a:ext cx="419100" cy="419100"/>
            </a:xfrm>
            <a:prstGeom prst="rect">
              <a:avLst/>
            </a:prstGeom>
          </p:spPr>
        </p:pic>
        <p:sp>
          <p:nvSpPr>
            <p:cNvPr id="24" name="Oval 23"/>
            <p:cNvSpPr/>
            <p:nvPr/>
          </p:nvSpPr>
          <p:spPr>
            <a:xfrm>
              <a:off x="4762500" y="2133600"/>
              <a:ext cx="723900" cy="723900"/>
            </a:xfrm>
            <a:prstGeom prst="ellipse">
              <a:avLst/>
            </a:prstGeom>
            <a:solidFill>
              <a:srgbClr val="1E3A68"/>
            </a:solidFill>
            <a:ln w="31750">
              <a:solidFill>
                <a:srgbClr val="59BEC9"/>
              </a:solidFill>
            </a:ln>
          </p:spPr>
          <p:txBody>
            <a:bodyPr rtlCol="0" anchor="ctr"/>
            <a:lstStyle/>
            <a:p>
              <a:pPr algn="ctr"/>
              <a:endParaRPr/>
            </a:p>
          </p:txBody>
        </p:sp>
        <p:sp>
          <p:nvSpPr>
            <p:cNvPr id="25" name="TextBox 24"/>
            <p:cNvSpPr txBox="1"/>
            <p:nvPr/>
          </p:nvSpPr>
          <p:spPr>
            <a:xfrm>
              <a:off x="4762500" y="2133600"/>
              <a:ext cx="723900" cy="723900"/>
            </a:xfrm>
            <a:prstGeom prst="rect">
              <a:avLst/>
            </a:prstGeom>
            <a:noFill/>
          </p:spPr>
          <p:txBody>
            <a:bodyPr wrap="square" lIns="0" tIns="0" rIns="0" bIns="0" anchor="ctr">
              <a:spAutoFit/>
            </a:bodyPr>
            <a:lstStyle/>
            <a:p>
              <a:pPr algn="ctr"/>
              <a:r>
                <a:rPr sz="2600" b="1">
                  <a:solidFill>
                    <a:srgbClr val="FFB938"/>
                  </a:solidFill>
                  <a:latin typeface="Century Gothic"/>
                </a:rPr>
                <a:t>3</a:t>
              </a:r>
            </a:p>
          </p:txBody>
        </p:sp>
        <p:sp>
          <p:nvSpPr>
            <p:cNvPr id="26" name="TextBox 25"/>
            <p:cNvSpPr txBox="1"/>
            <p:nvPr/>
          </p:nvSpPr>
          <p:spPr>
            <a:xfrm>
              <a:off x="4248150" y="3009900"/>
              <a:ext cx="1752600" cy="666750"/>
            </a:xfrm>
            <a:prstGeom prst="rect">
              <a:avLst/>
            </a:prstGeom>
            <a:noFill/>
          </p:spPr>
          <p:txBody>
            <a:bodyPr wrap="square" lIns="0" tIns="0" rIns="0" bIns="0" anchor="t">
              <a:spAutoFit/>
            </a:bodyPr>
            <a:lstStyle/>
            <a:p>
              <a:pPr algn="ctr"/>
              <a:r>
                <a:rPr sz="1450" b="1">
                  <a:solidFill>
                    <a:srgbClr val="FFFFFF"/>
                  </a:solidFill>
                  <a:latin typeface="Segoe UI"/>
                </a:rPr>
                <a:t>Click Restore and pick the restore point</a:t>
              </a:r>
            </a:p>
          </p:txBody>
        </p:sp>
      </p:grpSp>
      <p:grpSp>
        <p:nvGrpSpPr>
          <p:cNvPr id="27" name="anim|rise|1.18"/>
          <p:cNvGrpSpPr/>
          <p:nvPr/>
        </p:nvGrpSpPr>
        <p:grpSpPr>
          <a:xfrm>
            <a:off x="6191250" y="1562100"/>
            <a:ext cx="1752600" cy="2114550"/>
            <a:chOff x="6191250" y="1562100"/>
            <a:chExt cx="1752600" cy="2114550"/>
          </a:xfrm>
        </p:grpSpPr>
        <p:pic>
          <p:nvPicPr>
            <p:cNvPr id="28" name="Picture 27" descr="target_teal.png"/>
            <p:cNvPicPr>
              <a:picLocks noChangeAspect="1"/>
            </p:cNvPicPr>
            <p:nvPr/>
          </p:nvPicPr>
          <p:blipFill>
            <a:blip r:embed="rId5"/>
            <a:stretch>
              <a:fillRect/>
            </a:stretch>
          </p:blipFill>
          <p:spPr>
            <a:xfrm>
              <a:off x="6858000" y="1562100"/>
              <a:ext cx="419100" cy="419100"/>
            </a:xfrm>
            <a:prstGeom prst="rect">
              <a:avLst/>
            </a:prstGeom>
          </p:spPr>
        </p:pic>
        <p:sp>
          <p:nvSpPr>
            <p:cNvPr id="29" name="Oval 28"/>
            <p:cNvSpPr/>
            <p:nvPr/>
          </p:nvSpPr>
          <p:spPr>
            <a:xfrm>
              <a:off x="6705600" y="2133600"/>
              <a:ext cx="723900" cy="723900"/>
            </a:xfrm>
            <a:prstGeom prst="ellipse">
              <a:avLst/>
            </a:prstGeom>
            <a:solidFill>
              <a:srgbClr val="1E3A68"/>
            </a:solidFill>
            <a:ln w="31750">
              <a:solidFill>
                <a:srgbClr val="59BEC9"/>
              </a:solidFill>
            </a:ln>
          </p:spPr>
          <p:txBody>
            <a:bodyPr rtlCol="0" anchor="ctr"/>
            <a:lstStyle/>
            <a:p>
              <a:pPr algn="ctr"/>
              <a:endParaRPr/>
            </a:p>
          </p:txBody>
        </p:sp>
        <p:sp>
          <p:nvSpPr>
            <p:cNvPr id="30" name="TextBox 29"/>
            <p:cNvSpPr txBox="1"/>
            <p:nvPr/>
          </p:nvSpPr>
          <p:spPr>
            <a:xfrm>
              <a:off x="6705600" y="2133600"/>
              <a:ext cx="723900" cy="723900"/>
            </a:xfrm>
            <a:prstGeom prst="rect">
              <a:avLst/>
            </a:prstGeom>
            <a:noFill/>
          </p:spPr>
          <p:txBody>
            <a:bodyPr wrap="square" lIns="0" tIns="0" rIns="0" bIns="0" anchor="ctr">
              <a:spAutoFit/>
            </a:bodyPr>
            <a:lstStyle/>
            <a:p>
              <a:pPr algn="ctr"/>
              <a:r>
                <a:rPr sz="2600" b="1">
                  <a:solidFill>
                    <a:srgbClr val="FFB938"/>
                  </a:solidFill>
                  <a:latin typeface="Century Gothic"/>
                </a:rPr>
                <a:t>4</a:t>
              </a:r>
            </a:p>
          </p:txBody>
        </p:sp>
        <p:sp>
          <p:nvSpPr>
            <p:cNvPr id="31" name="TextBox 30"/>
            <p:cNvSpPr txBox="1"/>
            <p:nvPr/>
          </p:nvSpPr>
          <p:spPr>
            <a:xfrm>
              <a:off x="6191250" y="3009900"/>
              <a:ext cx="1752600" cy="666750"/>
            </a:xfrm>
            <a:prstGeom prst="rect">
              <a:avLst/>
            </a:prstGeom>
            <a:noFill/>
          </p:spPr>
          <p:txBody>
            <a:bodyPr wrap="square" lIns="0" tIns="0" rIns="0" bIns="0" anchor="t">
              <a:spAutoFit/>
            </a:bodyPr>
            <a:lstStyle/>
            <a:p>
              <a:pPr algn="ctr"/>
              <a:r>
                <a:rPr sz="1450" b="1">
                  <a:solidFill>
                    <a:srgbClr val="FFFFFF"/>
                  </a:solidFill>
                  <a:latin typeface="Segoe UI"/>
                </a:rPr>
                <a:t>Select the target cluster</a:t>
              </a:r>
            </a:p>
          </p:txBody>
        </p:sp>
      </p:grpSp>
      <p:grpSp>
        <p:nvGrpSpPr>
          <p:cNvPr id="32" name="anim|rise|1.34"/>
          <p:cNvGrpSpPr/>
          <p:nvPr/>
        </p:nvGrpSpPr>
        <p:grpSpPr>
          <a:xfrm>
            <a:off x="8134350" y="1562100"/>
            <a:ext cx="1752600" cy="2114550"/>
            <a:chOff x="8134350" y="1562100"/>
            <a:chExt cx="1752600" cy="2114550"/>
          </a:xfrm>
        </p:grpSpPr>
        <p:pic>
          <p:nvPicPr>
            <p:cNvPr id="33" name="Picture 32" descr="funnel_teal.png"/>
            <p:cNvPicPr>
              <a:picLocks noChangeAspect="1"/>
            </p:cNvPicPr>
            <p:nvPr/>
          </p:nvPicPr>
          <p:blipFill>
            <a:blip r:embed="rId6"/>
            <a:stretch>
              <a:fillRect/>
            </a:stretch>
          </p:blipFill>
          <p:spPr>
            <a:xfrm>
              <a:off x="8801100" y="1562100"/>
              <a:ext cx="419100" cy="419100"/>
            </a:xfrm>
            <a:prstGeom prst="rect">
              <a:avLst/>
            </a:prstGeom>
          </p:spPr>
        </p:pic>
        <p:sp>
          <p:nvSpPr>
            <p:cNvPr id="34" name="Oval 33"/>
            <p:cNvSpPr/>
            <p:nvPr/>
          </p:nvSpPr>
          <p:spPr>
            <a:xfrm>
              <a:off x="8648700" y="2133600"/>
              <a:ext cx="723900" cy="723900"/>
            </a:xfrm>
            <a:prstGeom prst="ellipse">
              <a:avLst/>
            </a:prstGeom>
            <a:solidFill>
              <a:srgbClr val="1E3A68"/>
            </a:solidFill>
            <a:ln w="31750">
              <a:solidFill>
                <a:srgbClr val="59BEC9"/>
              </a:solidFill>
            </a:ln>
          </p:spPr>
          <p:txBody>
            <a:bodyPr rtlCol="0" anchor="ctr"/>
            <a:lstStyle/>
            <a:p>
              <a:pPr algn="ctr"/>
              <a:endParaRPr/>
            </a:p>
          </p:txBody>
        </p:sp>
        <p:sp>
          <p:nvSpPr>
            <p:cNvPr id="35" name="TextBox 34"/>
            <p:cNvSpPr txBox="1"/>
            <p:nvPr/>
          </p:nvSpPr>
          <p:spPr>
            <a:xfrm>
              <a:off x="8648700" y="2133600"/>
              <a:ext cx="723900" cy="723900"/>
            </a:xfrm>
            <a:prstGeom prst="rect">
              <a:avLst/>
            </a:prstGeom>
            <a:noFill/>
          </p:spPr>
          <p:txBody>
            <a:bodyPr wrap="square" lIns="0" tIns="0" rIns="0" bIns="0" anchor="ctr">
              <a:spAutoFit/>
            </a:bodyPr>
            <a:lstStyle/>
            <a:p>
              <a:pPr algn="ctr"/>
              <a:r>
                <a:rPr sz="2600" b="1">
                  <a:solidFill>
                    <a:srgbClr val="FFB938"/>
                  </a:solidFill>
                  <a:latin typeface="Century Gothic"/>
                </a:rPr>
                <a:t>5</a:t>
              </a:r>
            </a:p>
          </p:txBody>
        </p:sp>
        <p:sp>
          <p:nvSpPr>
            <p:cNvPr id="36" name="TextBox 35"/>
            <p:cNvSpPr txBox="1"/>
            <p:nvPr/>
          </p:nvSpPr>
          <p:spPr>
            <a:xfrm>
              <a:off x="8134350" y="3009900"/>
              <a:ext cx="1752600" cy="666750"/>
            </a:xfrm>
            <a:prstGeom prst="rect">
              <a:avLst/>
            </a:prstGeom>
            <a:noFill/>
          </p:spPr>
          <p:txBody>
            <a:bodyPr wrap="square" lIns="0" tIns="0" rIns="0" bIns="0" anchor="t">
              <a:spAutoFit/>
            </a:bodyPr>
            <a:lstStyle/>
            <a:p>
              <a:pPr algn="ctr"/>
              <a:r>
                <a:rPr sz="1450" b="1">
                  <a:solidFill>
                    <a:srgbClr val="FFFFFF"/>
                  </a:solidFill>
                  <a:latin typeface="Segoe UI"/>
                </a:rPr>
                <a:t>Select the resources</a:t>
              </a:r>
            </a:p>
          </p:txBody>
        </p:sp>
      </p:grpSp>
      <p:grpSp>
        <p:nvGrpSpPr>
          <p:cNvPr id="37" name="anim|rise|1.5"/>
          <p:cNvGrpSpPr/>
          <p:nvPr/>
        </p:nvGrpSpPr>
        <p:grpSpPr>
          <a:xfrm>
            <a:off x="10077450" y="1562100"/>
            <a:ext cx="1752600" cy="2114550"/>
            <a:chOff x="10077450" y="1562100"/>
            <a:chExt cx="1752600" cy="2114550"/>
          </a:xfrm>
        </p:grpSpPr>
        <p:pic>
          <p:nvPicPr>
            <p:cNvPr id="38" name="Picture 37" descr="shield_teal.png"/>
            <p:cNvPicPr>
              <a:picLocks noChangeAspect="1"/>
            </p:cNvPicPr>
            <p:nvPr/>
          </p:nvPicPr>
          <p:blipFill>
            <a:blip r:embed="rId7"/>
            <a:stretch>
              <a:fillRect/>
            </a:stretch>
          </p:blipFill>
          <p:spPr>
            <a:xfrm>
              <a:off x="10744200" y="1562100"/>
              <a:ext cx="419100" cy="419100"/>
            </a:xfrm>
            <a:prstGeom prst="rect">
              <a:avLst/>
            </a:prstGeom>
          </p:spPr>
        </p:pic>
        <p:sp>
          <p:nvSpPr>
            <p:cNvPr id="39" name="Oval 38"/>
            <p:cNvSpPr/>
            <p:nvPr/>
          </p:nvSpPr>
          <p:spPr>
            <a:xfrm>
              <a:off x="10591800" y="2133600"/>
              <a:ext cx="723900" cy="723900"/>
            </a:xfrm>
            <a:prstGeom prst="ellipse">
              <a:avLst/>
            </a:prstGeom>
            <a:solidFill>
              <a:srgbClr val="1E3A68"/>
            </a:solidFill>
            <a:ln w="31750">
              <a:solidFill>
                <a:srgbClr val="59BEC9"/>
              </a:solidFill>
            </a:ln>
          </p:spPr>
          <p:txBody>
            <a:bodyPr rtlCol="0" anchor="ctr"/>
            <a:lstStyle/>
            <a:p>
              <a:pPr algn="ctr"/>
              <a:endParaRPr/>
            </a:p>
          </p:txBody>
        </p:sp>
        <p:sp>
          <p:nvSpPr>
            <p:cNvPr id="40" name="TextBox 39"/>
            <p:cNvSpPr txBox="1"/>
            <p:nvPr/>
          </p:nvSpPr>
          <p:spPr>
            <a:xfrm>
              <a:off x="10591800" y="2133600"/>
              <a:ext cx="723900" cy="723900"/>
            </a:xfrm>
            <a:prstGeom prst="rect">
              <a:avLst/>
            </a:prstGeom>
            <a:noFill/>
          </p:spPr>
          <p:txBody>
            <a:bodyPr wrap="square" lIns="0" tIns="0" rIns="0" bIns="0" anchor="ctr">
              <a:spAutoFit/>
            </a:bodyPr>
            <a:lstStyle/>
            <a:p>
              <a:pPr algn="ctr"/>
              <a:r>
                <a:rPr sz="2600" b="1">
                  <a:solidFill>
                    <a:srgbClr val="FFB938"/>
                  </a:solidFill>
                  <a:latin typeface="Century Gothic"/>
                </a:rPr>
                <a:t>6</a:t>
              </a:r>
            </a:p>
          </p:txBody>
        </p:sp>
        <p:sp>
          <p:nvSpPr>
            <p:cNvPr id="41" name="TextBox 40"/>
            <p:cNvSpPr txBox="1"/>
            <p:nvPr/>
          </p:nvSpPr>
          <p:spPr>
            <a:xfrm>
              <a:off x="10077450" y="3009900"/>
              <a:ext cx="1752600" cy="666750"/>
            </a:xfrm>
            <a:prstGeom prst="rect">
              <a:avLst/>
            </a:prstGeom>
            <a:noFill/>
          </p:spPr>
          <p:txBody>
            <a:bodyPr wrap="square" lIns="0" tIns="0" rIns="0" bIns="0" anchor="t">
              <a:spAutoFit/>
            </a:bodyPr>
            <a:lstStyle/>
            <a:p>
              <a:pPr algn="ctr"/>
              <a:r>
                <a:rPr sz="1450" b="1">
                  <a:solidFill>
                    <a:srgbClr val="FFFFFF"/>
                  </a:solidFill>
                  <a:latin typeface="Segoe UI"/>
                </a:rPr>
                <a:t>Validate, review and restore</a:t>
              </a:r>
            </a:p>
          </p:txBody>
        </p:sp>
      </p:grpSp>
      <p:grpSp>
        <p:nvGrpSpPr>
          <p:cNvPr id="42" name="anim|rise|1.66"/>
          <p:cNvGrpSpPr/>
          <p:nvPr/>
        </p:nvGrpSpPr>
        <p:grpSpPr>
          <a:xfrm>
            <a:off x="571500" y="4305300"/>
            <a:ext cx="11049000" cy="1181100"/>
            <a:chOff x="571500" y="4305300"/>
            <a:chExt cx="11049000" cy="1181100"/>
          </a:xfrm>
        </p:grpSpPr>
        <p:sp>
          <p:nvSpPr>
            <p:cNvPr id="43" name="Rounded Rectangle 42"/>
            <p:cNvSpPr/>
            <p:nvPr/>
          </p:nvSpPr>
          <p:spPr>
            <a:xfrm>
              <a:off x="571500" y="4305300"/>
              <a:ext cx="11049000" cy="1181100"/>
            </a:xfrm>
            <a:prstGeom prst="roundRect">
              <a:avLst>
                <a:gd name="adj" fmla="val 14516"/>
              </a:avLst>
            </a:prstGeom>
            <a:solidFill>
              <a:srgbClr val="1E3A68"/>
            </a:solidFill>
            <a:ln w="19050">
              <a:solidFill>
                <a:srgbClr val="59BEC9"/>
              </a:solidFill>
            </a:ln>
          </p:spPr>
          <p:txBody>
            <a:bodyPr rtlCol="0" anchor="ctr"/>
            <a:lstStyle/>
            <a:p>
              <a:pPr algn="ctr"/>
              <a:endParaRPr/>
            </a:p>
          </p:txBody>
        </p:sp>
        <p:pic>
          <p:nvPicPr>
            <p:cNvPr id="44" name="Picture 43" descr="info_teal.png"/>
            <p:cNvPicPr>
              <a:picLocks noChangeAspect="1"/>
            </p:cNvPicPr>
            <p:nvPr/>
          </p:nvPicPr>
          <p:blipFill>
            <a:blip r:embed="rId8"/>
            <a:stretch>
              <a:fillRect/>
            </a:stretch>
          </p:blipFill>
          <p:spPr>
            <a:xfrm>
              <a:off x="781050" y="4752975"/>
              <a:ext cx="285750" cy="285750"/>
            </a:xfrm>
            <a:prstGeom prst="rect">
              <a:avLst/>
            </a:prstGeom>
          </p:spPr>
        </p:pic>
        <p:sp>
          <p:nvSpPr>
            <p:cNvPr id="45" name="TextBox 44"/>
            <p:cNvSpPr txBox="1"/>
            <p:nvPr/>
          </p:nvSpPr>
          <p:spPr>
            <a:xfrm>
              <a:off x="1200150" y="4305300"/>
              <a:ext cx="10191750" cy="1181100"/>
            </a:xfrm>
            <a:prstGeom prst="rect">
              <a:avLst/>
            </a:prstGeom>
            <a:noFill/>
          </p:spPr>
          <p:txBody>
            <a:bodyPr wrap="square" lIns="0" tIns="0" rIns="0" bIns="0" anchor="ctr">
              <a:spAutoFit/>
            </a:bodyPr>
            <a:lstStyle/>
            <a:p>
              <a:pPr algn="l"/>
              <a:r>
                <a:rPr sz="1600" b="0">
                  <a:solidFill>
                    <a:srgbClr val="FFFFFF"/>
                  </a:solidFill>
                  <a:latin typeface="Segoe UI"/>
                </a:rPr>
                <a:t>Use the vault that belongs to the environment you are restoring (dev, sit, uat and so on). The restore needs the Backup extension installed on the target cluster and Trusted Access enabled between the vault and that cluster.</a:t>
              </a:r>
            </a:p>
          </p:txBody>
        </p:sp>
      </p:grpSp>
    </p:spTree>
  </p:cSld>
  <p:clrMapOvr>
    <a:masterClrMapping/>
  </p:clrMapOvr>
  <mc:AlternateContent xmlns:mc="http://schemas.openxmlformats.org/markup-compatibility/2006">
    <mc:Choice xmlns:p14="http://schemas.microsoft.com/office/powerpoint/2010/main" Requires="p14">
      <p:transition spd="slow" p14:dur="800">
        <p:fad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5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50"/>
                                        <p:tgtEl>
                                          <p:spTgt spid="3"/>
                                        </p:tgtEl>
                                      </p:cBhvr>
                                    </p:animEffect>
                                  </p:childTnLst>
                                </p:cTn>
                              </p:par>
                              <p:par>
                                <p:cTn id="8" presetID="22" presetClass="entr" presetSubtype="8" fill="hold" grpId="0" nodeType="withEffect">
                                  <p:stCondLst>
                                    <p:cond delay="100"/>
                                  </p:stCondLst>
                                  <p:childTnLst>
                                    <p:set>
                                      <p:cBhvr>
                                        <p:cTn id="9" dur="1" fill="hold">
                                          <p:stCondLst>
                                            <p:cond delay="0"/>
                                          </p:stCondLst>
                                        </p:cTn>
                                        <p:tgtEl>
                                          <p:spTgt spid="6"/>
                                        </p:tgtEl>
                                        <p:attrNameLst>
                                          <p:attrName>style.visibility</p:attrName>
                                        </p:attrNameLst>
                                      </p:cBhvr>
                                      <p:to>
                                        <p:strVal val="visible"/>
                                      </p:to>
                                    </p:set>
                                    <p:animEffect transition="in" filter="wipe(left)">
                                      <p:cBhvr>
                                        <p:cTn id="10" dur="700"/>
                                        <p:tgtEl>
                                          <p:spTgt spid="6"/>
                                        </p:tgtEl>
                                      </p:cBhvr>
                                    </p:animEffect>
                                  </p:childTnLst>
                                </p:cTn>
                              </p:par>
                              <p:par>
                                <p:cTn id="11" presetID="10" presetClass="entr" presetSubtype="0" fill="hold" grpId="0" nodeType="withEffect">
                                  <p:stCondLst>
                                    <p:cond delay="45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50"/>
                                        <p:tgtEl>
                                          <p:spTgt spid="7"/>
                                        </p:tgtEl>
                                      </p:cBhvr>
                                    </p:animEffect>
                                  </p:childTnLst>
                                </p:cTn>
                              </p:par>
                              <p:par>
                                <p:cTn id="14" presetID="22" presetClass="entr" presetSubtype="8" fill="hold" nodeType="withEffect">
                                  <p:stCondLst>
                                    <p:cond delay="500"/>
                                  </p:stCondLst>
                                  <p:childTnLst>
                                    <p:set>
                                      <p:cBhvr>
                                        <p:cTn id="15" dur="1" fill="hold">
                                          <p:stCondLst>
                                            <p:cond delay="0"/>
                                          </p:stCondLst>
                                        </p:cTn>
                                        <p:tgtEl>
                                          <p:spTgt spid="10"/>
                                        </p:tgtEl>
                                        <p:attrNameLst>
                                          <p:attrName>style.visibility</p:attrName>
                                        </p:attrNameLst>
                                      </p:cBhvr>
                                      <p:to>
                                        <p:strVal val="visible"/>
                                      </p:to>
                                    </p:set>
                                    <p:animEffect transition="in" filter="wipe(left)">
                                      <p:cBhvr>
                                        <p:cTn id="16" dur="700"/>
                                        <p:tgtEl>
                                          <p:spTgt spid="10"/>
                                        </p:tgtEl>
                                      </p:cBhvr>
                                    </p:animEffect>
                                  </p:childTnLst>
                                </p:cTn>
                              </p:par>
                              <p:par>
                                <p:cTn id="17" presetID="37" presetClass="entr" presetSubtype="0" fill="hold" nodeType="withEffect">
                                  <p:stCondLst>
                                    <p:cond delay="70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550"/>
                                        <p:tgtEl>
                                          <p:spTgt spid="12"/>
                                        </p:tgtEl>
                                      </p:cBhvr>
                                    </p:animEffect>
                                    <p:anim calcmode="lin" valueType="num">
                                      <p:cBhvr>
                                        <p:cTn id="20" dur="550" fill="hold"/>
                                        <p:tgtEl>
                                          <p:spTgt spid="12"/>
                                        </p:tgtEl>
                                        <p:attrNameLst>
                                          <p:attrName>ppt_x</p:attrName>
                                        </p:attrNameLst>
                                      </p:cBhvr>
                                      <p:tavLst>
                                        <p:tav tm="0">
                                          <p:val>
                                            <p:strVal val="#ppt_x"/>
                                          </p:val>
                                        </p:tav>
                                        <p:tav tm="100000">
                                          <p:val>
                                            <p:strVal val="#ppt_x"/>
                                          </p:val>
                                        </p:tav>
                                      </p:tavLst>
                                    </p:anim>
                                    <p:anim calcmode="lin" valueType="num">
                                      <p:cBhvr>
                                        <p:cTn id="21" dur="495" decel="100000" fill="hold"/>
                                        <p:tgtEl>
                                          <p:spTgt spid="12"/>
                                        </p:tgtEl>
                                        <p:attrNameLst>
                                          <p:attrName>ppt_y</p:attrName>
                                        </p:attrNameLst>
                                      </p:cBhvr>
                                      <p:tavLst>
                                        <p:tav tm="0">
                                          <p:val>
                                            <p:strVal val="#ppt_y+1"/>
                                          </p:val>
                                        </p:tav>
                                        <p:tav tm="100000">
                                          <p:val>
                                            <p:strVal val="#ppt_y-.03"/>
                                          </p:val>
                                        </p:tav>
                                      </p:tavLst>
                                    </p:anim>
                                    <p:anim calcmode="lin" valueType="num">
                                      <p:cBhvr>
                                        <p:cTn id="22" dur="55" accel="100000" fill="hold">
                                          <p:stCondLst>
                                            <p:cond delay="495"/>
                                          </p:stCondLst>
                                        </p:cTn>
                                        <p:tgtEl>
                                          <p:spTgt spid="12"/>
                                        </p:tgtEl>
                                        <p:attrNameLst>
                                          <p:attrName>ppt_y</p:attrName>
                                        </p:attrNameLst>
                                      </p:cBhvr>
                                      <p:tavLst>
                                        <p:tav tm="0">
                                          <p:val>
                                            <p:strVal val="#ppt_y-.03"/>
                                          </p:val>
                                        </p:tav>
                                        <p:tav tm="100000">
                                          <p:val>
                                            <p:strVal val="#ppt_y"/>
                                          </p:val>
                                        </p:tav>
                                      </p:tavLst>
                                    </p:anim>
                                  </p:childTnLst>
                                </p:cTn>
                              </p:par>
                              <p:par>
                                <p:cTn id="23" presetID="37" presetClass="entr" presetSubtype="0" fill="hold" nodeType="withEffect">
                                  <p:stCondLst>
                                    <p:cond delay="860"/>
                                  </p:stCondLst>
                                  <p:childTnLst>
                                    <p:set>
                                      <p:cBhvr>
                                        <p:cTn id="24" dur="1" fill="hold">
                                          <p:stCondLst>
                                            <p:cond delay="0"/>
                                          </p:stCondLst>
                                        </p:cTn>
                                        <p:tgtEl>
                                          <p:spTgt spid="17"/>
                                        </p:tgtEl>
                                        <p:attrNameLst>
                                          <p:attrName>style.visibility</p:attrName>
                                        </p:attrNameLst>
                                      </p:cBhvr>
                                      <p:to>
                                        <p:strVal val="visible"/>
                                      </p:to>
                                    </p:set>
                                    <p:animEffect transition="in" filter="fade">
                                      <p:cBhvr>
                                        <p:cTn id="25" dur="550"/>
                                        <p:tgtEl>
                                          <p:spTgt spid="17"/>
                                        </p:tgtEl>
                                      </p:cBhvr>
                                    </p:animEffect>
                                    <p:anim calcmode="lin" valueType="num">
                                      <p:cBhvr>
                                        <p:cTn id="26" dur="550" fill="hold"/>
                                        <p:tgtEl>
                                          <p:spTgt spid="17"/>
                                        </p:tgtEl>
                                        <p:attrNameLst>
                                          <p:attrName>ppt_x</p:attrName>
                                        </p:attrNameLst>
                                      </p:cBhvr>
                                      <p:tavLst>
                                        <p:tav tm="0">
                                          <p:val>
                                            <p:strVal val="#ppt_x"/>
                                          </p:val>
                                        </p:tav>
                                        <p:tav tm="100000">
                                          <p:val>
                                            <p:strVal val="#ppt_x"/>
                                          </p:val>
                                        </p:tav>
                                      </p:tavLst>
                                    </p:anim>
                                    <p:anim calcmode="lin" valueType="num">
                                      <p:cBhvr>
                                        <p:cTn id="27" dur="495" decel="100000" fill="hold"/>
                                        <p:tgtEl>
                                          <p:spTgt spid="17"/>
                                        </p:tgtEl>
                                        <p:attrNameLst>
                                          <p:attrName>ppt_y</p:attrName>
                                        </p:attrNameLst>
                                      </p:cBhvr>
                                      <p:tavLst>
                                        <p:tav tm="0">
                                          <p:val>
                                            <p:strVal val="#ppt_y+1"/>
                                          </p:val>
                                        </p:tav>
                                        <p:tav tm="100000">
                                          <p:val>
                                            <p:strVal val="#ppt_y-.03"/>
                                          </p:val>
                                        </p:tav>
                                      </p:tavLst>
                                    </p:anim>
                                    <p:anim calcmode="lin" valueType="num">
                                      <p:cBhvr>
                                        <p:cTn id="28" dur="55" accel="100000" fill="hold">
                                          <p:stCondLst>
                                            <p:cond delay="495"/>
                                          </p:stCondLst>
                                        </p:cTn>
                                        <p:tgtEl>
                                          <p:spTgt spid="17"/>
                                        </p:tgtEl>
                                        <p:attrNameLst>
                                          <p:attrName>ppt_y</p:attrName>
                                        </p:attrNameLst>
                                      </p:cBhvr>
                                      <p:tavLst>
                                        <p:tav tm="0">
                                          <p:val>
                                            <p:strVal val="#ppt_y-.03"/>
                                          </p:val>
                                        </p:tav>
                                        <p:tav tm="100000">
                                          <p:val>
                                            <p:strVal val="#ppt_y"/>
                                          </p:val>
                                        </p:tav>
                                      </p:tavLst>
                                    </p:anim>
                                  </p:childTnLst>
                                </p:cTn>
                              </p:par>
                              <p:par>
                                <p:cTn id="29" presetID="37" presetClass="entr" presetSubtype="0" fill="hold" nodeType="withEffect">
                                  <p:stCondLst>
                                    <p:cond delay="1020"/>
                                  </p:stCondLst>
                                  <p:childTnLst>
                                    <p:set>
                                      <p:cBhvr>
                                        <p:cTn id="30" dur="1" fill="hold">
                                          <p:stCondLst>
                                            <p:cond delay="0"/>
                                          </p:stCondLst>
                                        </p:cTn>
                                        <p:tgtEl>
                                          <p:spTgt spid="22"/>
                                        </p:tgtEl>
                                        <p:attrNameLst>
                                          <p:attrName>style.visibility</p:attrName>
                                        </p:attrNameLst>
                                      </p:cBhvr>
                                      <p:to>
                                        <p:strVal val="visible"/>
                                      </p:to>
                                    </p:set>
                                    <p:animEffect transition="in" filter="fade">
                                      <p:cBhvr>
                                        <p:cTn id="31" dur="550"/>
                                        <p:tgtEl>
                                          <p:spTgt spid="22"/>
                                        </p:tgtEl>
                                      </p:cBhvr>
                                    </p:animEffect>
                                    <p:anim calcmode="lin" valueType="num">
                                      <p:cBhvr>
                                        <p:cTn id="32" dur="550" fill="hold"/>
                                        <p:tgtEl>
                                          <p:spTgt spid="22"/>
                                        </p:tgtEl>
                                        <p:attrNameLst>
                                          <p:attrName>ppt_x</p:attrName>
                                        </p:attrNameLst>
                                      </p:cBhvr>
                                      <p:tavLst>
                                        <p:tav tm="0">
                                          <p:val>
                                            <p:strVal val="#ppt_x"/>
                                          </p:val>
                                        </p:tav>
                                        <p:tav tm="100000">
                                          <p:val>
                                            <p:strVal val="#ppt_x"/>
                                          </p:val>
                                        </p:tav>
                                      </p:tavLst>
                                    </p:anim>
                                    <p:anim calcmode="lin" valueType="num">
                                      <p:cBhvr>
                                        <p:cTn id="33" dur="495" decel="100000" fill="hold"/>
                                        <p:tgtEl>
                                          <p:spTgt spid="22"/>
                                        </p:tgtEl>
                                        <p:attrNameLst>
                                          <p:attrName>ppt_y</p:attrName>
                                        </p:attrNameLst>
                                      </p:cBhvr>
                                      <p:tavLst>
                                        <p:tav tm="0">
                                          <p:val>
                                            <p:strVal val="#ppt_y+1"/>
                                          </p:val>
                                        </p:tav>
                                        <p:tav tm="100000">
                                          <p:val>
                                            <p:strVal val="#ppt_y-.03"/>
                                          </p:val>
                                        </p:tav>
                                      </p:tavLst>
                                    </p:anim>
                                    <p:anim calcmode="lin" valueType="num">
                                      <p:cBhvr>
                                        <p:cTn id="34" dur="55" accel="100000" fill="hold">
                                          <p:stCondLst>
                                            <p:cond delay="495"/>
                                          </p:stCondLst>
                                        </p:cTn>
                                        <p:tgtEl>
                                          <p:spTgt spid="22"/>
                                        </p:tgtEl>
                                        <p:attrNameLst>
                                          <p:attrName>ppt_y</p:attrName>
                                        </p:attrNameLst>
                                      </p:cBhvr>
                                      <p:tavLst>
                                        <p:tav tm="0">
                                          <p:val>
                                            <p:strVal val="#ppt_y-.03"/>
                                          </p:val>
                                        </p:tav>
                                        <p:tav tm="100000">
                                          <p:val>
                                            <p:strVal val="#ppt_y"/>
                                          </p:val>
                                        </p:tav>
                                      </p:tavLst>
                                    </p:anim>
                                  </p:childTnLst>
                                </p:cTn>
                              </p:par>
                              <p:par>
                                <p:cTn id="35" presetID="37" presetClass="entr" presetSubtype="0" fill="hold" nodeType="withEffect">
                                  <p:stCondLst>
                                    <p:cond delay="1180"/>
                                  </p:stCondLst>
                                  <p:childTnLst>
                                    <p:set>
                                      <p:cBhvr>
                                        <p:cTn id="36" dur="1" fill="hold">
                                          <p:stCondLst>
                                            <p:cond delay="0"/>
                                          </p:stCondLst>
                                        </p:cTn>
                                        <p:tgtEl>
                                          <p:spTgt spid="27"/>
                                        </p:tgtEl>
                                        <p:attrNameLst>
                                          <p:attrName>style.visibility</p:attrName>
                                        </p:attrNameLst>
                                      </p:cBhvr>
                                      <p:to>
                                        <p:strVal val="visible"/>
                                      </p:to>
                                    </p:set>
                                    <p:animEffect transition="in" filter="fade">
                                      <p:cBhvr>
                                        <p:cTn id="37" dur="550"/>
                                        <p:tgtEl>
                                          <p:spTgt spid="27"/>
                                        </p:tgtEl>
                                      </p:cBhvr>
                                    </p:animEffect>
                                    <p:anim calcmode="lin" valueType="num">
                                      <p:cBhvr>
                                        <p:cTn id="38" dur="550" fill="hold"/>
                                        <p:tgtEl>
                                          <p:spTgt spid="27"/>
                                        </p:tgtEl>
                                        <p:attrNameLst>
                                          <p:attrName>ppt_x</p:attrName>
                                        </p:attrNameLst>
                                      </p:cBhvr>
                                      <p:tavLst>
                                        <p:tav tm="0">
                                          <p:val>
                                            <p:strVal val="#ppt_x"/>
                                          </p:val>
                                        </p:tav>
                                        <p:tav tm="100000">
                                          <p:val>
                                            <p:strVal val="#ppt_x"/>
                                          </p:val>
                                        </p:tav>
                                      </p:tavLst>
                                    </p:anim>
                                    <p:anim calcmode="lin" valueType="num">
                                      <p:cBhvr>
                                        <p:cTn id="39" dur="495" decel="100000" fill="hold"/>
                                        <p:tgtEl>
                                          <p:spTgt spid="27"/>
                                        </p:tgtEl>
                                        <p:attrNameLst>
                                          <p:attrName>ppt_y</p:attrName>
                                        </p:attrNameLst>
                                      </p:cBhvr>
                                      <p:tavLst>
                                        <p:tav tm="0">
                                          <p:val>
                                            <p:strVal val="#ppt_y+1"/>
                                          </p:val>
                                        </p:tav>
                                        <p:tav tm="100000">
                                          <p:val>
                                            <p:strVal val="#ppt_y-.03"/>
                                          </p:val>
                                        </p:tav>
                                      </p:tavLst>
                                    </p:anim>
                                    <p:anim calcmode="lin" valueType="num">
                                      <p:cBhvr>
                                        <p:cTn id="40" dur="55" accel="100000" fill="hold">
                                          <p:stCondLst>
                                            <p:cond delay="495"/>
                                          </p:stCondLst>
                                        </p:cTn>
                                        <p:tgtEl>
                                          <p:spTgt spid="27"/>
                                        </p:tgtEl>
                                        <p:attrNameLst>
                                          <p:attrName>ppt_y</p:attrName>
                                        </p:attrNameLst>
                                      </p:cBhvr>
                                      <p:tavLst>
                                        <p:tav tm="0">
                                          <p:val>
                                            <p:strVal val="#ppt_y-.03"/>
                                          </p:val>
                                        </p:tav>
                                        <p:tav tm="100000">
                                          <p:val>
                                            <p:strVal val="#ppt_y"/>
                                          </p:val>
                                        </p:tav>
                                      </p:tavLst>
                                    </p:anim>
                                  </p:childTnLst>
                                </p:cTn>
                              </p:par>
                              <p:par>
                                <p:cTn id="41" presetID="37" presetClass="entr" presetSubtype="0" fill="hold" nodeType="withEffect">
                                  <p:stCondLst>
                                    <p:cond delay="1340"/>
                                  </p:stCondLst>
                                  <p:childTnLst>
                                    <p:set>
                                      <p:cBhvr>
                                        <p:cTn id="42" dur="1" fill="hold">
                                          <p:stCondLst>
                                            <p:cond delay="0"/>
                                          </p:stCondLst>
                                        </p:cTn>
                                        <p:tgtEl>
                                          <p:spTgt spid="32"/>
                                        </p:tgtEl>
                                        <p:attrNameLst>
                                          <p:attrName>style.visibility</p:attrName>
                                        </p:attrNameLst>
                                      </p:cBhvr>
                                      <p:to>
                                        <p:strVal val="visible"/>
                                      </p:to>
                                    </p:set>
                                    <p:animEffect transition="in" filter="fade">
                                      <p:cBhvr>
                                        <p:cTn id="43" dur="550"/>
                                        <p:tgtEl>
                                          <p:spTgt spid="32"/>
                                        </p:tgtEl>
                                      </p:cBhvr>
                                    </p:animEffect>
                                    <p:anim calcmode="lin" valueType="num">
                                      <p:cBhvr>
                                        <p:cTn id="44" dur="550" fill="hold"/>
                                        <p:tgtEl>
                                          <p:spTgt spid="32"/>
                                        </p:tgtEl>
                                        <p:attrNameLst>
                                          <p:attrName>ppt_x</p:attrName>
                                        </p:attrNameLst>
                                      </p:cBhvr>
                                      <p:tavLst>
                                        <p:tav tm="0">
                                          <p:val>
                                            <p:strVal val="#ppt_x"/>
                                          </p:val>
                                        </p:tav>
                                        <p:tav tm="100000">
                                          <p:val>
                                            <p:strVal val="#ppt_x"/>
                                          </p:val>
                                        </p:tav>
                                      </p:tavLst>
                                    </p:anim>
                                    <p:anim calcmode="lin" valueType="num">
                                      <p:cBhvr>
                                        <p:cTn id="45" dur="495" decel="100000" fill="hold"/>
                                        <p:tgtEl>
                                          <p:spTgt spid="32"/>
                                        </p:tgtEl>
                                        <p:attrNameLst>
                                          <p:attrName>ppt_y</p:attrName>
                                        </p:attrNameLst>
                                      </p:cBhvr>
                                      <p:tavLst>
                                        <p:tav tm="0">
                                          <p:val>
                                            <p:strVal val="#ppt_y+1"/>
                                          </p:val>
                                        </p:tav>
                                        <p:tav tm="100000">
                                          <p:val>
                                            <p:strVal val="#ppt_y-.03"/>
                                          </p:val>
                                        </p:tav>
                                      </p:tavLst>
                                    </p:anim>
                                    <p:anim calcmode="lin" valueType="num">
                                      <p:cBhvr>
                                        <p:cTn id="46" dur="55" accel="100000" fill="hold">
                                          <p:stCondLst>
                                            <p:cond delay="495"/>
                                          </p:stCondLst>
                                        </p:cTn>
                                        <p:tgtEl>
                                          <p:spTgt spid="32"/>
                                        </p:tgtEl>
                                        <p:attrNameLst>
                                          <p:attrName>ppt_y</p:attrName>
                                        </p:attrNameLst>
                                      </p:cBhvr>
                                      <p:tavLst>
                                        <p:tav tm="0">
                                          <p:val>
                                            <p:strVal val="#ppt_y-.03"/>
                                          </p:val>
                                        </p:tav>
                                        <p:tav tm="100000">
                                          <p:val>
                                            <p:strVal val="#ppt_y"/>
                                          </p:val>
                                        </p:tav>
                                      </p:tavLst>
                                    </p:anim>
                                  </p:childTnLst>
                                </p:cTn>
                              </p:par>
                              <p:par>
                                <p:cTn id="47" presetID="37" presetClass="entr" presetSubtype="0" fill="hold" nodeType="withEffect">
                                  <p:stCondLst>
                                    <p:cond delay="1500"/>
                                  </p:stCondLst>
                                  <p:childTnLst>
                                    <p:set>
                                      <p:cBhvr>
                                        <p:cTn id="48" dur="1" fill="hold">
                                          <p:stCondLst>
                                            <p:cond delay="0"/>
                                          </p:stCondLst>
                                        </p:cTn>
                                        <p:tgtEl>
                                          <p:spTgt spid="37"/>
                                        </p:tgtEl>
                                        <p:attrNameLst>
                                          <p:attrName>style.visibility</p:attrName>
                                        </p:attrNameLst>
                                      </p:cBhvr>
                                      <p:to>
                                        <p:strVal val="visible"/>
                                      </p:to>
                                    </p:set>
                                    <p:animEffect transition="in" filter="fade">
                                      <p:cBhvr>
                                        <p:cTn id="49" dur="550"/>
                                        <p:tgtEl>
                                          <p:spTgt spid="37"/>
                                        </p:tgtEl>
                                      </p:cBhvr>
                                    </p:animEffect>
                                    <p:anim calcmode="lin" valueType="num">
                                      <p:cBhvr>
                                        <p:cTn id="50" dur="550" fill="hold"/>
                                        <p:tgtEl>
                                          <p:spTgt spid="37"/>
                                        </p:tgtEl>
                                        <p:attrNameLst>
                                          <p:attrName>ppt_x</p:attrName>
                                        </p:attrNameLst>
                                      </p:cBhvr>
                                      <p:tavLst>
                                        <p:tav tm="0">
                                          <p:val>
                                            <p:strVal val="#ppt_x"/>
                                          </p:val>
                                        </p:tav>
                                        <p:tav tm="100000">
                                          <p:val>
                                            <p:strVal val="#ppt_x"/>
                                          </p:val>
                                        </p:tav>
                                      </p:tavLst>
                                    </p:anim>
                                    <p:anim calcmode="lin" valueType="num">
                                      <p:cBhvr>
                                        <p:cTn id="51" dur="495" decel="100000" fill="hold"/>
                                        <p:tgtEl>
                                          <p:spTgt spid="37"/>
                                        </p:tgtEl>
                                        <p:attrNameLst>
                                          <p:attrName>ppt_y</p:attrName>
                                        </p:attrNameLst>
                                      </p:cBhvr>
                                      <p:tavLst>
                                        <p:tav tm="0">
                                          <p:val>
                                            <p:strVal val="#ppt_y+1"/>
                                          </p:val>
                                        </p:tav>
                                        <p:tav tm="100000">
                                          <p:val>
                                            <p:strVal val="#ppt_y-.03"/>
                                          </p:val>
                                        </p:tav>
                                      </p:tavLst>
                                    </p:anim>
                                    <p:anim calcmode="lin" valueType="num">
                                      <p:cBhvr>
                                        <p:cTn id="52" dur="55" accel="100000" fill="hold">
                                          <p:stCondLst>
                                            <p:cond delay="495"/>
                                          </p:stCondLst>
                                        </p:cTn>
                                        <p:tgtEl>
                                          <p:spTgt spid="37"/>
                                        </p:tgtEl>
                                        <p:attrNameLst>
                                          <p:attrName>ppt_y</p:attrName>
                                        </p:attrNameLst>
                                      </p:cBhvr>
                                      <p:tavLst>
                                        <p:tav tm="0">
                                          <p:val>
                                            <p:strVal val="#ppt_y-.03"/>
                                          </p:val>
                                        </p:tav>
                                        <p:tav tm="100000">
                                          <p:val>
                                            <p:strVal val="#ppt_y"/>
                                          </p:val>
                                        </p:tav>
                                      </p:tavLst>
                                    </p:anim>
                                  </p:childTnLst>
                                </p:cTn>
                              </p:par>
                              <p:par>
                                <p:cTn id="53" presetID="37" presetClass="entr" presetSubtype="0" fill="hold" nodeType="withEffect">
                                  <p:stCondLst>
                                    <p:cond delay="1660"/>
                                  </p:stCondLst>
                                  <p:childTnLst>
                                    <p:set>
                                      <p:cBhvr>
                                        <p:cTn id="54" dur="1" fill="hold">
                                          <p:stCondLst>
                                            <p:cond delay="0"/>
                                          </p:stCondLst>
                                        </p:cTn>
                                        <p:tgtEl>
                                          <p:spTgt spid="42"/>
                                        </p:tgtEl>
                                        <p:attrNameLst>
                                          <p:attrName>style.visibility</p:attrName>
                                        </p:attrNameLst>
                                      </p:cBhvr>
                                      <p:to>
                                        <p:strVal val="visible"/>
                                      </p:to>
                                    </p:set>
                                    <p:animEffect transition="in" filter="fade">
                                      <p:cBhvr>
                                        <p:cTn id="55" dur="550"/>
                                        <p:tgtEl>
                                          <p:spTgt spid="42"/>
                                        </p:tgtEl>
                                      </p:cBhvr>
                                    </p:animEffect>
                                    <p:anim calcmode="lin" valueType="num">
                                      <p:cBhvr>
                                        <p:cTn id="56" dur="550" fill="hold"/>
                                        <p:tgtEl>
                                          <p:spTgt spid="42"/>
                                        </p:tgtEl>
                                        <p:attrNameLst>
                                          <p:attrName>ppt_x</p:attrName>
                                        </p:attrNameLst>
                                      </p:cBhvr>
                                      <p:tavLst>
                                        <p:tav tm="0">
                                          <p:val>
                                            <p:strVal val="#ppt_x"/>
                                          </p:val>
                                        </p:tav>
                                        <p:tav tm="100000">
                                          <p:val>
                                            <p:strVal val="#ppt_x"/>
                                          </p:val>
                                        </p:tav>
                                      </p:tavLst>
                                    </p:anim>
                                    <p:anim calcmode="lin" valueType="num">
                                      <p:cBhvr>
                                        <p:cTn id="57" dur="495" decel="100000" fill="hold"/>
                                        <p:tgtEl>
                                          <p:spTgt spid="42"/>
                                        </p:tgtEl>
                                        <p:attrNameLst>
                                          <p:attrName>ppt_y</p:attrName>
                                        </p:attrNameLst>
                                      </p:cBhvr>
                                      <p:tavLst>
                                        <p:tav tm="0">
                                          <p:val>
                                            <p:strVal val="#ppt_y+1"/>
                                          </p:val>
                                        </p:tav>
                                        <p:tav tm="100000">
                                          <p:val>
                                            <p:strVal val="#ppt_y-.03"/>
                                          </p:val>
                                        </p:tav>
                                      </p:tavLst>
                                    </p:anim>
                                    <p:anim calcmode="lin" valueType="num">
                                      <p:cBhvr>
                                        <p:cTn id="58" dur="55" accel="100000" fill="hold">
                                          <p:stCondLst>
                                            <p:cond delay="495"/>
                                          </p:stCondLst>
                                        </p:cTn>
                                        <p:tgtEl>
                                          <p:spTgt spid="42"/>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14284B"/>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57150"/>
          </a:xfrm>
          <a:prstGeom prst="rect">
            <a:avLst/>
          </a:prstGeom>
          <a:solidFill>
            <a:srgbClr val="59BEC9"/>
          </a:solidFill>
          <a:ln>
            <a:noFill/>
          </a:ln>
        </p:spPr>
        <p:txBody>
          <a:bodyPr rtlCol="0" anchor="ctr"/>
          <a:lstStyle/>
          <a:p>
            <a:pPr algn="ctr"/>
            <a:endParaRPr/>
          </a:p>
        </p:txBody>
      </p:sp>
      <p:grpSp>
        <p:nvGrpSpPr>
          <p:cNvPr id="3" name="anim|fade|0.05"/>
          <p:cNvGrpSpPr/>
          <p:nvPr/>
        </p:nvGrpSpPr>
        <p:grpSpPr>
          <a:xfrm>
            <a:off x="571500" y="266700"/>
            <a:ext cx="7105650" cy="190500"/>
            <a:chOff x="571500" y="266700"/>
            <a:chExt cx="7105650" cy="190500"/>
          </a:xfrm>
        </p:grpSpPr>
        <p:sp>
          <p:nvSpPr>
            <p:cNvPr id="4" name="Rectangle 3"/>
            <p:cNvSpPr/>
            <p:nvPr/>
          </p:nvSpPr>
          <p:spPr>
            <a:xfrm>
              <a:off x="571500" y="342900"/>
              <a:ext cx="342900" cy="47625"/>
            </a:xfrm>
            <a:prstGeom prst="rect">
              <a:avLst/>
            </a:prstGeom>
            <a:solidFill>
              <a:srgbClr val="FFB938"/>
            </a:solidFill>
            <a:ln>
              <a:noFill/>
            </a:ln>
          </p:spPr>
          <p:txBody>
            <a:bodyPr rtlCol="0" anchor="ctr"/>
            <a:lstStyle/>
            <a:p>
              <a:pPr algn="ctr"/>
              <a:endParaRPr/>
            </a:p>
          </p:txBody>
        </p:sp>
        <p:sp>
          <p:nvSpPr>
            <p:cNvPr id="5" name="TextBox 4"/>
            <p:cNvSpPr txBox="1"/>
            <p:nvPr/>
          </p:nvSpPr>
          <p:spPr>
            <a:xfrm>
              <a:off x="1009650" y="266700"/>
              <a:ext cx="6667500" cy="190500"/>
            </a:xfrm>
            <a:prstGeom prst="rect">
              <a:avLst/>
            </a:prstGeom>
            <a:noFill/>
          </p:spPr>
          <p:txBody>
            <a:bodyPr wrap="square" lIns="0" tIns="0" rIns="0" bIns="0" anchor="t">
              <a:spAutoFit/>
            </a:bodyPr>
            <a:lstStyle/>
            <a:p>
              <a:pPr algn="l"/>
              <a:r>
                <a:rPr sz="1100" b="1" spc="300">
                  <a:solidFill>
                    <a:srgbClr val="59BEC9"/>
                  </a:solidFill>
                  <a:latin typeface="Century Gothic"/>
                </a:rPr>
                <a:t>RESTORING</a:t>
              </a:r>
            </a:p>
          </p:txBody>
        </p:sp>
      </p:grpSp>
      <p:sp>
        <p:nvSpPr>
          <p:cNvPr id="6" name="anim|wipeL|0.1"/>
          <p:cNvSpPr txBox="1"/>
          <p:nvPr/>
        </p:nvSpPr>
        <p:spPr>
          <a:xfrm>
            <a:off x="571500" y="533400"/>
            <a:ext cx="11049000" cy="533400"/>
          </a:xfrm>
          <a:prstGeom prst="rect">
            <a:avLst/>
          </a:prstGeom>
          <a:noFill/>
        </p:spPr>
        <p:txBody>
          <a:bodyPr wrap="square" lIns="0" tIns="0" rIns="0" bIns="0" anchor="t">
            <a:spAutoFit/>
          </a:bodyPr>
          <a:lstStyle/>
          <a:p>
            <a:pPr algn="l"/>
            <a:r>
              <a:rPr sz="3100" b="1">
                <a:solidFill>
                  <a:srgbClr val="FFFFFF"/>
                </a:solidFill>
                <a:latin typeface="Century Gothic"/>
              </a:rPr>
              <a:t>Restore in the Portal: finding the backup</a:t>
            </a:r>
          </a:p>
        </p:txBody>
      </p:sp>
      <p:sp>
        <p:nvSpPr>
          <p:cNvPr id="7" name="anim|fade|0.45"/>
          <p:cNvSpPr txBox="1"/>
          <p:nvPr/>
        </p:nvSpPr>
        <p:spPr>
          <a:xfrm>
            <a:off x="571500" y="1028700"/>
            <a:ext cx="11049000" cy="247650"/>
          </a:xfrm>
          <a:prstGeom prst="rect">
            <a:avLst/>
          </a:prstGeom>
          <a:noFill/>
        </p:spPr>
        <p:txBody>
          <a:bodyPr wrap="square" lIns="0" tIns="0" rIns="0" bIns="0" anchor="t">
            <a:spAutoFit/>
          </a:bodyPr>
          <a:lstStyle/>
          <a:p>
            <a:pPr algn="l"/>
            <a:r>
              <a:rPr sz="1500" b="0">
                <a:solidFill>
                  <a:srgbClr val="B0C0D9"/>
                </a:solidFill>
                <a:latin typeface="Segoe UI"/>
              </a:rPr>
              <a:t>Moves 1 to 3 of 6</a:t>
            </a:r>
          </a:p>
        </p:txBody>
      </p:sp>
      <p:sp>
        <p:nvSpPr>
          <p:cNvPr id="8" name="TextBox 7"/>
          <p:cNvSpPr txBox="1"/>
          <p:nvPr/>
        </p:nvSpPr>
        <p:spPr>
          <a:xfrm>
            <a:off x="571500" y="6534150"/>
            <a:ext cx="6667500" cy="171450"/>
          </a:xfrm>
          <a:prstGeom prst="rect">
            <a:avLst/>
          </a:prstGeom>
          <a:noFill/>
        </p:spPr>
        <p:txBody>
          <a:bodyPr wrap="square" lIns="0" tIns="0" rIns="0" bIns="0" anchor="t">
            <a:spAutoFit/>
          </a:bodyPr>
          <a:lstStyle/>
          <a:p>
            <a:pPr algn="l"/>
            <a:r>
              <a:rPr sz="950" b="0">
                <a:solidFill>
                  <a:srgbClr val="B0C0D9"/>
                </a:solidFill>
                <a:latin typeface="Segoe UI"/>
              </a:rPr>
              <a:t>AKS Backup &amp; Restore  |  BFH AKS IHUB Platform Team</a:t>
            </a:r>
          </a:p>
        </p:txBody>
      </p:sp>
      <p:sp>
        <p:nvSpPr>
          <p:cNvPr id="9" name="TextBox 8"/>
          <p:cNvSpPr txBox="1"/>
          <p:nvPr/>
        </p:nvSpPr>
        <p:spPr>
          <a:xfrm>
            <a:off x="10668000" y="6534150"/>
            <a:ext cx="952500" cy="171450"/>
          </a:xfrm>
          <a:prstGeom prst="rect">
            <a:avLst/>
          </a:prstGeom>
          <a:noFill/>
        </p:spPr>
        <p:txBody>
          <a:bodyPr wrap="square" lIns="0" tIns="0" rIns="0" bIns="0" anchor="t">
            <a:spAutoFit/>
          </a:bodyPr>
          <a:lstStyle/>
          <a:p>
            <a:pPr algn="r"/>
            <a:r>
              <a:rPr sz="1000" b="1">
                <a:solidFill>
                  <a:srgbClr val="FFB938"/>
                </a:solidFill>
                <a:latin typeface="Century Gothic"/>
              </a:rPr>
              <a:t>17</a:t>
            </a:r>
          </a:p>
        </p:txBody>
      </p:sp>
      <p:grpSp>
        <p:nvGrpSpPr>
          <p:cNvPr id="10" name="anim|rise|0.55"/>
          <p:cNvGrpSpPr/>
          <p:nvPr/>
        </p:nvGrpSpPr>
        <p:grpSpPr>
          <a:xfrm>
            <a:off x="571500" y="1485900"/>
            <a:ext cx="3581400" cy="2400300"/>
            <a:chOff x="571500" y="1485900"/>
            <a:chExt cx="3581400" cy="2400300"/>
          </a:xfrm>
        </p:grpSpPr>
        <p:sp>
          <p:nvSpPr>
            <p:cNvPr id="11" name="Rounded Rectangle 10"/>
            <p:cNvSpPr/>
            <p:nvPr/>
          </p:nvSpPr>
          <p:spPr>
            <a:xfrm>
              <a:off x="571500" y="1485900"/>
              <a:ext cx="3581400" cy="2400300"/>
            </a:xfrm>
            <a:prstGeom prst="roundRect">
              <a:avLst>
                <a:gd name="adj" fmla="val 7142"/>
              </a:avLst>
            </a:prstGeom>
            <a:solidFill>
              <a:srgbClr val="1E3A68"/>
            </a:solidFill>
            <a:ln>
              <a:noFill/>
            </a:ln>
          </p:spPr>
          <p:txBody>
            <a:bodyPr rtlCol="0" anchor="ctr"/>
            <a:lstStyle/>
            <a:p>
              <a:pPr algn="ctr"/>
              <a:endParaRPr/>
            </a:p>
          </p:txBody>
        </p:sp>
        <p:sp>
          <p:nvSpPr>
            <p:cNvPr id="12" name="Oval 11"/>
            <p:cNvSpPr/>
            <p:nvPr/>
          </p:nvSpPr>
          <p:spPr>
            <a:xfrm>
              <a:off x="819150" y="1733550"/>
              <a:ext cx="533400" cy="533400"/>
            </a:xfrm>
            <a:prstGeom prst="ellipse">
              <a:avLst/>
            </a:prstGeom>
            <a:solidFill>
              <a:srgbClr val="FFB938"/>
            </a:solidFill>
            <a:ln>
              <a:noFill/>
            </a:ln>
          </p:spPr>
          <p:txBody>
            <a:bodyPr rtlCol="0" anchor="ctr"/>
            <a:lstStyle/>
            <a:p>
              <a:pPr algn="ctr"/>
              <a:endParaRPr/>
            </a:p>
          </p:txBody>
        </p:sp>
        <p:sp>
          <p:nvSpPr>
            <p:cNvPr id="13" name="TextBox 12"/>
            <p:cNvSpPr txBox="1"/>
            <p:nvPr/>
          </p:nvSpPr>
          <p:spPr>
            <a:xfrm>
              <a:off x="819150" y="1733550"/>
              <a:ext cx="533400" cy="533400"/>
            </a:xfrm>
            <a:prstGeom prst="rect">
              <a:avLst/>
            </a:prstGeom>
            <a:noFill/>
          </p:spPr>
          <p:txBody>
            <a:bodyPr wrap="square" lIns="0" tIns="0" rIns="0" bIns="0" anchor="ctr">
              <a:spAutoFit/>
            </a:bodyPr>
            <a:lstStyle/>
            <a:p>
              <a:pPr algn="ctr"/>
              <a:r>
                <a:rPr sz="2200" b="1">
                  <a:solidFill>
                    <a:srgbClr val="14284B"/>
                  </a:solidFill>
                  <a:latin typeface="Century Gothic"/>
                </a:rPr>
                <a:t>1</a:t>
              </a:r>
            </a:p>
          </p:txBody>
        </p:sp>
        <p:sp>
          <p:nvSpPr>
            <p:cNvPr id="14" name="TextBox 13"/>
            <p:cNvSpPr txBox="1"/>
            <p:nvPr/>
          </p:nvSpPr>
          <p:spPr>
            <a:xfrm>
              <a:off x="819150" y="2457450"/>
              <a:ext cx="3086100" cy="533400"/>
            </a:xfrm>
            <a:prstGeom prst="rect">
              <a:avLst/>
            </a:prstGeom>
            <a:noFill/>
          </p:spPr>
          <p:txBody>
            <a:bodyPr wrap="square" lIns="0" tIns="0" rIns="0" bIns="0" anchor="t">
              <a:spAutoFit/>
            </a:bodyPr>
            <a:lstStyle/>
            <a:p>
              <a:pPr algn="l"/>
              <a:r>
                <a:rPr sz="1900" b="1">
                  <a:solidFill>
                    <a:srgbClr val="FFFFFF"/>
                  </a:solidFill>
                  <a:latin typeface="Century Gothic"/>
                </a:rPr>
                <a:t>Open the vault</a:t>
              </a:r>
            </a:p>
          </p:txBody>
        </p:sp>
        <p:sp>
          <p:nvSpPr>
            <p:cNvPr id="15" name="TextBox 14"/>
            <p:cNvSpPr txBox="1"/>
            <p:nvPr/>
          </p:nvSpPr>
          <p:spPr>
            <a:xfrm>
              <a:off x="819150" y="2819400"/>
              <a:ext cx="3086100" cy="762000"/>
            </a:xfrm>
            <a:prstGeom prst="rect">
              <a:avLst/>
            </a:prstGeom>
            <a:noFill/>
          </p:spPr>
          <p:txBody>
            <a:bodyPr wrap="square" lIns="0" tIns="0" rIns="0" bIns="0" anchor="t">
              <a:spAutoFit/>
            </a:bodyPr>
            <a:lstStyle/>
            <a:p>
              <a:pPr algn="l"/>
              <a:r>
                <a:rPr sz="1450" b="0">
                  <a:solidFill>
                    <a:srgbClr val="B0C0D9"/>
                  </a:solidFill>
                  <a:latin typeface="Segoe UI"/>
                </a:rPr>
                <a:t>In the Azure Portal, search Backup vaults and open the vault for your environment.</a:t>
              </a:r>
            </a:p>
          </p:txBody>
        </p:sp>
      </p:grpSp>
      <p:grpSp>
        <p:nvGrpSpPr>
          <p:cNvPr id="16" name="anim|rise|0.75"/>
          <p:cNvGrpSpPr/>
          <p:nvPr/>
        </p:nvGrpSpPr>
        <p:grpSpPr>
          <a:xfrm>
            <a:off x="4305300" y="1485900"/>
            <a:ext cx="3581400" cy="2400300"/>
            <a:chOff x="4305300" y="1485900"/>
            <a:chExt cx="3581400" cy="2400300"/>
          </a:xfrm>
        </p:grpSpPr>
        <p:sp>
          <p:nvSpPr>
            <p:cNvPr id="17" name="Rounded Rectangle 16"/>
            <p:cNvSpPr/>
            <p:nvPr/>
          </p:nvSpPr>
          <p:spPr>
            <a:xfrm>
              <a:off x="4305300" y="1485900"/>
              <a:ext cx="3581400" cy="2400300"/>
            </a:xfrm>
            <a:prstGeom prst="roundRect">
              <a:avLst>
                <a:gd name="adj" fmla="val 7142"/>
              </a:avLst>
            </a:prstGeom>
            <a:solidFill>
              <a:srgbClr val="1E3A68"/>
            </a:solidFill>
            <a:ln>
              <a:noFill/>
            </a:ln>
          </p:spPr>
          <p:txBody>
            <a:bodyPr rtlCol="0" anchor="ctr"/>
            <a:lstStyle/>
            <a:p>
              <a:pPr algn="ctr"/>
              <a:endParaRPr/>
            </a:p>
          </p:txBody>
        </p:sp>
        <p:sp>
          <p:nvSpPr>
            <p:cNvPr id="18" name="Oval 17"/>
            <p:cNvSpPr/>
            <p:nvPr/>
          </p:nvSpPr>
          <p:spPr>
            <a:xfrm>
              <a:off x="4552950" y="1733550"/>
              <a:ext cx="533400" cy="533400"/>
            </a:xfrm>
            <a:prstGeom prst="ellipse">
              <a:avLst/>
            </a:prstGeom>
            <a:solidFill>
              <a:srgbClr val="FFB938"/>
            </a:solidFill>
            <a:ln>
              <a:noFill/>
            </a:ln>
          </p:spPr>
          <p:txBody>
            <a:bodyPr rtlCol="0" anchor="ctr"/>
            <a:lstStyle/>
            <a:p>
              <a:pPr algn="ctr"/>
              <a:endParaRPr/>
            </a:p>
          </p:txBody>
        </p:sp>
        <p:sp>
          <p:nvSpPr>
            <p:cNvPr id="19" name="TextBox 18"/>
            <p:cNvSpPr txBox="1"/>
            <p:nvPr/>
          </p:nvSpPr>
          <p:spPr>
            <a:xfrm>
              <a:off x="4552950" y="1733550"/>
              <a:ext cx="533400" cy="533400"/>
            </a:xfrm>
            <a:prstGeom prst="rect">
              <a:avLst/>
            </a:prstGeom>
            <a:noFill/>
          </p:spPr>
          <p:txBody>
            <a:bodyPr wrap="square" lIns="0" tIns="0" rIns="0" bIns="0" anchor="ctr">
              <a:spAutoFit/>
            </a:bodyPr>
            <a:lstStyle/>
            <a:p>
              <a:pPr algn="ctr"/>
              <a:r>
                <a:rPr sz="2200" b="1">
                  <a:solidFill>
                    <a:srgbClr val="14284B"/>
                  </a:solidFill>
                  <a:latin typeface="Century Gothic"/>
                </a:rPr>
                <a:t>2</a:t>
              </a:r>
            </a:p>
          </p:txBody>
        </p:sp>
        <p:sp>
          <p:nvSpPr>
            <p:cNvPr id="20" name="TextBox 19"/>
            <p:cNvSpPr txBox="1"/>
            <p:nvPr/>
          </p:nvSpPr>
          <p:spPr>
            <a:xfrm>
              <a:off x="4552950" y="2457450"/>
              <a:ext cx="3086100" cy="533400"/>
            </a:xfrm>
            <a:prstGeom prst="rect">
              <a:avLst/>
            </a:prstGeom>
            <a:noFill/>
          </p:spPr>
          <p:txBody>
            <a:bodyPr wrap="square" lIns="0" tIns="0" rIns="0" bIns="0" anchor="t">
              <a:spAutoFit/>
            </a:bodyPr>
            <a:lstStyle/>
            <a:p>
              <a:pPr algn="l"/>
              <a:r>
                <a:rPr sz="1900" b="1">
                  <a:solidFill>
                    <a:srgbClr val="FFFFFF"/>
                  </a:solidFill>
                  <a:latin typeface="Century Gothic"/>
                </a:rPr>
                <a:t>Select the backup instance</a:t>
              </a:r>
            </a:p>
          </p:txBody>
        </p:sp>
        <p:sp>
          <p:nvSpPr>
            <p:cNvPr id="21" name="TextBox 20"/>
            <p:cNvSpPr txBox="1"/>
            <p:nvPr/>
          </p:nvSpPr>
          <p:spPr>
            <a:xfrm>
              <a:off x="4552950" y="3067050"/>
              <a:ext cx="3086100" cy="762000"/>
            </a:xfrm>
            <a:prstGeom prst="rect">
              <a:avLst/>
            </a:prstGeom>
            <a:noFill/>
          </p:spPr>
          <p:txBody>
            <a:bodyPr wrap="square" lIns="0" tIns="0" rIns="0" bIns="0" anchor="t">
              <a:spAutoFit/>
            </a:bodyPr>
            <a:lstStyle/>
            <a:p>
              <a:pPr algn="l"/>
              <a:r>
                <a:rPr sz="1450" b="0">
                  <a:solidFill>
                    <a:srgbClr val="B0C0D9"/>
                  </a:solidFill>
                  <a:latin typeface="Segoe UI"/>
                </a:rPr>
                <a:t>Open Backup instances and select the AKS backup instance.</a:t>
              </a:r>
            </a:p>
          </p:txBody>
        </p:sp>
      </p:grpSp>
      <p:grpSp>
        <p:nvGrpSpPr>
          <p:cNvPr id="22" name="anim|rise|0.95"/>
          <p:cNvGrpSpPr/>
          <p:nvPr/>
        </p:nvGrpSpPr>
        <p:grpSpPr>
          <a:xfrm>
            <a:off x="8039100" y="1485900"/>
            <a:ext cx="3581400" cy="2400300"/>
            <a:chOff x="8039100" y="1485900"/>
            <a:chExt cx="3581400" cy="2400300"/>
          </a:xfrm>
        </p:grpSpPr>
        <p:sp>
          <p:nvSpPr>
            <p:cNvPr id="23" name="Rounded Rectangle 22"/>
            <p:cNvSpPr/>
            <p:nvPr/>
          </p:nvSpPr>
          <p:spPr>
            <a:xfrm>
              <a:off x="8039100" y="1485900"/>
              <a:ext cx="3581400" cy="2400300"/>
            </a:xfrm>
            <a:prstGeom prst="roundRect">
              <a:avLst>
                <a:gd name="adj" fmla="val 7142"/>
              </a:avLst>
            </a:prstGeom>
            <a:solidFill>
              <a:srgbClr val="1E3A68"/>
            </a:solidFill>
            <a:ln>
              <a:noFill/>
            </a:ln>
          </p:spPr>
          <p:txBody>
            <a:bodyPr rtlCol="0" anchor="ctr"/>
            <a:lstStyle/>
            <a:p>
              <a:pPr algn="ctr"/>
              <a:endParaRPr/>
            </a:p>
          </p:txBody>
        </p:sp>
        <p:sp>
          <p:nvSpPr>
            <p:cNvPr id="24" name="Oval 23"/>
            <p:cNvSpPr/>
            <p:nvPr/>
          </p:nvSpPr>
          <p:spPr>
            <a:xfrm>
              <a:off x="8286750" y="1733550"/>
              <a:ext cx="533400" cy="533400"/>
            </a:xfrm>
            <a:prstGeom prst="ellipse">
              <a:avLst/>
            </a:prstGeom>
            <a:solidFill>
              <a:srgbClr val="FFB938"/>
            </a:solidFill>
            <a:ln>
              <a:noFill/>
            </a:ln>
          </p:spPr>
          <p:txBody>
            <a:bodyPr rtlCol="0" anchor="ctr"/>
            <a:lstStyle/>
            <a:p>
              <a:pPr algn="ctr"/>
              <a:endParaRPr/>
            </a:p>
          </p:txBody>
        </p:sp>
        <p:sp>
          <p:nvSpPr>
            <p:cNvPr id="25" name="TextBox 24"/>
            <p:cNvSpPr txBox="1"/>
            <p:nvPr/>
          </p:nvSpPr>
          <p:spPr>
            <a:xfrm>
              <a:off x="8286750" y="1733550"/>
              <a:ext cx="533400" cy="533400"/>
            </a:xfrm>
            <a:prstGeom prst="rect">
              <a:avLst/>
            </a:prstGeom>
            <a:noFill/>
          </p:spPr>
          <p:txBody>
            <a:bodyPr wrap="square" lIns="0" tIns="0" rIns="0" bIns="0" anchor="ctr">
              <a:spAutoFit/>
            </a:bodyPr>
            <a:lstStyle/>
            <a:p>
              <a:pPr algn="ctr"/>
              <a:r>
                <a:rPr sz="2200" b="1">
                  <a:solidFill>
                    <a:srgbClr val="14284B"/>
                  </a:solidFill>
                  <a:latin typeface="Century Gothic"/>
                </a:rPr>
                <a:t>3</a:t>
              </a:r>
            </a:p>
          </p:txBody>
        </p:sp>
        <p:sp>
          <p:nvSpPr>
            <p:cNvPr id="26" name="TextBox 25"/>
            <p:cNvSpPr txBox="1"/>
            <p:nvPr/>
          </p:nvSpPr>
          <p:spPr>
            <a:xfrm>
              <a:off x="8286750" y="2457450"/>
              <a:ext cx="3086100" cy="533400"/>
            </a:xfrm>
            <a:prstGeom prst="rect">
              <a:avLst/>
            </a:prstGeom>
            <a:noFill/>
          </p:spPr>
          <p:txBody>
            <a:bodyPr wrap="square" lIns="0" tIns="0" rIns="0" bIns="0" anchor="t">
              <a:spAutoFit/>
            </a:bodyPr>
            <a:lstStyle/>
            <a:p>
              <a:pPr algn="l"/>
              <a:r>
                <a:rPr sz="1900" b="1">
                  <a:solidFill>
                    <a:srgbClr val="FFFFFF"/>
                  </a:solidFill>
                  <a:latin typeface="Century Gothic"/>
                </a:rPr>
                <a:t>Click Restore and pick the restore point</a:t>
              </a:r>
            </a:p>
          </p:txBody>
        </p:sp>
        <p:sp>
          <p:nvSpPr>
            <p:cNvPr id="27" name="TextBox 26"/>
            <p:cNvSpPr txBox="1"/>
            <p:nvPr/>
          </p:nvSpPr>
          <p:spPr>
            <a:xfrm>
              <a:off x="8286750" y="3067050"/>
              <a:ext cx="3086100" cy="762000"/>
            </a:xfrm>
            <a:prstGeom prst="rect">
              <a:avLst/>
            </a:prstGeom>
            <a:noFill/>
          </p:spPr>
          <p:txBody>
            <a:bodyPr wrap="square" lIns="0" tIns="0" rIns="0" bIns="0" anchor="t">
              <a:spAutoFit/>
            </a:bodyPr>
            <a:lstStyle/>
            <a:p>
              <a:pPr algn="l"/>
              <a:r>
                <a:rPr sz="1450" b="0">
                  <a:solidFill>
                    <a:srgbClr val="B0C0D9"/>
                  </a:solidFill>
                  <a:latin typeface="Segoe UI"/>
                </a:rPr>
                <a:t>Click Restore, go to the Restore point tab, and choose the point in time you want to restore.</a:t>
              </a:r>
            </a:p>
          </p:txBody>
        </p:sp>
      </p:grpSp>
      <p:sp>
        <p:nvSpPr>
          <p:cNvPr id="28" name="anim|fade|1.15"/>
          <p:cNvSpPr txBox="1"/>
          <p:nvPr/>
        </p:nvSpPr>
        <p:spPr>
          <a:xfrm>
            <a:off x="571500" y="4114800"/>
            <a:ext cx="3810000" cy="190500"/>
          </a:xfrm>
          <a:prstGeom prst="rect">
            <a:avLst/>
          </a:prstGeom>
          <a:noFill/>
        </p:spPr>
        <p:txBody>
          <a:bodyPr wrap="square" lIns="0" tIns="0" rIns="0" bIns="0" anchor="t">
            <a:spAutoFit/>
          </a:bodyPr>
          <a:lstStyle/>
          <a:p>
            <a:pPr algn="l"/>
            <a:r>
              <a:rPr sz="1100" b="1" spc="300">
                <a:solidFill>
                  <a:srgbClr val="59BEC9"/>
                </a:solidFill>
                <a:latin typeface="Century Gothic"/>
              </a:rPr>
              <a:t>PORTAL PATH</a:t>
            </a:r>
          </a:p>
        </p:txBody>
      </p:sp>
      <p:grpSp>
        <p:nvGrpSpPr>
          <p:cNvPr id="29" name="anim|wipeL|1.35"/>
          <p:cNvGrpSpPr/>
          <p:nvPr/>
        </p:nvGrpSpPr>
        <p:grpSpPr>
          <a:xfrm>
            <a:off x="571500" y="4400550"/>
            <a:ext cx="1264771" cy="381000"/>
            <a:chOff x="571500" y="4400550"/>
            <a:chExt cx="1264771" cy="381000"/>
          </a:xfrm>
        </p:grpSpPr>
        <p:sp>
          <p:nvSpPr>
            <p:cNvPr id="30" name="Rounded Rectangle 29"/>
            <p:cNvSpPr/>
            <p:nvPr/>
          </p:nvSpPr>
          <p:spPr>
            <a:xfrm>
              <a:off x="571500" y="4400550"/>
              <a:ext cx="1036171" cy="381000"/>
            </a:xfrm>
            <a:prstGeom prst="roundRect">
              <a:avLst>
                <a:gd name="adj" fmla="val 50000"/>
              </a:avLst>
            </a:prstGeom>
            <a:solidFill>
              <a:srgbClr val="1E3A68"/>
            </a:solidFill>
            <a:ln w="17780">
              <a:solidFill>
                <a:srgbClr val="2E5286"/>
              </a:solidFill>
            </a:ln>
          </p:spPr>
          <p:txBody>
            <a:bodyPr rtlCol="0" anchor="ctr"/>
            <a:lstStyle/>
            <a:p>
              <a:pPr algn="ctr"/>
              <a:endParaRPr/>
            </a:p>
          </p:txBody>
        </p:sp>
        <p:sp>
          <p:nvSpPr>
            <p:cNvPr id="31" name="TextBox 30"/>
            <p:cNvSpPr txBox="1"/>
            <p:nvPr/>
          </p:nvSpPr>
          <p:spPr>
            <a:xfrm>
              <a:off x="571500" y="4400550"/>
              <a:ext cx="1036171" cy="381000"/>
            </a:xfrm>
            <a:prstGeom prst="rect">
              <a:avLst/>
            </a:prstGeom>
            <a:noFill/>
          </p:spPr>
          <p:txBody>
            <a:bodyPr wrap="square" lIns="0" tIns="0" rIns="0" bIns="0" anchor="ctr">
              <a:spAutoFit/>
            </a:bodyPr>
            <a:lstStyle/>
            <a:p>
              <a:pPr algn="ctr"/>
              <a:r>
                <a:rPr sz="1150" b="0">
                  <a:solidFill>
                    <a:srgbClr val="FFFFFF"/>
                  </a:solidFill>
                  <a:latin typeface="Segoe UI"/>
                </a:rPr>
                <a:t>Azure Portal</a:t>
              </a:r>
            </a:p>
          </p:txBody>
        </p:sp>
        <p:sp>
          <p:nvSpPr>
            <p:cNvPr id="32" name="TextBox 31"/>
            <p:cNvSpPr txBox="1"/>
            <p:nvPr/>
          </p:nvSpPr>
          <p:spPr>
            <a:xfrm>
              <a:off x="1607671" y="4400550"/>
              <a:ext cx="228600" cy="381000"/>
            </a:xfrm>
            <a:prstGeom prst="rect">
              <a:avLst/>
            </a:prstGeom>
            <a:noFill/>
          </p:spPr>
          <p:txBody>
            <a:bodyPr wrap="square" lIns="0" tIns="0" rIns="0" bIns="0" anchor="ctr">
              <a:spAutoFit/>
            </a:bodyPr>
            <a:lstStyle/>
            <a:p>
              <a:pPr algn="ctr"/>
              <a:r>
                <a:rPr sz="1800" b="1">
                  <a:solidFill>
                    <a:srgbClr val="59BEC9"/>
                  </a:solidFill>
                  <a:latin typeface="Segoe UI"/>
                </a:rPr>
                <a:t>›</a:t>
              </a:r>
            </a:p>
          </p:txBody>
        </p:sp>
      </p:grpSp>
      <p:grpSp>
        <p:nvGrpSpPr>
          <p:cNvPr id="33" name="anim|wipeL|1.53"/>
          <p:cNvGrpSpPr/>
          <p:nvPr/>
        </p:nvGrpSpPr>
        <p:grpSpPr>
          <a:xfrm>
            <a:off x="1836271" y="4400550"/>
            <a:ext cx="1350682" cy="381000"/>
            <a:chOff x="1836271" y="4400550"/>
            <a:chExt cx="1350682" cy="381000"/>
          </a:xfrm>
        </p:grpSpPr>
        <p:sp>
          <p:nvSpPr>
            <p:cNvPr id="34" name="Rounded Rectangle 33"/>
            <p:cNvSpPr/>
            <p:nvPr/>
          </p:nvSpPr>
          <p:spPr>
            <a:xfrm>
              <a:off x="1836271" y="4400550"/>
              <a:ext cx="1122082" cy="381000"/>
            </a:xfrm>
            <a:prstGeom prst="roundRect">
              <a:avLst>
                <a:gd name="adj" fmla="val 50000"/>
              </a:avLst>
            </a:prstGeom>
            <a:solidFill>
              <a:srgbClr val="1E3A68"/>
            </a:solidFill>
            <a:ln w="17780">
              <a:solidFill>
                <a:srgbClr val="2E5286"/>
              </a:solidFill>
            </a:ln>
          </p:spPr>
          <p:txBody>
            <a:bodyPr rtlCol="0" anchor="ctr"/>
            <a:lstStyle/>
            <a:p>
              <a:pPr algn="ctr"/>
              <a:endParaRPr/>
            </a:p>
          </p:txBody>
        </p:sp>
        <p:sp>
          <p:nvSpPr>
            <p:cNvPr id="35" name="TextBox 34"/>
            <p:cNvSpPr txBox="1"/>
            <p:nvPr/>
          </p:nvSpPr>
          <p:spPr>
            <a:xfrm>
              <a:off x="1836271" y="4400550"/>
              <a:ext cx="1122082" cy="381000"/>
            </a:xfrm>
            <a:prstGeom prst="rect">
              <a:avLst/>
            </a:prstGeom>
            <a:noFill/>
          </p:spPr>
          <p:txBody>
            <a:bodyPr wrap="square" lIns="0" tIns="0" rIns="0" bIns="0" anchor="ctr">
              <a:spAutoFit/>
            </a:bodyPr>
            <a:lstStyle/>
            <a:p>
              <a:pPr algn="ctr"/>
              <a:r>
                <a:rPr sz="1150" b="0">
                  <a:solidFill>
                    <a:srgbClr val="FFFFFF"/>
                  </a:solidFill>
                  <a:latin typeface="Segoe UI"/>
                </a:rPr>
                <a:t>Backup vaults</a:t>
              </a:r>
            </a:p>
          </p:txBody>
        </p:sp>
        <p:sp>
          <p:nvSpPr>
            <p:cNvPr id="36" name="TextBox 35"/>
            <p:cNvSpPr txBox="1"/>
            <p:nvPr/>
          </p:nvSpPr>
          <p:spPr>
            <a:xfrm>
              <a:off x="2958353" y="4400550"/>
              <a:ext cx="228600" cy="381000"/>
            </a:xfrm>
            <a:prstGeom prst="rect">
              <a:avLst/>
            </a:prstGeom>
            <a:noFill/>
          </p:spPr>
          <p:txBody>
            <a:bodyPr wrap="square" lIns="0" tIns="0" rIns="0" bIns="0" anchor="ctr">
              <a:spAutoFit/>
            </a:bodyPr>
            <a:lstStyle/>
            <a:p>
              <a:pPr algn="ctr"/>
              <a:r>
                <a:rPr sz="1800" b="1">
                  <a:solidFill>
                    <a:srgbClr val="59BEC9"/>
                  </a:solidFill>
                  <a:latin typeface="Segoe UI"/>
                </a:rPr>
                <a:t>›</a:t>
              </a:r>
            </a:p>
          </p:txBody>
        </p:sp>
      </p:grpSp>
      <p:grpSp>
        <p:nvGrpSpPr>
          <p:cNvPr id="37" name="anim|wipeL|1.71"/>
          <p:cNvGrpSpPr/>
          <p:nvPr/>
        </p:nvGrpSpPr>
        <p:grpSpPr>
          <a:xfrm>
            <a:off x="3186953" y="4400550"/>
            <a:ext cx="2338668" cy="381000"/>
            <a:chOff x="3186953" y="4400550"/>
            <a:chExt cx="2338668" cy="381000"/>
          </a:xfrm>
        </p:grpSpPr>
        <p:sp>
          <p:nvSpPr>
            <p:cNvPr id="38" name="Rounded Rectangle 37"/>
            <p:cNvSpPr/>
            <p:nvPr/>
          </p:nvSpPr>
          <p:spPr>
            <a:xfrm>
              <a:off x="3186953" y="4400550"/>
              <a:ext cx="2110068" cy="381000"/>
            </a:xfrm>
            <a:prstGeom prst="roundRect">
              <a:avLst>
                <a:gd name="adj" fmla="val 50000"/>
              </a:avLst>
            </a:prstGeom>
            <a:solidFill>
              <a:srgbClr val="1E3A68"/>
            </a:solidFill>
            <a:ln w="17780">
              <a:solidFill>
                <a:srgbClr val="2E5286"/>
              </a:solidFill>
            </a:ln>
          </p:spPr>
          <p:txBody>
            <a:bodyPr rtlCol="0" anchor="ctr"/>
            <a:lstStyle/>
            <a:p>
              <a:pPr algn="ctr"/>
              <a:endParaRPr/>
            </a:p>
          </p:txBody>
        </p:sp>
        <p:sp>
          <p:nvSpPr>
            <p:cNvPr id="39" name="TextBox 38"/>
            <p:cNvSpPr txBox="1"/>
            <p:nvPr/>
          </p:nvSpPr>
          <p:spPr>
            <a:xfrm>
              <a:off x="3186953" y="4400550"/>
              <a:ext cx="2110068" cy="381000"/>
            </a:xfrm>
            <a:prstGeom prst="rect">
              <a:avLst/>
            </a:prstGeom>
            <a:noFill/>
          </p:spPr>
          <p:txBody>
            <a:bodyPr wrap="square" lIns="0" tIns="0" rIns="0" bIns="0" anchor="ctr">
              <a:spAutoFit/>
            </a:bodyPr>
            <a:lstStyle/>
            <a:p>
              <a:pPr algn="ctr"/>
              <a:r>
                <a:rPr sz="1150" b="0">
                  <a:solidFill>
                    <a:srgbClr val="FFFFFF"/>
                  </a:solidFill>
                  <a:latin typeface="Segoe UI"/>
                </a:rPr>
                <a:t>&lt;vault for the environment&gt;</a:t>
              </a:r>
            </a:p>
          </p:txBody>
        </p:sp>
        <p:sp>
          <p:nvSpPr>
            <p:cNvPr id="40" name="TextBox 39"/>
            <p:cNvSpPr txBox="1"/>
            <p:nvPr/>
          </p:nvSpPr>
          <p:spPr>
            <a:xfrm>
              <a:off x="5297021" y="4400550"/>
              <a:ext cx="228600" cy="381000"/>
            </a:xfrm>
            <a:prstGeom prst="rect">
              <a:avLst/>
            </a:prstGeom>
            <a:noFill/>
          </p:spPr>
          <p:txBody>
            <a:bodyPr wrap="square" lIns="0" tIns="0" rIns="0" bIns="0" anchor="ctr">
              <a:spAutoFit/>
            </a:bodyPr>
            <a:lstStyle/>
            <a:p>
              <a:pPr algn="ctr"/>
              <a:r>
                <a:rPr sz="1800" b="1">
                  <a:solidFill>
                    <a:srgbClr val="59BEC9"/>
                  </a:solidFill>
                  <a:latin typeface="Segoe UI"/>
                </a:rPr>
                <a:t>›</a:t>
              </a:r>
            </a:p>
          </p:txBody>
        </p:sp>
      </p:grpSp>
      <p:grpSp>
        <p:nvGrpSpPr>
          <p:cNvPr id="41" name="anim|wipeL|1.89"/>
          <p:cNvGrpSpPr/>
          <p:nvPr/>
        </p:nvGrpSpPr>
        <p:grpSpPr>
          <a:xfrm>
            <a:off x="5525621" y="4400550"/>
            <a:ext cx="1574053" cy="381000"/>
            <a:chOff x="5525621" y="4400550"/>
            <a:chExt cx="1574053" cy="381000"/>
          </a:xfrm>
        </p:grpSpPr>
        <p:sp>
          <p:nvSpPr>
            <p:cNvPr id="42" name="Rounded Rectangle 41"/>
            <p:cNvSpPr/>
            <p:nvPr/>
          </p:nvSpPr>
          <p:spPr>
            <a:xfrm>
              <a:off x="5525621" y="4400550"/>
              <a:ext cx="1345453" cy="381000"/>
            </a:xfrm>
            <a:prstGeom prst="roundRect">
              <a:avLst>
                <a:gd name="adj" fmla="val 50000"/>
              </a:avLst>
            </a:prstGeom>
            <a:solidFill>
              <a:srgbClr val="1E3A68"/>
            </a:solidFill>
            <a:ln w="17780">
              <a:solidFill>
                <a:srgbClr val="2E5286"/>
              </a:solidFill>
            </a:ln>
          </p:spPr>
          <p:txBody>
            <a:bodyPr rtlCol="0" anchor="ctr"/>
            <a:lstStyle/>
            <a:p>
              <a:pPr algn="ctr"/>
              <a:endParaRPr/>
            </a:p>
          </p:txBody>
        </p:sp>
        <p:sp>
          <p:nvSpPr>
            <p:cNvPr id="43" name="TextBox 42"/>
            <p:cNvSpPr txBox="1"/>
            <p:nvPr/>
          </p:nvSpPr>
          <p:spPr>
            <a:xfrm>
              <a:off x="5525621" y="4400550"/>
              <a:ext cx="1345453" cy="381000"/>
            </a:xfrm>
            <a:prstGeom prst="rect">
              <a:avLst/>
            </a:prstGeom>
            <a:noFill/>
          </p:spPr>
          <p:txBody>
            <a:bodyPr wrap="square" lIns="0" tIns="0" rIns="0" bIns="0" anchor="ctr">
              <a:spAutoFit/>
            </a:bodyPr>
            <a:lstStyle/>
            <a:p>
              <a:pPr algn="ctr"/>
              <a:r>
                <a:rPr sz="1150" b="0">
                  <a:solidFill>
                    <a:srgbClr val="FFFFFF"/>
                  </a:solidFill>
                  <a:latin typeface="Segoe UI"/>
                </a:rPr>
                <a:t>Backup instances</a:t>
              </a:r>
            </a:p>
          </p:txBody>
        </p:sp>
        <p:sp>
          <p:nvSpPr>
            <p:cNvPr id="44" name="TextBox 43"/>
            <p:cNvSpPr txBox="1"/>
            <p:nvPr/>
          </p:nvSpPr>
          <p:spPr>
            <a:xfrm>
              <a:off x="6871074" y="4400550"/>
              <a:ext cx="228600" cy="381000"/>
            </a:xfrm>
            <a:prstGeom prst="rect">
              <a:avLst/>
            </a:prstGeom>
            <a:noFill/>
          </p:spPr>
          <p:txBody>
            <a:bodyPr wrap="square" lIns="0" tIns="0" rIns="0" bIns="0" anchor="ctr">
              <a:spAutoFit/>
            </a:bodyPr>
            <a:lstStyle/>
            <a:p>
              <a:pPr algn="ctr"/>
              <a:r>
                <a:rPr sz="1800" b="1">
                  <a:solidFill>
                    <a:srgbClr val="59BEC9"/>
                  </a:solidFill>
                  <a:latin typeface="Segoe UI"/>
                </a:rPr>
                <a:t>›</a:t>
              </a:r>
            </a:p>
          </p:txBody>
        </p:sp>
      </p:grpSp>
      <p:grpSp>
        <p:nvGrpSpPr>
          <p:cNvPr id="45" name="anim|wipeL|2.07"/>
          <p:cNvGrpSpPr/>
          <p:nvPr/>
        </p:nvGrpSpPr>
        <p:grpSpPr>
          <a:xfrm>
            <a:off x="7099674" y="4400550"/>
            <a:ext cx="2020794" cy="381000"/>
            <a:chOff x="7099674" y="4400550"/>
            <a:chExt cx="2020794" cy="381000"/>
          </a:xfrm>
        </p:grpSpPr>
        <p:sp>
          <p:nvSpPr>
            <p:cNvPr id="46" name="Rounded Rectangle 45"/>
            <p:cNvSpPr/>
            <p:nvPr/>
          </p:nvSpPr>
          <p:spPr>
            <a:xfrm>
              <a:off x="7099674" y="4400550"/>
              <a:ext cx="1792194" cy="381000"/>
            </a:xfrm>
            <a:prstGeom prst="roundRect">
              <a:avLst>
                <a:gd name="adj" fmla="val 50000"/>
              </a:avLst>
            </a:prstGeom>
            <a:solidFill>
              <a:srgbClr val="1E3A68"/>
            </a:solidFill>
            <a:ln w="17780">
              <a:solidFill>
                <a:srgbClr val="2E5286"/>
              </a:solidFill>
            </a:ln>
          </p:spPr>
          <p:txBody>
            <a:bodyPr rtlCol="0" anchor="ctr"/>
            <a:lstStyle/>
            <a:p>
              <a:pPr algn="ctr"/>
              <a:endParaRPr/>
            </a:p>
          </p:txBody>
        </p:sp>
        <p:sp>
          <p:nvSpPr>
            <p:cNvPr id="47" name="TextBox 46"/>
            <p:cNvSpPr txBox="1"/>
            <p:nvPr/>
          </p:nvSpPr>
          <p:spPr>
            <a:xfrm>
              <a:off x="7099674" y="4400550"/>
              <a:ext cx="1792194" cy="381000"/>
            </a:xfrm>
            <a:prstGeom prst="rect">
              <a:avLst/>
            </a:prstGeom>
            <a:noFill/>
          </p:spPr>
          <p:txBody>
            <a:bodyPr wrap="square" lIns="0" tIns="0" rIns="0" bIns="0" anchor="ctr">
              <a:spAutoFit/>
            </a:bodyPr>
            <a:lstStyle/>
            <a:p>
              <a:pPr algn="ctr"/>
              <a:r>
                <a:rPr sz="1150" b="0">
                  <a:solidFill>
                    <a:srgbClr val="FFFFFF"/>
                  </a:solidFill>
                  <a:latin typeface="Segoe UI"/>
                </a:rPr>
                <a:t>&lt;AKS backup instance&gt;</a:t>
              </a:r>
            </a:p>
          </p:txBody>
        </p:sp>
        <p:sp>
          <p:nvSpPr>
            <p:cNvPr id="48" name="TextBox 47"/>
            <p:cNvSpPr txBox="1"/>
            <p:nvPr/>
          </p:nvSpPr>
          <p:spPr>
            <a:xfrm>
              <a:off x="8891868" y="4400550"/>
              <a:ext cx="228600" cy="381000"/>
            </a:xfrm>
            <a:prstGeom prst="rect">
              <a:avLst/>
            </a:prstGeom>
            <a:noFill/>
          </p:spPr>
          <p:txBody>
            <a:bodyPr wrap="square" lIns="0" tIns="0" rIns="0" bIns="0" anchor="ctr">
              <a:spAutoFit/>
            </a:bodyPr>
            <a:lstStyle/>
            <a:p>
              <a:pPr algn="ctr"/>
              <a:r>
                <a:rPr sz="1800" b="1">
                  <a:solidFill>
                    <a:srgbClr val="59BEC9"/>
                  </a:solidFill>
                  <a:latin typeface="Segoe UI"/>
                </a:rPr>
                <a:t>›</a:t>
              </a:r>
            </a:p>
          </p:txBody>
        </p:sp>
      </p:grpSp>
      <p:grpSp>
        <p:nvGrpSpPr>
          <p:cNvPr id="49" name="anim|wipeL|2.25"/>
          <p:cNvGrpSpPr/>
          <p:nvPr/>
        </p:nvGrpSpPr>
        <p:grpSpPr>
          <a:xfrm>
            <a:off x="9120468" y="4400550"/>
            <a:ext cx="946897" cy="381000"/>
            <a:chOff x="9120468" y="4400550"/>
            <a:chExt cx="946897" cy="381000"/>
          </a:xfrm>
        </p:grpSpPr>
        <p:sp>
          <p:nvSpPr>
            <p:cNvPr id="50" name="Rounded Rectangle 49"/>
            <p:cNvSpPr/>
            <p:nvPr/>
          </p:nvSpPr>
          <p:spPr>
            <a:xfrm>
              <a:off x="9120468" y="4400550"/>
              <a:ext cx="718297" cy="381000"/>
            </a:xfrm>
            <a:prstGeom prst="roundRect">
              <a:avLst>
                <a:gd name="adj" fmla="val 50000"/>
              </a:avLst>
            </a:prstGeom>
            <a:solidFill>
              <a:srgbClr val="1E3A68"/>
            </a:solidFill>
            <a:ln w="17780">
              <a:solidFill>
                <a:srgbClr val="2E5286"/>
              </a:solidFill>
            </a:ln>
          </p:spPr>
          <p:txBody>
            <a:bodyPr rtlCol="0" anchor="ctr"/>
            <a:lstStyle/>
            <a:p>
              <a:pPr algn="ctr"/>
              <a:endParaRPr/>
            </a:p>
          </p:txBody>
        </p:sp>
        <p:sp>
          <p:nvSpPr>
            <p:cNvPr id="51" name="TextBox 50"/>
            <p:cNvSpPr txBox="1"/>
            <p:nvPr/>
          </p:nvSpPr>
          <p:spPr>
            <a:xfrm>
              <a:off x="9120468" y="4400550"/>
              <a:ext cx="718297" cy="381000"/>
            </a:xfrm>
            <a:prstGeom prst="rect">
              <a:avLst/>
            </a:prstGeom>
            <a:noFill/>
          </p:spPr>
          <p:txBody>
            <a:bodyPr wrap="square" lIns="0" tIns="0" rIns="0" bIns="0" anchor="ctr">
              <a:spAutoFit/>
            </a:bodyPr>
            <a:lstStyle/>
            <a:p>
              <a:pPr algn="ctr"/>
              <a:r>
                <a:rPr sz="1150" b="0">
                  <a:solidFill>
                    <a:srgbClr val="FFFFFF"/>
                  </a:solidFill>
                  <a:latin typeface="Segoe UI"/>
                </a:rPr>
                <a:t>Restore</a:t>
              </a:r>
            </a:p>
          </p:txBody>
        </p:sp>
        <p:sp>
          <p:nvSpPr>
            <p:cNvPr id="52" name="TextBox 51"/>
            <p:cNvSpPr txBox="1"/>
            <p:nvPr/>
          </p:nvSpPr>
          <p:spPr>
            <a:xfrm>
              <a:off x="9838765" y="4400550"/>
              <a:ext cx="228600" cy="381000"/>
            </a:xfrm>
            <a:prstGeom prst="rect">
              <a:avLst/>
            </a:prstGeom>
            <a:noFill/>
          </p:spPr>
          <p:txBody>
            <a:bodyPr wrap="square" lIns="0" tIns="0" rIns="0" bIns="0" anchor="ctr">
              <a:spAutoFit/>
            </a:bodyPr>
            <a:lstStyle/>
            <a:p>
              <a:pPr algn="ctr"/>
              <a:r>
                <a:rPr sz="1800" b="1">
                  <a:solidFill>
                    <a:srgbClr val="59BEC9"/>
                  </a:solidFill>
                  <a:latin typeface="Segoe UI"/>
                </a:rPr>
                <a:t>›</a:t>
              </a:r>
            </a:p>
          </p:txBody>
        </p:sp>
      </p:grpSp>
      <p:grpSp>
        <p:nvGrpSpPr>
          <p:cNvPr id="53" name="anim|wipeL|2.43"/>
          <p:cNvGrpSpPr/>
          <p:nvPr/>
        </p:nvGrpSpPr>
        <p:grpSpPr>
          <a:xfrm>
            <a:off x="10067365" y="4400550"/>
            <a:ext cx="1104900" cy="381000"/>
            <a:chOff x="10067365" y="4400550"/>
            <a:chExt cx="1104900" cy="381000"/>
          </a:xfrm>
        </p:grpSpPr>
        <p:sp>
          <p:nvSpPr>
            <p:cNvPr id="54" name="Rounded Rectangle 53"/>
            <p:cNvSpPr/>
            <p:nvPr/>
          </p:nvSpPr>
          <p:spPr>
            <a:xfrm>
              <a:off x="10067365" y="4400550"/>
              <a:ext cx="1104900" cy="381000"/>
            </a:xfrm>
            <a:prstGeom prst="roundRect">
              <a:avLst>
                <a:gd name="adj" fmla="val 50000"/>
              </a:avLst>
            </a:prstGeom>
            <a:solidFill>
              <a:srgbClr val="FFB938"/>
            </a:solidFill>
            <a:ln>
              <a:noFill/>
            </a:ln>
          </p:spPr>
          <p:txBody>
            <a:bodyPr rtlCol="0" anchor="ctr"/>
            <a:lstStyle/>
            <a:p>
              <a:pPr algn="ctr"/>
              <a:endParaRPr/>
            </a:p>
          </p:txBody>
        </p:sp>
        <p:sp>
          <p:nvSpPr>
            <p:cNvPr id="55" name="TextBox 54"/>
            <p:cNvSpPr txBox="1"/>
            <p:nvPr/>
          </p:nvSpPr>
          <p:spPr>
            <a:xfrm>
              <a:off x="10067365" y="4400550"/>
              <a:ext cx="1104900" cy="381000"/>
            </a:xfrm>
            <a:prstGeom prst="rect">
              <a:avLst/>
            </a:prstGeom>
            <a:noFill/>
          </p:spPr>
          <p:txBody>
            <a:bodyPr wrap="square" lIns="0" tIns="0" rIns="0" bIns="0" anchor="ctr">
              <a:spAutoFit/>
            </a:bodyPr>
            <a:lstStyle/>
            <a:p>
              <a:pPr algn="ctr"/>
              <a:r>
                <a:rPr sz="1150" b="1">
                  <a:solidFill>
                    <a:srgbClr val="14284B"/>
                  </a:solidFill>
                  <a:latin typeface="Segoe UI"/>
                </a:rPr>
                <a:t>Restore point</a:t>
              </a:r>
            </a:p>
          </p:txBody>
        </p:sp>
      </p:grpSp>
    </p:spTree>
  </p:cSld>
  <p:clrMapOvr>
    <a:masterClrMapping/>
  </p:clrMapOvr>
  <mc:AlternateContent xmlns:mc="http://schemas.openxmlformats.org/markup-compatibility/2006">
    <mc:Choice xmlns:p14="http://schemas.microsoft.com/office/powerpoint/2010/main" Requires="p14">
      <p:transition spd="slow" p14:dur="800">
        <p:fad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5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50"/>
                                        <p:tgtEl>
                                          <p:spTgt spid="3"/>
                                        </p:tgtEl>
                                      </p:cBhvr>
                                    </p:animEffect>
                                  </p:childTnLst>
                                </p:cTn>
                              </p:par>
                              <p:par>
                                <p:cTn id="8" presetID="22" presetClass="entr" presetSubtype="8" fill="hold" grpId="0" nodeType="withEffect">
                                  <p:stCondLst>
                                    <p:cond delay="100"/>
                                  </p:stCondLst>
                                  <p:childTnLst>
                                    <p:set>
                                      <p:cBhvr>
                                        <p:cTn id="9" dur="1" fill="hold">
                                          <p:stCondLst>
                                            <p:cond delay="0"/>
                                          </p:stCondLst>
                                        </p:cTn>
                                        <p:tgtEl>
                                          <p:spTgt spid="6"/>
                                        </p:tgtEl>
                                        <p:attrNameLst>
                                          <p:attrName>style.visibility</p:attrName>
                                        </p:attrNameLst>
                                      </p:cBhvr>
                                      <p:to>
                                        <p:strVal val="visible"/>
                                      </p:to>
                                    </p:set>
                                    <p:animEffect transition="in" filter="wipe(left)">
                                      <p:cBhvr>
                                        <p:cTn id="10" dur="700"/>
                                        <p:tgtEl>
                                          <p:spTgt spid="6"/>
                                        </p:tgtEl>
                                      </p:cBhvr>
                                    </p:animEffect>
                                  </p:childTnLst>
                                </p:cTn>
                              </p:par>
                              <p:par>
                                <p:cTn id="11" presetID="10" presetClass="entr" presetSubtype="0" fill="hold" grpId="0" nodeType="withEffect">
                                  <p:stCondLst>
                                    <p:cond delay="45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50"/>
                                        <p:tgtEl>
                                          <p:spTgt spid="7"/>
                                        </p:tgtEl>
                                      </p:cBhvr>
                                    </p:animEffect>
                                  </p:childTnLst>
                                </p:cTn>
                              </p:par>
                              <p:par>
                                <p:cTn id="14" presetID="37" presetClass="entr" presetSubtype="0" fill="hold" nodeType="withEffect">
                                  <p:stCondLst>
                                    <p:cond delay="55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50"/>
                                        <p:tgtEl>
                                          <p:spTgt spid="10"/>
                                        </p:tgtEl>
                                      </p:cBhvr>
                                    </p:animEffect>
                                    <p:anim calcmode="lin" valueType="num">
                                      <p:cBhvr>
                                        <p:cTn id="17" dur="550" fill="hold"/>
                                        <p:tgtEl>
                                          <p:spTgt spid="10"/>
                                        </p:tgtEl>
                                        <p:attrNameLst>
                                          <p:attrName>ppt_x</p:attrName>
                                        </p:attrNameLst>
                                      </p:cBhvr>
                                      <p:tavLst>
                                        <p:tav tm="0">
                                          <p:val>
                                            <p:strVal val="#ppt_x"/>
                                          </p:val>
                                        </p:tav>
                                        <p:tav tm="100000">
                                          <p:val>
                                            <p:strVal val="#ppt_x"/>
                                          </p:val>
                                        </p:tav>
                                      </p:tavLst>
                                    </p:anim>
                                    <p:anim calcmode="lin" valueType="num">
                                      <p:cBhvr>
                                        <p:cTn id="18" dur="495" decel="100000" fill="hold"/>
                                        <p:tgtEl>
                                          <p:spTgt spid="10"/>
                                        </p:tgtEl>
                                        <p:attrNameLst>
                                          <p:attrName>ppt_y</p:attrName>
                                        </p:attrNameLst>
                                      </p:cBhvr>
                                      <p:tavLst>
                                        <p:tav tm="0">
                                          <p:val>
                                            <p:strVal val="#ppt_y+1"/>
                                          </p:val>
                                        </p:tav>
                                        <p:tav tm="100000">
                                          <p:val>
                                            <p:strVal val="#ppt_y-.03"/>
                                          </p:val>
                                        </p:tav>
                                      </p:tavLst>
                                    </p:anim>
                                    <p:anim calcmode="lin" valueType="num">
                                      <p:cBhvr>
                                        <p:cTn id="19" dur="55" accel="100000" fill="hold">
                                          <p:stCondLst>
                                            <p:cond delay="495"/>
                                          </p:stCondLst>
                                        </p:cTn>
                                        <p:tgtEl>
                                          <p:spTgt spid="10"/>
                                        </p:tgtEl>
                                        <p:attrNameLst>
                                          <p:attrName>ppt_y</p:attrName>
                                        </p:attrNameLst>
                                      </p:cBhvr>
                                      <p:tavLst>
                                        <p:tav tm="0">
                                          <p:val>
                                            <p:strVal val="#ppt_y-.03"/>
                                          </p:val>
                                        </p:tav>
                                        <p:tav tm="100000">
                                          <p:val>
                                            <p:strVal val="#ppt_y"/>
                                          </p:val>
                                        </p:tav>
                                      </p:tavLst>
                                    </p:anim>
                                  </p:childTnLst>
                                </p:cTn>
                              </p:par>
                              <p:par>
                                <p:cTn id="20" presetID="37" presetClass="entr" presetSubtype="0" fill="hold" nodeType="withEffect">
                                  <p:stCondLst>
                                    <p:cond delay="75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550"/>
                                        <p:tgtEl>
                                          <p:spTgt spid="16"/>
                                        </p:tgtEl>
                                      </p:cBhvr>
                                    </p:animEffect>
                                    <p:anim calcmode="lin" valueType="num">
                                      <p:cBhvr>
                                        <p:cTn id="23" dur="550" fill="hold"/>
                                        <p:tgtEl>
                                          <p:spTgt spid="16"/>
                                        </p:tgtEl>
                                        <p:attrNameLst>
                                          <p:attrName>ppt_x</p:attrName>
                                        </p:attrNameLst>
                                      </p:cBhvr>
                                      <p:tavLst>
                                        <p:tav tm="0">
                                          <p:val>
                                            <p:strVal val="#ppt_x"/>
                                          </p:val>
                                        </p:tav>
                                        <p:tav tm="100000">
                                          <p:val>
                                            <p:strVal val="#ppt_x"/>
                                          </p:val>
                                        </p:tav>
                                      </p:tavLst>
                                    </p:anim>
                                    <p:anim calcmode="lin" valueType="num">
                                      <p:cBhvr>
                                        <p:cTn id="24" dur="495" decel="100000" fill="hold"/>
                                        <p:tgtEl>
                                          <p:spTgt spid="16"/>
                                        </p:tgtEl>
                                        <p:attrNameLst>
                                          <p:attrName>ppt_y</p:attrName>
                                        </p:attrNameLst>
                                      </p:cBhvr>
                                      <p:tavLst>
                                        <p:tav tm="0">
                                          <p:val>
                                            <p:strVal val="#ppt_y+1"/>
                                          </p:val>
                                        </p:tav>
                                        <p:tav tm="100000">
                                          <p:val>
                                            <p:strVal val="#ppt_y-.03"/>
                                          </p:val>
                                        </p:tav>
                                      </p:tavLst>
                                    </p:anim>
                                    <p:anim calcmode="lin" valueType="num">
                                      <p:cBhvr>
                                        <p:cTn id="25" dur="55" accel="100000" fill="hold">
                                          <p:stCondLst>
                                            <p:cond delay="495"/>
                                          </p:stCondLst>
                                        </p:cTn>
                                        <p:tgtEl>
                                          <p:spTgt spid="16"/>
                                        </p:tgtEl>
                                        <p:attrNameLst>
                                          <p:attrName>ppt_y</p:attrName>
                                        </p:attrNameLst>
                                      </p:cBhvr>
                                      <p:tavLst>
                                        <p:tav tm="0">
                                          <p:val>
                                            <p:strVal val="#ppt_y-.03"/>
                                          </p:val>
                                        </p:tav>
                                        <p:tav tm="100000">
                                          <p:val>
                                            <p:strVal val="#ppt_y"/>
                                          </p:val>
                                        </p:tav>
                                      </p:tavLst>
                                    </p:anim>
                                  </p:childTnLst>
                                </p:cTn>
                              </p:par>
                              <p:par>
                                <p:cTn id="26" presetID="37" presetClass="entr" presetSubtype="0" fill="hold" nodeType="withEffect">
                                  <p:stCondLst>
                                    <p:cond delay="950"/>
                                  </p:stCondLst>
                                  <p:childTnLst>
                                    <p:set>
                                      <p:cBhvr>
                                        <p:cTn id="27" dur="1" fill="hold">
                                          <p:stCondLst>
                                            <p:cond delay="0"/>
                                          </p:stCondLst>
                                        </p:cTn>
                                        <p:tgtEl>
                                          <p:spTgt spid="22"/>
                                        </p:tgtEl>
                                        <p:attrNameLst>
                                          <p:attrName>style.visibility</p:attrName>
                                        </p:attrNameLst>
                                      </p:cBhvr>
                                      <p:to>
                                        <p:strVal val="visible"/>
                                      </p:to>
                                    </p:set>
                                    <p:animEffect transition="in" filter="fade">
                                      <p:cBhvr>
                                        <p:cTn id="28" dur="550"/>
                                        <p:tgtEl>
                                          <p:spTgt spid="22"/>
                                        </p:tgtEl>
                                      </p:cBhvr>
                                    </p:animEffect>
                                    <p:anim calcmode="lin" valueType="num">
                                      <p:cBhvr>
                                        <p:cTn id="29" dur="550" fill="hold"/>
                                        <p:tgtEl>
                                          <p:spTgt spid="22"/>
                                        </p:tgtEl>
                                        <p:attrNameLst>
                                          <p:attrName>ppt_x</p:attrName>
                                        </p:attrNameLst>
                                      </p:cBhvr>
                                      <p:tavLst>
                                        <p:tav tm="0">
                                          <p:val>
                                            <p:strVal val="#ppt_x"/>
                                          </p:val>
                                        </p:tav>
                                        <p:tav tm="100000">
                                          <p:val>
                                            <p:strVal val="#ppt_x"/>
                                          </p:val>
                                        </p:tav>
                                      </p:tavLst>
                                    </p:anim>
                                    <p:anim calcmode="lin" valueType="num">
                                      <p:cBhvr>
                                        <p:cTn id="30" dur="495" decel="100000" fill="hold"/>
                                        <p:tgtEl>
                                          <p:spTgt spid="22"/>
                                        </p:tgtEl>
                                        <p:attrNameLst>
                                          <p:attrName>ppt_y</p:attrName>
                                        </p:attrNameLst>
                                      </p:cBhvr>
                                      <p:tavLst>
                                        <p:tav tm="0">
                                          <p:val>
                                            <p:strVal val="#ppt_y+1"/>
                                          </p:val>
                                        </p:tav>
                                        <p:tav tm="100000">
                                          <p:val>
                                            <p:strVal val="#ppt_y-.03"/>
                                          </p:val>
                                        </p:tav>
                                      </p:tavLst>
                                    </p:anim>
                                    <p:anim calcmode="lin" valueType="num">
                                      <p:cBhvr>
                                        <p:cTn id="31" dur="55" accel="100000" fill="hold">
                                          <p:stCondLst>
                                            <p:cond delay="495"/>
                                          </p:stCondLst>
                                        </p:cTn>
                                        <p:tgtEl>
                                          <p:spTgt spid="22"/>
                                        </p:tgtEl>
                                        <p:attrNameLst>
                                          <p:attrName>ppt_y</p:attrName>
                                        </p:attrNameLst>
                                      </p:cBhvr>
                                      <p:tavLst>
                                        <p:tav tm="0">
                                          <p:val>
                                            <p:strVal val="#ppt_y-.03"/>
                                          </p:val>
                                        </p:tav>
                                        <p:tav tm="100000">
                                          <p:val>
                                            <p:strVal val="#ppt_y"/>
                                          </p:val>
                                        </p:tav>
                                      </p:tavLst>
                                    </p:anim>
                                  </p:childTnLst>
                                </p:cTn>
                              </p:par>
                              <p:par>
                                <p:cTn id="32" presetID="10" presetClass="entr" presetSubtype="0" fill="hold" grpId="0" nodeType="withEffect">
                                  <p:stCondLst>
                                    <p:cond delay="1150"/>
                                  </p:stCondLst>
                                  <p:childTnLst>
                                    <p:set>
                                      <p:cBhvr>
                                        <p:cTn id="33" dur="1" fill="hold">
                                          <p:stCondLst>
                                            <p:cond delay="0"/>
                                          </p:stCondLst>
                                        </p:cTn>
                                        <p:tgtEl>
                                          <p:spTgt spid="28"/>
                                        </p:tgtEl>
                                        <p:attrNameLst>
                                          <p:attrName>style.visibility</p:attrName>
                                        </p:attrNameLst>
                                      </p:cBhvr>
                                      <p:to>
                                        <p:strVal val="visible"/>
                                      </p:to>
                                    </p:set>
                                    <p:animEffect transition="in" filter="fade">
                                      <p:cBhvr>
                                        <p:cTn id="34" dur="550"/>
                                        <p:tgtEl>
                                          <p:spTgt spid="28"/>
                                        </p:tgtEl>
                                      </p:cBhvr>
                                    </p:animEffect>
                                  </p:childTnLst>
                                </p:cTn>
                              </p:par>
                              <p:par>
                                <p:cTn id="35" presetID="22" presetClass="entr" presetSubtype="8" fill="hold" nodeType="withEffect">
                                  <p:stCondLst>
                                    <p:cond delay="1350"/>
                                  </p:stCondLst>
                                  <p:childTnLst>
                                    <p:set>
                                      <p:cBhvr>
                                        <p:cTn id="36" dur="1" fill="hold">
                                          <p:stCondLst>
                                            <p:cond delay="0"/>
                                          </p:stCondLst>
                                        </p:cTn>
                                        <p:tgtEl>
                                          <p:spTgt spid="29"/>
                                        </p:tgtEl>
                                        <p:attrNameLst>
                                          <p:attrName>style.visibility</p:attrName>
                                        </p:attrNameLst>
                                      </p:cBhvr>
                                      <p:to>
                                        <p:strVal val="visible"/>
                                      </p:to>
                                    </p:set>
                                    <p:animEffect transition="in" filter="wipe(left)">
                                      <p:cBhvr>
                                        <p:cTn id="37" dur="550"/>
                                        <p:tgtEl>
                                          <p:spTgt spid="29"/>
                                        </p:tgtEl>
                                      </p:cBhvr>
                                    </p:animEffect>
                                  </p:childTnLst>
                                </p:cTn>
                              </p:par>
                              <p:par>
                                <p:cTn id="38" presetID="22" presetClass="entr" presetSubtype="8" fill="hold" nodeType="withEffect">
                                  <p:stCondLst>
                                    <p:cond delay="1530"/>
                                  </p:stCondLst>
                                  <p:childTnLst>
                                    <p:set>
                                      <p:cBhvr>
                                        <p:cTn id="39" dur="1" fill="hold">
                                          <p:stCondLst>
                                            <p:cond delay="0"/>
                                          </p:stCondLst>
                                        </p:cTn>
                                        <p:tgtEl>
                                          <p:spTgt spid="33"/>
                                        </p:tgtEl>
                                        <p:attrNameLst>
                                          <p:attrName>style.visibility</p:attrName>
                                        </p:attrNameLst>
                                      </p:cBhvr>
                                      <p:to>
                                        <p:strVal val="visible"/>
                                      </p:to>
                                    </p:set>
                                    <p:animEffect transition="in" filter="wipe(left)">
                                      <p:cBhvr>
                                        <p:cTn id="40" dur="550"/>
                                        <p:tgtEl>
                                          <p:spTgt spid="33"/>
                                        </p:tgtEl>
                                      </p:cBhvr>
                                    </p:animEffect>
                                  </p:childTnLst>
                                </p:cTn>
                              </p:par>
                              <p:par>
                                <p:cTn id="41" presetID="22" presetClass="entr" presetSubtype="8" fill="hold" nodeType="withEffect">
                                  <p:stCondLst>
                                    <p:cond delay="1710"/>
                                  </p:stCondLst>
                                  <p:childTnLst>
                                    <p:set>
                                      <p:cBhvr>
                                        <p:cTn id="42" dur="1" fill="hold">
                                          <p:stCondLst>
                                            <p:cond delay="0"/>
                                          </p:stCondLst>
                                        </p:cTn>
                                        <p:tgtEl>
                                          <p:spTgt spid="37"/>
                                        </p:tgtEl>
                                        <p:attrNameLst>
                                          <p:attrName>style.visibility</p:attrName>
                                        </p:attrNameLst>
                                      </p:cBhvr>
                                      <p:to>
                                        <p:strVal val="visible"/>
                                      </p:to>
                                    </p:set>
                                    <p:animEffect transition="in" filter="wipe(left)">
                                      <p:cBhvr>
                                        <p:cTn id="43" dur="550"/>
                                        <p:tgtEl>
                                          <p:spTgt spid="37"/>
                                        </p:tgtEl>
                                      </p:cBhvr>
                                    </p:animEffect>
                                  </p:childTnLst>
                                </p:cTn>
                              </p:par>
                              <p:par>
                                <p:cTn id="44" presetID="22" presetClass="entr" presetSubtype="8" fill="hold" nodeType="withEffect">
                                  <p:stCondLst>
                                    <p:cond delay="1890"/>
                                  </p:stCondLst>
                                  <p:childTnLst>
                                    <p:set>
                                      <p:cBhvr>
                                        <p:cTn id="45" dur="1" fill="hold">
                                          <p:stCondLst>
                                            <p:cond delay="0"/>
                                          </p:stCondLst>
                                        </p:cTn>
                                        <p:tgtEl>
                                          <p:spTgt spid="41"/>
                                        </p:tgtEl>
                                        <p:attrNameLst>
                                          <p:attrName>style.visibility</p:attrName>
                                        </p:attrNameLst>
                                      </p:cBhvr>
                                      <p:to>
                                        <p:strVal val="visible"/>
                                      </p:to>
                                    </p:set>
                                    <p:animEffect transition="in" filter="wipe(left)">
                                      <p:cBhvr>
                                        <p:cTn id="46" dur="550"/>
                                        <p:tgtEl>
                                          <p:spTgt spid="41"/>
                                        </p:tgtEl>
                                      </p:cBhvr>
                                    </p:animEffect>
                                  </p:childTnLst>
                                </p:cTn>
                              </p:par>
                              <p:par>
                                <p:cTn id="47" presetID="22" presetClass="entr" presetSubtype="8" fill="hold" nodeType="withEffect">
                                  <p:stCondLst>
                                    <p:cond delay="2070"/>
                                  </p:stCondLst>
                                  <p:childTnLst>
                                    <p:set>
                                      <p:cBhvr>
                                        <p:cTn id="48" dur="1" fill="hold">
                                          <p:stCondLst>
                                            <p:cond delay="0"/>
                                          </p:stCondLst>
                                        </p:cTn>
                                        <p:tgtEl>
                                          <p:spTgt spid="45"/>
                                        </p:tgtEl>
                                        <p:attrNameLst>
                                          <p:attrName>style.visibility</p:attrName>
                                        </p:attrNameLst>
                                      </p:cBhvr>
                                      <p:to>
                                        <p:strVal val="visible"/>
                                      </p:to>
                                    </p:set>
                                    <p:animEffect transition="in" filter="wipe(left)">
                                      <p:cBhvr>
                                        <p:cTn id="49" dur="550"/>
                                        <p:tgtEl>
                                          <p:spTgt spid="45"/>
                                        </p:tgtEl>
                                      </p:cBhvr>
                                    </p:animEffect>
                                  </p:childTnLst>
                                </p:cTn>
                              </p:par>
                              <p:par>
                                <p:cTn id="50" presetID="22" presetClass="entr" presetSubtype="8" fill="hold" nodeType="withEffect">
                                  <p:stCondLst>
                                    <p:cond delay="2250"/>
                                  </p:stCondLst>
                                  <p:childTnLst>
                                    <p:set>
                                      <p:cBhvr>
                                        <p:cTn id="51" dur="1" fill="hold">
                                          <p:stCondLst>
                                            <p:cond delay="0"/>
                                          </p:stCondLst>
                                        </p:cTn>
                                        <p:tgtEl>
                                          <p:spTgt spid="49"/>
                                        </p:tgtEl>
                                        <p:attrNameLst>
                                          <p:attrName>style.visibility</p:attrName>
                                        </p:attrNameLst>
                                      </p:cBhvr>
                                      <p:to>
                                        <p:strVal val="visible"/>
                                      </p:to>
                                    </p:set>
                                    <p:animEffect transition="in" filter="wipe(left)">
                                      <p:cBhvr>
                                        <p:cTn id="52" dur="550"/>
                                        <p:tgtEl>
                                          <p:spTgt spid="49"/>
                                        </p:tgtEl>
                                      </p:cBhvr>
                                    </p:animEffect>
                                  </p:childTnLst>
                                </p:cTn>
                              </p:par>
                              <p:par>
                                <p:cTn id="53" presetID="22" presetClass="entr" presetSubtype="8" fill="hold" nodeType="withEffect">
                                  <p:stCondLst>
                                    <p:cond delay="2430"/>
                                  </p:stCondLst>
                                  <p:childTnLst>
                                    <p:set>
                                      <p:cBhvr>
                                        <p:cTn id="54" dur="1" fill="hold">
                                          <p:stCondLst>
                                            <p:cond delay="0"/>
                                          </p:stCondLst>
                                        </p:cTn>
                                        <p:tgtEl>
                                          <p:spTgt spid="53"/>
                                        </p:tgtEl>
                                        <p:attrNameLst>
                                          <p:attrName>style.visibility</p:attrName>
                                        </p:attrNameLst>
                                      </p:cBhvr>
                                      <p:to>
                                        <p:strVal val="visible"/>
                                      </p:to>
                                    </p:set>
                                    <p:animEffect transition="in" filter="wipe(left)">
                                      <p:cBhvr>
                                        <p:cTn id="55" dur="550"/>
                                        <p:tgtEl>
                                          <p:spTgt spid="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28" grpId="0"/>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14284B"/>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57150"/>
          </a:xfrm>
          <a:prstGeom prst="rect">
            <a:avLst/>
          </a:prstGeom>
          <a:solidFill>
            <a:srgbClr val="59BEC9"/>
          </a:solidFill>
          <a:ln>
            <a:noFill/>
          </a:ln>
        </p:spPr>
        <p:txBody>
          <a:bodyPr rtlCol="0" anchor="ctr"/>
          <a:lstStyle/>
          <a:p>
            <a:pPr algn="ctr"/>
            <a:endParaRPr/>
          </a:p>
        </p:txBody>
      </p:sp>
      <p:grpSp>
        <p:nvGrpSpPr>
          <p:cNvPr id="3" name="anim|fade|0.05"/>
          <p:cNvGrpSpPr/>
          <p:nvPr/>
        </p:nvGrpSpPr>
        <p:grpSpPr>
          <a:xfrm>
            <a:off x="571500" y="266700"/>
            <a:ext cx="7105650" cy="190500"/>
            <a:chOff x="571500" y="266700"/>
            <a:chExt cx="7105650" cy="190500"/>
          </a:xfrm>
        </p:grpSpPr>
        <p:sp>
          <p:nvSpPr>
            <p:cNvPr id="4" name="Rectangle 3"/>
            <p:cNvSpPr/>
            <p:nvPr/>
          </p:nvSpPr>
          <p:spPr>
            <a:xfrm>
              <a:off x="571500" y="342900"/>
              <a:ext cx="342900" cy="47625"/>
            </a:xfrm>
            <a:prstGeom prst="rect">
              <a:avLst/>
            </a:prstGeom>
            <a:solidFill>
              <a:srgbClr val="FFB938"/>
            </a:solidFill>
            <a:ln>
              <a:noFill/>
            </a:ln>
          </p:spPr>
          <p:txBody>
            <a:bodyPr rtlCol="0" anchor="ctr"/>
            <a:lstStyle/>
            <a:p>
              <a:pPr algn="ctr"/>
              <a:endParaRPr/>
            </a:p>
          </p:txBody>
        </p:sp>
        <p:sp>
          <p:nvSpPr>
            <p:cNvPr id="5" name="TextBox 4"/>
            <p:cNvSpPr txBox="1"/>
            <p:nvPr/>
          </p:nvSpPr>
          <p:spPr>
            <a:xfrm>
              <a:off x="1009650" y="266700"/>
              <a:ext cx="6667500" cy="190500"/>
            </a:xfrm>
            <a:prstGeom prst="rect">
              <a:avLst/>
            </a:prstGeom>
            <a:noFill/>
          </p:spPr>
          <p:txBody>
            <a:bodyPr wrap="square" lIns="0" tIns="0" rIns="0" bIns="0" anchor="t">
              <a:spAutoFit/>
            </a:bodyPr>
            <a:lstStyle/>
            <a:p>
              <a:pPr algn="l"/>
              <a:r>
                <a:rPr sz="1100" b="1" spc="300">
                  <a:solidFill>
                    <a:srgbClr val="59BEC9"/>
                  </a:solidFill>
                  <a:latin typeface="Century Gothic"/>
                </a:rPr>
                <a:t>RESTORING</a:t>
              </a:r>
            </a:p>
          </p:txBody>
        </p:sp>
      </p:grpSp>
      <p:sp>
        <p:nvSpPr>
          <p:cNvPr id="6" name="anim|wipeL|0.1"/>
          <p:cNvSpPr txBox="1"/>
          <p:nvPr/>
        </p:nvSpPr>
        <p:spPr>
          <a:xfrm>
            <a:off x="571500" y="533400"/>
            <a:ext cx="11049000" cy="533400"/>
          </a:xfrm>
          <a:prstGeom prst="rect">
            <a:avLst/>
          </a:prstGeom>
          <a:noFill/>
        </p:spPr>
        <p:txBody>
          <a:bodyPr wrap="square" lIns="0" tIns="0" rIns="0" bIns="0" anchor="t">
            <a:spAutoFit/>
          </a:bodyPr>
          <a:lstStyle/>
          <a:p>
            <a:pPr algn="l"/>
            <a:r>
              <a:rPr sz="3100" b="1">
                <a:solidFill>
                  <a:srgbClr val="FFFFFF"/>
                </a:solidFill>
                <a:latin typeface="Century Gothic"/>
              </a:rPr>
              <a:t>Restore in the Portal: running the restore</a:t>
            </a:r>
          </a:p>
        </p:txBody>
      </p:sp>
      <p:sp>
        <p:nvSpPr>
          <p:cNvPr id="7" name="anim|fade|0.45"/>
          <p:cNvSpPr txBox="1"/>
          <p:nvPr/>
        </p:nvSpPr>
        <p:spPr>
          <a:xfrm>
            <a:off x="571500" y="1028700"/>
            <a:ext cx="11049000" cy="247650"/>
          </a:xfrm>
          <a:prstGeom prst="rect">
            <a:avLst/>
          </a:prstGeom>
          <a:noFill/>
        </p:spPr>
        <p:txBody>
          <a:bodyPr wrap="square" lIns="0" tIns="0" rIns="0" bIns="0" anchor="t">
            <a:spAutoFit/>
          </a:bodyPr>
          <a:lstStyle/>
          <a:p>
            <a:pPr algn="l"/>
            <a:r>
              <a:rPr sz="1500" b="0">
                <a:solidFill>
                  <a:srgbClr val="B0C0D9"/>
                </a:solidFill>
                <a:latin typeface="Segoe UI"/>
              </a:rPr>
              <a:t>Moves 4 to 6 of 6</a:t>
            </a:r>
          </a:p>
        </p:txBody>
      </p:sp>
      <p:sp>
        <p:nvSpPr>
          <p:cNvPr id="8" name="TextBox 7"/>
          <p:cNvSpPr txBox="1"/>
          <p:nvPr/>
        </p:nvSpPr>
        <p:spPr>
          <a:xfrm>
            <a:off x="571500" y="6534150"/>
            <a:ext cx="6667500" cy="171450"/>
          </a:xfrm>
          <a:prstGeom prst="rect">
            <a:avLst/>
          </a:prstGeom>
          <a:noFill/>
        </p:spPr>
        <p:txBody>
          <a:bodyPr wrap="square" lIns="0" tIns="0" rIns="0" bIns="0" anchor="t">
            <a:spAutoFit/>
          </a:bodyPr>
          <a:lstStyle/>
          <a:p>
            <a:pPr algn="l"/>
            <a:r>
              <a:rPr sz="950" b="0">
                <a:solidFill>
                  <a:srgbClr val="B0C0D9"/>
                </a:solidFill>
                <a:latin typeface="Segoe UI"/>
              </a:rPr>
              <a:t>AKS Backup &amp; Restore  |  BFH AKS IHUB Platform Team</a:t>
            </a:r>
          </a:p>
        </p:txBody>
      </p:sp>
      <p:sp>
        <p:nvSpPr>
          <p:cNvPr id="9" name="TextBox 8"/>
          <p:cNvSpPr txBox="1"/>
          <p:nvPr/>
        </p:nvSpPr>
        <p:spPr>
          <a:xfrm>
            <a:off x="10668000" y="6534150"/>
            <a:ext cx="952500" cy="171450"/>
          </a:xfrm>
          <a:prstGeom prst="rect">
            <a:avLst/>
          </a:prstGeom>
          <a:noFill/>
        </p:spPr>
        <p:txBody>
          <a:bodyPr wrap="square" lIns="0" tIns="0" rIns="0" bIns="0" anchor="t">
            <a:spAutoFit/>
          </a:bodyPr>
          <a:lstStyle/>
          <a:p>
            <a:pPr algn="r"/>
            <a:r>
              <a:rPr sz="1000" b="1">
                <a:solidFill>
                  <a:srgbClr val="FFB938"/>
                </a:solidFill>
                <a:latin typeface="Century Gothic"/>
              </a:rPr>
              <a:t>18</a:t>
            </a:r>
          </a:p>
        </p:txBody>
      </p:sp>
      <p:grpSp>
        <p:nvGrpSpPr>
          <p:cNvPr id="10" name="anim|rise|0.55"/>
          <p:cNvGrpSpPr/>
          <p:nvPr/>
        </p:nvGrpSpPr>
        <p:grpSpPr>
          <a:xfrm>
            <a:off x="571500" y="1485900"/>
            <a:ext cx="3581400" cy="4191000"/>
            <a:chOff x="571500" y="1485900"/>
            <a:chExt cx="3581400" cy="4191000"/>
          </a:xfrm>
        </p:grpSpPr>
        <p:sp>
          <p:nvSpPr>
            <p:cNvPr id="11" name="Rounded Rectangle 10"/>
            <p:cNvSpPr/>
            <p:nvPr/>
          </p:nvSpPr>
          <p:spPr>
            <a:xfrm>
              <a:off x="571500" y="1485900"/>
              <a:ext cx="3581400" cy="4191000"/>
            </a:xfrm>
            <a:prstGeom prst="roundRect">
              <a:avLst>
                <a:gd name="adj" fmla="val 4787"/>
              </a:avLst>
            </a:prstGeom>
            <a:solidFill>
              <a:srgbClr val="1E3A68"/>
            </a:solidFill>
            <a:ln>
              <a:noFill/>
            </a:ln>
          </p:spPr>
          <p:txBody>
            <a:bodyPr rtlCol="0" anchor="ctr"/>
            <a:lstStyle/>
            <a:p>
              <a:pPr algn="ctr"/>
              <a:endParaRPr/>
            </a:p>
          </p:txBody>
        </p:sp>
        <p:sp>
          <p:nvSpPr>
            <p:cNvPr id="12" name="Oval 11"/>
            <p:cNvSpPr/>
            <p:nvPr/>
          </p:nvSpPr>
          <p:spPr>
            <a:xfrm>
              <a:off x="819150" y="1733550"/>
              <a:ext cx="533400" cy="533400"/>
            </a:xfrm>
            <a:prstGeom prst="ellipse">
              <a:avLst/>
            </a:prstGeom>
            <a:solidFill>
              <a:srgbClr val="FFB938"/>
            </a:solidFill>
            <a:ln>
              <a:noFill/>
            </a:ln>
          </p:spPr>
          <p:txBody>
            <a:bodyPr rtlCol="0" anchor="ctr"/>
            <a:lstStyle/>
            <a:p>
              <a:pPr algn="ctr"/>
              <a:endParaRPr/>
            </a:p>
          </p:txBody>
        </p:sp>
        <p:sp>
          <p:nvSpPr>
            <p:cNvPr id="13" name="TextBox 12"/>
            <p:cNvSpPr txBox="1"/>
            <p:nvPr/>
          </p:nvSpPr>
          <p:spPr>
            <a:xfrm>
              <a:off x="819150" y="1733550"/>
              <a:ext cx="533400" cy="533400"/>
            </a:xfrm>
            <a:prstGeom prst="rect">
              <a:avLst/>
            </a:prstGeom>
            <a:noFill/>
          </p:spPr>
          <p:txBody>
            <a:bodyPr wrap="square" lIns="0" tIns="0" rIns="0" bIns="0" anchor="ctr">
              <a:spAutoFit/>
            </a:bodyPr>
            <a:lstStyle/>
            <a:p>
              <a:pPr algn="ctr"/>
              <a:r>
                <a:rPr sz="2200" b="1">
                  <a:solidFill>
                    <a:srgbClr val="14284B"/>
                  </a:solidFill>
                  <a:latin typeface="Century Gothic"/>
                </a:rPr>
                <a:t>4</a:t>
              </a:r>
            </a:p>
          </p:txBody>
        </p:sp>
        <p:pic>
          <p:nvPicPr>
            <p:cNvPr id="14" name="Picture 13" descr="cluster_teal.png"/>
            <p:cNvPicPr>
              <a:picLocks noChangeAspect="1"/>
            </p:cNvPicPr>
            <p:nvPr/>
          </p:nvPicPr>
          <p:blipFill>
            <a:blip r:embed="rId2"/>
            <a:stretch>
              <a:fillRect/>
            </a:stretch>
          </p:blipFill>
          <p:spPr>
            <a:xfrm>
              <a:off x="3333750" y="1809750"/>
              <a:ext cx="419100" cy="419100"/>
            </a:xfrm>
            <a:prstGeom prst="rect">
              <a:avLst/>
            </a:prstGeom>
          </p:spPr>
        </p:pic>
        <p:sp>
          <p:nvSpPr>
            <p:cNvPr id="15" name="TextBox 14"/>
            <p:cNvSpPr txBox="1"/>
            <p:nvPr/>
          </p:nvSpPr>
          <p:spPr>
            <a:xfrm>
              <a:off x="819150" y="2495550"/>
              <a:ext cx="3086100" cy="571500"/>
            </a:xfrm>
            <a:prstGeom prst="rect">
              <a:avLst/>
            </a:prstGeom>
            <a:noFill/>
          </p:spPr>
          <p:txBody>
            <a:bodyPr wrap="square" lIns="0" tIns="0" rIns="0" bIns="0" anchor="t">
              <a:spAutoFit/>
            </a:bodyPr>
            <a:lstStyle/>
            <a:p>
              <a:pPr algn="l"/>
              <a:r>
                <a:rPr sz="2000" b="1">
                  <a:solidFill>
                    <a:srgbClr val="FFFFFF"/>
                  </a:solidFill>
                  <a:latin typeface="Century Gothic"/>
                </a:rPr>
                <a:t>Select the target cluster</a:t>
              </a:r>
            </a:p>
          </p:txBody>
        </p:sp>
        <p:sp>
          <p:nvSpPr>
            <p:cNvPr id="16" name="TextBox 15"/>
            <p:cNvSpPr txBox="1"/>
            <p:nvPr/>
          </p:nvSpPr>
          <p:spPr>
            <a:xfrm>
              <a:off x="819150" y="3200400"/>
              <a:ext cx="3086100" cy="2381250"/>
            </a:xfrm>
            <a:prstGeom prst="rect">
              <a:avLst/>
            </a:prstGeom>
            <a:noFill/>
          </p:spPr>
          <p:txBody>
            <a:bodyPr wrap="square" lIns="0" tIns="0" rIns="0" bIns="0" anchor="t">
              <a:spAutoFit/>
            </a:bodyPr>
            <a:lstStyle/>
            <a:p>
              <a:pPr algn="l"/>
              <a:r>
                <a:rPr sz="1600" b="0">
                  <a:solidFill>
                    <a:srgbClr val="B0C0D9"/>
                  </a:solidFill>
                  <a:latin typeface="Segoe UI"/>
                </a:rPr>
                <a:t>On Restore parameters, click Select Kubernetes Service and choose the target cluster, for example the -rst cluster.</a:t>
              </a:r>
            </a:p>
          </p:txBody>
        </p:sp>
      </p:grpSp>
      <p:grpSp>
        <p:nvGrpSpPr>
          <p:cNvPr id="17" name="anim|rise|0.75"/>
          <p:cNvGrpSpPr/>
          <p:nvPr/>
        </p:nvGrpSpPr>
        <p:grpSpPr>
          <a:xfrm>
            <a:off x="4305300" y="1485900"/>
            <a:ext cx="3581400" cy="4191000"/>
            <a:chOff x="4305300" y="1485900"/>
            <a:chExt cx="3581400" cy="4191000"/>
          </a:xfrm>
        </p:grpSpPr>
        <p:sp>
          <p:nvSpPr>
            <p:cNvPr id="18" name="Rounded Rectangle 17"/>
            <p:cNvSpPr/>
            <p:nvPr/>
          </p:nvSpPr>
          <p:spPr>
            <a:xfrm>
              <a:off x="4305300" y="1485900"/>
              <a:ext cx="3581400" cy="4191000"/>
            </a:xfrm>
            <a:prstGeom prst="roundRect">
              <a:avLst>
                <a:gd name="adj" fmla="val 4787"/>
              </a:avLst>
            </a:prstGeom>
            <a:solidFill>
              <a:srgbClr val="1E3A68"/>
            </a:solidFill>
            <a:ln>
              <a:noFill/>
            </a:ln>
          </p:spPr>
          <p:txBody>
            <a:bodyPr rtlCol="0" anchor="ctr"/>
            <a:lstStyle/>
            <a:p>
              <a:pPr algn="ctr"/>
              <a:endParaRPr/>
            </a:p>
          </p:txBody>
        </p:sp>
        <p:sp>
          <p:nvSpPr>
            <p:cNvPr id="19" name="Oval 18"/>
            <p:cNvSpPr/>
            <p:nvPr/>
          </p:nvSpPr>
          <p:spPr>
            <a:xfrm>
              <a:off x="4552950" y="1733550"/>
              <a:ext cx="533400" cy="533400"/>
            </a:xfrm>
            <a:prstGeom prst="ellipse">
              <a:avLst/>
            </a:prstGeom>
            <a:solidFill>
              <a:srgbClr val="FFB938"/>
            </a:solidFill>
            <a:ln>
              <a:noFill/>
            </a:ln>
          </p:spPr>
          <p:txBody>
            <a:bodyPr rtlCol="0" anchor="ctr"/>
            <a:lstStyle/>
            <a:p>
              <a:pPr algn="ctr"/>
              <a:endParaRPr/>
            </a:p>
          </p:txBody>
        </p:sp>
        <p:sp>
          <p:nvSpPr>
            <p:cNvPr id="20" name="TextBox 19"/>
            <p:cNvSpPr txBox="1"/>
            <p:nvPr/>
          </p:nvSpPr>
          <p:spPr>
            <a:xfrm>
              <a:off x="4552950" y="1733550"/>
              <a:ext cx="533400" cy="533400"/>
            </a:xfrm>
            <a:prstGeom prst="rect">
              <a:avLst/>
            </a:prstGeom>
            <a:noFill/>
          </p:spPr>
          <p:txBody>
            <a:bodyPr wrap="square" lIns="0" tIns="0" rIns="0" bIns="0" anchor="ctr">
              <a:spAutoFit/>
            </a:bodyPr>
            <a:lstStyle/>
            <a:p>
              <a:pPr algn="ctr"/>
              <a:r>
                <a:rPr sz="2200" b="1">
                  <a:solidFill>
                    <a:srgbClr val="14284B"/>
                  </a:solidFill>
                  <a:latin typeface="Century Gothic"/>
                </a:rPr>
                <a:t>5</a:t>
              </a:r>
            </a:p>
          </p:txBody>
        </p:sp>
        <p:pic>
          <p:nvPicPr>
            <p:cNvPr id="21" name="Picture 20" descr="funnel_teal.png"/>
            <p:cNvPicPr>
              <a:picLocks noChangeAspect="1"/>
            </p:cNvPicPr>
            <p:nvPr/>
          </p:nvPicPr>
          <p:blipFill>
            <a:blip r:embed="rId3"/>
            <a:stretch>
              <a:fillRect/>
            </a:stretch>
          </p:blipFill>
          <p:spPr>
            <a:xfrm>
              <a:off x="7067550" y="1809750"/>
              <a:ext cx="419100" cy="419100"/>
            </a:xfrm>
            <a:prstGeom prst="rect">
              <a:avLst/>
            </a:prstGeom>
          </p:spPr>
        </p:pic>
        <p:sp>
          <p:nvSpPr>
            <p:cNvPr id="22" name="TextBox 21"/>
            <p:cNvSpPr txBox="1"/>
            <p:nvPr/>
          </p:nvSpPr>
          <p:spPr>
            <a:xfrm>
              <a:off x="4552950" y="2495550"/>
              <a:ext cx="3086100" cy="571500"/>
            </a:xfrm>
            <a:prstGeom prst="rect">
              <a:avLst/>
            </a:prstGeom>
            <a:noFill/>
          </p:spPr>
          <p:txBody>
            <a:bodyPr wrap="square" lIns="0" tIns="0" rIns="0" bIns="0" anchor="t">
              <a:spAutoFit/>
            </a:bodyPr>
            <a:lstStyle/>
            <a:p>
              <a:pPr algn="l"/>
              <a:r>
                <a:rPr sz="2000" b="1">
                  <a:solidFill>
                    <a:srgbClr val="FFFFFF"/>
                  </a:solidFill>
                  <a:latin typeface="Century Gothic"/>
                </a:rPr>
                <a:t>Select the resources</a:t>
              </a:r>
            </a:p>
          </p:txBody>
        </p:sp>
        <p:sp>
          <p:nvSpPr>
            <p:cNvPr id="23" name="TextBox 22"/>
            <p:cNvSpPr txBox="1"/>
            <p:nvPr/>
          </p:nvSpPr>
          <p:spPr>
            <a:xfrm>
              <a:off x="4552950" y="3200400"/>
              <a:ext cx="3086100" cy="2381250"/>
            </a:xfrm>
            <a:prstGeom prst="rect">
              <a:avLst/>
            </a:prstGeom>
            <a:noFill/>
          </p:spPr>
          <p:txBody>
            <a:bodyPr wrap="square" lIns="0" tIns="0" rIns="0" bIns="0" anchor="t">
              <a:spAutoFit/>
            </a:bodyPr>
            <a:lstStyle/>
            <a:p>
              <a:pPr algn="l"/>
              <a:r>
                <a:rPr sz="1600" b="0">
                  <a:solidFill>
                    <a:srgbClr val="B0C0D9"/>
                  </a:solidFill>
                  <a:latin typeface="Segoe UI"/>
                </a:rPr>
                <a:t>Choose which namespaces and resources to restore.</a:t>
              </a:r>
            </a:p>
          </p:txBody>
        </p:sp>
      </p:grpSp>
      <p:grpSp>
        <p:nvGrpSpPr>
          <p:cNvPr id="24" name="anim|rise|0.95"/>
          <p:cNvGrpSpPr/>
          <p:nvPr/>
        </p:nvGrpSpPr>
        <p:grpSpPr>
          <a:xfrm>
            <a:off x="8039100" y="1485900"/>
            <a:ext cx="3581400" cy="4191000"/>
            <a:chOff x="8039100" y="1485900"/>
            <a:chExt cx="3581400" cy="4191000"/>
          </a:xfrm>
        </p:grpSpPr>
        <p:sp>
          <p:nvSpPr>
            <p:cNvPr id="25" name="Rounded Rectangle 24"/>
            <p:cNvSpPr/>
            <p:nvPr/>
          </p:nvSpPr>
          <p:spPr>
            <a:xfrm>
              <a:off x="8039100" y="1485900"/>
              <a:ext cx="3581400" cy="4191000"/>
            </a:xfrm>
            <a:prstGeom prst="roundRect">
              <a:avLst>
                <a:gd name="adj" fmla="val 4787"/>
              </a:avLst>
            </a:prstGeom>
            <a:solidFill>
              <a:srgbClr val="1E3A68"/>
            </a:solidFill>
            <a:ln w="25400">
              <a:solidFill>
                <a:srgbClr val="FFB938"/>
              </a:solidFill>
            </a:ln>
          </p:spPr>
          <p:txBody>
            <a:bodyPr rtlCol="0" anchor="ctr"/>
            <a:lstStyle/>
            <a:p>
              <a:pPr algn="ctr"/>
              <a:endParaRPr/>
            </a:p>
          </p:txBody>
        </p:sp>
        <p:sp>
          <p:nvSpPr>
            <p:cNvPr id="26" name="Oval 25"/>
            <p:cNvSpPr/>
            <p:nvPr/>
          </p:nvSpPr>
          <p:spPr>
            <a:xfrm>
              <a:off x="8286750" y="1733550"/>
              <a:ext cx="533400" cy="533400"/>
            </a:xfrm>
            <a:prstGeom prst="ellipse">
              <a:avLst/>
            </a:prstGeom>
            <a:solidFill>
              <a:srgbClr val="FFB938"/>
            </a:solidFill>
            <a:ln>
              <a:noFill/>
            </a:ln>
          </p:spPr>
          <p:txBody>
            <a:bodyPr rtlCol="0" anchor="ctr"/>
            <a:lstStyle/>
            <a:p>
              <a:pPr algn="ctr"/>
              <a:endParaRPr/>
            </a:p>
          </p:txBody>
        </p:sp>
        <p:sp>
          <p:nvSpPr>
            <p:cNvPr id="27" name="TextBox 26"/>
            <p:cNvSpPr txBox="1"/>
            <p:nvPr/>
          </p:nvSpPr>
          <p:spPr>
            <a:xfrm>
              <a:off x="8286750" y="1733550"/>
              <a:ext cx="533400" cy="533400"/>
            </a:xfrm>
            <a:prstGeom prst="rect">
              <a:avLst/>
            </a:prstGeom>
            <a:noFill/>
          </p:spPr>
          <p:txBody>
            <a:bodyPr wrap="square" lIns="0" tIns="0" rIns="0" bIns="0" anchor="ctr">
              <a:spAutoFit/>
            </a:bodyPr>
            <a:lstStyle/>
            <a:p>
              <a:pPr algn="ctr"/>
              <a:r>
                <a:rPr sz="2200" b="1">
                  <a:solidFill>
                    <a:srgbClr val="14284B"/>
                  </a:solidFill>
                  <a:latin typeface="Century Gothic"/>
                </a:rPr>
                <a:t>6</a:t>
              </a:r>
            </a:p>
          </p:txBody>
        </p:sp>
        <p:pic>
          <p:nvPicPr>
            <p:cNvPr id="28" name="Picture 27" descr="shield_amber.png"/>
            <p:cNvPicPr>
              <a:picLocks noChangeAspect="1"/>
            </p:cNvPicPr>
            <p:nvPr/>
          </p:nvPicPr>
          <p:blipFill>
            <a:blip r:embed="rId4"/>
            <a:stretch>
              <a:fillRect/>
            </a:stretch>
          </p:blipFill>
          <p:spPr>
            <a:xfrm>
              <a:off x="10801350" y="1809750"/>
              <a:ext cx="419100" cy="419100"/>
            </a:xfrm>
            <a:prstGeom prst="rect">
              <a:avLst/>
            </a:prstGeom>
          </p:spPr>
        </p:pic>
        <p:sp>
          <p:nvSpPr>
            <p:cNvPr id="29" name="TextBox 28"/>
            <p:cNvSpPr txBox="1"/>
            <p:nvPr/>
          </p:nvSpPr>
          <p:spPr>
            <a:xfrm>
              <a:off x="8286750" y="2495550"/>
              <a:ext cx="3086100" cy="571500"/>
            </a:xfrm>
            <a:prstGeom prst="rect">
              <a:avLst/>
            </a:prstGeom>
            <a:noFill/>
          </p:spPr>
          <p:txBody>
            <a:bodyPr wrap="square" lIns="0" tIns="0" rIns="0" bIns="0" anchor="t">
              <a:spAutoFit/>
            </a:bodyPr>
            <a:lstStyle/>
            <a:p>
              <a:pPr algn="l"/>
              <a:r>
                <a:rPr sz="2000" b="1">
                  <a:solidFill>
                    <a:srgbClr val="FFFFFF"/>
                  </a:solidFill>
                  <a:latin typeface="Century Gothic"/>
                </a:rPr>
                <a:t>Validate, review and restore</a:t>
              </a:r>
            </a:p>
          </p:txBody>
        </p:sp>
        <p:sp>
          <p:nvSpPr>
            <p:cNvPr id="30" name="TextBox 29"/>
            <p:cNvSpPr txBox="1"/>
            <p:nvPr/>
          </p:nvSpPr>
          <p:spPr>
            <a:xfrm>
              <a:off x="8286750" y="3200400"/>
              <a:ext cx="3086100" cy="2381250"/>
            </a:xfrm>
            <a:prstGeom prst="rect">
              <a:avLst/>
            </a:prstGeom>
            <a:noFill/>
          </p:spPr>
          <p:txBody>
            <a:bodyPr wrap="square" lIns="0" tIns="0" rIns="0" bIns="0" anchor="t">
              <a:spAutoFit/>
            </a:bodyPr>
            <a:lstStyle/>
            <a:p>
              <a:pPr algn="l"/>
              <a:r>
                <a:rPr sz="1600" b="0">
                  <a:solidFill>
                    <a:srgbClr val="B0C0D9"/>
                  </a:solidFill>
                  <a:latin typeface="Segoe UI"/>
                </a:rPr>
                <a:t>Click Validate. For the -rst cluster, backup.tf does not create Trusted Access or the role assignments, so expect it to ask for them. Grant what it asks for, then validate again until it passes. Then review the summary, click Restore, and follow progress under Backup jobs in the vault.</a:t>
              </a:r>
            </a:p>
          </p:txBody>
        </p:sp>
      </p:grpSp>
    </p:spTree>
  </p:cSld>
  <p:clrMapOvr>
    <a:masterClrMapping/>
  </p:clrMapOvr>
  <mc:AlternateContent xmlns:mc="http://schemas.openxmlformats.org/markup-compatibility/2006">
    <mc:Choice xmlns:p14="http://schemas.microsoft.com/office/powerpoint/2010/main" Requires="p14">
      <p:transition spd="slow" p14:dur="800">
        <p:fad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5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50"/>
                                        <p:tgtEl>
                                          <p:spTgt spid="3"/>
                                        </p:tgtEl>
                                      </p:cBhvr>
                                    </p:animEffect>
                                  </p:childTnLst>
                                </p:cTn>
                              </p:par>
                              <p:par>
                                <p:cTn id="8" presetID="22" presetClass="entr" presetSubtype="8" fill="hold" grpId="0" nodeType="withEffect">
                                  <p:stCondLst>
                                    <p:cond delay="100"/>
                                  </p:stCondLst>
                                  <p:childTnLst>
                                    <p:set>
                                      <p:cBhvr>
                                        <p:cTn id="9" dur="1" fill="hold">
                                          <p:stCondLst>
                                            <p:cond delay="0"/>
                                          </p:stCondLst>
                                        </p:cTn>
                                        <p:tgtEl>
                                          <p:spTgt spid="6"/>
                                        </p:tgtEl>
                                        <p:attrNameLst>
                                          <p:attrName>style.visibility</p:attrName>
                                        </p:attrNameLst>
                                      </p:cBhvr>
                                      <p:to>
                                        <p:strVal val="visible"/>
                                      </p:to>
                                    </p:set>
                                    <p:animEffect transition="in" filter="wipe(left)">
                                      <p:cBhvr>
                                        <p:cTn id="10" dur="700"/>
                                        <p:tgtEl>
                                          <p:spTgt spid="6"/>
                                        </p:tgtEl>
                                      </p:cBhvr>
                                    </p:animEffect>
                                  </p:childTnLst>
                                </p:cTn>
                              </p:par>
                              <p:par>
                                <p:cTn id="11" presetID="10" presetClass="entr" presetSubtype="0" fill="hold" grpId="0" nodeType="withEffect">
                                  <p:stCondLst>
                                    <p:cond delay="45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50"/>
                                        <p:tgtEl>
                                          <p:spTgt spid="7"/>
                                        </p:tgtEl>
                                      </p:cBhvr>
                                    </p:animEffect>
                                  </p:childTnLst>
                                </p:cTn>
                              </p:par>
                              <p:par>
                                <p:cTn id="14" presetID="37" presetClass="entr" presetSubtype="0" fill="hold" nodeType="withEffect">
                                  <p:stCondLst>
                                    <p:cond delay="55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50"/>
                                        <p:tgtEl>
                                          <p:spTgt spid="10"/>
                                        </p:tgtEl>
                                      </p:cBhvr>
                                    </p:animEffect>
                                    <p:anim calcmode="lin" valueType="num">
                                      <p:cBhvr>
                                        <p:cTn id="17" dur="550" fill="hold"/>
                                        <p:tgtEl>
                                          <p:spTgt spid="10"/>
                                        </p:tgtEl>
                                        <p:attrNameLst>
                                          <p:attrName>ppt_x</p:attrName>
                                        </p:attrNameLst>
                                      </p:cBhvr>
                                      <p:tavLst>
                                        <p:tav tm="0">
                                          <p:val>
                                            <p:strVal val="#ppt_x"/>
                                          </p:val>
                                        </p:tav>
                                        <p:tav tm="100000">
                                          <p:val>
                                            <p:strVal val="#ppt_x"/>
                                          </p:val>
                                        </p:tav>
                                      </p:tavLst>
                                    </p:anim>
                                    <p:anim calcmode="lin" valueType="num">
                                      <p:cBhvr>
                                        <p:cTn id="18" dur="495" decel="100000" fill="hold"/>
                                        <p:tgtEl>
                                          <p:spTgt spid="10"/>
                                        </p:tgtEl>
                                        <p:attrNameLst>
                                          <p:attrName>ppt_y</p:attrName>
                                        </p:attrNameLst>
                                      </p:cBhvr>
                                      <p:tavLst>
                                        <p:tav tm="0">
                                          <p:val>
                                            <p:strVal val="#ppt_y+1"/>
                                          </p:val>
                                        </p:tav>
                                        <p:tav tm="100000">
                                          <p:val>
                                            <p:strVal val="#ppt_y-.03"/>
                                          </p:val>
                                        </p:tav>
                                      </p:tavLst>
                                    </p:anim>
                                    <p:anim calcmode="lin" valueType="num">
                                      <p:cBhvr>
                                        <p:cTn id="19" dur="55" accel="100000" fill="hold">
                                          <p:stCondLst>
                                            <p:cond delay="495"/>
                                          </p:stCondLst>
                                        </p:cTn>
                                        <p:tgtEl>
                                          <p:spTgt spid="10"/>
                                        </p:tgtEl>
                                        <p:attrNameLst>
                                          <p:attrName>ppt_y</p:attrName>
                                        </p:attrNameLst>
                                      </p:cBhvr>
                                      <p:tavLst>
                                        <p:tav tm="0">
                                          <p:val>
                                            <p:strVal val="#ppt_y-.03"/>
                                          </p:val>
                                        </p:tav>
                                        <p:tav tm="100000">
                                          <p:val>
                                            <p:strVal val="#ppt_y"/>
                                          </p:val>
                                        </p:tav>
                                      </p:tavLst>
                                    </p:anim>
                                  </p:childTnLst>
                                </p:cTn>
                              </p:par>
                              <p:par>
                                <p:cTn id="20" presetID="37" presetClass="entr" presetSubtype="0" fill="hold" nodeType="withEffect">
                                  <p:stCondLst>
                                    <p:cond delay="75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550"/>
                                        <p:tgtEl>
                                          <p:spTgt spid="17"/>
                                        </p:tgtEl>
                                      </p:cBhvr>
                                    </p:animEffect>
                                    <p:anim calcmode="lin" valueType="num">
                                      <p:cBhvr>
                                        <p:cTn id="23" dur="550" fill="hold"/>
                                        <p:tgtEl>
                                          <p:spTgt spid="17"/>
                                        </p:tgtEl>
                                        <p:attrNameLst>
                                          <p:attrName>ppt_x</p:attrName>
                                        </p:attrNameLst>
                                      </p:cBhvr>
                                      <p:tavLst>
                                        <p:tav tm="0">
                                          <p:val>
                                            <p:strVal val="#ppt_x"/>
                                          </p:val>
                                        </p:tav>
                                        <p:tav tm="100000">
                                          <p:val>
                                            <p:strVal val="#ppt_x"/>
                                          </p:val>
                                        </p:tav>
                                      </p:tavLst>
                                    </p:anim>
                                    <p:anim calcmode="lin" valueType="num">
                                      <p:cBhvr>
                                        <p:cTn id="24" dur="495" decel="100000" fill="hold"/>
                                        <p:tgtEl>
                                          <p:spTgt spid="17"/>
                                        </p:tgtEl>
                                        <p:attrNameLst>
                                          <p:attrName>ppt_y</p:attrName>
                                        </p:attrNameLst>
                                      </p:cBhvr>
                                      <p:tavLst>
                                        <p:tav tm="0">
                                          <p:val>
                                            <p:strVal val="#ppt_y+1"/>
                                          </p:val>
                                        </p:tav>
                                        <p:tav tm="100000">
                                          <p:val>
                                            <p:strVal val="#ppt_y-.03"/>
                                          </p:val>
                                        </p:tav>
                                      </p:tavLst>
                                    </p:anim>
                                    <p:anim calcmode="lin" valueType="num">
                                      <p:cBhvr>
                                        <p:cTn id="25" dur="55" accel="100000" fill="hold">
                                          <p:stCondLst>
                                            <p:cond delay="495"/>
                                          </p:stCondLst>
                                        </p:cTn>
                                        <p:tgtEl>
                                          <p:spTgt spid="17"/>
                                        </p:tgtEl>
                                        <p:attrNameLst>
                                          <p:attrName>ppt_y</p:attrName>
                                        </p:attrNameLst>
                                      </p:cBhvr>
                                      <p:tavLst>
                                        <p:tav tm="0">
                                          <p:val>
                                            <p:strVal val="#ppt_y-.03"/>
                                          </p:val>
                                        </p:tav>
                                        <p:tav tm="100000">
                                          <p:val>
                                            <p:strVal val="#ppt_y"/>
                                          </p:val>
                                        </p:tav>
                                      </p:tavLst>
                                    </p:anim>
                                  </p:childTnLst>
                                </p:cTn>
                              </p:par>
                              <p:par>
                                <p:cTn id="26" presetID="37" presetClass="entr" presetSubtype="0" fill="hold" nodeType="withEffect">
                                  <p:stCondLst>
                                    <p:cond delay="950"/>
                                  </p:stCondLst>
                                  <p:childTnLst>
                                    <p:set>
                                      <p:cBhvr>
                                        <p:cTn id="27" dur="1" fill="hold">
                                          <p:stCondLst>
                                            <p:cond delay="0"/>
                                          </p:stCondLst>
                                        </p:cTn>
                                        <p:tgtEl>
                                          <p:spTgt spid="24"/>
                                        </p:tgtEl>
                                        <p:attrNameLst>
                                          <p:attrName>style.visibility</p:attrName>
                                        </p:attrNameLst>
                                      </p:cBhvr>
                                      <p:to>
                                        <p:strVal val="visible"/>
                                      </p:to>
                                    </p:set>
                                    <p:animEffect transition="in" filter="fade">
                                      <p:cBhvr>
                                        <p:cTn id="28" dur="550"/>
                                        <p:tgtEl>
                                          <p:spTgt spid="24"/>
                                        </p:tgtEl>
                                      </p:cBhvr>
                                    </p:animEffect>
                                    <p:anim calcmode="lin" valueType="num">
                                      <p:cBhvr>
                                        <p:cTn id="29" dur="550" fill="hold"/>
                                        <p:tgtEl>
                                          <p:spTgt spid="24"/>
                                        </p:tgtEl>
                                        <p:attrNameLst>
                                          <p:attrName>ppt_x</p:attrName>
                                        </p:attrNameLst>
                                      </p:cBhvr>
                                      <p:tavLst>
                                        <p:tav tm="0">
                                          <p:val>
                                            <p:strVal val="#ppt_x"/>
                                          </p:val>
                                        </p:tav>
                                        <p:tav tm="100000">
                                          <p:val>
                                            <p:strVal val="#ppt_x"/>
                                          </p:val>
                                        </p:tav>
                                      </p:tavLst>
                                    </p:anim>
                                    <p:anim calcmode="lin" valueType="num">
                                      <p:cBhvr>
                                        <p:cTn id="30" dur="495" decel="100000" fill="hold"/>
                                        <p:tgtEl>
                                          <p:spTgt spid="24"/>
                                        </p:tgtEl>
                                        <p:attrNameLst>
                                          <p:attrName>ppt_y</p:attrName>
                                        </p:attrNameLst>
                                      </p:cBhvr>
                                      <p:tavLst>
                                        <p:tav tm="0">
                                          <p:val>
                                            <p:strVal val="#ppt_y+1"/>
                                          </p:val>
                                        </p:tav>
                                        <p:tav tm="100000">
                                          <p:val>
                                            <p:strVal val="#ppt_y-.03"/>
                                          </p:val>
                                        </p:tav>
                                      </p:tavLst>
                                    </p:anim>
                                    <p:anim calcmode="lin" valueType="num">
                                      <p:cBhvr>
                                        <p:cTn id="31" dur="55" accel="100000" fill="hold">
                                          <p:stCondLst>
                                            <p:cond delay="495"/>
                                          </p:stCondLst>
                                        </p:cTn>
                                        <p:tgtEl>
                                          <p:spTgt spid="24"/>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14284B"/>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57150"/>
          </a:xfrm>
          <a:prstGeom prst="rect">
            <a:avLst/>
          </a:prstGeom>
          <a:solidFill>
            <a:srgbClr val="59BEC9"/>
          </a:solidFill>
          <a:ln>
            <a:noFill/>
          </a:ln>
        </p:spPr>
        <p:txBody>
          <a:bodyPr rtlCol="0" anchor="ctr"/>
          <a:lstStyle/>
          <a:p>
            <a:pPr algn="ctr"/>
            <a:endParaRPr/>
          </a:p>
        </p:txBody>
      </p:sp>
      <p:grpSp>
        <p:nvGrpSpPr>
          <p:cNvPr id="3" name="anim|fade|0.05"/>
          <p:cNvGrpSpPr/>
          <p:nvPr/>
        </p:nvGrpSpPr>
        <p:grpSpPr>
          <a:xfrm>
            <a:off x="571500" y="266700"/>
            <a:ext cx="7105650" cy="190500"/>
            <a:chOff x="571500" y="266700"/>
            <a:chExt cx="7105650" cy="190500"/>
          </a:xfrm>
        </p:grpSpPr>
        <p:sp>
          <p:nvSpPr>
            <p:cNvPr id="4" name="Rectangle 3"/>
            <p:cNvSpPr/>
            <p:nvPr/>
          </p:nvSpPr>
          <p:spPr>
            <a:xfrm>
              <a:off x="571500" y="342900"/>
              <a:ext cx="342900" cy="47625"/>
            </a:xfrm>
            <a:prstGeom prst="rect">
              <a:avLst/>
            </a:prstGeom>
            <a:solidFill>
              <a:srgbClr val="FFB938"/>
            </a:solidFill>
            <a:ln>
              <a:noFill/>
            </a:ln>
          </p:spPr>
          <p:txBody>
            <a:bodyPr rtlCol="0" anchor="ctr"/>
            <a:lstStyle/>
            <a:p>
              <a:pPr algn="ctr"/>
              <a:endParaRPr/>
            </a:p>
          </p:txBody>
        </p:sp>
        <p:sp>
          <p:nvSpPr>
            <p:cNvPr id="5" name="TextBox 4"/>
            <p:cNvSpPr txBox="1"/>
            <p:nvPr/>
          </p:nvSpPr>
          <p:spPr>
            <a:xfrm>
              <a:off x="1009650" y="266700"/>
              <a:ext cx="6667500" cy="190500"/>
            </a:xfrm>
            <a:prstGeom prst="rect">
              <a:avLst/>
            </a:prstGeom>
            <a:noFill/>
          </p:spPr>
          <p:txBody>
            <a:bodyPr wrap="square" lIns="0" tIns="0" rIns="0" bIns="0" anchor="t">
              <a:spAutoFit/>
            </a:bodyPr>
            <a:lstStyle/>
            <a:p>
              <a:pPr algn="l"/>
              <a:r>
                <a:rPr sz="1100" b="1" spc="300">
                  <a:solidFill>
                    <a:srgbClr val="59BEC9"/>
                  </a:solidFill>
                  <a:latin typeface="Century Gothic"/>
                </a:rPr>
                <a:t>RESTORING</a:t>
              </a:r>
            </a:p>
          </p:txBody>
        </p:sp>
      </p:grpSp>
      <p:sp>
        <p:nvSpPr>
          <p:cNvPr id="6" name="anim|wipeL|0.1"/>
          <p:cNvSpPr txBox="1"/>
          <p:nvPr/>
        </p:nvSpPr>
        <p:spPr>
          <a:xfrm>
            <a:off x="571500" y="533400"/>
            <a:ext cx="11049000" cy="533400"/>
          </a:xfrm>
          <a:prstGeom prst="rect">
            <a:avLst/>
          </a:prstGeom>
          <a:noFill/>
        </p:spPr>
        <p:txBody>
          <a:bodyPr wrap="square" lIns="0" tIns="0" rIns="0" bIns="0" anchor="t">
            <a:spAutoFit/>
          </a:bodyPr>
          <a:lstStyle/>
          <a:p>
            <a:pPr algn="l"/>
            <a:r>
              <a:rPr sz="3100" b="1">
                <a:solidFill>
                  <a:srgbClr val="FFFFFF"/>
                </a:solidFill>
                <a:latin typeface="Century Gothic"/>
              </a:rPr>
              <a:t>Choosing what to restore</a:t>
            </a:r>
          </a:p>
        </p:txBody>
      </p:sp>
      <p:sp>
        <p:nvSpPr>
          <p:cNvPr id="7" name="anim|fade|0.45"/>
          <p:cNvSpPr txBox="1"/>
          <p:nvPr/>
        </p:nvSpPr>
        <p:spPr>
          <a:xfrm>
            <a:off x="571500" y="1028700"/>
            <a:ext cx="11049000" cy="247650"/>
          </a:xfrm>
          <a:prstGeom prst="rect">
            <a:avLst/>
          </a:prstGeom>
          <a:noFill/>
        </p:spPr>
        <p:txBody>
          <a:bodyPr wrap="square" lIns="0" tIns="0" rIns="0" bIns="0" anchor="t">
            <a:spAutoFit/>
          </a:bodyPr>
          <a:lstStyle/>
          <a:p>
            <a:pPr algn="l"/>
            <a:r>
              <a:rPr sz="1500" b="0">
                <a:solidFill>
                  <a:srgbClr val="B0C0D9"/>
                </a:solidFill>
                <a:latin typeface="Segoe UI"/>
              </a:rPr>
              <a:t>Item-level filters and conflict handling</a:t>
            </a:r>
          </a:p>
        </p:txBody>
      </p:sp>
      <p:sp>
        <p:nvSpPr>
          <p:cNvPr id="8" name="TextBox 7"/>
          <p:cNvSpPr txBox="1"/>
          <p:nvPr/>
        </p:nvSpPr>
        <p:spPr>
          <a:xfrm>
            <a:off x="571500" y="6534150"/>
            <a:ext cx="6667500" cy="171450"/>
          </a:xfrm>
          <a:prstGeom prst="rect">
            <a:avLst/>
          </a:prstGeom>
          <a:noFill/>
        </p:spPr>
        <p:txBody>
          <a:bodyPr wrap="square" lIns="0" tIns="0" rIns="0" bIns="0" anchor="t">
            <a:spAutoFit/>
          </a:bodyPr>
          <a:lstStyle/>
          <a:p>
            <a:pPr algn="l"/>
            <a:r>
              <a:rPr sz="950" b="0">
                <a:solidFill>
                  <a:srgbClr val="B0C0D9"/>
                </a:solidFill>
                <a:latin typeface="Segoe UI"/>
              </a:rPr>
              <a:t>AKS Backup &amp; Restore  |  BFH AKS IHUB Platform Team</a:t>
            </a:r>
          </a:p>
        </p:txBody>
      </p:sp>
      <p:sp>
        <p:nvSpPr>
          <p:cNvPr id="9" name="TextBox 8"/>
          <p:cNvSpPr txBox="1"/>
          <p:nvPr/>
        </p:nvSpPr>
        <p:spPr>
          <a:xfrm>
            <a:off x="10668000" y="6534150"/>
            <a:ext cx="952500" cy="171450"/>
          </a:xfrm>
          <a:prstGeom prst="rect">
            <a:avLst/>
          </a:prstGeom>
          <a:noFill/>
        </p:spPr>
        <p:txBody>
          <a:bodyPr wrap="square" lIns="0" tIns="0" rIns="0" bIns="0" anchor="t">
            <a:spAutoFit/>
          </a:bodyPr>
          <a:lstStyle/>
          <a:p>
            <a:pPr algn="r"/>
            <a:r>
              <a:rPr sz="1000" b="1">
                <a:solidFill>
                  <a:srgbClr val="FFB938"/>
                </a:solidFill>
                <a:latin typeface="Century Gothic"/>
              </a:rPr>
              <a:t>19</a:t>
            </a:r>
          </a:p>
        </p:txBody>
      </p:sp>
      <p:sp>
        <p:nvSpPr>
          <p:cNvPr id="10" name="anim|fade|0.55"/>
          <p:cNvSpPr txBox="1"/>
          <p:nvPr/>
        </p:nvSpPr>
        <p:spPr>
          <a:xfrm>
            <a:off x="571500" y="1428750"/>
            <a:ext cx="3810000" cy="190500"/>
          </a:xfrm>
          <a:prstGeom prst="rect">
            <a:avLst/>
          </a:prstGeom>
          <a:noFill/>
        </p:spPr>
        <p:txBody>
          <a:bodyPr wrap="square" lIns="0" tIns="0" rIns="0" bIns="0" anchor="t">
            <a:spAutoFit/>
          </a:bodyPr>
          <a:lstStyle/>
          <a:p>
            <a:pPr algn="l"/>
            <a:r>
              <a:rPr sz="1100" b="1" spc="300">
                <a:solidFill>
                  <a:srgbClr val="59BEC9"/>
                </a:solidFill>
                <a:latin typeface="Century Gothic"/>
              </a:rPr>
              <a:t>FILTERS</a:t>
            </a:r>
          </a:p>
        </p:txBody>
      </p:sp>
      <p:grpSp>
        <p:nvGrpSpPr>
          <p:cNvPr id="11" name="anim|rise|0.69"/>
          <p:cNvGrpSpPr/>
          <p:nvPr/>
        </p:nvGrpSpPr>
        <p:grpSpPr>
          <a:xfrm>
            <a:off x="571500" y="1714500"/>
            <a:ext cx="2114550" cy="1962150"/>
            <a:chOff x="571500" y="1714500"/>
            <a:chExt cx="2114550" cy="1962150"/>
          </a:xfrm>
        </p:grpSpPr>
        <p:sp>
          <p:nvSpPr>
            <p:cNvPr id="12" name="Rounded Rectangle 11"/>
            <p:cNvSpPr/>
            <p:nvPr/>
          </p:nvSpPr>
          <p:spPr>
            <a:xfrm>
              <a:off x="571500" y="1714500"/>
              <a:ext cx="2114550" cy="1962150"/>
            </a:xfrm>
            <a:prstGeom prst="roundRect">
              <a:avLst>
                <a:gd name="adj" fmla="val 8737"/>
              </a:avLst>
            </a:prstGeom>
            <a:solidFill>
              <a:srgbClr val="1E3A68"/>
            </a:solidFill>
            <a:ln>
              <a:noFill/>
            </a:ln>
          </p:spPr>
          <p:txBody>
            <a:bodyPr rtlCol="0" anchor="ctr"/>
            <a:lstStyle/>
            <a:p>
              <a:pPr algn="ctr"/>
              <a:endParaRPr/>
            </a:p>
          </p:txBody>
        </p:sp>
        <p:pic>
          <p:nvPicPr>
            <p:cNvPr id="13" name="Picture 12" descr="layers_teal.png"/>
            <p:cNvPicPr>
              <a:picLocks noChangeAspect="1"/>
            </p:cNvPicPr>
            <p:nvPr/>
          </p:nvPicPr>
          <p:blipFill>
            <a:blip r:embed="rId2"/>
            <a:stretch>
              <a:fillRect/>
            </a:stretch>
          </p:blipFill>
          <p:spPr>
            <a:xfrm>
              <a:off x="762000" y="1905000"/>
              <a:ext cx="342900" cy="342900"/>
            </a:xfrm>
            <a:prstGeom prst="rect">
              <a:avLst/>
            </a:prstGeom>
          </p:spPr>
        </p:pic>
        <p:sp>
          <p:nvSpPr>
            <p:cNvPr id="14" name="TextBox 13"/>
            <p:cNvSpPr txBox="1"/>
            <p:nvPr/>
          </p:nvSpPr>
          <p:spPr>
            <a:xfrm>
              <a:off x="762000" y="2400300"/>
              <a:ext cx="1752600" cy="476250"/>
            </a:xfrm>
            <a:prstGeom prst="rect">
              <a:avLst/>
            </a:prstGeom>
            <a:noFill/>
          </p:spPr>
          <p:txBody>
            <a:bodyPr wrap="square" lIns="0" tIns="0" rIns="0" bIns="0" anchor="t">
              <a:spAutoFit/>
            </a:bodyPr>
            <a:lstStyle/>
            <a:p>
              <a:pPr algn="l"/>
              <a:r>
                <a:rPr sz="1500" b="1">
                  <a:solidFill>
                    <a:srgbClr val="FFFFFF"/>
                  </a:solidFill>
                  <a:latin typeface="Century Gothic"/>
                </a:rPr>
                <a:t>Namespaces</a:t>
              </a:r>
            </a:p>
          </p:txBody>
        </p:sp>
        <p:sp>
          <p:nvSpPr>
            <p:cNvPr id="15" name="TextBox 14"/>
            <p:cNvSpPr txBox="1"/>
            <p:nvPr/>
          </p:nvSpPr>
          <p:spPr>
            <a:xfrm>
              <a:off x="762000" y="2914650"/>
              <a:ext cx="1752600" cy="666750"/>
            </a:xfrm>
            <a:prstGeom prst="rect">
              <a:avLst/>
            </a:prstGeom>
            <a:noFill/>
          </p:spPr>
          <p:txBody>
            <a:bodyPr wrap="square" lIns="0" tIns="0" rIns="0" bIns="0" anchor="t">
              <a:spAutoFit/>
            </a:bodyPr>
            <a:lstStyle/>
            <a:p>
              <a:pPr algn="l"/>
              <a:r>
                <a:rPr sz="1300" b="0">
                  <a:solidFill>
                    <a:srgbClr val="B0C0D9"/>
                  </a:solidFill>
                  <a:latin typeface="Segoe UI"/>
                </a:rPr>
                <a:t>Pick from the backed-up list</a:t>
              </a:r>
            </a:p>
          </p:txBody>
        </p:sp>
      </p:grpSp>
      <p:grpSp>
        <p:nvGrpSpPr>
          <p:cNvPr id="16" name="anim|rise|0.83"/>
          <p:cNvGrpSpPr/>
          <p:nvPr/>
        </p:nvGrpSpPr>
        <p:grpSpPr>
          <a:xfrm>
            <a:off x="2847975" y="1714500"/>
            <a:ext cx="2114550" cy="1962150"/>
            <a:chOff x="2847975" y="1714500"/>
            <a:chExt cx="2114550" cy="1962150"/>
          </a:xfrm>
        </p:grpSpPr>
        <p:sp>
          <p:nvSpPr>
            <p:cNvPr id="17" name="Rounded Rectangle 16"/>
            <p:cNvSpPr/>
            <p:nvPr/>
          </p:nvSpPr>
          <p:spPr>
            <a:xfrm>
              <a:off x="2847975" y="1714500"/>
              <a:ext cx="2114550" cy="1962150"/>
            </a:xfrm>
            <a:prstGeom prst="roundRect">
              <a:avLst>
                <a:gd name="adj" fmla="val 8737"/>
              </a:avLst>
            </a:prstGeom>
            <a:solidFill>
              <a:srgbClr val="1E3A68"/>
            </a:solidFill>
            <a:ln>
              <a:noFill/>
            </a:ln>
          </p:spPr>
          <p:txBody>
            <a:bodyPr rtlCol="0" anchor="ctr"/>
            <a:lstStyle/>
            <a:p>
              <a:pPr algn="ctr"/>
              <a:endParaRPr/>
            </a:p>
          </p:txBody>
        </p:sp>
        <p:pic>
          <p:nvPicPr>
            <p:cNvPr id="18" name="Picture 17" descr="cluster_teal.png"/>
            <p:cNvPicPr>
              <a:picLocks noChangeAspect="1"/>
            </p:cNvPicPr>
            <p:nvPr/>
          </p:nvPicPr>
          <p:blipFill>
            <a:blip r:embed="rId3"/>
            <a:stretch>
              <a:fillRect/>
            </a:stretch>
          </p:blipFill>
          <p:spPr>
            <a:xfrm>
              <a:off x="3038475" y="1905000"/>
              <a:ext cx="342900" cy="342900"/>
            </a:xfrm>
            <a:prstGeom prst="rect">
              <a:avLst/>
            </a:prstGeom>
          </p:spPr>
        </p:pic>
        <p:sp>
          <p:nvSpPr>
            <p:cNvPr id="19" name="TextBox 18"/>
            <p:cNvSpPr txBox="1"/>
            <p:nvPr/>
          </p:nvSpPr>
          <p:spPr>
            <a:xfrm>
              <a:off x="3038475" y="2400300"/>
              <a:ext cx="1752600" cy="476250"/>
            </a:xfrm>
            <a:prstGeom prst="rect">
              <a:avLst/>
            </a:prstGeom>
            <a:noFill/>
          </p:spPr>
          <p:txBody>
            <a:bodyPr wrap="square" lIns="0" tIns="0" rIns="0" bIns="0" anchor="t">
              <a:spAutoFit/>
            </a:bodyPr>
            <a:lstStyle/>
            <a:p>
              <a:pPr algn="l"/>
              <a:r>
                <a:rPr sz="1500" b="1">
                  <a:solidFill>
                    <a:srgbClr val="FFFFFF"/>
                  </a:solidFill>
                  <a:latin typeface="Century Gothic"/>
                </a:rPr>
                <a:t>Cluster-scoped resources</a:t>
              </a:r>
            </a:p>
          </p:txBody>
        </p:sp>
        <p:sp>
          <p:nvSpPr>
            <p:cNvPr id="20" name="TextBox 19"/>
            <p:cNvSpPr txBox="1"/>
            <p:nvPr/>
          </p:nvSpPr>
          <p:spPr>
            <a:xfrm>
              <a:off x="3038475" y="2914650"/>
              <a:ext cx="1752600" cy="666750"/>
            </a:xfrm>
            <a:prstGeom prst="rect">
              <a:avLst/>
            </a:prstGeom>
            <a:noFill/>
          </p:spPr>
          <p:txBody>
            <a:bodyPr wrap="square" lIns="0" tIns="0" rIns="0" bIns="0" anchor="t">
              <a:spAutoFit/>
            </a:bodyPr>
            <a:lstStyle/>
            <a:p>
              <a:pPr algn="l"/>
              <a:r>
                <a:rPr sz="1300" b="0">
                  <a:solidFill>
                    <a:srgbClr val="B0C0D9"/>
                  </a:solidFill>
                  <a:latin typeface="Segoe UI"/>
                </a:rPr>
                <a:t>Tick to include</a:t>
              </a:r>
            </a:p>
          </p:txBody>
        </p:sp>
      </p:grpSp>
      <p:grpSp>
        <p:nvGrpSpPr>
          <p:cNvPr id="21" name="anim|rise|0.97"/>
          <p:cNvGrpSpPr/>
          <p:nvPr/>
        </p:nvGrpSpPr>
        <p:grpSpPr>
          <a:xfrm>
            <a:off x="5124450" y="1714500"/>
            <a:ext cx="2114550" cy="1962150"/>
            <a:chOff x="5124450" y="1714500"/>
            <a:chExt cx="2114550" cy="1962150"/>
          </a:xfrm>
        </p:grpSpPr>
        <p:sp>
          <p:nvSpPr>
            <p:cNvPr id="22" name="Rounded Rectangle 21"/>
            <p:cNvSpPr/>
            <p:nvPr/>
          </p:nvSpPr>
          <p:spPr>
            <a:xfrm>
              <a:off x="5124450" y="1714500"/>
              <a:ext cx="2114550" cy="1962150"/>
            </a:xfrm>
            <a:prstGeom prst="roundRect">
              <a:avLst>
                <a:gd name="adj" fmla="val 8737"/>
              </a:avLst>
            </a:prstGeom>
            <a:solidFill>
              <a:srgbClr val="1E3A68"/>
            </a:solidFill>
            <a:ln>
              <a:noFill/>
            </a:ln>
          </p:spPr>
          <p:txBody>
            <a:bodyPr rtlCol="0" anchor="ctr"/>
            <a:lstStyle/>
            <a:p>
              <a:pPr algn="ctr"/>
              <a:endParaRPr/>
            </a:p>
          </p:txBody>
        </p:sp>
        <p:pic>
          <p:nvPicPr>
            <p:cNvPr id="23" name="Picture 22" descr="pin_teal.png"/>
            <p:cNvPicPr>
              <a:picLocks noChangeAspect="1"/>
            </p:cNvPicPr>
            <p:nvPr/>
          </p:nvPicPr>
          <p:blipFill>
            <a:blip r:embed="rId4"/>
            <a:stretch>
              <a:fillRect/>
            </a:stretch>
          </p:blipFill>
          <p:spPr>
            <a:xfrm>
              <a:off x="5314950" y="1905000"/>
              <a:ext cx="342900" cy="342900"/>
            </a:xfrm>
            <a:prstGeom prst="rect">
              <a:avLst/>
            </a:prstGeom>
          </p:spPr>
        </p:pic>
        <p:sp>
          <p:nvSpPr>
            <p:cNvPr id="24" name="TextBox 23"/>
            <p:cNvSpPr txBox="1"/>
            <p:nvPr/>
          </p:nvSpPr>
          <p:spPr>
            <a:xfrm>
              <a:off x="5314950" y="2400300"/>
              <a:ext cx="1752600" cy="476250"/>
            </a:xfrm>
            <a:prstGeom prst="rect">
              <a:avLst/>
            </a:prstGeom>
            <a:noFill/>
          </p:spPr>
          <p:txBody>
            <a:bodyPr wrap="square" lIns="0" tIns="0" rIns="0" bIns="0" anchor="t">
              <a:spAutoFit/>
            </a:bodyPr>
            <a:lstStyle/>
            <a:p>
              <a:pPr algn="l"/>
              <a:r>
                <a:rPr sz="1500" b="1">
                  <a:solidFill>
                    <a:srgbClr val="FFFFFF"/>
                  </a:solidFill>
                  <a:latin typeface="Century Gothic"/>
                </a:rPr>
                <a:t>Labels</a:t>
              </a:r>
            </a:p>
          </p:txBody>
        </p:sp>
        <p:sp>
          <p:nvSpPr>
            <p:cNvPr id="25" name="TextBox 24"/>
            <p:cNvSpPr txBox="1"/>
            <p:nvPr/>
          </p:nvSpPr>
          <p:spPr>
            <a:xfrm>
              <a:off x="5314950" y="2914650"/>
              <a:ext cx="1752600" cy="666750"/>
            </a:xfrm>
            <a:prstGeom prst="rect">
              <a:avLst/>
            </a:prstGeom>
            <a:noFill/>
          </p:spPr>
          <p:txBody>
            <a:bodyPr wrap="square" lIns="0" tIns="0" rIns="0" bIns="0" anchor="t">
              <a:spAutoFit/>
            </a:bodyPr>
            <a:lstStyle/>
            <a:p>
              <a:pPr algn="l"/>
              <a:r>
                <a:rPr sz="1300" b="0">
                  <a:solidFill>
                    <a:srgbClr val="B0C0D9"/>
                  </a:solidFill>
                  <a:latin typeface="Segoe UI"/>
                </a:rPr>
                <a:t>Restore only resources with matching labels</a:t>
              </a:r>
            </a:p>
          </p:txBody>
        </p:sp>
      </p:grpSp>
      <p:grpSp>
        <p:nvGrpSpPr>
          <p:cNvPr id="26" name="anim|rise|1.11"/>
          <p:cNvGrpSpPr/>
          <p:nvPr/>
        </p:nvGrpSpPr>
        <p:grpSpPr>
          <a:xfrm>
            <a:off x="571500" y="3829050"/>
            <a:ext cx="2114550" cy="1962150"/>
            <a:chOff x="571500" y="3829050"/>
            <a:chExt cx="2114550" cy="1962150"/>
          </a:xfrm>
        </p:grpSpPr>
        <p:sp>
          <p:nvSpPr>
            <p:cNvPr id="27" name="Rounded Rectangle 26"/>
            <p:cNvSpPr/>
            <p:nvPr/>
          </p:nvSpPr>
          <p:spPr>
            <a:xfrm>
              <a:off x="571500" y="3829050"/>
              <a:ext cx="2114550" cy="1962150"/>
            </a:xfrm>
            <a:prstGeom prst="roundRect">
              <a:avLst>
                <a:gd name="adj" fmla="val 8737"/>
              </a:avLst>
            </a:prstGeom>
            <a:solidFill>
              <a:srgbClr val="1E3A68"/>
            </a:solidFill>
            <a:ln>
              <a:noFill/>
            </a:ln>
          </p:spPr>
          <p:txBody>
            <a:bodyPr rtlCol="0" anchor="ctr"/>
            <a:lstStyle/>
            <a:p>
              <a:pPr algn="ctr"/>
              <a:endParaRPr/>
            </a:p>
          </p:txBody>
        </p:sp>
        <p:pic>
          <p:nvPicPr>
            <p:cNvPr id="28" name="Picture 27" descr="code_teal.png"/>
            <p:cNvPicPr>
              <a:picLocks noChangeAspect="1"/>
            </p:cNvPicPr>
            <p:nvPr/>
          </p:nvPicPr>
          <p:blipFill>
            <a:blip r:embed="rId5"/>
            <a:stretch>
              <a:fillRect/>
            </a:stretch>
          </p:blipFill>
          <p:spPr>
            <a:xfrm>
              <a:off x="762000" y="4019550"/>
              <a:ext cx="342900" cy="342900"/>
            </a:xfrm>
            <a:prstGeom prst="rect">
              <a:avLst/>
            </a:prstGeom>
          </p:spPr>
        </p:pic>
        <p:sp>
          <p:nvSpPr>
            <p:cNvPr id="29" name="TextBox 28"/>
            <p:cNvSpPr txBox="1"/>
            <p:nvPr/>
          </p:nvSpPr>
          <p:spPr>
            <a:xfrm>
              <a:off x="762000" y="4514850"/>
              <a:ext cx="1752600" cy="476250"/>
            </a:xfrm>
            <a:prstGeom prst="rect">
              <a:avLst/>
            </a:prstGeom>
            <a:noFill/>
          </p:spPr>
          <p:txBody>
            <a:bodyPr wrap="square" lIns="0" tIns="0" rIns="0" bIns="0" anchor="t">
              <a:spAutoFit/>
            </a:bodyPr>
            <a:lstStyle/>
            <a:p>
              <a:pPr algn="l"/>
              <a:r>
                <a:rPr sz="1500" b="1">
                  <a:solidFill>
                    <a:srgbClr val="FFFFFF"/>
                  </a:solidFill>
                  <a:latin typeface="Century Gothic"/>
                </a:rPr>
                <a:t>API groups and kinds</a:t>
              </a:r>
            </a:p>
          </p:txBody>
        </p:sp>
        <p:sp>
          <p:nvSpPr>
            <p:cNvPr id="30" name="TextBox 29"/>
            <p:cNvSpPr txBox="1"/>
            <p:nvPr/>
          </p:nvSpPr>
          <p:spPr>
            <a:xfrm>
              <a:off x="762000" y="5029200"/>
              <a:ext cx="1752600" cy="666750"/>
            </a:xfrm>
            <a:prstGeom prst="rect">
              <a:avLst/>
            </a:prstGeom>
            <a:noFill/>
          </p:spPr>
          <p:txBody>
            <a:bodyPr wrap="square" lIns="0" tIns="0" rIns="0" bIns="0" anchor="t">
              <a:spAutoFit/>
            </a:bodyPr>
            <a:lstStyle/>
            <a:p>
              <a:pPr algn="l"/>
              <a:r>
                <a:rPr sz="1300" b="0">
                  <a:solidFill>
                    <a:srgbClr val="B0C0D9"/>
                  </a:solidFill>
                  <a:latin typeface="Segoe UI"/>
                </a:rPr>
                <a:t>Restore specific types, such as Deployment</a:t>
              </a:r>
            </a:p>
          </p:txBody>
        </p:sp>
      </p:grpSp>
      <p:grpSp>
        <p:nvGrpSpPr>
          <p:cNvPr id="31" name="anim|rise|1.25"/>
          <p:cNvGrpSpPr/>
          <p:nvPr/>
        </p:nvGrpSpPr>
        <p:grpSpPr>
          <a:xfrm>
            <a:off x="2847975" y="3829050"/>
            <a:ext cx="2114550" cy="1962150"/>
            <a:chOff x="2847975" y="3829050"/>
            <a:chExt cx="2114550" cy="1962150"/>
          </a:xfrm>
        </p:grpSpPr>
        <p:sp>
          <p:nvSpPr>
            <p:cNvPr id="32" name="Rounded Rectangle 31"/>
            <p:cNvSpPr/>
            <p:nvPr/>
          </p:nvSpPr>
          <p:spPr>
            <a:xfrm>
              <a:off x="2847975" y="3829050"/>
              <a:ext cx="2114550" cy="1962150"/>
            </a:xfrm>
            <a:prstGeom prst="roundRect">
              <a:avLst>
                <a:gd name="adj" fmla="val 8737"/>
              </a:avLst>
            </a:prstGeom>
            <a:solidFill>
              <a:srgbClr val="1E3A68"/>
            </a:solidFill>
            <a:ln>
              <a:noFill/>
            </a:ln>
          </p:spPr>
          <p:txBody>
            <a:bodyPr rtlCol="0" anchor="ctr"/>
            <a:lstStyle/>
            <a:p>
              <a:pPr algn="ctr"/>
              <a:endParaRPr/>
            </a:p>
          </p:txBody>
        </p:sp>
        <p:pic>
          <p:nvPicPr>
            <p:cNvPr id="33" name="Picture 32" descr="branch_teal.png"/>
            <p:cNvPicPr>
              <a:picLocks noChangeAspect="1"/>
            </p:cNvPicPr>
            <p:nvPr/>
          </p:nvPicPr>
          <p:blipFill>
            <a:blip r:embed="rId6"/>
            <a:stretch>
              <a:fillRect/>
            </a:stretch>
          </p:blipFill>
          <p:spPr>
            <a:xfrm>
              <a:off x="3038475" y="4019550"/>
              <a:ext cx="342900" cy="342900"/>
            </a:xfrm>
            <a:prstGeom prst="rect">
              <a:avLst/>
            </a:prstGeom>
          </p:spPr>
        </p:pic>
        <p:sp>
          <p:nvSpPr>
            <p:cNvPr id="34" name="TextBox 33"/>
            <p:cNvSpPr txBox="1"/>
            <p:nvPr/>
          </p:nvSpPr>
          <p:spPr>
            <a:xfrm>
              <a:off x="3038475" y="4514850"/>
              <a:ext cx="1752600" cy="476250"/>
            </a:xfrm>
            <a:prstGeom prst="rect">
              <a:avLst/>
            </a:prstGeom>
            <a:noFill/>
          </p:spPr>
          <p:txBody>
            <a:bodyPr wrap="square" lIns="0" tIns="0" rIns="0" bIns="0" anchor="t">
              <a:spAutoFit/>
            </a:bodyPr>
            <a:lstStyle/>
            <a:p>
              <a:pPr algn="l"/>
              <a:r>
                <a:rPr sz="1500" b="1">
                  <a:solidFill>
                    <a:srgbClr val="FFFFFF"/>
                  </a:solidFill>
                  <a:latin typeface="Century Gothic"/>
                </a:rPr>
                <a:t>Namespace mapping</a:t>
              </a:r>
            </a:p>
          </p:txBody>
        </p:sp>
        <p:sp>
          <p:nvSpPr>
            <p:cNvPr id="35" name="TextBox 34"/>
            <p:cNvSpPr txBox="1"/>
            <p:nvPr/>
          </p:nvSpPr>
          <p:spPr>
            <a:xfrm>
              <a:off x="3038475" y="5029200"/>
              <a:ext cx="1752600" cy="666750"/>
            </a:xfrm>
            <a:prstGeom prst="rect">
              <a:avLst/>
            </a:prstGeom>
            <a:noFill/>
          </p:spPr>
          <p:txBody>
            <a:bodyPr wrap="square" lIns="0" tIns="0" rIns="0" bIns="0" anchor="t">
              <a:spAutoFit/>
            </a:bodyPr>
            <a:lstStyle/>
            <a:p>
              <a:pPr algn="l"/>
              <a:r>
                <a:rPr sz="1300" b="0">
                  <a:solidFill>
                    <a:srgbClr val="B0C0D9"/>
                  </a:solidFill>
                  <a:latin typeface="Segoe UI"/>
                </a:rPr>
                <a:t>Restore into a different namespace (created if missing)</a:t>
              </a:r>
            </a:p>
          </p:txBody>
        </p:sp>
      </p:grpSp>
      <p:grpSp>
        <p:nvGrpSpPr>
          <p:cNvPr id="36" name="anim|rise|1.39"/>
          <p:cNvGrpSpPr/>
          <p:nvPr/>
        </p:nvGrpSpPr>
        <p:grpSpPr>
          <a:xfrm>
            <a:off x="5124450" y="3829050"/>
            <a:ext cx="2114550" cy="1962150"/>
            <a:chOff x="5124450" y="3829050"/>
            <a:chExt cx="2114550" cy="1962150"/>
          </a:xfrm>
        </p:grpSpPr>
        <p:sp>
          <p:nvSpPr>
            <p:cNvPr id="37" name="Rounded Rectangle 36"/>
            <p:cNvSpPr/>
            <p:nvPr/>
          </p:nvSpPr>
          <p:spPr>
            <a:xfrm>
              <a:off x="5124450" y="3829050"/>
              <a:ext cx="2114550" cy="1962150"/>
            </a:xfrm>
            <a:prstGeom prst="roundRect">
              <a:avLst>
                <a:gd name="adj" fmla="val 8737"/>
              </a:avLst>
            </a:prstGeom>
            <a:solidFill>
              <a:srgbClr val="1E3A68"/>
            </a:solidFill>
            <a:ln w="19050">
              <a:solidFill>
                <a:srgbClr val="FFB938"/>
              </a:solidFill>
            </a:ln>
          </p:spPr>
          <p:txBody>
            <a:bodyPr rtlCol="0" anchor="ctr"/>
            <a:lstStyle/>
            <a:p>
              <a:pPr algn="ctr"/>
              <a:endParaRPr/>
            </a:p>
          </p:txBody>
        </p:sp>
        <p:pic>
          <p:nvPicPr>
            <p:cNvPr id="38" name="Picture 37" descr="sliders_amber.png"/>
            <p:cNvPicPr>
              <a:picLocks noChangeAspect="1"/>
            </p:cNvPicPr>
            <p:nvPr/>
          </p:nvPicPr>
          <p:blipFill>
            <a:blip r:embed="rId7"/>
            <a:stretch>
              <a:fillRect/>
            </a:stretch>
          </p:blipFill>
          <p:spPr>
            <a:xfrm>
              <a:off x="5314950" y="4019550"/>
              <a:ext cx="342900" cy="342900"/>
            </a:xfrm>
            <a:prstGeom prst="rect">
              <a:avLst/>
            </a:prstGeom>
          </p:spPr>
        </p:pic>
        <p:sp>
          <p:nvSpPr>
            <p:cNvPr id="39" name="TextBox 38"/>
            <p:cNvSpPr txBox="1"/>
            <p:nvPr/>
          </p:nvSpPr>
          <p:spPr>
            <a:xfrm>
              <a:off x="5314950" y="4514850"/>
              <a:ext cx="1752600" cy="476250"/>
            </a:xfrm>
            <a:prstGeom prst="rect">
              <a:avLst/>
            </a:prstGeom>
            <a:noFill/>
          </p:spPr>
          <p:txBody>
            <a:bodyPr wrap="square" lIns="0" tIns="0" rIns="0" bIns="0" anchor="t">
              <a:spAutoFit/>
            </a:bodyPr>
            <a:lstStyle/>
            <a:p>
              <a:pPr algn="l"/>
              <a:r>
                <a:rPr sz="1500" b="1">
                  <a:solidFill>
                    <a:srgbClr val="FFFFFF"/>
                  </a:solidFill>
                  <a:latin typeface="Century Gothic"/>
                </a:rPr>
                <a:t>Resource Modifier</a:t>
              </a:r>
            </a:p>
          </p:txBody>
        </p:sp>
        <p:sp>
          <p:nvSpPr>
            <p:cNvPr id="40" name="TextBox 39"/>
            <p:cNvSpPr txBox="1"/>
            <p:nvPr/>
          </p:nvSpPr>
          <p:spPr>
            <a:xfrm>
              <a:off x="5314950" y="5029200"/>
              <a:ext cx="1752600" cy="666750"/>
            </a:xfrm>
            <a:prstGeom prst="rect">
              <a:avLst/>
            </a:prstGeom>
            <a:noFill/>
          </p:spPr>
          <p:txBody>
            <a:bodyPr wrap="square" lIns="0" tIns="0" rIns="0" bIns="0" anchor="t">
              <a:spAutoFit/>
            </a:bodyPr>
            <a:lstStyle/>
            <a:p>
              <a:pPr algn="l"/>
              <a:r>
                <a:rPr sz="1300" b="0">
                  <a:solidFill>
                    <a:srgbClr val="B0C0D9"/>
                  </a:solidFill>
                  <a:latin typeface="Segoe UI"/>
                </a:rPr>
                <a:t>Optional. A ConfigMap can change properties during restore.</a:t>
              </a:r>
            </a:p>
          </p:txBody>
        </p:sp>
      </p:grpSp>
      <p:sp>
        <p:nvSpPr>
          <p:cNvPr id="41" name="anim|fade|1.53"/>
          <p:cNvSpPr txBox="1"/>
          <p:nvPr/>
        </p:nvSpPr>
        <p:spPr>
          <a:xfrm>
            <a:off x="7524750" y="1428750"/>
            <a:ext cx="4095750" cy="190500"/>
          </a:xfrm>
          <a:prstGeom prst="rect">
            <a:avLst/>
          </a:prstGeom>
          <a:noFill/>
        </p:spPr>
        <p:txBody>
          <a:bodyPr wrap="square" lIns="0" tIns="0" rIns="0" bIns="0" anchor="t">
            <a:spAutoFit/>
          </a:bodyPr>
          <a:lstStyle/>
          <a:p>
            <a:pPr algn="l"/>
            <a:r>
              <a:rPr sz="1100" b="1" spc="300">
                <a:solidFill>
                  <a:srgbClr val="59BEC9"/>
                </a:solidFill>
                <a:latin typeface="Century Gothic"/>
              </a:rPr>
              <a:t>IF A RESOURCE ALREADY EXISTS</a:t>
            </a:r>
          </a:p>
        </p:txBody>
      </p:sp>
      <p:grpSp>
        <p:nvGrpSpPr>
          <p:cNvPr id="42" name="anim|rise|1.67"/>
          <p:cNvGrpSpPr/>
          <p:nvPr/>
        </p:nvGrpSpPr>
        <p:grpSpPr>
          <a:xfrm>
            <a:off x="7524750" y="1714500"/>
            <a:ext cx="4095750" cy="1962150"/>
            <a:chOff x="7524750" y="1714500"/>
            <a:chExt cx="4095750" cy="1962150"/>
          </a:xfrm>
        </p:grpSpPr>
        <p:sp>
          <p:nvSpPr>
            <p:cNvPr id="43" name="Rounded Rectangle 42"/>
            <p:cNvSpPr/>
            <p:nvPr/>
          </p:nvSpPr>
          <p:spPr>
            <a:xfrm>
              <a:off x="7524750" y="1714500"/>
              <a:ext cx="4095750" cy="1962150"/>
            </a:xfrm>
            <a:prstGeom prst="roundRect">
              <a:avLst>
                <a:gd name="adj" fmla="val 8737"/>
              </a:avLst>
            </a:prstGeom>
            <a:solidFill>
              <a:srgbClr val="1E3A68"/>
            </a:solidFill>
            <a:ln>
              <a:noFill/>
            </a:ln>
          </p:spPr>
          <p:txBody>
            <a:bodyPr rtlCol="0" anchor="ctr"/>
            <a:lstStyle/>
            <a:p>
              <a:pPr algn="ctr"/>
              <a:endParaRPr/>
            </a:p>
          </p:txBody>
        </p:sp>
        <p:sp>
          <p:nvSpPr>
            <p:cNvPr id="44" name="Oval 43"/>
            <p:cNvSpPr/>
            <p:nvPr/>
          </p:nvSpPr>
          <p:spPr>
            <a:xfrm>
              <a:off x="7772400" y="1962150"/>
              <a:ext cx="609600" cy="609600"/>
            </a:xfrm>
            <a:prstGeom prst="ellipse">
              <a:avLst/>
            </a:prstGeom>
            <a:solidFill>
              <a:srgbClr val="14284B"/>
            </a:solidFill>
            <a:ln>
              <a:noFill/>
            </a:ln>
          </p:spPr>
          <p:txBody>
            <a:bodyPr rtlCol="0" anchor="ctr"/>
            <a:lstStyle/>
            <a:p>
              <a:pPr algn="ctr"/>
              <a:endParaRPr/>
            </a:p>
          </p:txBody>
        </p:sp>
        <p:pic>
          <p:nvPicPr>
            <p:cNvPr id="45" name="Picture 44" descr="lock_teal.png"/>
            <p:cNvPicPr>
              <a:picLocks noChangeAspect="1"/>
            </p:cNvPicPr>
            <p:nvPr/>
          </p:nvPicPr>
          <p:blipFill>
            <a:blip r:embed="rId8"/>
            <a:stretch>
              <a:fillRect/>
            </a:stretch>
          </p:blipFill>
          <p:spPr>
            <a:xfrm>
              <a:off x="7912608" y="2102358"/>
              <a:ext cx="329184" cy="329184"/>
            </a:xfrm>
            <a:prstGeom prst="rect">
              <a:avLst/>
            </a:prstGeom>
          </p:spPr>
        </p:pic>
        <p:sp>
          <p:nvSpPr>
            <p:cNvPr id="46" name="TextBox 45"/>
            <p:cNvSpPr txBox="1"/>
            <p:nvPr/>
          </p:nvSpPr>
          <p:spPr>
            <a:xfrm>
              <a:off x="8591550" y="2000250"/>
              <a:ext cx="2762250" cy="266700"/>
            </a:xfrm>
            <a:prstGeom prst="rect">
              <a:avLst/>
            </a:prstGeom>
            <a:noFill/>
          </p:spPr>
          <p:txBody>
            <a:bodyPr wrap="square" lIns="0" tIns="0" rIns="0" bIns="0" anchor="t">
              <a:spAutoFit/>
            </a:bodyPr>
            <a:lstStyle/>
            <a:p>
              <a:pPr algn="l"/>
              <a:r>
                <a:rPr sz="1900" b="1">
                  <a:solidFill>
                    <a:srgbClr val="FFFFFF"/>
                  </a:solidFill>
                  <a:latin typeface="Century Gothic"/>
                </a:rPr>
                <a:t>Skip (default)</a:t>
              </a:r>
            </a:p>
          </p:txBody>
        </p:sp>
        <p:sp>
          <p:nvSpPr>
            <p:cNvPr id="47" name="TextBox 46"/>
            <p:cNvSpPr txBox="1"/>
            <p:nvPr/>
          </p:nvSpPr>
          <p:spPr>
            <a:xfrm>
              <a:off x="8591550" y="2362200"/>
              <a:ext cx="2762250" cy="1200150"/>
            </a:xfrm>
            <a:prstGeom prst="rect">
              <a:avLst/>
            </a:prstGeom>
            <a:noFill/>
          </p:spPr>
          <p:txBody>
            <a:bodyPr wrap="square" lIns="0" tIns="0" rIns="0" bIns="0" anchor="t">
              <a:spAutoFit/>
            </a:bodyPr>
            <a:lstStyle/>
            <a:p>
              <a:pPr algn="l"/>
              <a:r>
                <a:rPr sz="1450" b="0">
                  <a:solidFill>
                    <a:srgbClr val="B0C0D9"/>
                  </a:solidFill>
                  <a:latin typeface="Segoe UI"/>
                </a:rPr>
                <a:t>Leave the existing resource as it is. Delete it first if you want it restored.</a:t>
              </a:r>
            </a:p>
          </p:txBody>
        </p:sp>
      </p:grpSp>
      <p:grpSp>
        <p:nvGrpSpPr>
          <p:cNvPr id="48" name="anim|rise|1.81"/>
          <p:cNvGrpSpPr/>
          <p:nvPr/>
        </p:nvGrpSpPr>
        <p:grpSpPr>
          <a:xfrm>
            <a:off x="7524750" y="3829050"/>
            <a:ext cx="4095750" cy="1962150"/>
            <a:chOff x="7524750" y="3829050"/>
            <a:chExt cx="4095750" cy="1962150"/>
          </a:xfrm>
        </p:grpSpPr>
        <p:sp>
          <p:nvSpPr>
            <p:cNvPr id="49" name="Rounded Rectangle 48"/>
            <p:cNvSpPr/>
            <p:nvPr/>
          </p:nvSpPr>
          <p:spPr>
            <a:xfrm>
              <a:off x="7524750" y="3829050"/>
              <a:ext cx="4095750" cy="1962150"/>
            </a:xfrm>
            <a:prstGeom prst="roundRect">
              <a:avLst>
                <a:gd name="adj" fmla="val 8737"/>
              </a:avLst>
            </a:prstGeom>
            <a:solidFill>
              <a:srgbClr val="1E3A68"/>
            </a:solidFill>
            <a:ln>
              <a:noFill/>
            </a:ln>
          </p:spPr>
          <p:txBody>
            <a:bodyPr rtlCol="0" anchor="ctr"/>
            <a:lstStyle/>
            <a:p>
              <a:pPr algn="ctr"/>
              <a:endParaRPr/>
            </a:p>
          </p:txBody>
        </p:sp>
        <p:sp>
          <p:nvSpPr>
            <p:cNvPr id="50" name="Oval 49"/>
            <p:cNvSpPr/>
            <p:nvPr/>
          </p:nvSpPr>
          <p:spPr>
            <a:xfrm>
              <a:off x="7772400" y="4076700"/>
              <a:ext cx="609600" cy="609600"/>
            </a:xfrm>
            <a:prstGeom prst="ellipse">
              <a:avLst/>
            </a:prstGeom>
            <a:solidFill>
              <a:srgbClr val="14284B"/>
            </a:solidFill>
            <a:ln>
              <a:noFill/>
            </a:ln>
          </p:spPr>
          <p:txBody>
            <a:bodyPr rtlCol="0" anchor="ctr"/>
            <a:lstStyle/>
            <a:p>
              <a:pPr algn="ctr"/>
              <a:endParaRPr/>
            </a:p>
          </p:txBody>
        </p:sp>
        <p:pic>
          <p:nvPicPr>
            <p:cNvPr id="51" name="Picture 50" descr="sliders_teal.png"/>
            <p:cNvPicPr>
              <a:picLocks noChangeAspect="1"/>
            </p:cNvPicPr>
            <p:nvPr/>
          </p:nvPicPr>
          <p:blipFill>
            <a:blip r:embed="rId9"/>
            <a:stretch>
              <a:fillRect/>
            </a:stretch>
          </p:blipFill>
          <p:spPr>
            <a:xfrm>
              <a:off x="7912608" y="4216908"/>
              <a:ext cx="329184" cy="329184"/>
            </a:xfrm>
            <a:prstGeom prst="rect">
              <a:avLst/>
            </a:prstGeom>
          </p:spPr>
        </p:pic>
        <p:sp>
          <p:nvSpPr>
            <p:cNvPr id="52" name="TextBox 51"/>
            <p:cNvSpPr txBox="1"/>
            <p:nvPr/>
          </p:nvSpPr>
          <p:spPr>
            <a:xfrm>
              <a:off x="8591550" y="4114800"/>
              <a:ext cx="2762250" cy="266700"/>
            </a:xfrm>
            <a:prstGeom prst="rect">
              <a:avLst/>
            </a:prstGeom>
            <a:noFill/>
          </p:spPr>
          <p:txBody>
            <a:bodyPr wrap="square" lIns="0" tIns="0" rIns="0" bIns="0" anchor="t">
              <a:spAutoFit/>
            </a:bodyPr>
            <a:lstStyle/>
            <a:p>
              <a:pPr algn="l"/>
              <a:r>
                <a:rPr sz="1900" b="1">
                  <a:solidFill>
                    <a:srgbClr val="FFFFFF"/>
                  </a:solidFill>
                  <a:latin typeface="Century Gothic"/>
                </a:rPr>
                <a:t>Patch</a:t>
              </a:r>
            </a:p>
          </p:txBody>
        </p:sp>
        <p:sp>
          <p:nvSpPr>
            <p:cNvPr id="53" name="TextBox 52"/>
            <p:cNvSpPr txBox="1"/>
            <p:nvPr/>
          </p:nvSpPr>
          <p:spPr>
            <a:xfrm>
              <a:off x="8591550" y="4476750"/>
              <a:ext cx="2762250" cy="1200150"/>
            </a:xfrm>
            <a:prstGeom prst="rect">
              <a:avLst/>
            </a:prstGeom>
            <a:noFill/>
          </p:spPr>
          <p:txBody>
            <a:bodyPr wrap="square" lIns="0" tIns="0" rIns="0" bIns="0" anchor="t">
              <a:spAutoFit/>
            </a:bodyPr>
            <a:lstStyle/>
            <a:p>
              <a:pPr algn="l"/>
              <a:r>
                <a:rPr sz="1450" b="0">
                  <a:solidFill>
                    <a:srgbClr val="B0C0D9"/>
                  </a:solidFill>
                  <a:latin typeface="Segoe UI"/>
                </a:rPr>
                <a:t>Update the mutable fields of the existing resource, for example the replica count.</a:t>
              </a:r>
            </a:p>
          </p:txBody>
        </p:sp>
      </p:grpSp>
    </p:spTree>
  </p:cSld>
  <p:clrMapOvr>
    <a:masterClrMapping/>
  </p:clrMapOvr>
  <mc:AlternateContent xmlns:mc="http://schemas.openxmlformats.org/markup-compatibility/2006">
    <mc:Choice xmlns:p14="http://schemas.microsoft.com/office/powerpoint/2010/main" Requires="p14">
      <p:transition spd="slow" p14:dur="800">
        <p:fad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5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50"/>
                                        <p:tgtEl>
                                          <p:spTgt spid="3"/>
                                        </p:tgtEl>
                                      </p:cBhvr>
                                    </p:animEffect>
                                  </p:childTnLst>
                                </p:cTn>
                              </p:par>
                              <p:par>
                                <p:cTn id="8" presetID="22" presetClass="entr" presetSubtype="8" fill="hold" grpId="0" nodeType="withEffect">
                                  <p:stCondLst>
                                    <p:cond delay="100"/>
                                  </p:stCondLst>
                                  <p:childTnLst>
                                    <p:set>
                                      <p:cBhvr>
                                        <p:cTn id="9" dur="1" fill="hold">
                                          <p:stCondLst>
                                            <p:cond delay="0"/>
                                          </p:stCondLst>
                                        </p:cTn>
                                        <p:tgtEl>
                                          <p:spTgt spid="6"/>
                                        </p:tgtEl>
                                        <p:attrNameLst>
                                          <p:attrName>style.visibility</p:attrName>
                                        </p:attrNameLst>
                                      </p:cBhvr>
                                      <p:to>
                                        <p:strVal val="visible"/>
                                      </p:to>
                                    </p:set>
                                    <p:animEffect transition="in" filter="wipe(left)">
                                      <p:cBhvr>
                                        <p:cTn id="10" dur="700"/>
                                        <p:tgtEl>
                                          <p:spTgt spid="6"/>
                                        </p:tgtEl>
                                      </p:cBhvr>
                                    </p:animEffect>
                                  </p:childTnLst>
                                </p:cTn>
                              </p:par>
                              <p:par>
                                <p:cTn id="11" presetID="10" presetClass="entr" presetSubtype="0" fill="hold" grpId="0" nodeType="withEffect">
                                  <p:stCondLst>
                                    <p:cond delay="45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50"/>
                                        <p:tgtEl>
                                          <p:spTgt spid="7"/>
                                        </p:tgtEl>
                                      </p:cBhvr>
                                    </p:animEffect>
                                  </p:childTnLst>
                                </p:cTn>
                              </p:par>
                              <p:par>
                                <p:cTn id="14" presetID="10" presetClass="entr" presetSubtype="0" fill="hold" grpId="0" nodeType="withEffect">
                                  <p:stCondLst>
                                    <p:cond delay="55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50"/>
                                        <p:tgtEl>
                                          <p:spTgt spid="10"/>
                                        </p:tgtEl>
                                      </p:cBhvr>
                                    </p:animEffect>
                                  </p:childTnLst>
                                </p:cTn>
                              </p:par>
                              <p:par>
                                <p:cTn id="17" presetID="37" presetClass="entr" presetSubtype="0" fill="hold" nodeType="withEffect">
                                  <p:stCondLst>
                                    <p:cond delay="690"/>
                                  </p:stCondLst>
                                  <p:childTnLst>
                                    <p:set>
                                      <p:cBhvr>
                                        <p:cTn id="18" dur="1" fill="hold">
                                          <p:stCondLst>
                                            <p:cond delay="0"/>
                                          </p:stCondLst>
                                        </p:cTn>
                                        <p:tgtEl>
                                          <p:spTgt spid="11"/>
                                        </p:tgtEl>
                                        <p:attrNameLst>
                                          <p:attrName>style.visibility</p:attrName>
                                        </p:attrNameLst>
                                      </p:cBhvr>
                                      <p:to>
                                        <p:strVal val="visible"/>
                                      </p:to>
                                    </p:set>
                                    <p:animEffect transition="in" filter="fade">
                                      <p:cBhvr>
                                        <p:cTn id="19" dur="550"/>
                                        <p:tgtEl>
                                          <p:spTgt spid="11"/>
                                        </p:tgtEl>
                                      </p:cBhvr>
                                    </p:animEffect>
                                    <p:anim calcmode="lin" valueType="num">
                                      <p:cBhvr>
                                        <p:cTn id="20" dur="550" fill="hold"/>
                                        <p:tgtEl>
                                          <p:spTgt spid="11"/>
                                        </p:tgtEl>
                                        <p:attrNameLst>
                                          <p:attrName>ppt_x</p:attrName>
                                        </p:attrNameLst>
                                      </p:cBhvr>
                                      <p:tavLst>
                                        <p:tav tm="0">
                                          <p:val>
                                            <p:strVal val="#ppt_x"/>
                                          </p:val>
                                        </p:tav>
                                        <p:tav tm="100000">
                                          <p:val>
                                            <p:strVal val="#ppt_x"/>
                                          </p:val>
                                        </p:tav>
                                      </p:tavLst>
                                    </p:anim>
                                    <p:anim calcmode="lin" valueType="num">
                                      <p:cBhvr>
                                        <p:cTn id="21" dur="495" decel="100000" fill="hold"/>
                                        <p:tgtEl>
                                          <p:spTgt spid="11"/>
                                        </p:tgtEl>
                                        <p:attrNameLst>
                                          <p:attrName>ppt_y</p:attrName>
                                        </p:attrNameLst>
                                      </p:cBhvr>
                                      <p:tavLst>
                                        <p:tav tm="0">
                                          <p:val>
                                            <p:strVal val="#ppt_y+1"/>
                                          </p:val>
                                        </p:tav>
                                        <p:tav tm="100000">
                                          <p:val>
                                            <p:strVal val="#ppt_y-.03"/>
                                          </p:val>
                                        </p:tav>
                                      </p:tavLst>
                                    </p:anim>
                                    <p:anim calcmode="lin" valueType="num">
                                      <p:cBhvr>
                                        <p:cTn id="22" dur="55" accel="100000" fill="hold">
                                          <p:stCondLst>
                                            <p:cond delay="495"/>
                                          </p:stCondLst>
                                        </p:cTn>
                                        <p:tgtEl>
                                          <p:spTgt spid="11"/>
                                        </p:tgtEl>
                                        <p:attrNameLst>
                                          <p:attrName>ppt_y</p:attrName>
                                        </p:attrNameLst>
                                      </p:cBhvr>
                                      <p:tavLst>
                                        <p:tav tm="0">
                                          <p:val>
                                            <p:strVal val="#ppt_y-.03"/>
                                          </p:val>
                                        </p:tav>
                                        <p:tav tm="100000">
                                          <p:val>
                                            <p:strVal val="#ppt_y"/>
                                          </p:val>
                                        </p:tav>
                                      </p:tavLst>
                                    </p:anim>
                                  </p:childTnLst>
                                </p:cTn>
                              </p:par>
                              <p:par>
                                <p:cTn id="23" presetID="37" presetClass="entr" presetSubtype="0" fill="hold" nodeType="withEffect">
                                  <p:stCondLst>
                                    <p:cond delay="830"/>
                                  </p:stCondLst>
                                  <p:childTnLst>
                                    <p:set>
                                      <p:cBhvr>
                                        <p:cTn id="24" dur="1" fill="hold">
                                          <p:stCondLst>
                                            <p:cond delay="0"/>
                                          </p:stCondLst>
                                        </p:cTn>
                                        <p:tgtEl>
                                          <p:spTgt spid="16"/>
                                        </p:tgtEl>
                                        <p:attrNameLst>
                                          <p:attrName>style.visibility</p:attrName>
                                        </p:attrNameLst>
                                      </p:cBhvr>
                                      <p:to>
                                        <p:strVal val="visible"/>
                                      </p:to>
                                    </p:set>
                                    <p:animEffect transition="in" filter="fade">
                                      <p:cBhvr>
                                        <p:cTn id="25" dur="550"/>
                                        <p:tgtEl>
                                          <p:spTgt spid="16"/>
                                        </p:tgtEl>
                                      </p:cBhvr>
                                    </p:animEffect>
                                    <p:anim calcmode="lin" valueType="num">
                                      <p:cBhvr>
                                        <p:cTn id="26" dur="550" fill="hold"/>
                                        <p:tgtEl>
                                          <p:spTgt spid="16"/>
                                        </p:tgtEl>
                                        <p:attrNameLst>
                                          <p:attrName>ppt_x</p:attrName>
                                        </p:attrNameLst>
                                      </p:cBhvr>
                                      <p:tavLst>
                                        <p:tav tm="0">
                                          <p:val>
                                            <p:strVal val="#ppt_x"/>
                                          </p:val>
                                        </p:tav>
                                        <p:tav tm="100000">
                                          <p:val>
                                            <p:strVal val="#ppt_x"/>
                                          </p:val>
                                        </p:tav>
                                      </p:tavLst>
                                    </p:anim>
                                    <p:anim calcmode="lin" valueType="num">
                                      <p:cBhvr>
                                        <p:cTn id="27" dur="495" decel="100000" fill="hold"/>
                                        <p:tgtEl>
                                          <p:spTgt spid="16"/>
                                        </p:tgtEl>
                                        <p:attrNameLst>
                                          <p:attrName>ppt_y</p:attrName>
                                        </p:attrNameLst>
                                      </p:cBhvr>
                                      <p:tavLst>
                                        <p:tav tm="0">
                                          <p:val>
                                            <p:strVal val="#ppt_y+1"/>
                                          </p:val>
                                        </p:tav>
                                        <p:tav tm="100000">
                                          <p:val>
                                            <p:strVal val="#ppt_y-.03"/>
                                          </p:val>
                                        </p:tav>
                                      </p:tavLst>
                                    </p:anim>
                                    <p:anim calcmode="lin" valueType="num">
                                      <p:cBhvr>
                                        <p:cTn id="28" dur="55" accel="100000" fill="hold">
                                          <p:stCondLst>
                                            <p:cond delay="495"/>
                                          </p:stCondLst>
                                        </p:cTn>
                                        <p:tgtEl>
                                          <p:spTgt spid="16"/>
                                        </p:tgtEl>
                                        <p:attrNameLst>
                                          <p:attrName>ppt_y</p:attrName>
                                        </p:attrNameLst>
                                      </p:cBhvr>
                                      <p:tavLst>
                                        <p:tav tm="0">
                                          <p:val>
                                            <p:strVal val="#ppt_y-.03"/>
                                          </p:val>
                                        </p:tav>
                                        <p:tav tm="100000">
                                          <p:val>
                                            <p:strVal val="#ppt_y"/>
                                          </p:val>
                                        </p:tav>
                                      </p:tavLst>
                                    </p:anim>
                                  </p:childTnLst>
                                </p:cTn>
                              </p:par>
                              <p:par>
                                <p:cTn id="29" presetID="37" presetClass="entr" presetSubtype="0" fill="hold" nodeType="withEffect">
                                  <p:stCondLst>
                                    <p:cond delay="970"/>
                                  </p:stCondLst>
                                  <p:childTnLst>
                                    <p:set>
                                      <p:cBhvr>
                                        <p:cTn id="30" dur="1" fill="hold">
                                          <p:stCondLst>
                                            <p:cond delay="0"/>
                                          </p:stCondLst>
                                        </p:cTn>
                                        <p:tgtEl>
                                          <p:spTgt spid="21"/>
                                        </p:tgtEl>
                                        <p:attrNameLst>
                                          <p:attrName>style.visibility</p:attrName>
                                        </p:attrNameLst>
                                      </p:cBhvr>
                                      <p:to>
                                        <p:strVal val="visible"/>
                                      </p:to>
                                    </p:set>
                                    <p:animEffect transition="in" filter="fade">
                                      <p:cBhvr>
                                        <p:cTn id="31" dur="550"/>
                                        <p:tgtEl>
                                          <p:spTgt spid="21"/>
                                        </p:tgtEl>
                                      </p:cBhvr>
                                    </p:animEffect>
                                    <p:anim calcmode="lin" valueType="num">
                                      <p:cBhvr>
                                        <p:cTn id="32" dur="550" fill="hold"/>
                                        <p:tgtEl>
                                          <p:spTgt spid="21"/>
                                        </p:tgtEl>
                                        <p:attrNameLst>
                                          <p:attrName>ppt_x</p:attrName>
                                        </p:attrNameLst>
                                      </p:cBhvr>
                                      <p:tavLst>
                                        <p:tav tm="0">
                                          <p:val>
                                            <p:strVal val="#ppt_x"/>
                                          </p:val>
                                        </p:tav>
                                        <p:tav tm="100000">
                                          <p:val>
                                            <p:strVal val="#ppt_x"/>
                                          </p:val>
                                        </p:tav>
                                      </p:tavLst>
                                    </p:anim>
                                    <p:anim calcmode="lin" valueType="num">
                                      <p:cBhvr>
                                        <p:cTn id="33" dur="495" decel="100000" fill="hold"/>
                                        <p:tgtEl>
                                          <p:spTgt spid="21"/>
                                        </p:tgtEl>
                                        <p:attrNameLst>
                                          <p:attrName>ppt_y</p:attrName>
                                        </p:attrNameLst>
                                      </p:cBhvr>
                                      <p:tavLst>
                                        <p:tav tm="0">
                                          <p:val>
                                            <p:strVal val="#ppt_y+1"/>
                                          </p:val>
                                        </p:tav>
                                        <p:tav tm="100000">
                                          <p:val>
                                            <p:strVal val="#ppt_y-.03"/>
                                          </p:val>
                                        </p:tav>
                                      </p:tavLst>
                                    </p:anim>
                                    <p:anim calcmode="lin" valueType="num">
                                      <p:cBhvr>
                                        <p:cTn id="34" dur="55" accel="100000" fill="hold">
                                          <p:stCondLst>
                                            <p:cond delay="495"/>
                                          </p:stCondLst>
                                        </p:cTn>
                                        <p:tgtEl>
                                          <p:spTgt spid="21"/>
                                        </p:tgtEl>
                                        <p:attrNameLst>
                                          <p:attrName>ppt_y</p:attrName>
                                        </p:attrNameLst>
                                      </p:cBhvr>
                                      <p:tavLst>
                                        <p:tav tm="0">
                                          <p:val>
                                            <p:strVal val="#ppt_y-.03"/>
                                          </p:val>
                                        </p:tav>
                                        <p:tav tm="100000">
                                          <p:val>
                                            <p:strVal val="#ppt_y"/>
                                          </p:val>
                                        </p:tav>
                                      </p:tavLst>
                                    </p:anim>
                                  </p:childTnLst>
                                </p:cTn>
                              </p:par>
                              <p:par>
                                <p:cTn id="35" presetID="37" presetClass="entr" presetSubtype="0" fill="hold" nodeType="withEffect">
                                  <p:stCondLst>
                                    <p:cond delay="1110"/>
                                  </p:stCondLst>
                                  <p:childTnLst>
                                    <p:set>
                                      <p:cBhvr>
                                        <p:cTn id="36" dur="1" fill="hold">
                                          <p:stCondLst>
                                            <p:cond delay="0"/>
                                          </p:stCondLst>
                                        </p:cTn>
                                        <p:tgtEl>
                                          <p:spTgt spid="26"/>
                                        </p:tgtEl>
                                        <p:attrNameLst>
                                          <p:attrName>style.visibility</p:attrName>
                                        </p:attrNameLst>
                                      </p:cBhvr>
                                      <p:to>
                                        <p:strVal val="visible"/>
                                      </p:to>
                                    </p:set>
                                    <p:animEffect transition="in" filter="fade">
                                      <p:cBhvr>
                                        <p:cTn id="37" dur="550"/>
                                        <p:tgtEl>
                                          <p:spTgt spid="26"/>
                                        </p:tgtEl>
                                      </p:cBhvr>
                                    </p:animEffect>
                                    <p:anim calcmode="lin" valueType="num">
                                      <p:cBhvr>
                                        <p:cTn id="38" dur="550" fill="hold"/>
                                        <p:tgtEl>
                                          <p:spTgt spid="26"/>
                                        </p:tgtEl>
                                        <p:attrNameLst>
                                          <p:attrName>ppt_x</p:attrName>
                                        </p:attrNameLst>
                                      </p:cBhvr>
                                      <p:tavLst>
                                        <p:tav tm="0">
                                          <p:val>
                                            <p:strVal val="#ppt_x"/>
                                          </p:val>
                                        </p:tav>
                                        <p:tav tm="100000">
                                          <p:val>
                                            <p:strVal val="#ppt_x"/>
                                          </p:val>
                                        </p:tav>
                                      </p:tavLst>
                                    </p:anim>
                                    <p:anim calcmode="lin" valueType="num">
                                      <p:cBhvr>
                                        <p:cTn id="39" dur="495" decel="100000" fill="hold"/>
                                        <p:tgtEl>
                                          <p:spTgt spid="26"/>
                                        </p:tgtEl>
                                        <p:attrNameLst>
                                          <p:attrName>ppt_y</p:attrName>
                                        </p:attrNameLst>
                                      </p:cBhvr>
                                      <p:tavLst>
                                        <p:tav tm="0">
                                          <p:val>
                                            <p:strVal val="#ppt_y+1"/>
                                          </p:val>
                                        </p:tav>
                                        <p:tav tm="100000">
                                          <p:val>
                                            <p:strVal val="#ppt_y-.03"/>
                                          </p:val>
                                        </p:tav>
                                      </p:tavLst>
                                    </p:anim>
                                    <p:anim calcmode="lin" valueType="num">
                                      <p:cBhvr>
                                        <p:cTn id="40" dur="55" accel="100000" fill="hold">
                                          <p:stCondLst>
                                            <p:cond delay="495"/>
                                          </p:stCondLst>
                                        </p:cTn>
                                        <p:tgtEl>
                                          <p:spTgt spid="26"/>
                                        </p:tgtEl>
                                        <p:attrNameLst>
                                          <p:attrName>ppt_y</p:attrName>
                                        </p:attrNameLst>
                                      </p:cBhvr>
                                      <p:tavLst>
                                        <p:tav tm="0">
                                          <p:val>
                                            <p:strVal val="#ppt_y-.03"/>
                                          </p:val>
                                        </p:tav>
                                        <p:tav tm="100000">
                                          <p:val>
                                            <p:strVal val="#ppt_y"/>
                                          </p:val>
                                        </p:tav>
                                      </p:tavLst>
                                    </p:anim>
                                  </p:childTnLst>
                                </p:cTn>
                              </p:par>
                              <p:par>
                                <p:cTn id="41" presetID="37" presetClass="entr" presetSubtype="0" fill="hold" nodeType="withEffect">
                                  <p:stCondLst>
                                    <p:cond delay="1250"/>
                                  </p:stCondLst>
                                  <p:childTnLst>
                                    <p:set>
                                      <p:cBhvr>
                                        <p:cTn id="42" dur="1" fill="hold">
                                          <p:stCondLst>
                                            <p:cond delay="0"/>
                                          </p:stCondLst>
                                        </p:cTn>
                                        <p:tgtEl>
                                          <p:spTgt spid="31"/>
                                        </p:tgtEl>
                                        <p:attrNameLst>
                                          <p:attrName>style.visibility</p:attrName>
                                        </p:attrNameLst>
                                      </p:cBhvr>
                                      <p:to>
                                        <p:strVal val="visible"/>
                                      </p:to>
                                    </p:set>
                                    <p:animEffect transition="in" filter="fade">
                                      <p:cBhvr>
                                        <p:cTn id="43" dur="550"/>
                                        <p:tgtEl>
                                          <p:spTgt spid="31"/>
                                        </p:tgtEl>
                                      </p:cBhvr>
                                    </p:animEffect>
                                    <p:anim calcmode="lin" valueType="num">
                                      <p:cBhvr>
                                        <p:cTn id="44" dur="550" fill="hold"/>
                                        <p:tgtEl>
                                          <p:spTgt spid="31"/>
                                        </p:tgtEl>
                                        <p:attrNameLst>
                                          <p:attrName>ppt_x</p:attrName>
                                        </p:attrNameLst>
                                      </p:cBhvr>
                                      <p:tavLst>
                                        <p:tav tm="0">
                                          <p:val>
                                            <p:strVal val="#ppt_x"/>
                                          </p:val>
                                        </p:tav>
                                        <p:tav tm="100000">
                                          <p:val>
                                            <p:strVal val="#ppt_x"/>
                                          </p:val>
                                        </p:tav>
                                      </p:tavLst>
                                    </p:anim>
                                    <p:anim calcmode="lin" valueType="num">
                                      <p:cBhvr>
                                        <p:cTn id="45" dur="495" decel="100000" fill="hold"/>
                                        <p:tgtEl>
                                          <p:spTgt spid="31"/>
                                        </p:tgtEl>
                                        <p:attrNameLst>
                                          <p:attrName>ppt_y</p:attrName>
                                        </p:attrNameLst>
                                      </p:cBhvr>
                                      <p:tavLst>
                                        <p:tav tm="0">
                                          <p:val>
                                            <p:strVal val="#ppt_y+1"/>
                                          </p:val>
                                        </p:tav>
                                        <p:tav tm="100000">
                                          <p:val>
                                            <p:strVal val="#ppt_y-.03"/>
                                          </p:val>
                                        </p:tav>
                                      </p:tavLst>
                                    </p:anim>
                                    <p:anim calcmode="lin" valueType="num">
                                      <p:cBhvr>
                                        <p:cTn id="46" dur="55" accel="100000" fill="hold">
                                          <p:stCondLst>
                                            <p:cond delay="495"/>
                                          </p:stCondLst>
                                        </p:cTn>
                                        <p:tgtEl>
                                          <p:spTgt spid="31"/>
                                        </p:tgtEl>
                                        <p:attrNameLst>
                                          <p:attrName>ppt_y</p:attrName>
                                        </p:attrNameLst>
                                      </p:cBhvr>
                                      <p:tavLst>
                                        <p:tav tm="0">
                                          <p:val>
                                            <p:strVal val="#ppt_y-.03"/>
                                          </p:val>
                                        </p:tav>
                                        <p:tav tm="100000">
                                          <p:val>
                                            <p:strVal val="#ppt_y"/>
                                          </p:val>
                                        </p:tav>
                                      </p:tavLst>
                                    </p:anim>
                                  </p:childTnLst>
                                </p:cTn>
                              </p:par>
                              <p:par>
                                <p:cTn id="47" presetID="37" presetClass="entr" presetSubtype="0" fill="hold" nodeType="withEffect">
                                  <p:stCondLst>
                                    <p:cond delay="1390"/>
                                  </p:stCondLst>
                                  <p:childTnLst>
                                    <p:set>
                                      <p:cBhvr>
                                        <p:cTn id="48" dur="1" fill="hold">
                                          <p:stCondLst>
                                            <p:cond delay="0"/>
                                          </p:stCondLst>
                                        </p:cTn>
                                        <p:tgtEl>
                                          <p:spTgt spid="36"/>
                                        </p:tgtEl>
                                        <p:attrNameLst>
                                          <p:attrName>style.visibility</p:attrName>
                                        </p:attrNameLst>
                                      </p:cBhvr>
                                      <p:to>
                                        <p:strVal val="visible"/>
                                      </p:to>
                                    </p:set>
                                    <p:animEffect transition="in" filter="fade">
                                      <p:cBhvr>
                                        <p:cTn id="49" dur="550"/>
                                        <p:tgtEl>
                                          <p:spTgt spid="36"/>
                                        </p:tgtEl>
                                      </p:cBhvr>
                                    </p:animEffect>
                                    <p:anim calcmode="lin" valueType="num">
                                      <p:cBhvr>
                                        <p:cTn id="50" dur="550" fill="hold"/>
                                        <p:tgtEl>
                                          <p:spTgt spid="36"/>
                                        </p:tgtEl>
                                        <p:attrNameLst>
                                          <p:attrName>ppt_x</p:attrName>
                                        </p:attrNameLst>
                                      </p:cBhvr>
                                      <p:tavLst>
                                        <p:tav tm="0">
                                          <p:val>
                                            <p:strVal val="#ppt_x"/>
                                          </p:val>
                                        </p:tav>
                                        <p:tav tm="100000">
                                          <p:val>
                                            <p:strVal val="#ppt_x"/>
                                          </p:val>
                                        </p:tav>
                                      </p:tavLst>
                                    </p:anim>
                                    <p:anim calcmode="lin" valueType="num">
                                      <p:cBhvr>
                                        <p:cTn id="51" dur="495" decel="100000" fill="hold"/>
                                        <p:tgtEl>
                                          <p:spTgt spid="36"/>
                                        </p:tgtEl>
                                        <p:attrNameLst>
                                          <p:attrName>ppt_y</p:attrName>
                                        </p:attrNameLst>
                                      </p:cBhvr>
                                      <p:tavLst>
                                        <p:tav tm="0">
                                          <p:val>
                                            <p:strVal val="#ppt_y+1"/>
                                          </p:val>
                                        </p:tav>
                                        <p:tav tm="100000">
                                          <p:val>
                                            <p:strVal val="#ppt_y-.03"/>
                                          </p:val>
                                        </p:tav>
                                      </p:tavLst>
                                    </p:anim>
                                    <p:anim calcmode="lin" valueType="num">
                                      <p:cBhvr>
                                        <p:cTn id="52" dur="55" accel="100000" fill="hold">
                                          <p:stCondLst>
                                            <p:cond delay="495"/>
                                          </p:stCondLst>
                                        </p:cTn>
                                        <p:tgtEl>
                                          <p:spTgt spid="36"/>
                                        </p:tgtEl>
                                        <p:attrNameLst>
                                          <p:attrName>ppt_y</p:attrName>
                                        </p:attrNameLst>
                                      </p:cBhvr>
                                      <p:tavLst>
                                        <p:tav tm="0">
                                          <p:val>
                                            <p:strVal val="#ppt_y-.03"/>
                                          </p:val>
                                        </p:tav>
                                        <p:tav tm="100000">
                                          <p:val>
                                            <p:strVal val="#ppt_y"/>
                                          </p:val>
                                        </p:tav>
                                      </p:tavLst>
                                    </p:anim>
                                  </p:childTnLst>
                                </p:cTn>
                              </p:par>
                              <p:par>
                                <p:cTn id="53" presetID="10" presetClass="entr" presetSubtype="0" fill="hold" grpId="0" nodeType="withEffect">
                                  <p:stCondLst>
                                    <p:cond delay="1530"/>
                                  </p:stCondLst>
                                  <p:childTnLst>
                                    <p:set>
                                      <p:cBhvr>
                                        <p:cTn id="54" dur="1" fill="hold">
                                          <p:stCondLst>
                                            <p:cond delay="0"/>
                                          </p:stCondLst>
                                        </p:cTn>
                                        <p:tgtEl>
                                          <p:spTgt spid="41"/>
                                        </p:tgtEl>
                                        <p:attrNameLst>
                                          <p:attrName>style.visibility</p:attrName>
                                        </p:attrNameLst>
                                      </p:cBhvr>
                                      <p:to>
                                        <p:strVal val="visible"/>
                                      </p:to>
                                    </p:set>
                                    <p:animEffect transition="in" filter="fade">
                                      <p:cBhvr>
                                        <p:cTn id="55" dur="550"/>
                                        <p:tgtEl>
                                          <p:spTgt spid="41"/>
                                        </p:tgtEl>
                                      </p:cBhvr>
                                    </p:animEffect>
                                  </p:childTnLst>
                                </p:cTn>
                              </p:par>
                              <p:par>
                                <p:cTn id="56" presetID="37" presetClass="entr" presetSubtype="0" fill="hold" nodeType="withEffect">
                                  <p:stCondLst>
                                    <p:cond delay="1670"/>
                                  </p:stCondLst>
                                  <p:childTnLst>
                                    <p:set>
                                      <p:cBhvr>
                                        <p:cTn id="57" dur="1" fill="hold">
                                          <p:stCondLst>
                                            <p:cond delay="0"/>
                                          </p:stCondLst>
                                        </p:cTn>
                                        <p:tgtEl>
                                          <p:spTgt spid="42"/>
                                        </p:tgtEl>
                                        <p:attrNameLst>
                                          <p:attrName>style.visibility</p:attrName>
                                        </p:attrNameLst>
                                      </p:cBhvr>
                                      <p:to>
                                        <p:strVal val="visible"/>
                                      </p:to>
                                    </p:set>
                                    <p:animEffect transition="in" filter="fade">
                                      <p:cBhvr>
                                        <p:cTn id="58" dur="550"/>
                                        <p:tgtEl>
                                          <p:spTgt spid="42"/>
                                        </p:tgtEl>
                                      </p:cBhvr>
                                    </p:animEffect>
                                    <p:anim calcmode="lin" valueType="num">
                                      <p:cBhvr>
                                        <p:cTn id="59" dur="550" fill="hold"/>
                                        <p:tgtEl>
                                          <p:spTgt spid="42"/>
                                        </p:tgtEl>
                                        <p:attrNameLst>
                                          <p:attrName>ppt_x</p:attrName>
                                        </p:attrNameLst>
                                      </p:cBhvr>
                                      <p:tavLst>
                                        <p:tav tm="0">
                                          <p:val>
                                            <p:strVal val="#ppt_x"/>
                                          </p:val>
                                        </p:tav>
                                        <p:tav tm="100000">
                                          <p:val>
                                            <p:strVal val="#ppt_x"/>
                                          </p:val>
                                        </p:tav>
                                      </p:tavLst>
                                    </p:anim>
                                    <p:anim calcmode="lin" valueType="num">
                                      <p:cBhvr>
                                        <p:cTn id="60" dur="495" decel="100000" fill="hold"/>
                                        <p:tgtEl>
                                          <p:spTgt spid="42"/>
                                        </p:tgtEl>
                                        <p:attrNameLst>
                                          <p:attrName>ppt_y</p:attrName>
                                        </p:attrNameLst>
                                      </p:cBhvr>
                                      <p:tavLst>
                                        <p:tav tm="0">
                                          <p:val>
                                            <p:strVal val="#ppt_y+1"/>
                                          </p:val>
                                        </p:tav>
                                        <p:tav tm="100000">
                                          <p:val>
                                            <p:strVal val="#ppt_y-.03"/>
                                          </p:val>
                                        </p:tav>
                                      </p:tavLst>
                                    </p:anim>
                                    <p:anim calcmode="lin" valueType="num">
                                      <p:cBhvr>
                                        <p:cTn id="61" dur="55" accel="100000" fill="hold">
                                          <p:stCondLst>
                                            <p:cond delay="495"/>
                                          </p:stCondLst>
                                        </p:cTn>
                                        <p:tgtEl>
                                          <p:spTgt spid="42"/>
                                        </p:tgtEl>
                                        <p:attrNameLst>
                                          <p:attrName>ppt_y</p:attrName>
                                        </p:attrNameLst>
                                      </p:cBhvr>
                                      <p:tavLst>
                                        <p:tav tm="0">
                                          <p:val>
                                            <p:strVal val="#ppt_y-.03"/>
                                          </p:val>
                                        </p:tav>
                                        <p:tav tm="100000">
                                          <p:val>
                                            <p:strVal val="#ppt_y"/>
                                          </p:val>
                                        </p:tav>
                                      </p:tavLst>
                                    </p:anim>
                                  </p:childTnLst>
                                </p:cTn>
                              </p:par>
                              <p:par>
                                <p:cTn id="62" presetID="37" presetClass="entr" presetSubtype="0" fill="hold" nodeType="withEffect">
                                  <p:stCondLst>
                                    <p:cond delay="1810"/>
                                  </p:stCondLst>
                                  <p:childTnLst>
                                    <p:set>
                                      <p:cBhvr>
                                        <p:cTn id="63" dur="1" fill="hold">
                                          <p:stCondLst>
                                            <p:cond delay="0"/>
                                          </p:stCondLst>
                                        </p:cTn>
                                        <p:tgtEl>
                                          <p:spTgt spid="48"/>
                                        </p:tgtEl>
                                        <p:attrNameLst>
                                          <p:attrName>style.visibility</p:attrName>
                                        </p:attrNameLst>
                                      </p:cBhvr>
                                      <p:to>
                                        <p:strVal val="visible"/>
                                      </p:to>
                                    </p:set>
                                    <p:animEffect transition="in" filter="fade">
                                      <p:cBhvr>
                                        <p:cTn id="64" dur="550"/>
                                        <p:tgtEl>
                                          <p:spTgt spid="48"/>
                                        </p:tgtEl>
                                      </p:cBhvr>
                                    </p:animEffect>
                                    <p:anim calcmode="lin" valueType="num">
                                      <p:cBhvr>
                                        <p:cTn id="65" dur="550" fill="hold"/>
                                        <p:tgtEl>
                                          <p:spTgt spid="48"/>
                                        </p:tgtEl>
                                        <p:attrNameLst>
                                          <p:attrName>ppt_x</p:attrName>
                                        </p:attrNameLst>
                                      </p:cBhvr>
                                      <p:tavLst>
                                        <p:tav tm="0">
                                          <p:val>
                                            <p:strVal val="#ppt_x"/>
                                          </p:val>
                                        </p:tav>
                                        <p:tav tm="100000">
                                          <p:val>
                                            <p:strVal val="#ppt_x"/>
                                          </p:val>
                                        </p:tav>
                                      </p:tavLst>
                                    </p:anim>
                                    <p:anim calcmode="lin" valueType="num">
                                      <p:cBhvr>
                                        <p:cTn id="66" dur="495" decel="100000" fill="hold"/>
                                        <p:tgtEl>
                                          <p:spTgt spid="48"/>
                                        </p:tgtEl>
                                        <p:attrNameLst>
                                          <p:attrName>ppt_y</p:attrName>
                                        </p:attrNameLst>
                                      </p:cBhvr>
                                      <p:tavLst>
                                        <p:tav tm="0">
                                          <p:val>
                                            <p:strVal val="#ppt_y+1"/>
                                          </p:val>
                                        </p:tav>
                                        <p:tav tm="100000">
                                          <p:val>
                                            <p:strVal val="#ppt_y-.03"/>
                                          </p:val>
                                        </p:tav>
                                      </p:tavLst>
                                    </p:anim>
                                    <p:anim calcmode="lin" valueType="num">
                                      <p:cBhvr>
                                        <p:cTn id="67" dur="55" accel="100000" fill="hold">
                                          <p:stCondLst>
                                            <p:cond delay="495"/>
                                          </p:stCondLst>
                                        </p:cTn>
                                        <p:tgtEl>
                                          <p:spTgt spid="48"/>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10" grpId="0"/>
      <p:bldP spid="41" grpId="0"/>
    </p:bld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14284B"/>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57150"/>
          </a:xfrm>
          <a:prstGeom prst="rect">
            <a:avLst/>
          </a:prstGeom>
          <a:solidFill>
            <a:srgbClr val="59BEC9"/>
          </a:solidFill>
          <a:ln>
            <a:noFill/>
          </a:ln>
        </p:spPr>
        <p:txBody>
          <a:bodyPr rtlCol="0" anchor="ctr"/>
          <a:lstStyle/>
          <a:p>
            <a:pPr algn="ctr"/>
            <a:endParaRPr/>
          </a:p>
        </p:txBody>
      </p:sp>
      <p:grpSp>
        <p:nvGrpSpPr>
          <p:cNvPr id="3" name="anim|fade|0.05"/>
          <p:cNvGrpSpPr/>
          <p:nvPr/>
        </p:nvGrpSpPr>
        <p:grpSpPr>
          <a:xfrm>
            <a:off x="571500" y="266700"/>
            <a:ext cx="7105650" cy="190500"/>
            <a:chOff x="571500" y="266700"/>
            <a:chExt cx="7105650" cy="190500"/>
          </a:xfrm>
        </p:grpSpPr>
        <p:sp>
          <p:nvSpPr>
            <p:cNvPr id="4" name="Rectangle 3"/>
            <p:cNvSpPr/>
            <p:nvPr/>
          </p:nvSpPr>
          <p:spPr>
            <a:xfrm>
              <a:off x="571500" y="342900"/>
              <a:ext cx="342900" cy="47625"/>
            </a:xfrm>
            <a:prstGeom prst="rect">
              <a:avLst/>
            </a:prstGeom>
            <a:solidFill>
              <a:srgbClr val="FFB938"/>
            </a:solidFill>
            <a:ln>
              <a:noFill/>
            </a:ln>
          </p:spPr>
          <p:txBody>
            <a:bodyPr rtlCol="0" anchor="ctr"/>
            <a:lstStyle/>
            <a:p>
              <a:pPr algn="ctr"/>
              <a:endParaRPr/>
            </a:p>
          </p:txBody>
        </p:sp>
        <p:sp>
          <p:nvSpPr>
            <p:cNvPr id="5" name="TextBox 4"/>
            <p:cNvSpPr txBox="1"/>
            <p:nvPr/>
          </p:nvSpPr>
          <p:spPr>
            <a:xfrm>
              <a:off x="1009650" y="266700"/>
              <a:ext cx="6667500" cy="190500"/>
            </a:xfrm>
            <a:prstGeom prst="rect">
              <a:avLst/>
            </a:prstGeom>
            <a:noFill/>
          </p:spPr>
          <p:txBody>
            <a:bodyPr wrap="square" lIns="0" tIns="0" rIns="0" bIns="0" anchor="t">
              <a:spAutoFit/>
            </a:bodyPr>
            <a:lstStyle/>
            <a:p>
              <a:pPr algn="l"/>
              <a:r>
                <a:rPr sz="1100" b="1" spc="300">
                  <a:solidFill>
                    <a:srgbClr val="59BEC9"/>
                  </a:solidFill>
                  <a:latin typeface="Century Gothic"/>
                </a:rPr>
                <a:t>RESTORING</a:t>
              </a:r>
            </a:p>
          </p:txBody>
        </p:sp>
      </p:grpSp>
      <p:sp>
        <p:nvSpPr>
          <p:cNvPr id="6" name="anim|wipeL|0.1"/>
          <p:cNvSpPr txBox="1"/>
          <p:nvPr/>
        </p:nvSpPr>
        <p:spPr>
          <a:xfrm>
            <a:off x="571500" y="533400"/>
            <a:ext cx="11049000" cy="533400"/>
          </a:xfrm>
          <a:prstGeom prst="rect">
            <a:avLst/>
          </a:prstGeom>
          <a:noFill/>
        </p:spPr>
        <p:txBody>
          <a:bodyPr wrap="square" lIns="0" tIns="0" rIns="0" bIns="0" anchor="t">
            <a:spAutoFit/>
          </a:bodyPr>
          <a:lstStyle/>
          <a:p>
            <a:pPr algn="l"/>
            <a:r>
              <a:rPr sz="3100" b="1">
                <a:solidFill>
                  <a:srgbClr val="FFFFFF"/>
                </a:solidFill>
                <a:latin typeface="Century Gothic"/>
              </a:rPr>
              <a:t>After the restore: verify the result</a:t>
            </a:r>
          </a:p>
        </p:txBody>
      </p:sp>
      <p:sp>
        <p:nvSpPr>
          <p:cNvPr id="7" name="anim|fade|0.45"/>
          <p:cNvSpPr txBox="1"/>
          <p:nvPr/>
        </p:nvSpPr>
        <p:spPr>
          <a:xfrm>
            <a:off x="571500" y="1028700"/>
            <a:ext cx="11049000" cy="247650"/>
          </a:xfrm>
          <a:prstGeom prst="rect">
            <a:avLst/>
          </a:prstGeom>
          <a:noFill/>
        </p:spPr>
        <p:txBody>
          <a:bodyPr wrap="square" lIns="0" tIns="0" rIns="0" bIns="0" anchor="t">
            <a:spAutoFit/>
          </a:bodyPr>
          <a:lstStyle/>
          <a:p>
            <a:pPr algn="l"/>
            <a:r>
              <a:rPr sz="1500" b="0">
                <a:solidFill>
                  <a:srgbClr val="B0C0D9"/>
                </a:solidFill>
                <a:latin typeface="Segoe UI"/>
              </a:rPr>
              <a:t>Check the cluster and the restore job</a:t>
            </a:r>
          </a:p>
        </p:txBody>
      </p:sp>
      <p:sp>
        <p:nvSpPr>
          <p:cNvPr id="8" name="TextBox 7"/>
          <p:cNvSpPr txBox="1"/>
          <p:nvPr/>
        </p:nvSpPr>
        <p:spPr>
          <a:xfrm>
            <a:off x="571500" y="6534150"/>
            <a:ext cx="6667500" cy="171450"/>
          </a:xfrm>
          <a:prstGeom prst="rect">
            <a:avLst/>
          </a:prstGeom>
          <a:noFill/>
        </p:spPr>
        <p:txBody>
          <a:bodyPr wrap="square" lIns="0" tIns="0" rIns="0" bIns="0" anchor="t">
            <a:spAutoFit/>
          </a:bodyPr>
          <a:lstStyle/>
          <a:p>
            <a:pPr algn="l"/>
            <a:r>
              <a:rPr sz="950" b="0">
                <a:solidFill>
                  <a:srgbClr val="B0C0D9"/>
                </a:solidFill>
                <a:latin typeface="Segoe UI"/>
              </a:rPr>
              <a:t>AKS Backup &amp; Restore  |  BFH AKS IHUB Platform Team</a:t>
            </a:r>
          </a:p>
        </p:txBody>
      </p:sp>
      <p:sp>
        <p:nvSpPr>
          <p:cNvPr id="9" name="TextBox 8"/>
          <p:cNvSpPr txBox="1"/>
          <p:nvPr/>
        </p:nvSpPr>
        <p:spPr>
          <a:xfrm>
            <a:off x="10668000" y="6534150"/>
            <a:ext cx="952500" cy="171450"/>
          </a:xfrm>
          <a:prstGeom prst="rect">
            <a:avLst/>
          </a:prstGeom>
          <a:noFill/>
        </p:spPr>
        <p:txBody>
          <a:bodyPr wrap="square" lIns="0" tIns="0" rIns="0" bIns="0" anchor="t">
            <a:spAutoFit/>
          </a:bodyPr>
          <a:lstStyle/>
          <a:p>
            <a:pPr algn="r"/>
            <a:r>
              <a:rPr sz="1000" b="1">
                <a:solidFill>
                  <a:srgbClr val="FFB938"/>
                </a:solidFill>
                <a:latin typeface="Century Gothic"/>
              </a:rPr>
              <a:t>20</a:t>
            </a:r>
          </a:p>
        </p:txBody>
      </p:sp>
      <p:grpSp>
        <p:nvGrpSpPr>
          <p:cNvPr id="10" name="anim|rise|0.55"/>
          <p:cNvGrpSpPr/>
          <p:nvPr/>
        </p:nvGrpSpPr>
        <p:grpSpPr>
          <a:xfrm>
            <a:off x="571500" y="1485900"/>
            <a:ext cx="6096000" cy="3143250"/>
            <a:chOff x="571500" y="1485900"/>
            <a:chExt cx="6096000" cy="3143250"/>
          </a:xfrm>
        </p:grpSpPr>
        <p:sp>
          <p:nvSpPr>
            <p:cNvPr id="11" name="Rounded Rectangle 10"/>
            <p:cNvSpPr/>
            <p:nvPr/>
          </p:nvSpPr>
          <p:spPr>
            <a:xfrm>
              <a:off x="571500" y="1485900"/>
              <a:ext cx="6096000" cy="3143250"/>
            </a:xfrm>
            <a:prstGeom prst="roundRect">
              <a:avLst>
                <a:gd name="adj" fmla="val 4848"/>
              </a:avLst>
            </a:prstGeom>
            <a:solidFill>
              <a:srgbClr val="14284B"/>
            </a:solidFill>
            <a:ln w="20320">
              <a:solidFill>
                <a:srgbClr val="2E5286"/>
              </a:solidFill>
            </a:ln>
          </p:spPr>
          <p:txBody>
            <a:bodyPr rtlCol="0" anchor="ctr"/>
            <a:lstStyle/>
            <a:p>
              <a:pPr algn="ctr"/>
              <a:endParaRPr/>
            </a:p>
          </p:txBody>
        </p:sp>
        <p:sp>
          <p:nvSpPr>
            <p:cNvPr id="12" name="Rounded Rectangle 11"/>
            <p:cNvSpPr/>
            <p:nvPr/>
          </p:nvSpPr>
          <p:spPr>
            <a:xfrm>
              <a:off x="571500" y="1485900"/>
              <a:ext cx="6096000" cy="400050"/>
            </a:xfrm>
            <a:prstGeom prst="roundRect">
              <a:avLst>
                <a:gd name="adj" fmla="val 38095"/>
              </a:avLst>
            </a:prstGeom>
            <a:solidFill>
              <a:srgbClr val="2E5286"/>
            </a:solidFill>
            <a:ln>
              <a:noFill/>
            </a:ln>
          </p:spPr>
          <p:txBody>
            <a:bodyPr rtlCol="0" anchor="ctr"/>
            <a:lstStyle/>
            <a:p>
              <a:pPr algn="ctr"/>
              <a:endParaRPr/>
            </a:p>
          </p:txBody>
        </p:sp>
        <p:sp>
          <p:nvSpPr>
            <p:cNvPr id="13" name="Rectangle 12"/>
            <p:cNvSpPr/>
            <p:nvPr/>
          </p:nvSpPr>
          <p:spPr>
            <a:xfrm>
              <a:off x="571500" y="1695450"/>
              <a:ext cx="6096000" cy="190500"/>
            </a:xfrm>
            <a:prstGeom prst="rect">
              <a:avLst/>
            </a:prstGeom>
            <a:solidFill>
              <a:srgbClr val="2E5286"/>
            </a:solidFill>
            <a:ln>
              <a:noFill/>
            </a:ln>
          </p:spPr>
          <p:txBody>
            <a:bodyPr rtlCol="0" anchor="ctr"/>
            <a:lstStyle/>
            <a:p>
              <a:pPr algn="ctr"/>
              <a:endParaRPr/>
            </a:p>
          </p:txBody>
        </p:sp>
        <p:sp>
          <p:nvSpPr>
            <p:cNvPr id="14" name="Oval 13"/>
            <p:cNvSpPr/>
            <p:nvPr/>
          </p:nvSpPr>
          <p:spPr>
            <a:xfrm>
              <a:off x="781050" y="1619250"/>
              <a:ext cx="133350" cy="133350"/>
            </a:xfrm>
            <a:prstGeom prst="ellipse">
              <a:avLst/>
            </a:prstGeom>
            <a:solidFill>
              <a:srgbClr val="59BEC9"/>
            </a:solidFill>
            <a:ln>
              <a:noFill/>
            </a:ln>
          </p:spPr>
          <p:txBody>
            <a:bodyPr rtlCol="0" anchor="ctr"/>
            <a:lstStyle/>
            <a:p>
              <a:pPr algn="ctr"/>
              <a:endParaRPr/>
            </a:p>
          </p:txBody>
        </p:sp>
        <p:sp>
          <p:nvSpPr>
            <p:cNvPr id="15" name="Oval 14"/>
            <p:cNvSpPr/>
            <p:nvPr/>
          </p:nvSpPr>
          <p:spPr>
            <a:xfrm>
              <a:off x="1028700" y="1619250"/>
              <a:ext cx="133350" cy="133350"/>
            </a:xfrm>
            <a:prstGeom prst="ellipse">
              <a:avLst/>
            </a:prstGeom>
            <a:solidFill>
              <a:srgbClr val="FFB938"/>
            </a:solidFill>
            <a:ln>
              <a:noFill/>
            </a:ln>
          </p:spPr>
          <p:txBody>
            <a:bodyPr rtlCol="0" anchor="ctr"/>
            <a:lstStyle/>
            <a:p>
              <a:pPr algn="ctr"/>
              <a:endParaRPr/>
            </a:p>
          </p:txBody>
        </p:sp>
        <p:sp>
          <p:nvSpPr>
            <p:cNvPr id="16" name="Oval 15"/>
            <p:cNvSpPr/>
            <p:nvPr/>
          </p:nvSpPr>
          <p:spPr>
            <a:xfrm>
              <a:off x="1276350" y="1619250"/>
              <a:ext cx="133350" cy="133350"/>
            </a:xfrm>
            <a:prstGeom prst="ellipse">
              <a:avLst/>
            </a:prstGeom>
            <a:solidFill>
              <a:srgbClr val="B0C0D9"/>
            </a:solidFill>
            <a:ln>
              <a:noFill/>
            </a:ln>
          </p:spPr>
          <p:txBody>
            <a:bodyPr rtlCol="0" anchor="ctr"/>
            <a:lstStyle/>
            <a:p>
              <a:pPr algn="ctr"/>
              <a:endParaRPr/>
            </a:p>
          </p:txBody>
        </p:sp>
        <p:sp>
          <p:nvSpPr>
            <p:cNvPr id="17" name="TextBox 16"/>
            <p:cNvSpPr txBox="1"/>
            <p:nvPr/>
          </p:nvSpPr>
          <p:spPr>
            <a:xfrm>
              <a:off x="838200" y="2133600"/>
              <a:ext cx="5524500" cy="1809750"/>
            </a:xfrm>
            <a:prstGeom prst="rect">
              <a:avLst/>
            </a:prstGeom>
            <a:noFill/>
          </p:spPr>
          <p:txBody>
            <a:bodyPr wrap="square" lIns="0" tIns="0" rIns="0" bIns="0" anchor="t">
              <a:spAutoFit/>
            </a:bodyPr>
            <a:lstStyle/>
            <a:p>
              <a:pPr algn="l">
                <a:lnSpc>
                  <a:spcPct val="170000"/>
                </a:lnSpc>
              </a:pPr>
              <a:r>
                <a:rPr sz="1600" b="1">
                  <a:solidFill>
                    <a:srgbClr val="FFB938"/>
                  </a:solidFill>
                  <a:latin typeface="Consolas"/>
                </a:rPr>
                <a:t>$ </a:t>
              </a:r>
              <a:r>
                <a:rPr sz="1600" b="0">
                  <a:solidFill>
                    <a:srgbClr val="FFFFFF"/>
                  </a:solidFill>
                  <a:latin typeface="Consolas"/>
                </a:rPr>
                <a:t>kubectl get pods -n &lt;namespace&gt;</a:t>
              </a:r>
            </a:p>
            <a:p>
              <a:pPr algn="l">
                <a:lnSpc>
                  <a:spcPct val="170000"/>
                </a:lnSpc>
              </a:pPr>
              <a:r>
                <a:rPr sz="1600" b="1">
                  <a:solidFill>
                    <a:srgbClr val="FFB938"/>
                  </a:solidFill>
                  <a:latin typeface="Consolas"/>
                </a:rPr>
                <a:t>$ </a:t>
              </a:r>
              <a:r>
                <a:rPr sz="1600" b="0">
                  <a:solidFill>
                    <a:srgbClr val="FFFFFF"/>
                  </a:solidFill>
                  <a:latin typeface="Consolas"/>
                </a:rPr>
                <a:t>kubectl get deployments -n &lt;namespace&gt;</a:t>
              </a:r>
            </a:p>
            <a:p>
              <a:pPr algn="l">
                <a:lnSpc>
                  <a:spcPct val="170000"/>
                </a:lnSpc>
              </a:pPr>
              <a:r>
                <a:rPr sz="1600" b="1">
                  <a:solidFill>
                    <a:srgbClr val="FFB938"/>
                  </a:solidFill>
                  <a:latin typeface="Consolas"/>
                </a:rPr>
                <a:t>$ </a:t>
              </a:r>
              <a:r>
                <a:rPr sz="1600" b="0">
                  <a:solidFill>
                    <a:srgbClr val="FFFFFF"/>
                  </a:solidFill>
                  <a:latin typeface="Consolas"/>
                </a:rPr>
                <a:t>kubectl get pods -A</a:t>
              </a:r>
            </a:p>
            <a:p>
              <a:pPr algn="l">
                <a:lnSpc>
                  <a:spcPct val="170000"/>
                </a:lnSpc>
              </a:pPr>
              <a:r>
                <a:rPr sz="1600" b="1">
                  <a:solidFill>
                    <a:srgbClr val="FFB938"/>
                  </a:solidFill>
                  <a:latin typeface="Consolas"/>
                </a:rPr>
                <a:t>$ </a:t>
              </a:r>
              <a:r>
                <a:rPr sz="1600" b="0">
                  <a:solidFill>
                    <a:srgbClr val="FFFFFF"/>
                  </a:solidFill>
                  <a:latin typeface="Consolas"/>
                </a:rPr>
                <a:t>kubectl get ns</a:t>
              </a:r>
            </a:p>
          </p:txBody>
        </p:sp>
        <p:sp>
          <p:nvSpPr>
            <p:cNvPr id="18" name="TextBox 17"/>
            <p:cNvSpPr txBox="1"/>
            <p:nvPr/>
          </p:nvSpPr>
          <p:spPr>
            <a:xfrm>
              <a:off x="838200" y="4152900"/>
              <a:ext cx="5524500" cy="266700"/>
            </a:xfrm>
            <a:prstGeom prst="rect">
              <a:avLst/>
            </a:prstGeom>
            <a:noFill/>
          </p:spPr>
          <p:txBody>
            <a:bodyPr wrap="square" lIns="0" tIns="0" rIns="0" bIns="0" anchor="t">
              <a:spAutoFit/>
            </a:bodyPr>
            <a:lstStyle/>
            <a:p>
              <a:pPr algn="l"/>
              <a:r>
                <a:rPr sz="1400" b="0">
                  <a:solidFill>
                    <a:srgbClr val="B0C0D9"/>
                  </a:solidFill>
                  <a:latin typeface="Segoe UI"/>
                </a:rPr>
                <a:t>Namespaces back, pods running, services present.</a:t>
              </a:r>
            </a:p>
          </p:txBody>
        </p:sp>
      </p:grpSp>
      <p:grpSp>
        <p:nvGrpSpPr>
          <p:cNvPr id="19" name="anim|rise|0.73"/>
          <p:cNvGrpSpPr/>
          <p:nvPr/>
        </p:nvGrpSpPr>
        <p:grpSpPr>
          <a:xfrm>
            <a:off x="6896100" y="1485900"/>
            <a:ext cx="4724400" cy="1495425"/>
            <a:chOff x="6896100" y="1485900"/>
            <a:chExt cx="4724400" cy="1495425"/>
          </a:xfrm>
        </p:grpSpPr>
        <p:sp>
          <p:nvSpPr>
            <p:cNvPr id="20" name="Rounded Rectangle 19"/>
            <p:cNvSpPr/>
            <p:nvPr/>
          </p:nvSpPr>
          <p:spPr>
            <a:xfrm>
              <a:off x="6896100" y="1485900"/>
              <a:ext cx="4724400" cy="1495425"/>
            </a:xfrm>
            <a:prstGeom prst="roundRect">
              <a:avLst>
                <a:gd name="adj" fmla="val 11464"/>
              </a:avLst>
            </a:prstGeom>
            <a:solidFill>
              <a:srgbClr val="1E3A68"/>
            </a:solidFill>
            <a:ln>
              <a:noFill/>
            </a:ln>
          </p:spPr>
          <p:txBody>
            <a:bodyPr rtlCol="0" anchor="ctr"/>
            <a:lstStyle/>
            <a:p>
              <a:pPr algn="ctr"/>
              <a:endParaRPr/>
            </a:p>
          </p:txBody>
        </p:sp>
        <p:sp>
          <p:nvSpPr>
            <p:cNvPr id="21" name="Oval 20"/>
            <p:cNvSpPr/>
            <p:nvPr/>
          </p:nvSpPr>
          <p:spPr>
            <a:xfrm>
              <a:off x="7143750" y="1733550"/>
              <a:ext cx="609600" cy="609600"/>
            </a:xfrm>
            <a:prstGeom prst="ellipse">
              <a:avLst/>
            </a:prstGeom>
            <a:solidFill>
              <a:srgbClr val="14284B"/>
            </a:solidFill>
            <a:ln>
              <a:noFill/>
            </a:ln>
          </p:spPr>
          <p:txBody>
            <a:bodyPr rtlCol="0" anchor="ctr"/>
            <a:lstStyle/>
            <a:p>
              <a:pPr algn="ctr"/>
              <a:endParaRPr/>
            </a:p>
          </p:txBody>
        </p:sp>
        <p:pic>
          <p:nvPicPr>
            <p:cNvPr id="22" name="Picture 21" descr="clock_teal.png"/>
            <p:cNvPicPr>
              <a:picLocks noChangeAspect="1"/>
            </p:cNvPicPr>
            <p:nvPr/>
          </p:nvPicPr>
          <p:blipFill>
            <a:blip r:embed="rId2"/>
            <a:stretch>
              <a:fillRect/>
            </a:stretch>
          </p:blipFill>
          <p:spPr>
            <a:xfrm>
              <a:off x="7283958" y="1873758"/>
              <a:ext cx="329184" cy="329184"/>
            </a:xfrm>
            <a:prstGeom prst="rect">
              <a:avLst/>
            </a:prstGeom>
          </p:spPr>
        </p:pic>
        <p:sp>
          <p:nvSpPr>
            <p:cNvPr id="23" name="TextBox 22"/>
            <p:cNvSpPr txBox="1"/>
            <p:nvPr/>
          </p:nvSpPr>
          <p:spPr>
            <a:xfrm>
              <a:off x="7962900" y="1771650"/>
              <a:ext cx="3390900" cy="266700"/>
            </a:xfrm>
            <a:prstGeom prst="rect">
              <a:avLst/>
            </a:prstGeom>
            <a:noFill/>
          </p:spPr>
          <p:txBody>
            <a:bodyPr wrap="square" lIns="0" tIns="0" rIns="0" bIns="0" anchor="t">
              <a:spAutoFit/>
            </a:bodyPr>
            <a:lstStyle/>
            <a:p>
              <a:pPr algn="l"/>
              <a:r>
                <a:rPr sz="1900" b="1">
                  <a:solidFill>
                    <a:srgbClr val="FFFFFF"/>
                  </a:solidFill>
                  <a:latin typeface="Century Gothic"/>
                </a:rPr>
                <a:t>Restore job</a:t>
              </a:r>
            </a:p>
          </p:txBody>
        </p:sp>
        <p:sp>
          <p:nvSpPr>
            <p:cNvPr id="24" name="TextBox 23"/>
            <p:cNvSpPr txBox="1"/>
            <p:nvPr/>
          </p:nvSpPr>
          <p:spPr>
            <a:xfrm>
              <a:off x="7962900" y="2133600"/>
              <a:ext cx="3390900" cy="733425"/>
            </a:xfrm>
            <a:prstGeom prst="rect">
              <a:avLst/>
            </a:prstGeom>
            <a:noFill/>
          </p:spPr>
          <p:txBody>
            <a:bodyPr wrap="square" lIns="0" tIns="0" rIns="0" bIns="0" anchor="t">
              <a:spAutoFit/>
            </a:bodyPr>
            <a:lstStyle/>
            <a:p>
              <a:pPr algn="l"/>
              <a:r>
                <a:rPr sz="1450" b="0">
                  <a:solidFill>
                    <a:srgbClr val="B0C0D9"/>
                  </a:solidFill>
                  <a:latin typeface="Segoe UI"/>
                </a:rPr>
                <a:t>Follow the restore job under Backup jobs in the vault until it shows as completed.</a:t>
              </a:r>
            </a:p>
          </p:txBody>
        </p:sp>
      </p:grpSp>
      <p:grpSp>
        <p:nvGrpSpPr>
          <p:cNvPr id="25" name="anim|rise|0.91"/>
          <p:cNvGrpSpPr/>
          <p:nvPr/>
        </p:nvGrpSpPr>
        <p:grpSpPr>
          <a:xfrm>
            <a:off x="6896100" y="3133725"/>
            <a:ext cx="4724400" cy="1495425"/>
            <a:chOff x="6896100" y="3133725"/>
            <a:chExt cx="4724400" cy="1495425"/>
          </a:xfrm>
        </p:grpSpPr>
        <p:sp>
          <p:nvSpPr>
            <p:cNvPr id="26" name="Rounded Rectangle 25"/>
            <p:cNvSpPr/>
            <p:nvPr/>
          </p:nvSpPr>
          <p:spPr>
            <a:xfrm>
              <a:off x="6896100" y="3133725"/>
              <a:ext cx="4724400" cy="1495425"/>
            </a:xfrm>
            <a:prstGeom prst="roundRect">
              <a:avLst>
                <a:gd name="adj" fmla="val 11464"/>
              </a:avLst>
            </a:prstGeom>
            <a:solidFill>
              <a:srgbClr val="1E3A68"/>
            </a:solidFill>
            <a:ln>
              <a:noFill/>
            </a:ln>
          </p:spPr>
          <p:txBody>
            <a:bodyPr rtlCol="0" anchor="ctr"/>
            <a:lstStyle/>
            <a:p>
              <a:pPr algn="ctr"/>
              <a:endParaRPr/>
            </a:p>
          </p:txBody>
        </p:sp>
        <p:sp>
          <p:nvSpPr>
            <p:cNvPr id="27" name="Oval 26"/>
            <p:cNvSpPr/>
            <p:nvPr/>
          </p:nvSpPr>
          <p:spPr>
            <a:xfrm>
              <a:off x="7143750" y="3381375"/>
              <a:ext cx="609600" cy="609600"/>
            </a:xfrm>
            <a:prstGeom prst="ellipse">
              <a:avLst/>
            </a:prstGeom>
            <a:solidFill>
              <a:srgbClr val="14284B"/>
            </a:solidFill>
            <a:ln>
              <a:noFill/>
            </a:ln>
          </p:spPr>
          <p:txBody>
            <a:bodyPr rtlCol="0" anchor="ctr"/>
            <a:lstStyle/>
            <a:p>
              <a:pPr algn="ctr"/>
              <a:endParaRPr/>
            </a:p>
          </p:txBody>
        </p:sp>
        <p:pic>
          <p:nvPicPr>
            <p:cNvPr id="28" name="Picture 27" descr="check_teal.png"/>
            <p:cNvPicPr>
              <a:picLocks noChangeAspect="1"/>
            </p:cNvPicPr>
            <p:nvPr/>
          </p:nvPicPr>
          <p:blipFill>
            <a:blip r:embed="rId3"/>
            <a:stretch>
              <a:fillRect/>
            </a:stretch>
          </p:blipFill>
          <p:spPr>
            <a:xfrm>
              <a:off x="7283958" y="3521583"/>
              <a:ext cx="329184" cy="329184"/>
            </a:xfrm>
            <a:prstGeom prst="rect">
              <a:avLst/>
            </a:prstGeom>
          </p:spPr>
        </p:pic>
        <p:sp>
          <p:nvSpPr>
            <p:cNvPr id="29" name="TextBox 28"/>
            <p:cNvSpPr txBox="1"/>
            <p:nvPr/>
          </p:nvSpPr>
          <p:spPr>
            <a:xfrm>
              <a:off x="7962900" y="3419475"/>
              <a:ext cx="3390900" cy="266700"/>
            </a:xfrm>
            <a:prstGeom prst="rect">
              <a:avLst/>
            </a:prstGeom>
            <a:noFill/>
          </p:spPr>
          <p:txBody>
            <a:bodyPr wrap="square" lIns="0" tIns="0" rIns="0" bIns="0" anchor="t">
              <a:spAutoFit/>
            </a:bodyPr>
            <a:lstStyle/>
            <a:p>
              <a:pPr algn="l"/>
              <a:r>
                <a:rPr sz="1900" b="1">
                  <a:solidFill>
                    <a:srgbClr val="FFFFFF"/>
                  </a:solidFill>
                  <a:latin typeface="Century Gothic"/>
                </a:rPr>
                <a:t>Check the workloads</a:t>
              </a:r>
            </a:p>
          </p:txBody>
        </p:sp>
        <p:sp>
          <p:nvSpPr>
            <p:cNvPr id="30" name="TextBox 29"/>
            <p:cNvSpPr txBox="1"/>
            <p:nvPr/>
          </p:nvSpPr>
          <p:spPr>
            <a:xfrm>
              <a:off x="7962900" y="3781425"/>
              <a:ext cx="3390900" cy="733425"/>
            </a:xfrm>
            <a:prstGeom prst="rect">
              <a:avLst/>
            </a:prstGeom>
            <a:noFill/>
          </p:spPr>
          <p:txBody>
            <a:bodyPr wrap="square" lIns="0" tIns="0" rIns="0" bIns="0" anchor="t">
              <a:spAutoFit/>
            </a:bodyPr>
            <a:lstStyle/>
            <a:p>
              <a:pPr algn="l"/>
              <a:r>
                <a:rPr sz="1450" b="0">
                  <a:solidFill>
                    <a:srgbClr val="B0C0D9"/>
                  </a:solidFill>
                  <a:latin typeface="Segoe UI"/>
                </a:rPr>
                <a:t>Confirm the restored workloads start and respond as expected.</a:t>
              </a:r>
            </a:p>
          </p:txBody>
        </p:sp>
      </p:grpSp>
      <p:grpSp>
        <p:nvGrpSpPr>
          <p:cNvPr id="31" name="anim|zoom|1.09"/>
          <p:cNvGrpSpPr/>
          <p:nvPr/>
        </p:nvGrpSpPr>
        <p:grpSpPr>
          <a:xfrm>
            <a:off x="571500" y="4857750"/>
            <a:ext cx="11049000" cy="952500"/>
            <a:chOff x="571500" y="4857750"/>
            <a:chExt cx="11049000" cy="952500"/>
          </a:xfrm>
        </p:grpSpPr>
        <p:sp>
          <p:nvSpPr>
            <p:cNvPr id="32" name="Rounded Rectangle 31"/>
            <p:cNvSpPr/>
            <p:nvPr/>
          </p:nvSpPr>
          <p:spPr>
            <a:xfrm>
              <a:off x="571500" y="4857750"/>
              <a:ext cx="11049000" cy="952500"/>
            </a:xfrm>
            <a:prstGeom prst="roundRect">
              <a:avLst>
                <a:gd name="adj" fmla="val 18000"/>
              </a:avLst>
            </a:prstGeom>
            <a:solidFill>
              <a:srgbClr val="FFB938"/>
            </a:solidFill>
            <a:ln>
              <a:noFill/>
            </a:ln>
          </p:spPr>
          <p:txBody>
            <a:bodyPr rtlCol="0" anchor="ctr"/>
            <a:lstStyle/>
            <a:p>
              <a:pPr algn="ctr"/>
              <a:endParaRPr/>
            </a:p>
          </p:txBody>
        </p:sp>
        <p:sp>
          <p:nvSpPr>
            <p:cNvPr id="33" name="TextBox 32"/>
            <p:cNvSpPr txBox="1"/>
            <p:nvPr/>
          </p:nvSpPr>
          <p:spPr>
            <a:xfrm>
              <a:off x="914400" y="4857750"/>
              <a:ext cx="10382250" cy="952500"/>
            </a:xfrm>
            <a:prstGeom prst="rect">
              <a:avLst/>
            </a:prstGeom>
            <a:noFill/>
          </p:spPr>
          <p:txBody>
            <a:bodyPr wrap="square" lIns="0" tIns="0" rIns="0" bIns="0" anchor="ctr">
              <a:spAutoFit/>
            </a:bodyPr>
            <a:lstStyle/>
            <a:p>
              <a:pPr algn="l"/>
              <a:r>
                <a:rPr sz="2100" b="1">
                  <a:solidFill>
                    <a:srgbClr val="14284B"/>
                  </a:solidFill>
                  <a:latin typeface="Century Gothic"/>
                </a:rPr>
                <a:t>Always test the restored workloads before calling the restore a success.</a:t>
              </a:r>
            </a:p>
          </p:txBody>
        </p:sp>
      </p:grpSp>
    </p:spTree>
  </p:cSld>
  <p:clrMapOvr>
    <a:masterClrMapping/>
  </p:clrMapOvr>
  <mc:AlternateContent xmlns:mc="http://schemas.openxmlformats.org/markup-compatibility/2006">
    <mc:Choice xmlns:p14="http://schemas.microsoft.com/office/powerpoint/2010/main" Requires="p14">
      <p:transition spd="slow" p14:dur="800">
        <p:fad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5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50"/>
                                        <p:tgtEl>
                                          <p:spTgt spid="3"/>
                                        </p:tgtEl>
                                      </p:cBhvr>
                                    </p:animEffect>
                                  </p:childTnLst>
                                </p:cTn>
                              </p:par>
                              <p:par>
                                <p:cTn id="8" presetID="22" presetClass="entr" presetSubtype="8" fill="hold" grpId="0" nodeType="withEffect">
                                  <p:stCondLst>
                                    <p:cond delay="100"/>
                                  </p:stCondLst>
                                  <p:childTnLst>
                                    <p:set>
                                      <p:cBhvr>
                                        <p:cTn id="9" dur="1" fill="hold">
                                          <p:stCondLst>
                                            <p:cond delay="0"/>
                                          </p:stCondLst>
                                        </p:cTn>
                                        <p:tgtEl>
                                          <p:spTgt spid="6"/>
                                        </p:tgtEl>
                                        <p:attrNameLst>
                                          <p:attrName>style.visibility</p:attrName>
                                        </p:attrNameLst>
                                      </p:cBhvr>
                                      <p:to>
                                        <p:strVal val="visible"/>
                                      </p:to>
                                    </p:set>
                                    <p:animEffect transition="in" filter="wipe(left)">
                                      <p:cBhvr>
                                        <p:cTn id="10" dur="700"/>
                                        <p:tgtEl>
                                          <p:spTgt spid="6"/>
                                        </p:tgtEl>
                                      </p:cBhvr>
                                    </p:animEffect>
                                  </p:childTnLst>
                                </p:cTn>
                              </p:par>
                              <p:par>
                                <p:cTn id="11" presetID="10" presetClass="entr" presetSubtype="0" fill="hold" grpId="0" nodeType="withEffect">
                                  <p:stCondLst>
                                    <p:cond delay="45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50"/>
                                        <p:tgtEl>
                                          <p:spTgt spid="7"/>
                                        </p:tgtEl>
                                      </p:cBhvr>
                                    </p:animEffect>
                                  </p:childTnLst>
                                </p:cTn>
                              </p:par>
                              <p:par>
                                <p:cTn id="14" presetID="37" presetClass="entr" presetSubtype="0" fill="hold" nodeType="withEffect">
                                  <p:stCondLst>
                                    <p:cond delay="55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50"/>
                                        <p:tgtEl>
                                          <p:spTgt spid="10"/>
                                        </p:tgtEl>
                                      </p:cBhvr>
                                    </p:animEffect>
                                    <p:anim calcmode="lin" valueType="num">
                                      <p:cBhvr>
                                        <p:cTn id="17" dur="550" fill="hold"/>
                                        <p:tgtEl>
                                          <p:spTgt spid="10"/>
                                        </p:tgtEl>
                                        <p:attrNameLst>
                                          <p:attrName>ppt_x</p:attrName>
                                        </p:attrNameLst>
                                      </p:cBhvr>
                                      <p:tavLst>
                                        <p:tav tm="0">
                                          <p:val>
                                            <p:strVal val="#ppt_x"/>
                                          </p:val>
                                        </p:tav>
                                        <p:tav tm="100000">
                                          <p:val>
                                            <p:strVal val="#ppt_x"/>
                                          </p:val>
                                        </p:tav>
                                      </p:tavLst>
                                    </p:anim>
                                    <p:anim calcmode="lin" valueType="num">
                                      <p:cBhvr>
                                        <p:cTn id="18" dur="495" decel="100000" fill="hold"/>
                                        <p:tgtEl>
                                          <p:spTgt spid="10"/>
                                        </p:tgtEl>
                                        <p:attrNameLst>
                                          <p:attrName>ppt_y</p:attrName>
                                        </p:attrNameLst>
                                      </p:cBhvr>
                                      <p:tavLst>
                                        <p:tav tm="0">
                                          <p:val>
                                            <p:strVal val="#ppt_y+1"/>
                                          </p:val>
                                        </p:tav>
                                        <p:tav tm="100000">
                                          <p:val>
                                            <p:strVal val="#ppt_y-.03"/>
                                          </p:val>
                                        </p:tav>
                                      </p:tavLst>
                                    </p:anim>
                                    <p:anim calcmode="lin" valueType="num">
                                      <p:cBhvr>
                                        <p:cTn id="19" dur="55" accel="100000" fill="hold">
                                          <p:stCondLst>
                                            <p:cond delay="495"/>
                                          </p:stCondLst>
                                        </p:cTn>
                                        <p:tgtEl>
                                          <p:spTgt spid="10"/>
                                        </p:tgtEl>
                                        <p:attrNameLst>
                                          <p:attrName>ppt_y</p:attrName>
                                        </p:attrNameLst>
                                      </p:cBhvr>
                                      <p:tavLst>
                                        <p:tav tm="0">
                                          <p:val>
                                            <p:strVal val="#ppt_y-.03"/>
                                          </p:val>
                                        </p:tav>
                                        <p:tav tm="100000">
                                          <p:val>
                                            <p:strVal val="#ppt_y"/>
                                          </p:val>
                                        </p:tav>
                                      </p:tavLst>
                                    </p:anim>
                                  </p:childTnLst>
                                </p:cTn>
                              </p:par>
                              <p:par>
                                <p:cTn id="20" presetID="37" presetClass="entr" presetSubtype="0" fill="hold" nodeType="withEffect">
                                  <p:stCondLst>
                                    <p:cond delay="730"/>
                                  </p:stCondLst>
                                  <p:childTnLst>
                                    <p:set>
                                      <p:cBhvr>
                                        <p:cTn id="21" dur="1" fill="hold">
                                          <p:stCondLst>
                                            <p:cond delay="0"/>
                                          </p:stCondLst>
                                        </p:cTn>
                                        <p:tgtEl>
                                          <p:spTgt spid="19"/>
                                        </p:tgtEl>
                                        <p:attrNameLst>
                                          <p:attrName>style.visibility</p:attrName>
                                        </p:attrNameLst>
                                      </p:cBhvr>
                                      <p:to>
                                        <p:strVal val="visible"/>
                                      </p:to>
                                    </p:set>
                                    <p:animEffect transition="in" filter="fade">
                                      <p:cBhvr>
                                        <p:cTn id="22" dur="550"/>
                                        <p:tgtEl>
                                          <p:spTgt spid="19"/>
                                        </p:tgtEl>
                                      </p:cBhvr>
                                    </p:animEffect>
                                    <p:anim calcmode="lin" valueType="num">
                                      <p:cBhvr>
                                        <p:cTn id="23" dur="550" fill="hold"/>
                                        <p:tgtEl>
                                          <p:spTgt spid="19"/>
                                        </p:tgtEl>
                                        <p:attrNameLst>
                                          <p:attrName>ppt_x</p:attrName>
                                        </p:attrNameLst>
                                      </p:cBhvr>
                                      <p:tavLst>
                                        <p:tav tm="0">
                                          <p:val>
                                            <p:strVal val="#ppt_x"/>
                                          </p:val>
                                        </p:tav>
                                        <p:tav tm="100000">
                                          <p:val>
                                            <p:strVal val="#ppt_x"/>
                                          </p:val>
                                        </p:tav>
                                      </p:tavLst>
                                    </p:anim>
                                    <p:anim calcmode="lin" valueType="num">
                                      <p:cBhvr>
                                        <p:cTn id="24" dur="495" decel="100000" fill="hold"/>
                                        <p:tgtEl>
                                          <p:spTgt spid="19"/>
                                        </p:tgtEl>
                                        <p:attrNameLst>
                                          <p:attrName>ppt_y</p:attrName>
                                        </p:attrNameLst>
                                      </p:cBhvr>
                                      <p:tavLst>
                                        <p:tav tm="0">
                                          <p:val>
                                            <p:strVal val="#ppt_y+1"/>
                                          </p:val>
                                        </p:tav>
                                        <p:tav tm="100000">
                                          <p:val>
                                            <p:strVal val="#ppt_y-.03"/>
                                          </p:val>
                                        </p:tav>
                                      </p:tavLst>
                                    </p:anim>
                                    <p:anim calcmode="lin" valueType="num">
                                      <p:cBhvr>
                                        <p:cTn id="25" dur="55" accel="100000" fill="hold">
                                          <p:stCondLst>
                                            <p:cond delay="495"/>
                                          </p:stCondLst>
                                        </p:cTn>
                                        <p:tgtEl>
                                          <p:spTgt spid="19"/>
                                        </p:tgtEl>
                                        <p:attrNameLst>
                                          <p:attrName>ppt_y</p:attrName>
                                        </p:attrNameLst>
                                      </p:cBhvr>
                                      <p:tavLst>
                                        <p:tav tm="0">
                                          <p:val>
                                            <p:strVal val="#ppt_y-.03"/>
                                          </p:val>
                                        </p:tav>
                                        <p:tav tm="100000">
                                          <p:val>
                                            <p:strVal val="#ppt_y"/>
                                          </p:val>
                                        </p:tav>
                                      </p:tavLst>
                                    </p:anim>
                                  </p:childTnLst>
                                </p:cTn>
                              </p:par>
                              <p:par>
                                <p:cTn id="26" presetID="37" presetClass="entr" presetSubtype="0" fill="hold" nodeType="withEffect">
                                  <p:stCondLst>
                                    <p:cond delay="910"/>
                                  </p:stCondLst>
                                  <p:childTnLst>
                                    <p:set>
                                      <p:cBhvr>
                                        <p:cTn id="27" dur="1" fill="hold">
                                          <p:stCondLst>
                                            <p:cond delay="0"/>
                                          </p:stCondLst>
                                        </p:cTn>
                                        <p:tgtEl>
                                          <p:spTgt spid="25"/>
                                        </p:tgtEl>
                                        <p:attrNameLst>
                                          <p:attrName>style.visibility</p:attrName>
                                        </p:attrNameLst>
                                      </p:cBhvr>
                                      <p:to>
                                        <p:strVal val="visible"/>
                                      </p:to>
                                    </p:set>
                                    <p:animEffect transition="in" filter="fade">
                                      <p:cBhvr>
                                        <p:cTn id="28" dur="550"/>
                                        <p:tgtEl>
                                          <p:spTgt spid="25"/>
                                        </p:tgtEl>
                                      </p:cBhvr>
                                    </p:animEffect>
                                    <p:anim calcmode="lin" valueType="num">
                                      <p:cBhvr>
                                        <p:cTn id="29" dur="550" fill="hold"/>
                                        <p:tgtEl>
                                          <p:spTgt spid="25"/>
                                        </p:tgtEl>
                                        <p:attrNameLst>
                                          <p:attrName>ppt_x</p:attrName>
                                        </p:attrNameLst>
                                      </p:cBhvr>
                                      <p:tavLst>
                                        <p:tav tm="0">
                                          <p:val>
                                            <p:strVal val="#ppt_x"/>
                                          </p:val>
                                        </p:tav>
                                        <p:tav tm="100000">
                                          <p:val>
                                            <p:strVal val="#ppt_x"/>
                                          </p:val>
                                        </p:tav>
                                      </p:tavLst>
                                    </p:anim>
                                    <p:anim calcmode="lin" valueType="num">
                                      <p:cBhvr>
                                        <p:cTn id="30" dur="495" decel="100000" fill="hold"/>
                                        <p:tgtEl>
                                          <p:spTgt spid="25"/>
                                        </p:tgtEl>
                                        <p:attrNameLst>
                                          <p:attrName>ppt_y</p:attrName>
                                        </p:attrNameLst>
                                      </p:cBhvr>
                                      <p:tavLst>
                                        <p:tav tm="0">
                                          <p:val>
                                            <p:strVal val="#ppt_y+1"/>
                                          </p:val>
                                        </p:tav>
                                        <p:tav tm="100000">
                                          <p:val>
                                            <p:strVal val="#ppt_y-.03"/>
                                          </p:val>
                                        </p:tav>
                                      </p:tavLst>
                                    </p:anim>
                                    <p:anim calcmode="lin" valueType="num">
                                      <p:cBhvr>
                                        <p:cTn id="31" dur="55" accel="100000" fill="hold">
                                          <p:stCondLst>
                                            <p:cond delay="495"/>
                                          </p:stCondLst>
                                        </p:cTn>
                                        <p:tgtEl>
                                          <p:spTgt spid="25"/>
                                        </p:tgtEl>
                                        <p:attrNameLst>
                                          <p:attrName>ppt_y</p:attrName>
                                        </p:attrNameLst>
                                      </p:cBhvr>
                                      <p:tavLst>
                                        <p:tav tm="0">
                                          <p:val>
                                            <p:strVal val="#ppt_y-.03"/>
                                          </p:val>
                                        </p:tav>
                                        <p:tav tm="100000">
                                          <p:val>
                                            <p:strVal val="#ppt_y"/>
                                          </p:val>
                                        </p:tav>
                                      </p:tavLst>
                                    </p:anim>
                                  </p:childTnLst>
                                </p:cTn>
                              </p:par>
                              <p:par>
                                <p:cTn id="32" presetID="23" presetClass="entr" presetSubtype="16" fill="hold" nodeType="withEffect">
                                  <p:stCondLst>
                                    <p:cond delay="1090"/>
                                  </p:stCondLst>
                                  <p:childTnLst>
                                    <p:set>
                                      <p:cBhvr>
                                        <p:cTn id="33" dur="1" fill="hold">
                                          <p:stCondLst>
                                            <p:cond delay="0"/>
                                          </p:stCondLst>
                                        </p:cTn>
                                        <p:tgtEl>
                                          <p:spTgt spid="31"/>
                                        </p:tgtEl>
                                        <p:attrNameLst>
                                          <p:attrName>style.visibility</p:attrName>
                                        </p:attrNameLst>
                                      </p:cBhvr>
                                      <p:to>
                                        <p:strVal val="visible"/>
                                      </p:to>
                                    </p:set>
                                    <p:anim calcmode="lin" valueType="num">
                                      <p:cBhvr>
                                        <p:cTn id="34" dur="550" fill="hold"/>
                                        <p:tgtEl>
                                          <p:spTgt spid="31"/>
                                        </p:tgtEl>
                                        <p:attrNameLst>
                                          <p:attrName>ppt_w</p:attrName>
                                        </p:attrNameLst>
                                      </p:cBhvr>
                                      <p:tavLst>
                                        <p:tav tm="0">
                                          <p:val>
                                            <p:fltVal val="0"/>
                                          </p:val>
                                        </p:tav>
                                        <p:tav tm="100000">
                                          <p:val>
                                            <p:strVal val="#ppt_w"/>
                                          </p:val>
                                        </p:tav>
                                      </p:tavLst>
                                    </p:anim>
                                    <p:anim calcmode="lin" valueType="num">
                                      <p:cBhvr>
                                        <p:cTn id="35" dur="550" fill="hold"/>
                                        <p:tgtEl>
                                          <p:spTgt spid="31"/>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14284B"/>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57150"/>
          </a:xfrm>
          <a:prstGeom prst="rect">
            <a:avLst/>
          </a:prstGeom>
          <a:solidFill>
            <a:srgbClr val="59BEC9"/>
          </a:solidFill>
          <a:ln>
            <a:noFill/>
          </a:ln>
        </p:spPr>
        <p:txBody>
          <a:bodyPr rtlCol="0" anchor="ctr"/>
          <a:lstStyle/>
          <a:p>
            <a:pPr algn="ctr"/>
            <a:endParaRPr/>
          </a:p>
        </p:txBody>
      </p:sp>
      <p:grpSp>
        <p:nvGrpSpPr>
          <p:cNvPr id="3" name="anim|fade|0.05"/>
          <p:cNvGrpSpPr/>
          <p:nvPr/>
        </p:nvGrpSpPr>
        <p:grpSpPr>
          <a:xfrm>
            <a:off x="571500" y="266700"/>
            <a:ext cx="7105650" cy="190500"/>
            <a:chOff x="571500" y="266700"/>
            <a:chExt cx="7105650" cy="190500"/>
          </a:xfrm>
        </p:grpSpPr>
        <p:sp>
          <p:nvSpPr>
            <p:cNvPr id="4" name="Rectangle 3"/>
            <p:cNvSpPr/>
            <p:nvPr/>
          </p:nvSpPr>
          <p:spPr>
            <a:xfrm>
              <a:off x="571500" y="342900"/>
              <a:ext cx="342900" cy="47625"/>
            </a:xfrm>
            <a:prstGeom prst="rect">
              <a:avLst/>
            </a:prstGeom>
            <a:solidFill>
              <a:srgbClr val="FFB938"/>
            </a:solidFill>
            <a:ln>
              <a:noFill/>
            </a:ln>
          </p:spPr>
          <p:txBody>
            <a:bodyPr rtlCol="0" anchor="ctr"/>
            <a:lstStyle/>
            <a:p>
              <a:pPr algn="ctr"/>
              <a:endParaRPr/>
            </a:p>
          </p:txBody>
        </p:sp>
        <p:sp>
          <p:nvSpPr>
            <p:cNvPr id="5" name="TextBox 4"/>
            <p:cNvSpPr txBox="1"/>
            <p:nvPr/>
          </p:nvSpPr>
          <p:spPr>
            <a:xfrm>
              <a:off x="1009650" y="266700"/>
              <a:ext cx="6667500" cy="190500"/>
            </a:xfrm>
            <a:prstGeom prst="rect">
              <a:avLst/>
            </a:prstGeom>
            <a:noFill/>
          </p:spPr>
          <p:txBody>
            <a:bodyPr wrap="square" lIns="0" tIns="0" rIns="0" bIns="0" anchor="t">
              <a:spAutoFit/>
            </a:bodyPr>
            <a:lstStyle/>
            <a:p>
              <a:pPr algn="l"/>
              <a:r>
                <a:rPr sz="1100" b="1" spc="300">
                  <a:solidFill>
                    <a:srgbClr val="59BEC9"/>
                  </a:solidFill>
                  <a:latin typeface="Century Gothic"/>
                </a:rPr>
                <a:t>TIPS</a:t>
              </a:r>
            </a:p>
          </p:txBody>
        </p:sp>
      </p:grpSp>
      <p:sp>
        <p:nvSpPr>
          <p:cNvPr id="6" name="anim|wipeL|0.1"/>
          <p:cNvSpPr txBox="1"/>
          <p:nvPr/>
        </p:nvSpPr>
        <p:spPr>
          <a:xfrm>
            <a:off x="571500" y="533400"/>
            <a:ext cx="11049000" cy="533400"/>
          </a:xfrm>
          <a:prstGeom prst="rect">
            <a:avLst/>
          </a:prstGeom>
          <a:noFill/>
        </p:spPr>
        <p:txBody>
          <a:bodyPr wrap="square" lIns="0" tIns="0" rIns="0" bIns="0" anchor="t">
            <a:spAutoFit/>
          </a:bodyPr>
          <a:lstStyle/>
          <a:p>
            <a:pPr algn="l"/>
            <a:r>
              <a:rPr sz="3100" b="1">
                <a:solidFill>
                  <a:srgbClr val="FFFFFF"/>
                </a:solidFill>
                <a:latin typeface="Century Gothic"/>
              </a:rPr>
              <a:t>Things that trip people up</a:t>
            </a:r>
          </a:p>
        </p:txBody>
      </p:sp>
      <p:sp>
        <p:nvSpPr>
          <p:cNvPr id="7" name="anim|fade|0.45"/>
          <p:cNvSpPr txBox="1"/>
          <p:nvPr/>
        </p:nvSpPr>
        <p:spPr>
          <a:xfrm>
            <a:off x="571500" y="1028700"/>
            <a:ext cx="11049000" cy="247650"/>
          </a:xfrm>
          <a:prstGeom prst="rect">
            <a:avLst/>
          </a:prstGeom>
          <a:noFill/>
        </p:spPr>
        <p:txBody>
          <a:bodyPr wrap="square" lIns="0" tIns="0" rIns="0" bIns="0" anchor="t">
            <a:spAutoFit/>
          </a:bodyPr>
          <a:lstStyle/>
          <a:p>
            <a:pPr algn="l"/>
            <a:r>
              <a:rPr sz="1500" b="0">
                <a:solidFill>
                  <a:srgbClr val="B0C0D9"/>
                </a:solidFill>
                <a:latin typeface="Segoe UI"/>
              </a:rPr>
              <a:t>Read these before your first restore</a:t>
            </a:r>
          </a:p>
        </p:txBody>
      </p:sp>
      <p:sp>
        <p:nvSpPr>
          <p:cNvPr id="8" name="TextBox 7"/>
          <p:cNvSpPr txBox="1"/>
          <p:nvPr/>
        </p:nvSpPr>
        <p:spPr>
          <a:xfrm>
            <a:off x="571500" y="6534150"/>
            <a:ext cx="6667500" cy="171450"/>
          </a:xfrm>
          <a:prstGeom prst="rect">
            <a:avLst/>
          </a:prstGeom>
          <a:noFill/>
        </p:spPr>
        <p:txBody>
          <a:bodyPr wrap="square" lIns="0" tIns="0" rIns="0" bIns="0" anchor="t">
            <a:spAutoFit/>
          </a:bodyPr>
          <a:lstStyle/>
          <a:p>
            <a:pPr algn="l"/>
            <a:r>
              <a:rPr sz="950" b="0">
                <a:solidFill>
                  <a:srgbClr val="B0C0D9"/>
                </a:solidFill>
                <a:latin typeface="Segoe UI"/>
              </a:rPr>
              <a:t>AKS Backup &amp; Restore  |  BFH AKS IHUB Platform Team</a:t>
            </a:r>
          </a:p>
        </p:txBody>
      </p:sp>
      <p:sp>
        <p:nvSpPr>
          <p:cNvPr id="9" name="TextBox 8"/>
          <p:cNvSpPr txBox="1"/>
          <p:nvPr/>
        </p:nvSpPr>
        <p:spPr>
          <a:xfrm>
            <a:off x="10668000" y="6534150"/>
            <a:ext cx="952500" cy="171450"/>
          </a:xfrm>
          <a:prstGeom prst="rect">
            <a:avLst/>
          </a:prstGeom>
          <a:noFill/>
        </p:spPr>
        <p:txBody>
          <a:bodyPr wrap="square" lIns="0" tIns="0" rIns="0" bIns="0" anchor="t">
            <a:spAutoFit/>
          </a:bodyPr>
          <a:lstStyle/>
          <a:p>
            <a:pPr algn="r"/>
            <a:r>
              <a:rPr sz="1000" b="1">
                <a:solidFill>
                  <a:srgbClr val="FFB938"/>
                </a:solidFill>
                <a:latin typeface="Century Gothic"/>
              </a:rPr>
              <a:t>21</a:t>
            </a:r>
          </a:p>
        </p:txBody>
      </p:sp>
      <p:grpSp>
        <p:nvGrpSpPr>
          <p:cNvPr id="10" name="anim|rise|0.55"/>
          <p:cNvGrpSpPr/>
          <p:nvPr/>
        </p:nvGrpSpPr>
        <p:grpSpPr>
          <a:xfrm>
            <a:off x="571500" y="1485900"/>
            <a:ext cx="3581400" cy="2152650"/>
            <a:chOff x="571500" y="1485900"/>
            <a:chExt cx="3581400" cy="2152650"/>
          </a:xfrm>
        </p:grpSpPr>
        <p:sp>
          <p:nvSpPr>
            <p:cNvPr id="11" name="Rounded Rectangle 10"/>
            <p:cNvSpPr/>
            <p:nvPr/>
          </p:nvSpPr>
          <p:spPr>
            <a:xfrm>
              <a:off x="571500" y="1485900"/>
              <a:ext cx="3581400" cy="2152650"/>
            </a:xfrm>
            <a:prstGeom prst="roundRect">
              <a:avLst>
                <a:gd name="adj" fmla="val 7964"/>
              </a:avLst>
            </a:prstGeom>
            <a:solidFill>
              <a:srgbClr val="1E3A68"/>
            </a:solidFill>
            <a:ln>
              <a:noFill/>
            </a:ln>
          </p:spPr>
          <p:txBody>
            <a:bodyPr rtlCol="0" anchor="ctr"/>
            <a:lstStyle/>
            <a:p>
              <a:pPr algn="ctr"/>
              <a:endParaRPr/>
            </a:p>
          </p:txBody>
        </p:sp>
        <p:sp>
          <p:nvSpPr>
            <p:cNvPr id="12" name="Oval 11"/>
            <p:cNvSpPr/>
            <p:nvPr/>
          </p:nvSpPr>
          <p:spPr>
            <a:xfrm>
              <a:off x="800100" y="1695450"/>
              <a:ext cx="495300" cy="495300"/>
            </a:xfrm>
            <a:prstGeom prst="ellipse">
              <a:avLst/>
            </a:prstGeom>
            <a:solidFill>
              <a:srgbClr val="14284B"/>
            </a:solidFill>
            <a:ln>
              <a:noFill/>
            </a:ln>
          </p:spPr>
          <p:txBody>
            <a:bodyPr rtlCol="0" anchor="ctr"/>
            <a:lstStyle/>
            <a:p>
              <a:pPr algn="ctr"/>
              <a:endParaRPr/>
            </a:p>
          </p:txBody>
        </p:sp>
        <p:pic>
          <p:nvPicPr>
            <p:cNvPr id="13" name="Picture 12" descr="copy_teal.png"/>
            <p:cNvPicPr>
              <a:picLocks noChangeAspect="1"/>
            </p:cNvPicPr>
            <p:nvPr/>
          </p:nvPicPr>
          <p:blipFill>
            <a:blip r:embed="rId2"/>
            <a:stretch>
              <a:fillRect/>
            </a:stretch>
          </p:blipFill>
          <p:spPr>
            <a:xfrm>
              <a:off x="914019" y="1809369"/>
              <a:ext cx="267462" cy="267462"/>
            </a:xfrm>
            <a:prstGeom prst="rect">
              <a:avLst/>
            </a:prstGeom>
          </p:spPr>
        </p:pic>
        <p:sp>
          <p:nvSpPr>
            <p:cNvPr id="14" name="TextBox 13"/>
            <p:cNvSpPr txBox="1"/>
            <p:nvPr/>
          </p:nvSpPr>
          <p:spPr>
            <a:xfrm>
              <a:off x="1428750" y="1695450"/>
              <a:ext cx="2495550" cy="495300"/>
            </a:xfrm>
            <a:prstGeom prst="rect">
              <a:avLst/>
            </a:prstGeom>
            <a:noFill/>
          </p:spPr>
          <p:txBody>
            <a:bodyPr wrap="square" lIns="0" tIns="0" rIns="0" bIns="0" anchor="ctr">
              <a:spAutoFit/>
            </a:bodyPr>
            <a:lstStyle/>
            <a:p>
              <a:pPr algn="l"/>
              <a:r>
                <a:rPr sz="1700" b="1">
                  <a:solidFill>
                    <a:srgbClr val="FFFFFF"/>
                  </a:solidFill>
                  <a:latin typeface="Century Gothic"/>
                </a:rPr>
                <a:t>Existing resources</a:t>
              </a:r>
            </a:p>
          </p:txBody>
        </p:sp>
        <p:sp>
          <p:nvSpPr>
            <p:cNvPr id="15" name="TextBox 14"/>
            <p:cNvSpPr txBox="1"/>
            <p:nvPr/>
          </p:nvSpPr>
          <p:spPr>
            <a:xfrm>
              <a:off x="800100" y="2362200"/>
              <a:ext cx="3124200" cy="1162050"/>
            </a:xfrm>
            <a:prstGeom prst="rect">
              <a:avLst/>
            </a:prstGeom>
            <a:noFill/>
          </p:spPr>
          <p:txBody>
            <a:bodyPr wrap="square" lIns="0" tIns="0" rIns="0" bIns="0" anchor="t">
              <a:spAutoFit/>
            </a:bodyPr>
            <a:lstStyle/>
            <a:p>
              <a:pPr algn="l"/>
              <a:r>
                <a:rPr sz="1400" b="0">
                  <a:solidFill>
                    <a:srgbClr val="B0C0D9"/>
                  </a:solidFill>
                  <a:latin typeface="Segoe UI"/>
                </a:rPr>
                <a:t>Backups do not delete and recreate resources. Delete the existing resource before restoring it in place.</a:t>
              </a:r>
            </a:p>
          </p:txBody>
        </p:sp>
      </p:grpSp>
      <p:grpSp>
        <p:nvGrpSpPr>
          <p:cNvPr id="16" name="anim|rise|0.69"/>
          <p:cNvGrpSpPr/>
          <p:nvPr/>
        </p:nvGrpSpPr>
        <p:grpSpPr>
          <a:xfrm>
            <a:off x="4305300" y="1485900"/>
            <a:ext cx="3581400" cy="2152650"/>
            <a:chOff x="4305300" y="1485900"/>
            <a:chExt cx="3581400" cy="2152650"/>
          </a:xfrm>
        </p:grpSpPr>
        <p:sp>
          <p:nvSpPr>
            <p:cNvPr id="17" name="Rounded Rectangle 16"/>
            <p:cNvSpPr/>
            <p:nvPr/>
          </p:nvSpPr>
          <p:spPr>
            <a:xfrm>
              <a:off x="4305300" y="1485900"/>
              <a:ext cx="3581400" cy="2152650"/>
            </a:xfrm>
            <a:prstGeom prst="roundRect">
              <a:avLst>
                <a:gd name="adj" fmla="val 7964"/>
              </a:avLst>
            </a:prstGeom>
            <a:solidFill>
              <a:srgbClr val="1E3A68"/>
            </a:solidFill>
            <a:ln>
              <a:noFill/>
            </a:ln>
          </p:spPr>
          <p:txBody>
            <a:bodyPr rtlCol="0" anchor="ctr"/>
            <a:lstStyle/>
            <a:p>
              <a:pPr algn="ctr"/>
              <a:endParaRPr/>
            </a:p>
          </p:txBody>
        </p:sp>
        <p:sp>
          <p:nvSpPr>
            <p:cNvPr id="18" name="Oval 17"/>
            <p:cNvSpPr/>
            <p:nvPr/>
          </p:nvSpPr>
          <p:spPr>
            <a:xfrm>
              <a:off x="4533900" y="1695450"/>
              <a:ext cx="495300" cy="495300"/>
            </a:xfrm>
            <a:prstGeom prst="ellipse">
              <a:avLst/>
            </a:prstGeom>
            <a:solidFill>
              <a:srgbClr val="14284B"/>
            </a:solidFill>
            <a:ln>
              <a:noFill/>
            </a:ln>
          </p:spPr>
          <p:txBody>
            <a:bodyPr rtlCol="0" anchor="ctr"/>
            <a:lstStyle/>
            <a:p>
              <a:pPr algn="ctr"/>
              <a:endParaRPr/>
            </a:p>
          </p:txBody>
        </p:sp>
        <p:pic>
          <p:nvPicPr>
            <p:cNvPr id="19" name="Picture 18" descr="layers_teal.png"/>
            <p:cNvPicPr>
              <a:picLocks noChangeAspect="1"/>
            </p:cNvPicPr>
            <p:nvPr/>
          </p:nvPicPr>
          <p:blipFill>
            <a:blip r:embed="rId3"/>
            <a:stretch>
              <a:fillRect/>
            </a:stretch>
          </p:blipFill>
          <p:spPr>
            <a:xfrm>
              <a:off x="4647819" y="1809369"/>
              <a:ext cx="267462" cy="267462"/>
            </a:xfrm>
            <a:prstGeom prst="rect">
              <a:avLst/>
            </a:prstGeom>
          </p:spPr>
        </p:pic>
        <p:sp>
          <p:nvSpPr>
            <p:cNvPr id="20" name="TextBox 19"/>
            <p:cNvSpPr txBox="1"/>
            <p:nvPr/>
          </p:nvSpPr>
          <p:spPr>
            <a:xfrm>
              <a:off x="5162550" y="1695450"/>
              <a:ext cx="2495550" cy="495300"/>
            </a:xfrm>
            <a:prstGeom prst="rect">
              <a:avLst/>
            </a:prstGeom>
            <a:noFill/>
          </p:spPr>
          <p:txBody>
            <a:bodyPr wrap="square" lIns="0" tIns="0" rIns="0" bIns="0" anchor="ctr">
              <a:spAutoFit/>
            </a:bodyPr>
            <a:lstStyle/>
            <a:p>
              <a:pPr algn="l"/>
              <a:r>
                <a:rPr sz="1700" b="1">
                  <a:solidFill>
                    <a:srgbClr val="FFFFFF"/>
                  </a:solidFill>
                  <a:latin typeface="Century Gothic"/>
                </a:rPr>
                <a:t>Namespaces</a:t>
              </a:r>
            </a:p>
          </p:txBody>
        </p:sp>
        <p:sp>
          <p:nvSpPr>
            <p:cNvPr id="21" name="TextBox 20"/>
            <p:cNvSpPr txBox="1"/>
            <p:nvPr/>
          </p:nvSpPr>
          <p:spPr>
            <a:xfrm>
              <a:off x="4533900" y="2362200"/>
              <a:ext cx="3124200" cy="1162050"/>
            </a:xfrm>
            <a:prstGeom prst="rect">
              <a:avLst/>
            </a:prstGeom>
            <a:noFill/>
          </p:spPr>
          <p:txBody>
            <a:bodyPr wrap="square" lIns="0" tIns="0" rIns="0" bIns="0" anchor="t">
              <a:spAutoFit/>
            </a:bodyPr>
            <a:lstStyle/>
            <a:p>
              <a:pPr algn="l"/>
              <a:r>
                <a:rPr sz="1400" b="0">
                  <a:solidFill>
                    <a:srgbClr val="B0C0D9"/>
                  </a:solidFill>
                  <a:latin typeface="Segoe UI"/>
                </a:rPr>
                <a:t>A namespace that does not exist is created during restore. Use namespace mapping to restore next to the original.</a:t>
              </a:r>
            </a:p>
          </p:txBody>
        </p:sp>
      </p:grpSp>
      <p:grpSp>
        <p:nvGrpSpPr>
          <p:cNvPr id="22" name="anim|rise|0.83"/>
          <p:cNvGrpSpPr/>
          <p:nvPr/>
        </p:nvGrpSpPr>
        <p:grpSpPr>
          <a:xfrm>
            <a:off x="8039100" y="1485900"/>
            <a:ext cx="3581400" cy="2152650"/>
            <a:chOff x="8039100" y="1485900"/>
            <a:chExt cx="3581400" cy="2152650"/>
          </a:xfrm>
        </p:grpSpPr>
        <p:sp>
          <p:nvSpPr>
            <p:cNvPr id="23" name="Rounded Rectangle 22"/>
            <p:cNvSpPr/>
            <p:nvPr/>
          </p:nvSpPr>
          <p:spPr>
            <a:xfrm>
              <a:off x="8039100" y="1485900"/>
              <a:ext cx="3581400" cy="2152650"/>
            </a:xfrm>
            <a:prstGeom prst="roundRect">
              <a:avLst>
                <a:gd name="adj" fmla="val 7964"/>
              </a:avLst>
            </a:prstGeom>
            <a:solidFill>
              <a:srgbClr val="1E3A68"/>
            </a:solidFill>
            <a:ln>
              <a:noFill/>
            </a:ln>
          </p:spPr>
          <p:txBody>
            <a:bodyPr rtlCol="0" anchor="ctr"/>
            <a:lstStyle/>
            <a:p>
              <a:pPr algn="ctr"/>
              <a:endParaRPr/>
            </a:p>
          </p:txBody>
        </p:sp>
        <p:sp>
          <p:nvSpPr>
            <p:cNvPr id="24" name="Oval 23"/>
            <p:cNvSpPr/>
            <p:nvPr/>
          </p:nvSpPr>
          <p:spPr>
            <a:xfrm>
              <a:off x="8267700" y="1695450"/>
              <a:ext cx="495300" cy="495300"/>
            </a:xfrm>
            <a:prstGeom prst="ellipse">
              <a:avLst/>
            </a:prstGeom>
            <a:solidFill>
              <a:srgbClr val="14284B"/>
            </a:solidFill>
            <a:ln>
              <a:noFill/>
            </a:ln>
          </p:spPr>
          <p:txBody>
            <a:bodyPr rtlCol="0" anchor="ctr"/>
            <a:lstStyle/>
            <a:p>
              <a:pPr algn="ctr"/>
              <a:endParaRPr/>
            </a:p>
          </p:txBody>
        </p:sp>
        <p:pic>
          <p:nvPicPr>
            <p:cNvPr id="25" name="Picture 24" descr="pin_teal.png"/>
            <p:cNvPicPr>
              <a:picLocks noChangeAspect="1"/>
            </p:cNvPicPr>
            <p:nvPr/>
          </p:nvPicPr>
          <p:blipFill>
            <a:blip r:embed="rId4"/>
            <a:stretch>
              <a:fillRect/>
            </a:stretch>
          </p:blipFill>
          <p:spPr>
            <a:xfrm>
              <a:off x="8381619" y="1809369"/>
              <a:ext cx="267462" cy="267462"/>
            </a:xfrm>
            <a:prstGeom prst="rect">
              <a:avLst/>
            </a:prstGeom>
          </p:spPr>
        </p:pic>
        <p:sp>
          <p:nvSpPr>
            <p:cNvPr id="26" name="TextBox 25"/>
            <p:cNvSpPr txBox="1"/>
            <p:nvPr/>
          </p:nvSpPr>
          <p:spPr>
            <a:xfrm>
              <a:off x="8896350" y="1695450"/>
              <a:ext cx="2495550" cy="495300"/>
            </a:xfrm>
            <a:prstGeom prst="rect">
              <a:avLst/>
            </a:prstGeom>
            <a:noFill/>
          </p:spPr>
          <p:txBody>
            <a:bodyPr wrap="square" lIns="0" tIns="0" rIns="0" bIns="0" anchor="ctr">
              <a:spAutoFit/>
            </a:bodyPr>
            <a:lstStyle/>
            <a:p>
              <a:pPr algn="l"/>
              <a:r>
                <a:rPr sz="1700" b="1">
                  <a:solidFill>
                    <a:srgbClr val="FFFFFF"/>
                  </a:solidFill>
                  <a:latin typeface="Century Gothic"/>
                </a:rPr>
                <a:t>Same region</a:t>
              </a:r>
            </a:p>
          </p:txBody>
        </p:sp>
        <p:sp>
          <p:nvSpPr>
            <p:cNvPr id="27" name="TextBox 26"/>
            <p:cNvSpPr txBox="1"/>
            <p:nvPr/>
          </p:nvSpPr>
          <p:spPr>
            <a:xfrm>
              <a:off x="8267700" y="2362200"/>
              <a:ext cx="3124200" cy="1162050"/>
            </a:xfrm>
            <a:prstGeom prst="rect">
              <a:avLst/>
            </a:prstGeom>
            <a:noFill/>
          </p:spPr>
          <p:txBody>
            <a:bodyPr wrap="square" lIns="0" tIns="0" rIns="0" bIns="0" anchor="t">
              <a:spAutoFit/>
            </a:bodyPr>
            <a:lstStyle/>
            <a:p>
              <a:pPr algn="l"/>
              <a:r>
                <a:rPr sz="1400" b="0">
                  <a:solidFill>
                    <a:srgbClr val="B0C0D9"/>
                  </a:solidFill>
                  <a:latin typeface="Segoe UI"/>
                </a:rPr>
                <a:t>Backups are operational tier, so restore into the same region. Cross-region restore needs vault tier, which is not part of this setup.</a:t>
              </a:r>
            </a:p>
          </p:txBody>
        </p:sp>
      </p:grpSp>
      <p:grpSp>
        <p:nvGrpSpPr>
          <p:cNvPr id="28" name="anim|rise|0.97"/>
          <p:cNvGrpSpPr/>
          <p:nvPr/>
        </p:nvGrpSpPr>
        <p:grpSpPr>
          <a:xfrm>
            <a:off x="571500" y="3790950"/>
            <a:ext cx="3581400" cy="2152650"/>
            <a:chOff x="571500" y="3790950"/>
            <a:chExt cx="3581400" cy="2152650"/>
          </a:xfrm>
        </p:grpSpPr>
        <p:sp>
          <p:nvSpPr>
            <p:cNvPr id="29" name="Rounded Rectangle 28"/>
            <p:cNvSpPr/>
            <p:nvPr/>
          </p:nvSpPr>
          <p:spPr>
            <a:xfrm>
              <a:off x="571500" y="3790950"/>
              <a:ext cx="3581400" cy="2152650"/>
            </a:xfrm>
            <a:prstGeom prst="roundRect">
              <a:avLst>
                <a:gd name="adj" fmla="val 7964"/>
              </a:avLst>
            </a:prstGeom>
            <a:solidFill>
              <a:srgbClr val="1E3A68"/>
            </a:solidFill>
            <a:ln>
              <a:noFill/>
            </a:ln>
          </p:spPr>
          <p:txBody>
            <a:bodyPr rtlCol="0" anchor="ctr"/>
            <a:lstStyle/>
            <a:p>
              <a:pPr algn="ctr"/>
              <a:endParaRPr/>
            </a:p>
          </p:txBody>
        </p:sp>
        <p:sp>
          <p:nvSpPr>
            <p:cNvPr id="30" name="Oval 29"/>
            <p:cNvSpPr/>
            <p:nvPr/>
          </p:nvSpPr>
          <p:spPr>
            <a:xfrm>
              <a:off x="800100" y="4000500"/>
              <a:ext cx="495300" cy="495300"/>
            </a:xfrm>
            <a:prstGeom prst="ellipse">
              <a:avLst/>
            </a:prstGeom>
            <a:solidFill>
              <a:srgbClr val="14284B"/>
            </a:solidFill>
            <a:ln>
              <a:noFill/>
            </a:ln>
          </p:spPr>
          <p:txBody>
            <a:bodyPr rtlCol="0" anchor="ctr"/>
            <a:lstStyle/>
            <a:p>
              <a:pPr algn="ctr"/>
              <a:endParaRPr/>
            </a:p>
          </p:txBody>
        </p:sp>
        <p:pic>
          <p:nvPicPr>
            <p:cNvPr id="31" name="Picture 30" descr="bars_teal.png"/>
            <p:cNvPicPr>
              <a:picLocks noChangeAspect="1"/>
            </p:cNvPicPr>
            <p:nvPr/>
          </p:nvPicPr>
          <p:blipFill>
            <a:blip r:embed="rId5"/>
            <a:stretch>
              <a:fillRect/>
            </a:stretch>
          </p:blipFill>
          <p:spPr>
            <a:xfrm>
              <a:off x="914019" y="4114419"/>
              <a:ext cx="267462" cy="267462"/>
            </a:xfrm>
            <a:prstGeom prst="rect">
              <a:avLst/>
            </a:prstGeom>
          </p:spPr>
        </p:pic>
        <p:sp>
          <p:nvSpPr>
            <p:cNvPr id="32" name="TextBox 31"/>
            <p:cNvSpPr txBox="1"/>
            <p:nvPr/>
          </p:nvSpPr>
          <p:spPr>
            <a:xfrm>
              <a:off x="1428750" y="4000500"/>
              <a:ext cx="2495550" cy="495300"/>
            </a:xfrm>
            <a:prstGeom prst="rect">
              <a:avLst/>
            </a:prstGeom>
            <a:noFill/>
          </p:spPr>
          <p:txBody>
            <a:bodyPr wrap="square" lIns="0" tIns="0" rIns="0" bIns="0" anchor="ctr">
              <a:spAutoFit/>
            </a:bodyPr>
            <a:lstStyle/>
            <a:p>
              <a:pPr algn="l"/>
              <a:r>
                <a:rPr sz="1700" b="1">
                  <a:solidFill>
                    <a:srgbClr val="FFFFFF"/>
                  </a:solidFill>
                  <a:latin typeface="Century Gothic"/>
                </a:rPr>
                <a:t>No auto scaling</a:t>
              </a:r>
            </a:p>
          </p:txBody>
        </p:sp>
        <p:sp>
          <p:nvSpPr>
            <p:cNvPr id="33" name="TextBox 32"/>
            <p:cNvSpPr txBox="1"/>
            <p:nvPr/>
          </p:nvSpPr>
          <p:spPr>
            <a:xfrm>
              <a:off x="800100" y="4667250"/>
              <a:ext cx="3124200" cy="1162050"/>
            </a:xfrm>
            <a:prstGeom prst="rect">
              <a:avLst/>
            </a:prstGeom>
            <a:noFill/>
          </p:spPr>
          <p:txBody>
            <a:bodyPr wrap="square" lIns="0" tIns="0" rIns="0" bIns="0" anchor="t">
              <a:spAutoFit/>
            </a:bodyPr>
            <a:lstStyle/>
            <a:p>
              <a:pPr algn="l"/>
              <a:r>
                <a:rPr sz="1400" b="0">
                  <a:solidFill>
                    <a:srgbClr val="B0C0D9"/>
                  </a:solidFill>
                  <a:latin typeface="Segoe UI"/>
                </a:rPr>
                <a:t>Restore does not add nodes. Make sure the target cluster has enough capacity.</a:t>
              </a:r>
            </a:p>
          </p:txBody>
        </p:sp>
      </p:grpSp>
      <p:grpSp>
        <p:nvGrpSpPr>
          <p:cNvPr id="34" name="anim|rise|1.11"/>
          <p:cNvGrpSpPr/>
          <p:nvPr/>
        </p:nvGrpSpPr>
        <p:grpSpPr>
          <a:xfrm>
            <a:off x="4305300" y="3790950"/>
            <a:ext cx="3581400" cy="2152650"/>
            <a:chOff x="4305300" y="3790950"/>
            <a:chExt cx="3581400" cy="2152650"/>
          </a:xfrm>
        </p:grpSpPr>
        <p:sp>
          <p:nvSpPr>
            <p:cNvPr id="35" name="Rounded Rectangle 34"/>
            <p:cNvSpPr/>
            <p:nvPr/>
          </p:nvSpPr>
          <p:spPr>
            <a:xfrm>
              <a:off x="4305300" y="3790950"/>
              <a:ext cx="3581400" cy="2152650"/>
            </a:xfrm>
            <a:prstGeom prst="roundRect">
              <a:avLst>
                <a:gd name="adj" fmla="val 7964"/>
              </a:avLst>
            </a:prstGeom>
            <a:solidFill>
              <a:srgbClr val="1E3A68"/>
            </a:solidFill>
            <a:ln w="19050">
              <a:solidFill>
                <a:srgbClr val="FFB938"/>
              </a:solidFill>
            </a:ln>
          </p:spPr>
          <p:txBody>
            <a:bodyPr rtlCol="0" anchor="ctr"/>
            <a:lstStyle/>
            <a:p>
              <a:pPr algn="ctr"/>
              <a:endParaRPr/>
            </a:p>
          </p:txBody>
        </p:sp>
        <p:sp>
          <p:nvSpPr>
            <p:cNvPr id="36" name="Oval 35"/>
            <p:cNvSpPr/>
            <p:nvPr/>
          </p:nvSpPr>
          <p:spPr>
            <a:xfrm>
              <a:off x="4533900" y="4000500"/>
              <a:ext cx="495300" cy="495300"/>
            </a:xfrm>
            <a:prstGeom prst="ellipse">
              <a:avLst/>
            </a:prstGeom>
            <a:solidFill>
              <a:srgbClr val="14284B"/>
            </a:solidFill>
            <a:ln>
              <a:noFill/>
            </a:ln>
          </p:spPr>
          <p:txBody>
            <a:bodyPr rtlCol="0" anchor="ctr"/>
            <a:lstStyle/>
            <a:p>
              <a:pPr algn="ctr"/>
              <a:endParaRPr/>
            </a:p>
          </p:txBody>
        </p:sp>
        <p:pic>
          <p:nvPicPr>
            <p:cNvPr id="37" name="Picture 36" descr="warning_amber.png"/>
            <p:cNvPicPr>
              <a:picLocks noChangeAspect="1"/>
            </p:cNvPicPr>
            <p:nvPr/>
          </p:nvPicPr>
          <p:blipFill>
            <a:blip r:embed="rId6"/>
            <a:stretch>
              <a:fillRect/>
            </a:stretch>
          </p:blipFill>
          <p:spPr>
            <a:xfrm>
              <a:off x="4647819" y="4114419"/>
              <a:ext cx="267462" cy="267462"/>
            </a:xfrm>
            <a:prstGeom prst="rect">
              <a:avLst/>
            </a:prstGeom>
          </p:spPr>
        </p:pic>
        <p:sp>
          <p:nvSpPr>
            <p:cNvPr id="38" name="TextBox 37"/>
            <p:cNvSpPr txBox="1"/>
            <p:nvPr/>
          </p:nvSpPr>
          <p:spPr>
            <a:xfrm>
              <a:off x="5162550" y="4000500"/>
              <a:ext cx="2495550" cy="495300"/>
            </a:xfrm>
            <a:prstGeom prst="rect">
              <a:avLst/>
            </a:prstGeom>
            <a:noFill/>
          </p:spPr>
          <p:txBody>
            <a:bodyPr wrap="square" lIns="0" tIns="0" rIns="0" bIns="0" anchor="ctr">
              <a:spAutoFit/>
            </a:bodyPr>
            <a:lstStyle/>
            <a:p>
              <a:pPr algn="l"/>
              <a:r>
                <a:rPr sz="1700" b="1">
                  <a:solidFill>
                    <a:srgbClr val="FFFFFF"/>
                  </a:solidFill>
                  <a:latin typeface="Century Gothic"/>
                </a:rPr>
                <a:t>Same names clash</a:t>
              </a:r>
            </a:p>
          </p:txBody>
        </p:sp>
        <p:sp>
          <p:nvSpPr>
            <p:cNvPr id="39" name="TextBox 38"/>
            <p:cNvSpPr txBox="1"/>
            <p:nvPr/>
          </p:nvSpPr>
          <p:spPr>
            <a:xfrm>
              <a:off x="4533900" y="4667250"/>
              <a:ext cx="3124200" cy="1162050"/>
            </a:xfrm>
            <a:prstGeom prst="rect">
              <a:avLst/>
            </a:prstGeom>
            <a:noFill/>
          </p:spPr>
          <p:txBody>
            <a:bodyPr wrap="square" lIns="0" tIns="0" rIns="0" bIns="0" anchor="t">
              <a:spAutoFit/>
            </a:bodyPr>
            <a:lstStyle/>
            <a:p>
              <a:pPr algn="l"/>
              <a:r>
                <a:rPr sz="1400" b="0">
                  <a:solidFill>
                    <a:srgbClr val="B0C0D9"/>
                  </a:solidFill>
                  <a:latin typeface="Segoe UI"/>
                </a:rPr>
                <a:t>Resources with the same name are skipped by default. Choose Patch if you want them updated.</a:t>
              </a:r>
            </a:p>
          </p:txBody>
        </p:sp>
      </p:grpSp>
      <p:grpSp>
        <p:nvGrpSpPr>
          <p:cNvPr id="40" name="anim|rise|1.25"/>
          <p:cNvGrpSpPr/>
          <p:nvPr/>
        </p:nvGrpSpPr>
        <p:grpSpPr>
          <a:xfrm>
            <a:off x="8039100" y="3790950"/>
            <a:ext cx="3581400" cy="2152650"/>
            <a:chOff x="8039100" y="3790950"/>
            <a:chExt cx="3581400" cy="2152650"/>
          </a:xfrm>
        </p:grpSpPr>
        <p:sp>
          <p:nvSpPr>
            <p:cNvPr id="41" name="Rounded Rectangle 40"/>
            <p:cNvSpPr/>
            <p:nvPr/>
          </p:nvSpPr>
          <p:spPr>
            <a:xfrm>
              <a:off x="8039100" y="3790950"/>
              <a:ext cx="3581400" cy="2152650"/>
            </a:xfrm>
            <a:prstGeom prst="roundRect">
              <a:avLst>
                <a:gd name="adj" fmla="val 7964"/>
              </a:avLst>
            </a:prstGeom>
            <a:solidFill>
              <a:srgbClr val="1E3A68"/>
            </a:solidFill>
            <a:ln>
              <a:noFill/>
            </a:ln>
          </p:spPr>
          <p:txBody>
            <a:bodyPr rtlCol="0" anchor="ctr"/>
            <a:lstStyle/>
            <a:p>
              <a:pPr algn="ctr"/>
              <a:endParaRPr/>
            </a:p>
          </p:txBody>
        </p:sp>
        <p:sp>
          <p:nvSpPr>
            <p:cNvPr id="42" name="Oval 41"/>
            <p:cNvSpPr/>
            <p:nvPr/>
          </p:nvSpPr>
          <p:spPr>
            <a:xfrm>
              <a:off x="8267700" y="4000500"/>
              <a:ext cx="495300" cy="495300"/>
            </a:xfrm>
            <a:prstGeom prst="ellipse">
              <a:avLst/>
            </a:prstGeom>
            <a:solidFill>
              <a:srgbClr val="14284B"/>
            </a:solidFill>
            <a:ln>
              <a:noFill/>
            </a:ln>
          </p:spPr>
          <p:txBody>
            <a:bodyPr rtlCol="0" anchor="ctr"/>
            <a:lstStyle/>
            <a:p>
              <a:pPr algn="ctr"/>
              <a:endParaRPr/>
            </a:p>
          </p:txBody>
        </p:sp>
        <p:pic>
          <p:nvPicPr>
            <p:cNvPr id="43" name="Picture 42" descr="check_teal.png"/>
            <p:cNvPicPr>
              <a:picLocks noChangeAspect="1"/>
            </p:cNvPicPr>
            <p:nvPr/>
          </p:nvPicPr>
          <p:blipFill>
            <a:blip r:embed="rId7"/>
            <a:stretch>
              <a:fillRect/>
            </a:stretch>
          </p:blipFill>
          <p:spPr>
            <a:xfrm>
              <a:off x="8381619" y="4114419"/>
              <a:ext cx="267462" cy="267462"/>
            </a:xfrm>
            <a:prstGeom prst="rect">
              <a:avLst/>
            </a:prstGeom>
          </p:spPr>
        </p:pic>
        <p:sp>
          <p:nvSpPr>
            <p:cNvPr id="44" name="TextBox 43"/>
            <p:cNvSpPr txBox="1"/>
            <p:nvPr/>
          </p:nvSpPr>
          <p:spPr>
            <a:xfrm>
              <a:off x="8896350" y="4000500"/>
              <a:ext cx="2495550" cy="495300"/>
            </a:xfrm>
            <a:prstGeom prst="rect">
              <a:avLst/>
            </a:prstGeom>
            <a:noFill/>
          </p:spPr>
          <p:txBody>
            <a:bodyPr wrap="square" lIns="0" tIns="0" rIns="0" bIns="0" anchor="ctr">
              <a:spAutoFit/>
            </a:bodyPr>
            <a:lstStyle/>
            <a:p>
              <a:pPr algn="l"/>
              <a:r>
                <a:rPr sz="1700" b="1">
                  <a:solidFill>
                    <a:srgbClr val="FFFFFF"/>
                  </a:solidFill>
                  <a:latin typeface="Century Gothic"/>
                </a:rPr>
                <a:t>Prerequisites</a:t>
              </a:r>
            </a:p>
          </p:txBody>
        </p:sp>
        <p:sp>
          <p:nvSpPr>
            <p:cNvPr id="45" name="TextBox 44"/>
            <p:cNvSpPr txBox="1"/>
            <p:nvPr/>
          </p:nvSpPr>
          <p:spPr>
            <a:xfrm>
              <a:off x="8267700" y="4667250"/>
              <a:ext cx="3124200" cy="1162050"/>
            </a:xfrm>
            <a:prstGeom prst="rect">
              <a:avLst/>
            </a:prstGeom>
            <a:noFill/>
          </p:spPr>
          <p:txBody>
            <a:bodyPr wrap="square" lIns="0" tIns="0" rIns="0" bIns="0" anchor="t">
              <a:spAutoFit/>
            </a:bodyPr>
            <a:lstStyle/>
            <a:p>
              <a:pPr algn="l"/>
              <a:r>
                <a:rPr sz="1400" b="0">
                  <a:solidFill>
                    <a:srgbClr val="B0C0D9"/>
                  </a:solidFill>
                  <a:latin typeface="Segoe UI"/>
                </a:rPr>
                <a:t>The Backup extension must be installed on the target cluster and Trusted Access enabled.</a:t>
              </a:r>
            </a:p>
          </p:txBody>
        </p:sp>
      </p:grpSp>
    </p:spTree>
  </p:cSld>
  <p:clrMapOvr>
    <a:masterClrMapping/>
  </p:clrMapOvr>
  <mc:AlternateContent xmlns:mc="http://schemas.openxmlformats.org/markup-compatibility/2006">
    <mc:Choice xmlns:p14="http://schemas.microsoft.com/office/powerpoint/2010/main" Requires="p14">
      <p:transition spd="slow" p14:dur="800">
        <p:fad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5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50"/>
                                        <p:tgtEl>
                                          <p:spTgt spid="3"/>
                                        </p:tgtEl>
                                      </p:cBhvr>
                                    </p:animEffect>
                                  </p:childTnLst>
                                </p:cTn>
                              </p:par>
                              <p:par>
                                <p:cTn id="8" presetID="22" presetClass="entr" presetSubtype="8" fill="hold" grpId="0" nodeType="withEffect">
                                  <p:stCondLst>
                                    <p:cond delay="100"/>
                                  </p:stCondLst>
                                  <p:childTnLst>
                                    <p:set>
                                      <p:cBhvr>
                                        <p:cTn id="9" dur="1" fill="hold">
                                          <p:stCondLst>
                                            <p:cond delay="0"/>
                                          </p:stCondLst>
                                        </p:cTn>
                                        <p:tgtEl>
                                          <p:spTgt spid="6"/>
                                        </p:tgtEl>
                                        <p:attrNameLst>
                                          <p:attrName>style.visibility</p:attrName>
                                        </p:attrNameLst>
                                      </p:cBhvr>
                                      <p:to>
                                        <p:strVal val="visible"/>
                                      </p:to>
                                    </p:set>
                                    <p:animEffect transition="in" filter="wipe(left)">
                                      <p:cBhvr>
                                        <p:cTn id="10" dur="700"/>
                                        <p:tgtEl>
                                          <p:spTgt spid="6"/>
                                        </p:tgtEl>
                                      </p:cBhvr>
                                    </p:animEffect>
                                  </p:childTnLst>
                                </p:cTn>
                              </p:par>
                              <p:par>
                                <p:cTn id="11" presetID="10" presetClass="entr" presetSubtype="0" fill="hold" grpId="0" nodeType="withEffect">
                                  <p:stCondLst>
                                    <p:cond delay="45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50"/>
                                        <p:tgtEl>
                                          <p:spTgt spid="7"/>
                                        </p:tgtEl>
                                      </p:cBhvr>
                                    </p:animEffect>
                                  </p:childTnLst>
                                </p:cTn>
                              </p:par>
                              <p:par>
                                <p:cTn id="14" presetID="37" presetClass="entr" presetSubtype="0" fill="hold" nodeType="withEffect">
                                  <p:stCondLst>
                                    <p:cond delay="55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50"/>
                                        <p:tgtEl>
                                          <p:spTgt spid="10"/>
                                        </p:tgtEl>
                                      </p:cBhvr>
                                    </p:animEffect>
                                    <p:anim calcmode="lin" valueType="num">
                                      <p:cBhvr>
                                        <p:cTn id="17" dur="550" fill="hold"/>
                                        <p:tgtEl>
                                          <p:spTgt spid="10"/>
                                        </p:tgtEl>
                                        <p:attrNameLst>
                                          <p:attrName>ppt_x</p:attrName>
                                        </p:attrNameLst>
                                      </p:cBhvr>
                                      <p:tavLst>
                                        <p:tav tm="0">
                                          <p:val>
                                            <p:strVal val="#ppt_x"/>
                                          </p:val>
                                        </p:tav>
                                        <p:tav tm="100000">
                                          <p:val>
                                            <p:strVal val="#ppt_x"/>
                                          </p:val>
                                        </p:tav>
                                      </p:tavLst>
                                    </p:anim>
                                    <p:anim calcmode="lin" valueType="num">
                                      <p:cBhvr>
                                        <p:cTn id="18" dur="495" decel="100000" fill="hold"/>
                                        <p:tgtEl>
                                          <p:spTgt spid="10"/>
                                        </p:tgtEl>
                                        <p:attrNameLst>
                                          <p:attrName>ppt_y</p:attrName>
                                        </p:attrNameLst>
                                      </p:cBhvr>
                                      <p:tavLst>
                                        <p:tav tm="0">
                                          <p:val>
                                            <p:strVal val="#ppt_y+1"/>
                                          </p:val>
                                        </p:tav>
                                        <p:tav tm="100000">
                                          <p:val>
                                            <p:strVal val="#ppt_y-.03"/>
                                          </p:val>
                                        </p:tav>
                                      </p:tavLst>
                                    </p:anim>
                                    <p:anim calcmode="lin" valueType="num">
                                      <p:cBhvr>
                                        <p:cTn id="19" dur="55" accel="100000" fill="hold">
                                          <p:stCondLst>
                                            <p:cond delay="495"/>
                                          </p:stCondLst>
                                        </p:cTn>
                                        <p:tgtEl>
                                          <p:spTgt spid="10"/>
                                        </p:tgtEl>
                                        <p:attrNameLst>
                                          <p:attrName>ppt_y</p:attrName>
                                        </p:attrNameLst>
                                      </p:cBhvr>
                                      <p:tavLst>
                                        <p:tav tm="0">
                                          <p:val>
                                            <p:strVal val="#ppt_y-.03"/>
                                          </p:val>
                                        </p:tav>
                                        <p:tav tm="100000">
                                          <p:val>
                                            <p:strVal val="#ppt_y"/>
                                          </p:val>
                                        </p:tav>
                                      </p:tavLst>
                                    </p:anim>
                                  </p:childTnLst>
                                </p:cTn>
                              </p:par>
                              <p:par>
                                <p:cTn id="20" presetID="37" presetClass="entr" presetSubtype="0" fill="hold" nodeType="withEffect">
                                  <p:stCondLst>
                                    <p:cond delay="690"/>
                                  </p:stCondLst>
                                  <p:childTnLst>
                                    <p:set>
                                      <p:cBhvr>
                                        <p:cTn id="21" dur="1" fill="hold">
                                          <p:stCondLst>
                                            <p:cond delay="0"/>
                                          </p:stCondLst>
                                        </p:cTn>
                                        <p:tgtEl>
                                          <p:spTgt spid="16"/>
                                        </p:tgtEl>
                                        <p:attrNameLst>
                                          <p:attrName>style.visibility</p:attrName>
                                        </p:attrNameLst>
                                      </p:cBhvr>
                                      <p:to>
                                        <p:strVal val="visible"/>
                                      </p:to>
                                    </p:set>
                                    <p:animEffect transition="in" filter="fade">
                                      <p:cBhvr>
                                        <p:cTn id="22" dur="550"/>
                                        <p:tgtEl>
                                          <p:spTgt spid="16"/>
                                        </p:tgtEl>
                                      </p:cBhvr>
                                    </p:animEffect>
                                    <p:anim calcmode="lin" valueType="num">
                                      <p:cBhvr>
                                        <p:cTn id="23" dur="550" fill="hold"/>
                                        <p:tgtEl>
                                          <p:spTgt spid="16"/>
                                        </p:tgtEl>
                                        <p:attrNameLst>
                                          <p:attrName>ppt_x</p:attrName>
                                        </p:attrNameLst>
                                      </p:cBhvr>
                                      <p:tavLst>
                                        <p:tav tm="0">
                                          <p:val>
                                            <p:strVal val="#ppt_x"/>
                                          </p:val>
                                        </p:tav>
                                        <p:tav tm="100000">
                                          <p:val>
                                            <p:strVal val="#ppt_x"/>
                                          </p:val>
                                        </p:tav>
                                      </p:tavLst>
                                    </p:anim>
                                    <p:anim calcmode="lin" valueType="num">
                                      <p:cBhvr>
                                        <p:cTn id="24" dur="495" decel="100000" fill="hold"/>
                                        <p:tgtEl>
                                          <p:spTgt spid="16"/>
                                        </p:tgtEl>
                                        <p:attrNameLst>
                                          <p:attrName>ppt_y</p:attrName>
                                        </p:attrNameLst>
                                      </p:cBhvr>
                                      <p:tavLst>
                                        <p:tav tm="0">
                                          <p:val>
                                            <p:strVal val="#ppt_y+1"/>
                                          </p:val>
                                        </p:tav>
                                        <p:tav tm="100000">
                                          <p:val>
                                            <p:strVal val="#ppt_y-.03"/>
                                          </p:val>
                                        </p:tav>
                                      </p:tavLst>
                                    </p:anim>
                                    <p:anim calcmode="lin" valueType="num">
                                      <p:cBhvr>
                                        <p:cTn id="25" dur="55" accel="100000" fill="hold">
                                          <p:stCondLst>
                                            <p:cond delay="495"/>
                                          </p:stCondLst>
                                        </p:cTn>
                                        <p:tgtEl>
                                          <p:spTgt spid="16"/>
                                        </p:tgtEl>
                                        <p:attrNameLst>
                                          <p:attrName>ppt_y</p:attrName>
                                        </p:attrNameLst>
                                      </p:cBhvr>
                                      <p:tavLst>
                                        <p:tav tm="0">
                                          <p:val>
                                            <p:strVal val="#ppt_y-.03"/>
                                          </p:val>
                                        </p:tav>
                                        <p:tav tm="100000">
                                          <p:val>
                                            <p:strVal val="#ppt_y"/>
                                          </p:val>
                                        </p:tav>
                                      </p:tavLst>
                                    </p:anim>
                                  </p:childTnLst>
                                </p:cTn>
                              </p:par>
                              <p:par>
                                <p:cTn id="26" presetID="37" presetClass="entr" presetSubtype="0" fill="hold" nodeType="withEffect">
                                  <p:stCondLst>
                                    <p:cond delay="830"/>
                                  </p:stCondLst>
                                  <p:childTnLst>
                                    <p:set>
                                      <p:cBhvr>
                                        <p:cTn id="27" dur="1" fill="hold">
                                          <p:stCondLst>
                                            <p:cond delay="0"/>
                                          </p:stCondLst>
                                        </p:cTn>
                                        <p:tgtEl>
                                          <p:spTgt spid="22"/>
                                        </p:tgtEl>
                                        <p:attrNameLst>
                                          <p:attrName>style.visibility</p:attrName>
                                        </p:attrNameLst>
                                      </p:cBhvr>
                                      <p:to>
                                        <p:strVal val="visible"/>
                                      </p:to>
                                    </p:set>
                                    <p:animEffect transition="in" filter="fade">
                                      <p:cBhvr>
                                        <p:cTn id="28" dur="550"/>
                                        <p:tgtEl>
                                          <p:spTgt spid="22"/>
                                        </p:tgtEl>
                                      </p:cBhvr>
                                    </p:animEffect>
                                    <p:anim calcmode="lin" valueType="num">
                                      <p:cBhvr>
                                        <p:cTn id="29" dur="550" fill="hold"/>
                                        <p:tgtEl>
                                          <p:spTgt spid="22"/>
                                        </p:tgtEl>
                                        <p:attrNameLst>
                                          <p:attrName>ppt_x</p:attrName>
                                        </p:attrNameLst>
                                      </p:cBhvr>
                                      <p:tavLst>
                                        <p:tav tm="0">
                                          <p:val>
                                            <p:strVal val="#ppt_x"/>
                                          </p:val>
                                        </p:tav>
                                        <p:tav tm="100000">
                                          <p:val>
                                            <p:strVal val="#ppt_x"/>
                                          </p:val>
                                        </p:tav>
                                      </p:tavLst>
                                    </p:anim>
                                    <p:anim calcmode="lin" valueType="num">
                                      <p:cBhvr>
                                        <p:cTn id="30" dur="495" decel="100000" fill="hold"/>
                                        <p:tgtEl>
                                          <p:spTgt spid="22"/>
                                        </p:tgtEl>
                                        <p:attrNameLst>
                                          <p:attrName>ppt_y</p:attrName>
                                        </p:attrNameLst>
                                      </p:cBhvr>
                                      <p:tavLst>
                                        <p:tav tm="0">
                                          <p:val>
                                            <p:strVal val="#ppt_y+1"/>
                                          </p:val>
                                        </p:tav>
                                        <p:tav tm="100000">
                                          <p:val>
                                            <p:strVal val="#ppt_y-.03"/>
                                          </p:val>
                                        </p:tav>
                                      </p:tavLst>
                                    </p:anim>
                                    <p:anim calcmode="lin" valueType="num">
                                      <p:cBhvr>
                                        <p:cTn id="31" dur="55" accel="100000" fill="hold">
                                          <p:stCondLst>
                                            <p:cond delay="495"/>
                                          </p:stCondLst>
                                        </p:cTn>
                                        <p:tgtEl>
                                          <p:spTgt spid="22"/>
                                        </p:tgtEl>
                                        <p:attrNameLst>
                                          <p:attrName>ppt_y</p:attrName>
                                        </p:attrNameLst>
                                      </p:cBhvr>
                                      <p:tavLst>
                                        <p:tav tm="0">
                                          <p:val>
                                            <p:strVal val="#ppt_y-.03"/>
                                          </p:val>
                                        </p:tav>
                                        <p:tav tm="100000">
                                          <p:val>
                                            <p:strVal val="#ppt_y"/>
                                          </p:val>
                                        </p:tav>
                                      </p:tavLst>
                                    </p:anim>
                                  </p:childTnLst>
                                </p:cTn>
                              </p:par>
                              <p:par>
                                <p:cTn id="32" presetID="37" presetClass="entr" presetSubtype="0" fill="hold" nodeType="withEffect">
                                  <p:stCondLst>
                                    <p:cond delay="970"/>
                                  </p:stCondLst>
                                  <p:childTnLst>
                                    <p:set>
                                      <p:cBhvr>
                                        <p:cTn id="33" dur="1" fill="hold">
                                          <p:stCondLst>
                                            <p:cond delay="0"/>
                                          </p:stCondLst>
                                        </p:cTn>
                                        <p:tgtEl>
                                          <p:spTgt spid="28"/>
                                        </p:tgtEl>
                                        <p:attrNameLst>
                                          <p:attrName>style.visibility</p:attrName>
                                        </p:attrNameLst>
                                      </p:cBhvr>
                                      <p:to>
                                        <p:strVal val="visible"/>
                                      </p:to>
                                    </p:set>
                                    <p:animEffect transition="in" filter="fade">
                                      <p:cBhvr>
                                        <p:cTn id="34" dur="550"/>
                                        <p:tgtEl>
                                          <p:spTgt spid="28"/>
                                        </p:tgtEl>
                                      </p:cBhvr>
                                    </p:animEffect>
                                    <p:anim calcmode="lin" valueType="num">
                                      <p:cBhvr>
                                        <p:cTn id="35" dur="550" fill="hold"/>
                                        <p:tgtEl>
                                          <p:spTgt spid="28"/>
                                        </p:tgtEl>
                                        <p:attrNameLst>
                                          <p:attrName>ppt_x</p:attrName>
                                        </p:attrNameLst>
                                      </p:cBhvr>
                                      <p:tavLst>
                                        <p:tav tm="0">
                                          <p:val>
                                            <p:strVal val="#ppt_x"/>
                                          </p:val>
                                        </p:tav>
                                        <p:tav tm="100000">
                                          <p:val>
                                            <p:strVal val="#ppt_x"/>
                                          </p:val>
                                        </p:tav>
                                      </p:tavLst>
                                    </p:anim>
                                    <p:anim calcmode="lin" valueType="num">
                                      <p:cBhvr>
                                        <p:cTn id="36" dur="495" decel="100000" fill="hold"/>
                                        <p:tgtEl>
                                          <p:spTgt spid="28"/>
                                        </p:tgtEl>
                                        <p:attrNameLst>
                                          <p:attrName>ppt_y</p:attrName>
                                        </p:attrNameLst>
                                      </p:cBhvr>
                                      <p:tavLst>
                                        <p:tav tm="0">
                                          <p:val>
                                            <p:strVal val="#ppt_y+1"/>
                                          </p:val>
                                        </p:tav>
                                        <p:tav tm="100000">
                                          <p:val>
                                            <p:strVal val="#ppt_y-.03"/>
                                          </p:val>
                                        </p:tav>
                                      </p:tavLst>
                                    </p:anim>
                                    <p:anim calcmode="lin" valueType="num">
                                      <p:cBhvr>
                                        <p:cTn id="37" dur="55" accel="100000" fill="hold">
                                          <p:stCondLst>
                                            <p:cond delay="495"/>
                                          </p:stCondLst>
                                        </p:cTn>
                                        <p:tgtEl>
                                          <p:spTgt spid="28"/>
                                        </p:tgtEl>
                                        <p:attrNameLst>
                                          <p:attrName>ppt_y</p:attrName>
                                        </p:attrNameLst>
                                      </p:cBhvr>
                                      <p:tavLst>
                                        <p:tav tm="0">
                                          <p:val>
                                            <p:strVal val="#ppt_y-.03"/>
                                          </p:val>
                                        </p:tav>
                                        <p:tav tm="100000">
                                          <p:val>
                                            <p:strVal val="#ppt_y"/>
                                          </p:val>
                                        </p:tav>
                                      </p:tavLst>
                                    </p:anim>
                                  </p:childTnLst>
                                </p:cTn>
                              </p:par>
                              <p:par>
                                <p:cTn id="38" presetID="37" presetClass="entr" presetSubtype="0" fill="hold" nodeType="withEffect">
                                  <p:stCondLst>
                                    <p:cond delay="1110"/>
                                  </p:stCondLst>
                                  <p:childTnLst>
                                    <p:set>
                                      <p:cBhvr>
                                        <p:cTn id="39" dur="1" fill="hold">
                                          <p:stCondLst>
                                            <p:cond delay="0"/>
                                          </p:stCondLst>
                                        </p:cTn>
                                        <p:tgtEl>
                                          <p:spTgt spid="34"/>
                                        </p:tgtEl>
                                        <p:attrNameLst>
                                          <p:attrName>style.visibility</p:attrName>
                                        </p:attrNameLst>
                                      </p:cBhvr>
                                      <p:to>
                                        <p:strVal val="visible"/>
                                      </p:to>
                                    </p:set>
                                    <p:animEffect transition="in" filter="fade">
                                      <p:cBhvr>
                                        <p:cTn id="40" dur="550"/>
                                        <p:tgtEl>
                                          <p:spTgt spid="34"/>
                                        </p:tgtEl>
                                      </p:cBhvr>
                                    </p:animEffect>
                                    <p:anim calcmode="lin" valueType="num">
                                      <p:cBhvr>
                                        <p:cTn id="41" dur="550" fill="hold"/>
                                        <p:tgtEl>
                                          <p:spTgt spid="34"/>
                                        </p:tgtEl>
                                        <p:attrNameLst>
                                          <p:attrName>ppt_x</p:attrName>
                                        </p:attrNameLst>
                                      </p:cBhvr>
                                      <p:tavLst>
                                        <p:tav tm="0">
                                          <p:val>
                                            <p:strVal val="#ppt_x"/>
                                          </p:val>
                                        </p:tav>
                                        <p:tav tm="100000">
                                          <p:val>
                                            <p:strVal val="#ppt_x"/>
                                          </p:val>
                                        </p:tav>
                                      </p:tavLst>
                                    </p:anim>
                                    <p:anim calcmode="lin" valueType="num">
                                      <p:cBhvr>
                                        <p:cTn id="42" dur="495" decel="100000" fill="hold"/>
                                        <p:tgtEl>
                                          <p:spTgt spid="34"/>
                                        </p:tgtEl>
                                        <p:attrNameLst>
                                          <p:attrName>ppt_y</p:attrName>
                                        </p:attrNameLst>
                                      </p:cBhvr>
                                      <p:tavLst>
                                        <p:tav tm="0">
                                          <p:val>
                                            <p:strVal val="#ppt_y+1"/>
                                          </p:val>
                                        </p:tav>
                                        <p:tav tm="100000">
                                          <p:val>
                                            <p:strVal val="#ppt_y-.03"/>
                                          </p:val>
                                        </p:tav>
                                      </p:tavLst>
                                    </p:anim>
                                    <p:anim calcmode="lin" valueType="num">
                                      <p:cBhvr>
                                        <p:cTn id="43" dur="55" accel="100000" fill="hold">
                                          <p:stCondLst>
                                            <p:cond delay="495"/>
                                          </p:stCondLst>
                                        </p:cTn>
                                        <p:tgtEl>
                                          <p:spTgt spid="34"/>
                                        </p:tgtEl>
                                        <p:attrNameLst>
                                          <p:attrName>ppt_y</p:attrName>
                                        </p:attrNameLst>
                                      </p:cBhvr>
                                      <p:tavLst>
                                        <p:tav tm="0">
                                          <p:val>
                                            <p:strVal val="#ppt_y-.03"/>
                                          </p:val>
                                        </p:tav>
                                        <p:tav tm="100000">
                                          <p:val>
                                            <p:strVal val="#ppt_y"/>
                                          </p:val>
                                        </p:tav>
                                      </p:tavLst>
                                    </p:anim>
                                  </p:childTnLst>
                                </p:cTn>
                              </p:par>
                              <p:par>
                                <p:cTn id="44" presetID="37" presetClass="entr" presetSubtype="0" fill="hold" nodeType="withEffect">
                                  <p:stCondLst>
                                    <p:cond delay="1250"/>
                                  </p:stCondLst>
                                  <p:childTnLst>
                                    <p:set>
                                      <p:cBhvr>
                                        <p:cTn id="45" dur="1" fill="hold">
                                          <p:stCondLst>
                                            <p:cond delay="0"/>
                                          </p:stCondLst>
                                        </p:cTn>
                                        <p:tgtEl>
                                          <p:spTgt spid="40"/>
                                        </p:tgtEl>
                                        <p:attrNameLst>
                                          <p:attrName>style.visibility</p:attrName>
                                        </p:attrNameLst>
                                      </p:cBhvr>
                                      <p:to>
                                        <p:strVal val="visible"/>
                                      </p:to>
                                    </p:set>
                                    <p:animEffect transition="in" filter="fade">
                                      <p:cBhvr>
                                        <p:cTn id="46" dur="550"/>
                                        <p:tgtEl>
                                          <p:spTgt spid="40"/>
                                        </p:tgtEl>
                                      </p:cBhvr>
                                    </p:animEffect>
                                    <p:anim calcmode="lin" valueType="num">
                                      <p:cBhvr>
                                        <p:cTn id="47" dur="550" fill="hold"/>
                                        <p:tgtEl>
                                          <p:spTgt spid="40"/>
                                        </p:tgtEl>
                                        <p:attrNameLst>
                                          <p:attrName>ppt_x</p:attrName>
                                        </p:attrNameLst>
                                      </p:cBhvr>
                                      <p:tavLst>
                                        <p:tav tm="0">
                                          <p:val>
                                            <p:strVal val="#ppt_x"/>
                                          </p:val>
                                        </p:tav>
                                        <p:tav tm="100000">
                                          <p:val>
                                            <p:strVal val="#ppt_x"/>
                                          </p:val>
                                        </p:tav>
                                      </p:tavLst>
                                    </p:anim>
                                    <p:anim calcmode="lin" valueType="num">
                                      <p:cBhvr>
                                        <p:cTn id="48" dur="495" decel="100000" fill="hold"/>
                                        <p:tgtEl>
                                          <p:spTgt spid="40"/>
                                        </p:tgtEl>
                                        <p:attrNameLst>
                                          <p:attrName>ppt_y</p:attrName>
                                        </p:attrNameLst>
                                      </p:cBhvr>
                                      <p:tavLst>
                                        <p:tav tm="0">
                                          <p:val>
                                            <p:strVal val="#ppt_y+1"/>
                                          </p:val>
                                        </p:tav>
                                        <p:tav tm="100000">
                                          <p:val>
                                            <p:strVal val="#ppt_y-.03"/>
                                          </p:val>
                                        </p:tav>
                                      </p:tavLst>
                                    </p:anim>
                                    <p:anim calcmode="lin" valueType="num">
                                      <p:cBhvr>
                                        <p:cTn id="49" dur="55" accel="100000" fill="hold">
                                          <p:stCondLst>
                                            <p:cond delay="495"/>
                                          </p:stCondLst>
                                        </p:cTn>
                                        <p:tgtEl>
                                          <p:spTgt spid="40"/>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14284B"/>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57150"/>
          </a:xfrm>
          <a:prstGeom prst="rect">
            <a:avLst/>
          </a:prstGeom>
          <a:solidFill>
            <a:srgbClr val="59BEC9"/>
          </a:solidFill>
          <a:ln>
            <a:noFill/>
          </a:ln>
        </p:spPr>
        <p:txBody>
          <a:bodyPr rtlCol="0" anchor="ctr"/>
          <a:lstStyle/>
          <a:p>
            <a:pPr algn="ctr"/>
            <a:endParaRPr/>
          </a:p>
        </p:txBody>
      </p:sp>
      <p:grpSp>
        <p:nvGrpSpPr>
          <p:cNvPr id="3" name="anim|fade|0.05"/>
          <p:cNvGrpSpPr/>
          <p:nvPr/>
        </p:nvGrpSpPr>
        <p:grpSpPr>
          <a:xfrm>
            <a:off x="571500" y="266700"/>
            <a:ext cx="7105650" cy="190500"/>
            <a:chOff x="571500" y="266700"/>
            <a:chExt cx="7105650" cy="190500"/>
          </a:xfrm>
        </p:grpSpPr>
        <p:sp>
          <p:nvSpPr>
            <p:cNvPr id="4" name="Rectangle 3"/>
            <p:cNvSpPr/>
            <p:nvPr/>
          </p:nvSpPr>
          <p:spPr>
            <a:xfrm>
              <a:off x="571500" y="342900"/>
              <a:ext cx="342900" cy="47625"/>
            </a:xfrm>
            <a:prstGeom prst="rect">
              <a:avLst/>
            </a:prstGeom>
            <a:solidFill>
              <a:srgbClr val="FFB938"/>
            </a:solidFill>
            <a:ln>
              <a:noFill/>
            </a:ln>
          </p:spPr>
          <p:txBody>
            <a:bodyPr rtlCol="0" anchor="ctr"/>
            <a:lstStyle/>
            <a:p>
              <a:pPr algn="ctr"/>
              <a:endParaRPr/>
            </a:p>
          </p:txBody>
        </p:sp>
        <p:sp>
          <p:nvSpPr>
            <p:cNvPr id="5" name="TextBox 4"/>
            <p:cNvSpPr txBox="1"/>
            <p:nvPr/>
          </p:nvSpPr>
          <p:spPr>
            <a:xfrm>
              <a:off x="1009650" y="266700"/>
              <a:ext cx="6667500" cy="190500"/>
            </a:xfrm>
            <a:prstGeom prst="rect">
              <a:avLst/>
            </a:prstGeom>
            <a:noFill/>
          </p:spPr>
          <p:txBody>
            <a:bodyPr wrap="square" lIns="0" tIns="0" rIns="0" bIns="0" anchor="t">
              <a:spAutoFit/>
            </a:bodyPr>
            <a:lstStyle/>
            <a:p>
              <a:pPr algn="l"/>
              <a:r>
                <a:rPr sz="1100" b="1" spc="300">
                  <a:solidFill>
                    <a:srgbClr val="59BEC9"/>
                  </a:solidFill>
                  <a:latin typeface="Century Gothic"/>
                </a:rPr>
                <a:t>ROLLOUT</a:t>
              </a:r>
            </a:p>
          </p:txBody>
        </p:sp>
      </p:grpSp>
      <p:sp>
        <p:nvSpPr>
          <p:cNvPr id="6" name="anim|wipeL|0.1"/>
          <p:cNvSpPr txBox="1"/>
          <p:nvPr/>
        </p:nvSpPr>
        <p:spPr>
          <a:xfrm>
            <a:off x="571500" y="533400"/>
            <a:ext cx="11049000" cy="533400"/>
          </a:xfrm>
          <a:prstGeom prst="rect">
            <a:avLst/>
          </a:prstGeom>
          <a:noFill/>
        </p:spPr>
        <p:txBody>
          <a:bodyPr wrap="square" lIns="0" tIns="0" rIns="0" bIns="0" anchor="t">
            <a:spAutoFit/>
          </a:bodyPr>
          <a:lstStyle/>
          <a:p>
            <a:pPr algn="l"/>
            <a:r>
              <a:rPr sz="3100" b="1">
                <a:solidFill>
                  <a:srgbClr val="FFFFFF"/>
                </a:solidFill>
                <a:latin typeface="Century Gothic"/>
              </a:rPr>
              <a:t>Our rollout, end to end</a:t>
            </a:r>
          </a:p>
        </p:txBody>
      </p:sp>
      <p:sp>
        <p:nvSpPr>
          <p:cNvPr id="7" name="anim|fade|0.45"/>
          <p:cNvSpPr txBox="1"/>
          <p:nvPr/>
        </p:nvSpPr>
        <p:spPr>
          <a:xfrm>
            <a:off x="571500" y="1028700"/>
            <a:ext cx="11049000" cy="247650"/>
          </a:xfrm>
          <a:prstGeom prst="rect">
            <a:avLst/>
          </a:prstGeom>
          <a:noFill/>
        </p:spPr>
        <p:txBody>
          <a:bodyPr wrap="square" lIns="0" tIns="0" rIns="0" bIns="0" anchor="t">
            <a:spAutoFit/>
          </a:bodyPr>
          <a:lstStyle/>
          <a:p>
            <a:pPr algn="l"/>
            <a:r>
              <a:rPr sz="1500" b="0">
                <a:solidFill>
                  <a:srgbClr val="B0C0D9"/>
                </a:solidFill>
                <a:latin typeface="Segoe UI"/>
              </a:rPr>
              <a:t>From conf.yaml to a verified backup and restore</a:t>
            </a:r>
          </a:p>
        </p:txBody>
      </p:sp>
      <p:sp>
        <p:nvSpPr>
          <p:cNvPr id="8" name="TextBox 7"/>
          <p:cNvSpPr txBox="1"/>
          <p:nvPr/>
        </p:nvSpPr>
        <p:spPr>
          <a:xfrm>
            <a:off x="571500" y="6534150"/>
            <a:ext cx="6667500" cy="171450"/>
          </a:xfrm>
          <a:prstGeom prst="rect">
            <a:avLst/>
          </a:prstGeom>
          <a:noFill/>
        </p:spPr>
        <p:txBody>
          <a:bodyPr wrap="square" lIns="0" tIns="0" rIns="0" bIns="0" anchor="t">
            <a:spAutoFit/>
          </a:bodyPr>
          <a:lstStyle/>
          <a:p>
            <a:pPr algn="l"/>
            <a:r>
              <a:rPr sz="950" b="0">
                <a:solidFill>
                  <a:srgbClr val="B0C0D9"/>
                </a:solidFill>
                <a:latin typeface="Segoe UI"/>
              </a:rPr>
              <a:t>AKS Backup &amp; Restore  |  BFH AKS IHUB Platform Team</a:t>
            </a:r>
          </a:p>
        </p:txBody>
      </p:sp>
      <p:sp>
        <p:nvSpPr>
          <p:cNvPr id="9" name="TextBox 8"/>
          <p:cNvSpPr txBox="1"/>
          <p:nvPr/>
        </p:nvSpPr>
        <p:spPr>
          <a:xfrm>
            <a:off x="10668000" y="6534150"/>
            <a:ext cx="952500" cy="171450"/>
          </a:xfrm>
          <a:prstGeom prst="rect">
            <a:avLst/>
          </a:prstGeom>
          <a:noFill/>
        </p:spPr>
        <p:txBody>
          <a:bodyPr wrap="square" lIns="0" tIns="0" rIns="0" bIns="0" anchor="t">
            <a:spAutoFit/>
          </a:bodyPr>
          <a:lstStyle/>
          <a:p>
            <a:pPr algn="r"/>
            <a:r>
              <a:rPr sz="1000" b="1">
                <a:solidFill>
                  <a:srgbClr val="FFB938"/>
                </a:solidFill>
                <a:latin typeface="Century Gothic"/>
              </a:rPr>
              <a:t>22</a:t>
            </a:r>
          </a:p>
        </p:txBody>
      </p:sp>
      <p:grpSp>
        <p:nvGrpSpPr>
          <p:cNvPr id="10" name="anim|wipeL|0.5"/>
          <p:cNvGrpSpPr/>
          <p:nvPr/>
        </p:nvGrpSpPr>
        <p:grpSpPr>
          <a:xfrm>
            <a:off x="952500" y="2914650"/>
            <a:ext cx="10287000" cy="28575"/>
            <a:chOff x="952500" y="2914650"/>
            <a:chExt cx="10287000" cy="28575"/>
          </a:xfrm>
        </p:grpSpPr>
        <p:sp>
          <p:nvSpPr>
            <p:cNvPr id="11" name="Rectangle 10"/>
            <p:cNvSpPr/>
            <p:nvPr/>
          </p:nvSpPr>
          <p:spPr>
            <a:xfrm>
              <a:off x="952500" y="2914650"/>
              <a:ext cx="10287000" cy="28575"/>
            </a:xfrm>
            <a:prstGeom prst="rect">
              <a:avLst/>
            </a:prstGeom>
            <a:solidFill>
              <a:srgbClr val="59BEC9"/>
            </a:solidFill>
            <a:ln>
              <a:noFill/>
            </a:ln>
          </p:spPr>
          <p:txBody>
            <a:bodyPr rtlCol="0" anchor="ctr"/>
            <a:lstStyle/>
            <a:p>
              <a:pPr algn="ctr"/>
              <a:endParaRPr/>
            </a:p>
          </p:txBody>
        </p:sp>
      </p:grpSp>
      <p:grpSp>
        <p:nvGrpSpPr>
          <p:cNvPr id="12" name="anim|rise|0.7"/>
          <p:cNvGrpSpPr/>
          <p:nvPr/>
        </p:nvGrpSpPr>
        <p:grpSpPr>
          <a:xfrm>
            <a:off x="361950" y="1809750"/>
            <a:ext cx="1752600" cy="3124200"/>
            <a:chOff x="361950" y="1809750"/>
            <a:chExt cx="1752600" cy="3124200"/>
          </a:xfrm>
        </p:grpSpPr>
        <p:pic>
          <p:nvPicPr>
            <p:cNvPr id="13" name="Picture 12" descr="doc_teal.png"/>
            <p:cNvPicPr>
              <a:picLocks noChangeAspect="1"/>
            </p:cNvPicPr>
            <p:nvPr/>
          </p:nvPicPr>
          <p:blipFill>
            <a:blip r:embed="rId2"/>
            <a:stretch>
              <a:fillRect/>
            </a:stretch>
          </p:blipFill>
          <p:spPr>
            <a:xfrm>
              <a:off x="990600" y="1809750"/>
              <a:ext cx="495300" cy="495300"/>
            </a:xfrm>
            <a:prstGeom prst="rect">
              <a:avLst/>
            </a:prstGeom>
          </p:spPr>
        </p:pic>
        <p:sp>
          <p:nvSpPr>
            <p:cNvPr id="14" name="Oval 13"/>
            <p:cNvSpPr/>
            <p:nvPr/>
          </p:nvSpPr>
          <p:spPr>
            <a:xfrm>
              <a:off x="895350" y="2571750"/>
              <a:ext cx="685800" cy="685800"/>
            </a:xfrm>
            <a:prstGeom prst="ellipse">
              <a:avLst/>
            </a:prstGeom>
            <a:solidFill>
              <a:srgbClr val="1E3A68"/>
            </a:solidFill>
            <a:ln w="31750">
              <a:solidFill>
                <a:srgbClr val="59BEC9"/>
              </a:solidFill>
            </a:ln>
          </p:spPr>
          <p:txBody>
            <a:bodyPr rtlCol="0" anchor="ctr"/>
            <a:lstStyle/>
            <a:p>
              <a:pPr algn="ctr"/>
              <a:endParaRPr/>
            </a:p>
          </p:txBody>
        </p:sp>
        <p:sp>
          <p:nvSpPr>
            <p:cNvPr id="15" name="TextBox 14"/>
            <p:cNvSpPr txBox="1"/>
            <p:nvPr/>
          </p:nvSpPr>
          <p:spPr>
            <a:xfrm>
              <a:off x="895350" y="2571750"/>
              <a:ext cx="685800" cy="685800"/>
            </a:xfrm>
            <a:prstGeom prst="rect">
              <a:avLst/>
            </a:prstGeom>
            <a:noFill/>
          </p:spPr>
          <p:txBody>
            <a:bodyPr wrap="square" lIns="0" tIns="0" rIns="0" bIns="0" anchor="ctr">
              <a:spAutoFit/>
            </a:bodyPr>
            <a:lstStyle/>
            <a:p>
              <a:pPr algn="ctr"/>
              <a:r>
                <a:rPr sz="2600" b="1">
                  <a:solidFill>
                    <a:srgbClr val="FFB938"/>
                  </a:solidFill>
                  <a:latin typeface="Century Gothic"/>
                </a:rPr>
                <a:t>1</a:t>
              </a:r>
            </a:p>
          </p:txBody>
        </p:sp>
        <p:sp>
          <p:nvSpPr>
            <p:cNvPr id="16" name="TextBox 15"/>
            <p:cNvSpPr txBox="1"/>
            <p:nvPr/>
          </p:nvSpPr>
          <p:spPr>
            <a:xfrm>
              <a:off x="361950" y="3448050"/>
              <a:ext cx="1752600" cy="457200"/>
            </a:xfrm>
            <a:prstGeom prst="rect">
              <a:avLst/>
            </a:prstGeom>
            <a:noFill/>
          </p:spPr>
          <p:txBody>
            <a:bodyPr wrap="square" lIns="0" tIns="0" rIns="0" bIns="0" anchor="t">
              <a:spAutoFit/>
            </a:bodyPr>
            <a:lstStyle/>
            <a:p>
              <a:pPr algn="ctr"/>
              <a:r>
                <a:rPr sz="1600" b="1">
                  <a:solidFill>
                    <a:srgbClr val="FFFFFF"/>
                  </a:solidFill>
                  <a:latin typeface="Century Gothic"/>
                </a:rPr>
                <a:t>conf.yaml</a:t>
              </a:r>
            </a:p>
          </p:txBody>
        </p:sp>
        <p:sp>
          <p:nvSpPr>
            <p:cNvPr id="17" name="TextBox 16"/>
            <p:cNvSpPr txBox="1"/>
            <p:nvPr/>
          </p:nvSpPr>
          <p:spPr>
            <a:xfrm>
              <a:off x="381000" y="3981450"/>
              <a:ext cx="1714500" cy="952500"/>
            </a:xfrm>
            <a:prstGeom prst="rect">
              <a:avLst/>
            </a:prstGeom>
            <a:noFill/>
          </p:spPr>
          <p:txBody>
            <a:bodyPr wrap="square" lIns="0" tIns="0" rIns="0" bIns="0" anchor="t">
              <a:spAutoFit/>
            </a:bodyPr>
            <a:lstStyle/>
            <a:p>
              <a:pPr algn="ctr"/>
              <a:r>
                <a:rPr sz="1350" b="0">
                  <a:solidFill>
                    <a:srgbClr val="B0C0D9"/>
                  </a:solidFill>
                  <a:latin typeface="Segoe UI"/>
                </a:rPr>
                <a:t>Backup settings for the environment</a:t>
              </a:r>
            </a:p>
          </p:txBody>
        </p:sp>
      </p:grpSp>
      <p:grpSp>
        <p:nvGrpSpPr>
          <p:cNvPr id="18" name="anim|rise|0.87"/>
          <p:cNvGrpSpPr/>
          <p:nvPr/>
        </p:nvGrpSpPr>
        <p:grpSpPr>
          <a:xfrm>
            <a:off x="2305050" y="1809750"/>
            <a:ext cx="1752600" cy="3124200"/>
            <a:chOff x="2305050" y="1809750"/>
            <a:chExt cx="1752600" cy="3124200"/>
          </a:xfrm>
        </p:grpSpPr>
        <p:pic>
          <p:nvPicPr>
            <p:cNvPr id="19" name="Picture 18" descr="branch_teal.png"/>
            <p:cNvPicPr>
              <a:picLocks noChangeAspect="1"/>
            </p:cNvPicPr>
            <p:nvPr/>
          </p:nvPicPr>
          <p:blipFill>
            <a:blip r:embed="rId3"/>
            <a:stretch>
              <a:fillRect/>
            </a:stretch>
          </p:blipFill>
          <p:spPr>
            <a:xfrm>
              <a:off x="2933700" y="1809750"/>
              <a:ext cx="495300" cy="495300"/>
            </a:xfrm>
            <a:prstGeom prst="rect">
              <a:avLst/>
            </a:prstGeom>
          </p:spPr>
        </p:pic>
        <p:sp>
          <p:nvSpPr>
            <p:cNvPr id="20" name="Oval 19"/>
            <p:cNvSpPr/>
            <p:nvPr/>
          </p:nvSpPr>
          <p:spPr>
            <a:xfrm>
              <a:off x="2838450" y="2571750"/>
              <a:ext cx="685800" cy="685800"/>
            </a:xfrm>
            <a:prstGeom prst="ellipse">
              <a:avLst/>
            </a:prstGeom>
            <a:solidFill>
              <a:srgbClr val="1E3A68"/>
            </a:solidFill>
            <a:ln w="31750">
              <a:solidFill>
                <a:srgbClr val="59BEC9"/>
              </a:solidFill>
            </a:ln>
          </p:spPr>
          <p:txBody>
            <a:bodyPr rtlCol="0" anchor="ctr"/>
            <a:lstStyle/>
            <a:p>
              <a:pPr algn="ctr"/>
              <a:endParaRPr/>
            </a:p>
          </p:txBody>
        </p:sp>
        <p:sp>
          <p:nvSpPr>
            <p:cNvPr id="21" name="TextBox 20"/>
            <p:cNvSpPr txBox="1"/>
            <p:nvPr/>
          </p:nvSpPr>
          <p:spPr>
            <a:xfrm>
              <a:off x="2838450" y="2571750"/>
              <a:ext cx="685800" cy="685800"/>
            </a:xfrm>
            <a:prstGeom prst="rect">
              <a:avLst/>
            </a:prstGeom>
            <a:noFill/>
          </p:spPr>
          <p:txBody>
            <a:bodyPr wrap="square" lIns="0" tIns="0" rIns="0" bIns="0" anchor="ctr">
              <a:spAutoFit/>
            </a:bodyPr>
            <a:lstStyle/>
            <a:p>
              <a:pPr algn="ctr"/>
              <a:r>
                <a:rPr sz="2600" b="1">
                  <a:solidFill>
                    <a:srgbClr val="FFB938"/>
                  </a:solidFill>
                  <a:latin typeface="Century Gothic"/>
                </a:rPr>
                <a:t>2</a:t>
              </a:r>
            </a:p>
          </p:txBody>
        </p:sp>
        <p:sp>
          <p:nvSpPr>
            <p:cNvPr id="22" name="TextBox 21"/>
            <p:cNvSpPr txBox="1"/>
            <p:nvPr/>
          </p:nvSpPr>
          <p:spPr>
            <a:xfrm>
              <a:off x="2305050" y="3448050"/>
              <a:ext cx="1752600" cy="457200"/>
            </a:xfrm>
            <a:prstGeom prst="rect">
              <a:avLst/>
            </a:prstGeom>
            <a:noFill/>
          </p:spPr>
          <p:txBody>
            <a:bodyPr wrap="square" lIns="0" tIns="0" rIns="0" bIns="0" anchor="t">
              <a:spAutoFit/>
            </a:bodyPr>
            <a:lstStyle/>
            <a:p>
              <a:pPr algn="ctr"/>
              <a:r>
                <a:rPr sz="1600" b="1">
                  <a:solidFill>
                    <a:srgbClr val="FFFFFF"/>
                  </a:solidFill>
                  <a:latin typeface="Century Gothic"/>
                </a:rPr>
                <a:t>Pull request</a:t>
              </a:r>
            </a:p>
          </p:txBody>
        </p:sp>
        <p:sp>
          <p:nvSpPr>
            <p:cNvPr id="23" name="TextBox 22"/>
            <p:cNvSpPr txBox="1"/>
            <p:nvPr/>
          </p:nvSpPr>
          <p:spPr>
            <a:xfrm>
              <a:off x="2324100" y="3981450"/>
              <a:ext cx="1714500" cy="952500"/>
            </a:xfrm>
            <a:prstGeom prst="rect">
              <a:avLst/>
            </a:prstGeom>
            <a:noFill/>
          </p:spPr>
          <p:txBody>
            <a:bodyPr wrap="square" lIns="0" tIns="0" rIns="0" bIns="0" anchor="t">
              <a:spAutoFit/>
            </a:bodyPr>
            <a:lstStyle/>
            <a:p>
              <a:pPr algn="ctr"/>
              <a:r>
                <a:rPr sz="1350" b="0">
                  <a:solidFill>
                    <a:srgbClr val="B0C0D9"/>
                  </a:solidFill>
                  <a:latin typeface="Segoe UI"/>
                </a:rPr>
                <a:t>Review and merge to main</a:t>
              </a:r>
            </a:p>
          </p:txBody>
        </p:sp>
      </p:grpSp>
      <p:grpSp>
        <p:nvGrpSpPr>
          <p:cNvPr id="24" name="anim|rise|1.04"/>
          <p:cNvGrpSpPr/>
          <p:nvPr/>
        </p:nvGrpSpPr>
        <p:grpSpPr>
          <a:xfrm>
            <a:off x="4248150" y="1809750"/>
            <a:ext cx="1752600" cy="3124200"/>
            <a:chOff x="4248150" y="1809750"/>
            <a:chExt cx="1752600" cy="3124200"/>
          </a:xfrm>
        </p:grpSpPr>
        <p:pic>
          <p:nvPicPr>
            <p:cNvPr id="25" name="Picture 24" descr="play_teal.png"/>
            <p:cNvPicPr>
              <a:picLocks noChangeAspect="1"/>
            </p:cNvPicPr>
            <p:nvPr/>
          </p:nvPicPr>
          <p:blipFill>
            <a:blip r:embed="rId4"/>
            <a:stretch>
              <a:fillRect/>
            </a:stretch>
          </p:blipFill>
          <p:spPr>
            <a:xfrm>
              <a:off x="4876800" y="1809750"/>
              <a:ext cx="495300" cy="495300"/>
            </a:xfrm>
            <a:prstGeom prst="rect">
              <a:avLst/>
            </a:prstGeom>
          </p:spPr>
        </p:pic>
        <p:sp>
          <p:nvSpPr>
            <p:cNvPr id="26" name="Oval 25"/>
            <p:cNvSpPr/>
            <p:nvPr/>
          </p:nvSpPr>
          <p:spPr>
            <a:xfrm>
              <a:off x="4781550" y="2571750"/>
              <a:ext cx="685800" cy="685800"/>
            </a:xfrm>
            <a:prstGeom prst="ellipse">
              <a:avLst/>
            </a:prstGeom>
            <a:solidFill>
              <a:srgbClr val="1E3A68"/>
            </a:solidFill>
            <a:ln w="31750">
              <a:solidFill>
                <a:srgbClr val="59BEC9"/>
              </a:solidFill>
            </a:ln>
          </p:spPr>
          <p:txBody>
            <a:bodyPr rtlCol="0" anchor="ctr"/>
            <a:lstStyle/>
            <a:p>
              <a:pPr algn="ctr"/>
              <a:endParaRPr/>
            </a:p>
          </p:txBody>
        </p:sp>
        <p:sp>
          <p:nvSpPr>
            <p:cNvPr id="27" name="TextBox 26"/>
            <p:cNvSpPr txBox="1"/>
            <p:nvPr/>
          </p:nvSpPr>
          <p:spPr>
            <a:xfrm>
              <a:off x="4781550" y="2571750"/>
              <a:ext cx="685800" cy="685800"/>
            </a:xfrm>
            <a:prstGeom prst="rect">
              <a:avLst/>
            </a:prstGeom>
            <a:noFill/>
          </p:spPr>
          <p:txBody>
            <a:bodyPr wrap="square" lIns="0" tIns="0" rIns="0" bIns="0" anchor="ctr">
              <a:spAutoFit/>
            </a:bodyPr>
            <a:lstStyle/>
            <a:p>
              <a:pPr algn="ctr"/>
              <a:r>
                <a:rPr sz="2600" b="1">
                  <a:solidFill>
                    <a:srgbClr val="FFB938"/>
                  </a:solidFill>
                  <a:latin typeface="Century Gothic"/>
                </a:rPr>
                <a:t>3</a:t>
              </a:r>
            </a:p>
          </p:txBody>
        </p:sp>
        <p:sp>
          <p:nvSpPr>
            <p:cNvPr id="28" name="TextBox 27"/>
            <p:cNvSpPr txBox="1"/>
            <p:nvPr/>
          </p:nvSpPr>
          <p:spPr>
            <a:xfrm>
              <a:off x="4248150" y="3448050"/>
              <a:ext cx="1752600" cy="457200"/>
            </a:xfrm>
            <a:prstGeom prst="rect">
              <a:avLst/>
            </a:prstGeom>
            <a:noFill/>
          </p:spPr>
          <p:txBody>
            <a:bodyPr wrap="square" lIns="0" tIns="0" rIns="0" bIns="0" anchor="t">
              <a:spAutoFit/>
            </a:bodyPr>
            <a:lstStyle/>
            <a:p>
              <a:pPr algn="ctr"/>
              <a:r>
                <a:rPr sz="1600" b="1">
                  <a:solidFill>
                    <a:srgbClr val="FFFFFF"/>
                  </a:solidFill>
                  <a:latin typeface="Century Gothic"/>
                </a:rPr>
                <a:t>aksplatform pipeline</a:t>
              </a:r>
            </a:p>
          </p:txBody>
        </p:sp>
        <p:sp>
          <p:nvSpPr>
            <p:cNvPr id="29" name="TextBox 28"/>
            <p:cNvSpPr txBox="1"/>
            <p:nvPr/>
          </p:nvSpPr>
          <p:spPr>
            <a:xfrm>
              <a:off x="4267200" y="3981450"/>
              <a:ext cx="1714500" cy="952500"/>
            </a:xfrm>
            <a:prstGeom prst="rect">
              <a:avLst/>
            </a:prstGeom>
            <a:noFill/>
          </p:spPr>
          <p:txBody>
            <a:bodyPr wrap="square" lIns="0" tIns="0" rIns="0" bIns="0" anchor="t">
              <a:spAutoFit/>
            </a:bodyPr>
            <a:lstStyle/>
            <a:p>
              <a:pPr algn="ctr"/>
              <a:r>
                <a:rPr sz="1350" b="0">
                  <a:solidFill>
                    <a:srgbClr val="B0C0D9"/>
                  </a:solidFill>
                  <a:latin typeface="Segoe UI"/>
                </a:rPr>
                <a:t>Creates storage, vault, extension, policy, instance and roles</a:t>
              </a:r>
            </a:p>
          </p:txBody>
        </p:sp>
      </p:grpSp>
      <p:grpSp>
        <p:nvGrpSpPr>
          <p:cNvPr id="30" name="anim|rise|1.21"/>
          <p:cNvGrpSpPr/>
          <p:nvPr/>
        </p:nvGrpSpPr>
        <p:grpSpPr>
          <a:xfrm>
            <a:off x="6191250" y="1809750"/>
            <a:ext cx="1752600" cy="3124200"/>
            <a:chOff x="6191250" y="1809750"/>
            <a:chExt cx="1752600" cy="3124200"/>
          </a:xfrm>
        </p:grpSpPr>
        <p:pic>
          <p:nvPicPr>
            <p:cNvPr id="31" name="Picture 30" descr="plug_teal.png"/>
            <p:cNvPicPr>
              <a:picLocks noChangeAspect="1"/>
            </p:cNvPicPr>
            <p:nvPr/>
          </p:nvPicPr>
          <p:blipFill>
            <a:blip r:embed="rId5"/>
            <a:stretch>
              <a:fillRect/>
            </a:stretch>
          </p:blipFill>
          <p:spPr>
            <a:xfrm>
              <a:off x="6819900" y="1809750"/>
              <a:ext cx="495300" cy="495300"/>
            </a:xfrm>
            <a:prstGeom prst="rect">
              <a:avLst/>
            </a:prstGeom>
          </p:spPr>
        </p:pic>
        <p:sp>
          <p:nvSpPr>
            <p:cNvPr id="32" name="Oval 31"/>
            <p:cNvSpPr/>
            <p:nvPr/>
          </p:nvSpPr>
          <p:spPr>
            <a:xfrm>
              <a:off x="6724650" y="2571750"/>
              <a:ext cx="685800" cy="685800"/>
            </a:xfrm>
            <a:prstGeom prst="ellipse">
              <a:avLst/>
            </a:prstGeom>
            <a:solidFill>
              <a:srgbClr val="1E3A68"/>
            </a:solidFill>
            <a:ln w="31750">
              <a:solidFill>
                <a:srgbClr val="59BEC9"/>
              </a:solidFill>
            </a:ln>
          </p:spPr>
          <p:txBody>
            <a:bodyPr rtlCol="0" anchor="ctr"/>
            <a:lstStyle/>
            <a:p>
              <a:pPr algn="ctr"/>
              <a:endParaRPr/>
            </a:p>
          </p:txBody>
        </p:sp>
        <p:sp>
          <p:nvSpPr>
            <p:cNvPr id="33" name="TextBox 32"/>
            <p:cNvSpPr txBox="1"/>
            <p:nvPr/>
          </p:nvSpPr>
          <p:spPr>
            <a:xfrm>
              <a:off x="6724650" y="2571750"/>
              <a:ext cx="685800" cy="685800"/>
            </a:xfrm>
            <a:prstGeom prst="rect">
              <a:avLst/>
            </a:prstGeom>
            <a:noFill/>
          </p:spPr>
          <p:txBody>
            <a:bodyPr wrap="square" lIns="0" tIns="0" rIns="0" bIns="0" anchor="ctr">
              <a:spAutoFit/>
            </a:bodyPr>
            <a:lstStyle/>
            <a:p>
              <a:pPr algn="ctr"/>
              <a:r>
                <a:rPr sz="2600" b="1">
                  <a:solidFill>
                    <a:srgbClr val="FFB938"/>
                  </a:solidFill>
                  <a:latin typeface="Century Gothic"/>
                </a:rPr>
                <a:t>4</a:t>
              </a:r>
            </a:p>
          </p:txBody>
        </p:sp>
        <p:sp>
          <p:nvSpPr>
            <p:cNvPr id="34" name="TextBox 33"/>
            <p:cNvSpPr txBox="1"/>
            <p:nvPr/>
          </p:nvSpPr>
          <p:spPr>
            <a:xfrm>
              <a:off x="6191250" y="3448050"/>
              <a:ext cx="1752600" cy="457200"/>
            </a:xfrm>
            <a:prstGeom prst="rect">
              <a:avLst/>
            </a:prstGeom>
            <a:noFill/>
          </p:spPr>
          <p:txBody>
            <a:bodyPr wrap="square" lIns="0" tIns="0" rIns="0" bIns="0" anchor="t">
              <a:spAutoFit/>
            </a:bodyPr>
            <a:lstStyle/>
            <a:p>
              <a:pPr algn="ctr"/>
              <a:r>
                <a:rPr sz="1600" b="1">
                  <a:solidFill>
                    <a:srgbClr val="FFFFFF"/>
                  </a:solidFill>
                  <a:latin typeface="Century Gothic"/>
                </a:rPr>
                <a:t>Private endpoint</a:t>
              </a:r>
            </a:p>
          </p:txBody>
        </p:sp>
        <p:sp>
          <p:nvSpPr>
            <p:cNvPr id="35" name="TextBox 34"/>
            <p:cNvSpPr txBox="1"/>
            <p:nvPr/>
          </p:nvSpPr>
          <p:spPr>
            <a:xfrm>
              <a:off x="6210300" y="3981450"/>
              <a:ext cx="1714500" cy="952500"/>
            </a:xfrm>
            <a:prstGeom prst="rect">
              <a:avLst/>
            </a:prstGeom>
            <a:noFill/>
          </p:spPr>
          <p:txBody>
            <a:bodyPr wrap="square" lIns="0" tIns="0" rIns="0" bIns="0" anchor="t">
              <a:spAutoFit/>
            </a:bodyPr>
            <a:lstStyle/>
            <a:p>
              <a:pPr algn="ctr"/>
              <a:r>
                <a:rPr sz="1350" b="0">
                  <a:solidFill>
                    <a:srgbClr val="B0C0D9"/>
                  </a:solidFill>
                  <a:latin typeface="Segoe UI"/>
                </a:rPr>
                <a:t>Cloud team adds it for the storage account</a:t>
              </a:r>
            </a:p>
          </p:txBody>
        </p:sp>
      </p:grpSp>
      <p:grpSp>
        <p:nvGrpSpPr>
          <p:cNvPr id="36" name="anim|rise|1.38"/>
          <p:cNvGrpSpPr/>
          <p:nvPr/>
        </p:nvGrpSpPr>
        <p:grpSpPr>
          <a:xfrm>
            <a:off x="8134350" y="1809750"/>
            <a:ext cx="1752600" cy="3124200"/>
            <a:chOff x="8134350" y="1809750"/>
            <a:chExt cx="1752600" cy="3124200"/>
          </a:xfrm>
        </p:grpSpPr>
        <p:pic>
          <p:nvPicPr>
            <p:cNvPr id="37" name="Picture 36" descr="cluster_teal.png"/>
            <p:cNvPicPr>
              <a:picLocks noChangeAspect="1"/>
            </p:cNvPicPr>
            <p:nvPr/>
          </p:nvPicPr>
          <p:blipFill>
            <a:blip r:embed="rId6"/>
            <a:stretch>
              <a:fillRect/>
            </a:stretch>
          </p:blipFill>
          <p:spPr>
            <a:xfrm>
              <a:off x="8763000" y="1809750"/>
              <a:ext cx="495300" cy="495300"/>
            </a:xfrm>
            <a:prstGeom prst="rect">
              <a:avLst/>
            </a:prstGeom>
          </p:spPr>
        </p:pic>
        <p:sp>
          <p:nvSpPr>
            <p:cNvPr id="38" name="Oval 37"/>
            <p:cNvSpPr/>
            <p:nvPr/>
          </p:nvSpPr>
          <p:spPr>
            <a:xfrm>
              <a:off x="8667750" y="2571750"/>
              <a:ext cx="685800" cy="685800"/>
            </a:xfrm>
            <a:prstGeom prst="ellipse">
              <a:avLst/>
            </a:prstGeom>
            <a:solidFill>
              <a:srgbClr val="1E3A68"/>
            </a:solidFill>
            <a:ln w="31750">
              <a:solidFill>
                <a:srgbClr val="59BEC9"/>
              </a:solidFill>
            </a:ln>
          </p:spPr>
          <p:txBody>
            <a:bodyPr rtlCol="0" anchor="ctr"/>
            <a:lstStyle/>
            <a:p>
              <a:pPr algn="ctr"/>
              <a:endParaRPr/>
            </a:p>
          </p:txBody>
        </p:sp>
        <p:sp>
          <p:nvSpPr>
            <p:cNvPr id="39" name="TextBox 38"/>
            <p:cNvSpPr txBox="1"/>
            <p:nvPr/>
          </p:nvSpPr>
          <p:spPr>
            <a:xfrm>
              <a:off x="8667750" y="2571750"/>
              <a:ext cx="685800" cy="685800"/>
            </a:xfrm>
            <a:prstGeom prst="rect">
              <a:avLst/>
            </a:prstGeom>
            <a:noFill/>
          </p:spPr>
          <p:txBody>
            <a:bodyPr wrap="square" lIns="0" tIns="0" rIns="0" bIns="0" anchor="ctr">
              <a:spAutoFit/>
            </a:bodyPr>
            <a:lstStyle/>
            <a:p>
              <a:pPr algn="ctr"/>
              <a:r>
                <a:rPr sz="2600" b="1">
                  <a:solidFill>
                    <a:srgbClr val="FFB938"/>
                  </a:solidFill>
                  <a:latin typeface="Century Gothic"/>
                </a:rPr>
                <a:t>5</a:t>
              </a:r>
            </a:p>
          </p:txBody>
        </p:sp>
        <p:sp>
          <p:nvSpPr>
            <p:cNvPr id="40" name="TextBox 39"/>
            <p:cNvSpPr txBox="1"/>
            <p:nvPr/>
          </p:nvSpPr>
          <p:spPr>
            <a:xfrm>
              <a:off x="8134350" y="3448050"/>
              <a:ext cx="1752600" cy="457200"/>
            </a:xfrm>
            <a:prstGeom prst="rect">
              <a:avLst/>
            </a:prstGeom>
            <a:noFill/>
          </p:spPr>
          <p:txBody>
            <a:bodyPr wrap="square" lIns="0" tIns="0" rIns="0" bIns="0" anchor="t">
              <a:spAutoFit/>
            </a:bodyPr>
            <a:lstStyle/>
            <a:p>
              <a:pPr algn="ctr"/>
              <a:r>
                <a:rPr sz="1600" b="1">
                  <a:solidFill>
                    <a:srgbClr val="FFFFFF"/>
                  </a:solidFill>
                  <a:latin typeface="Century Gothic"/>
                </a:rPr>
                <a:t>Workload onboarding</a:t>
              </a:r>
            </a:p>
          </p:txBody>
        </p:sp>
        <p:sp>
          <p:nvSpPr>
            <p:cNvPr id="41" name="TextBox 40"/>
            <p:cNvSpPr txBox="1"/>
            <p:nvPr/>
          </p:nvSpPr>
          <p:spPr>
            <a:xfrm>
              <a:off x="8153400" y="3981450"/>
              <a:ext cx="1714500" cy="952500"/>
            </a:xfrm>
            <a:prstGeom prst="rect">
              <a:avLst/>
            </a:prstGeom>
            <a:noFill/>
          </p:spPr>
          <p:txBody>
            <a:bodyPr wrap="square" lIns="0" tIns="0" rIns="0" bIns="0" anchor="t">
              <a:spAutoFit/>
            </a:bodyPr>
            <a:lstStyle/>
            <a:p>
              <a:pPr algn="ctr"/>
              <a:r>
                <a:rPr sz="1350" b="0">
                  <a:solidFill>
                    <a:srgbClr val="B0C0D9"/>
                  </a:solidFill>
                  <a:latin typeface="Segoe UI"/>
                </a:rPr>
                <a:t>Picks up the -rst cluster (optional)</a:t>
              </a:r>
            </a:p>
          </p:txBody>
        </p:sp>
      </p:grpSp>
      <p:grpSp>
        <p:nvGrpSpPr>
          <p:cNvPr id="42" name="anim|rise|1.55"/>
          <p:cNvGrpSpPr/>
          <p:nvPr/>
        </p:nvGrpSpPr>
        <p:grpSpPr>
          <a:xfrm>
            <a:off x="10077450" y="1809750"/>
            <a:ext cx="1752600" cy="3124200"/>
            <a:chOff x="10077450" y="1809750"/>
            <a:chExt cx="1752600" cy="3124200"/>
          </a:xfrm>
        </p:grpSpPr>
        <p:pic>
          <p:nvPicPr>
            <p:cNvPr id="43" name="Picture 42" descr="check_amber.png"/>
            <p:cNvPicPr>
              <a:picLocks noChangeAspect="1"/>
            </p:cNvPicPr>
            <p:nvPr/>
          </p:nvPicPr>
          <p:blipFill>
            <a:blip r:embed="rId7"/>
            <a:stretch>
              <a:fillRect/>
            </a:stretch>
          </p:blipFill>
          <p:spPr>
            <a:xfrm>
              <a:off x="10706100" y="1809750"/>
              <a:ext cx="495300" cy="495300"/>
            </a:xfrm>
            <a:prstGeom prst="rect">
              <a:avLst/>
            </a:prstGeom>
          </p:spPr>
        </p:pic>
        <p:sp>
          <p:nvSpPr>
            <p:cNvPr id="44" name="Oval 43"/>
            <p:cNvSpPr/>
            <p:nvPr/>
          </p:nvSpPr>
          <p:spPr>
            <a:xfrm>
              <a:off x="10610850" y="2571750"/>
              <a:ext cx="685800" cy="685800"/>
            </a:xfrm>
            <a:prstGeom prst="ellipse">
              <a:avLst/>
            </a:prstGeom>
            <a:solidFill>
              <a:srgbClr val="1E3A68"/>
            </a:solidFill>
            <a:ln w="31750">
              <a:solidFill>
                <a:srgbClr val="59BEC9"/>
              </a:solidFill>
            </a:ln>
          </p:spPr>
          <p:txBody>
            <a:bodyPr rtlCol="0" anchor="ctr"/>
            <a:lstStyle/>
            <a:p>
              <a:pPr algn="ctr"/>
              <a:endParaRPr/>
            </a:p>
          </p:txBody>
        </p:sp>
        <p:sp>
          <p:nvSpPr>
            <p:cNvPr id="45" name="TextBox 44"/>
            <p:cNvSpPr txBox="1"/>
            <p:nvPr/>
          </p:nvSpPr>
          <p:spPr>
            <a:xfrm>
              <a:off x="10610850" y="2571750"/>
              <a:ext cx="685800" cy="685800"/>
            </a:xfrm>
            <a:prstGeom prst="rect">
              <a:avLst/>
            </a:prstGeom>
            <a:noFill/>
          </p:spPr>
          <p:txBody>
            <a:bodyPr wrap="square" lIns="0" tIns="0" rIns="0" bIns="0" anchor="ctr">
              <a:spAutoFit/>
            </a:bodyPr>
            <a:lstStyle/>
            <a:p>
              <a:pPr algn="ctr"/>
              <a:r>
                <a:rPr sz="2600" b="1">
                  <a:solidFill>
                    <a:srgbClr val="FFB938"/>
                  </a:solidFill>
                  <a:latin typeface="Century Gothic"/>
                </a:rPr>
                <a:t>6</a:t>
              </a:r>
            </a:p>
          </p:txBody>
        </p:sp>
        <p:sp>
          <p:nvSpPr>
            <p:cNvPr id="46" name="TextBox 45"/>
            <p:cNvSpPr txBox="1"/>
            <p:nvPr/>
          </p:nvSpPr>
          <p:spPr>
            <a:xfrm>
              <a:off x="10077450" y="3448050"/>
              <a:ext cx="1752600" cy="457200"/>
            </a:xfrm>
            <a:prstGeom prst="rect">
              <a:avLst/>
            </a:prstGeom>
            <a:noFill/>
          </p:spPr>
          <p:txBody>
            <a:bodyPr wrap="square" lIns="0" tIns="0" rIns="0" bIns="0" anchor="t">
              <a:spAutoFit/>
            </a:bodyPr>
            <a:lstStyle/>
            <a:p>
              <a:pPr algn="ctr"/>
              <a:r>
                <a:rPr sz="1600" b="1">
                  <a:solidFill>
                    <a:srgbClr val="FFFFFF"/>
                  </a:solidFill>
                  <a:latin typeface="Century Gothic"/>
                </a:rPr>
                <a:t>Verify</a:t>
              </a:r>
            </a:p>
          </p:txBody>
        </p:sp>
        <p:sp>
          <p:nvSpPr>
            <p:cNvPr id="47" name="TextBox 46"/>
            <p:cNvSpPr txBox="1"/>
            <p:nvPr/>
          </p:nvSpPr>
          <p:spPr>
            <a:xfrm>
              <a:off x="10096500" y="3981450"/>
              <a:ext cx="1714500" cy="952500"/>
            </a:xfrm>
            <a:prstGeom prst="rect">
              <a:avLst/>
            </a:prstGeom>
            <a:noFill/>
          </p:spPr>
          <p:txBody>
            <a:bodyPr wrap="square" lIns="0" tIns="0" rIns="0" bIns="0" anchor="t">
              <a:spAutoFit/>
            </a:bodyPr>
            <a:lstStyle/>
            <a:p>
              <a:pPr algn="ctr"/>
              <a:r>
                <a:rPr sz="1350" b="0">
                  <a:solidFill>
                    <a:srgbClr val="B0C0D9"/>
                  </a:solidFill>
                  <a:latin typeface="Segoe UI"/>
                </a:rPr>
                <a:t>Vault, extension, instance, first backup</a:t>
              </a:r>
            </a:p>
          </p:txBody>
        </p:sp>
      </p:grpSp>
      <p:grpSp>
        <p:nvGrpSpPr>
          <p:cNvPr id="48" name="anim|rise|1.72"/>
          <p:cNvGrpSpPr/>
          <p:nvPr/>
        </p:nvGrpSpPr>
        <p:grpSpPr>
          <a:xfrm>
            <a:off x="571500" y="5334000"/>
            <a:ext cx="11049000" cy="723900"/>
            <a:chOff x="571500" y="5334000"/>
            <a:chExt cx="11049000" cy="723900"/>
          </a:xfrm>
        </p:grpSpPr>
        <p:sp>
          <p:nvSpPr>
            <p:cNvPr id="49" name="Rounded Rectangle 48"/>
            <p:cNvSpPr/>
            <p:nvPr/>
          </p:nvSpPr>
          <p:spPr>
            <a:xfrm>
              <a:off x="571500" y="5334000"/>
              <a:ext cx="11049000" cy="723900"/>
            </a:xfrm>
            <a:prstGeom prst="roundRect">
              <a:avLst>
                <a:gd name="adj" fmla="val 23684"/>
              </a:avLst>
            </a:prstGeom>
            <a:solidFill>
              <a:srgbClr val="1E3A68"/>
            </a:solidFill>
            <a:ln w="19050">
              <a:solidFill>
                <a:srgbClr val="FFB938"/>
              </a:solidFill>
            </a:ln>
          </p:spPr>
          <p:txBody>
            <a:bodyPr rtlCol="0" anchor="ctr"/>
            <a:lstStyle/>
            <a:p>
              <a:pPr algn="ctr"/>
              <a:endParaRPr/>
            </a:p>
          </p:txBody>
        </p:sp>
        <p:pic>
          <p:nvPicPr>
            <p:cNvPr id="50" name="Picture 49" descr="info_amber.png"/>
            <p:cNvPicPr>
              <a:picLocks noChangeAspect="1"/>
            </p:cNvPicPr>
            <p:nvPr/>
          </p:nvPicPr>
          <p:blipFill>
            <a:blip r:embed="rId8"/>
            <a:stretch>
              <a:fillRect/>
            </a:stretch>
          </p:blipFill>
          <p:spPr>
            <a:xfrm>
              <a:off x="781050" y="5553075"/>
              <a:ext cx="285750" cy="285750"/>
            </a:xfrm>
            <a:prstGeom prst="rect">
              <a:avLst/>
            </a:prstGeom>
          </p:spPr>
        </p:pic>
        <p:sp>
          <p:nvSpPr>
            <p:cNvPr id="51" name="TextBox 50"/>
            <p:cNvSpPr txBox="1"/>
            <p:nvPr/>
          </p:nvSpPr>
          <p:spPr>
            <a:xfrm>
              <a:off x="1200150" y="5334000"/>
              <a:ext cx="10191750" cy="723900"/>
            </a:xfrm>
            <a:prstGeom prst="rect">
              <a:avLst/>
            </a:prstGeom>
            <a:noFill/>
          </p:spPr>
          <p:txBody>
            <a:bodyPr wrap="square" lIns="0" tIns="0" rIns="0" bIns="0" anchor="ctr">
              <a:spAutoFit/>
            </a:bodyPr>
            <a:lstStyle/>
            <a:p>
              <a:pPr algn="l"/>
              <a:r>
                <a:rPr sz="1700" b="0">
                  <a:solidFill>
                    <a:srgbClr val="FFFFFF"/>
                  </a:solidFill>
                  <a:latin typeface="Segoe UI"/>
                </a:rPr>
                <a:t>The -rst cluster is optional. Skip it if you only need backups.</a:t>
              </a:r>
            </a:p>
          </p:txBody>
        </p:sp>
      </p:grpSp>
    </p:spTree>
  </p:cSld>
  <p:clrMapOvr>
    <a:masterClrMapping/>
  </p:clrMapOvr>
  <mc:AlternateContent xmlns:mc="http://schemas.openxmlformats.org/markup-compatibility/2006">
    <mc:Choice xmlns:p14="http://schemas.microsoft.com/office/powerpoint/2010/main" Requires="p14">
      <p:transition spd="slow" p14:dur="800">
        <p:fad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5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50"/>
                                        <p:tgtEl>
                                          <p:spTgt spid="3"/>
                                        </p:tgtEl>
                                      </p:cBhvr>
                                    </p:animEffect>
                                  </p:childTnLst>
                                </p:cTn>
                              </p:par>
                              <p:par>
                                <p:cTn id="8" presetID="22" presetClass="entr" presetSubtype="8" fill="hold" grpId="0" nodeType="withEffect">
                                  <p:stCondLst>
                                    <p:cond delay="100"/>
                                  </p:stCondLst>
                                  <p:childTnLst>
                                    <p:set>
                                      <p:cBhvr>
                                        <p:cTn id="9" dur="1" fill="hold">
                                          <p:stCondLst>
                                            <p:cond delay="0"/>
                                          </p:stCondLst>
                                        </p:cTn>
                                        <p:tgtEl>
                                          <p:spTgt spid="6"/>
                                        </p:tgtEl>
                                        <p:attrNameLst>
                                          <p:attrName>style.visibility</p:attrName>
                                        </p:attrNameLst>
                                      </p:cBhvr>
                                      <p:to>
                                        <p:strVal val="visible"/>
                                      </p:to>
                                    </p:set>
                                    <p:animEffect transition="in" filter="wipe(left)">
                                      <p:cBhvr>
                                        <p:cTn id="10" dur="700"/>
                                        <p:tgtEl>
                                          <p:spTgt spid="6"/>
                                        </p:tgtEl>
                                      </p:cBhvr>
                                    </p:animEffect>
                                  </p:childTnLst>
                                </p:cTn>
                              </p:par>
                              <p:par>
                                <p:cTn id="11" presetID="10" presetClass="entr" presetSubtype="0" fill="hold" grpId="0" nodeType="withEffect">
                                  <p:stCondLst>
                                    <p:cond delay="45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50"/>
                                        <p:tgtEl>
                                          <p:spTgt spid="7"/>
                                        </p:tgtEl>
                                      </p:cBhvr>
                                    </p:animEffect>
                                  </p:childTnLst>
                                </p:cTn>
                              </p:par>
                              <p:par>
                                <p:cTn id="14" presetID="22" presetClass="entr" presetSubtype="8" fill="hold" nodeType="withEffect">
                                  <p:stCondLst>
                                    <p:cond delay="500"/>
                                  </p:stCondLst>
                                  <p:childTnLst>
                                    <p:set>
                                      <p:cBhvr>
                                        <p:cTn id="15" dur="1" fill="hold">
                                          <p:stCondLst>
                                            <p:cond delay="0"/>
                                          </p:stCondLst>
                                        </p:cTn>
                                        <p:tgtEl>
                                          <p:spTgt spid="10"/>
                                        </p:tgtEl>
                                        <p:attrNameLst>
                                          <p:attrName>style.visibility</p:attrName>
                                        </p:attrNameLst>
                                      </p:cBhvr>
                                      <p:to>
                                        <p:strVal val="visible"/>
                                      </p:to>
                                    </p:set>
                                    <p:animEffect transition="in" filter="wipe(left)">
                                      <p:cBhvr>
                                        <p:cTn id="16" dur="700"/>
                                        <p:tgtEl>
                                          <p:spTgt spid="10"/>
                                        </p:tgtEl>
                                      </p:cBhvr>
                                    </p:animEffect>
                                  </p:childTnLst>
                                </p:cTn>
                              </p:par>
                              <p:par>
                                <p:cTn id="17" presetID="37" presetClass="entr" presetSubtype="0" fill="hold" nodeType="withEffect">
                                  <p:stCondLst>
                                    <p:cond delay="700"/>
                                  </p:stCondLst>
                                  <p:childTnLst>
                                    <p:set>
                                      <p:cBhvr>
                                        <p:cTn id="18" dur="1" fill="hold">
                                          <p:stCondLst>
                                            <p:cond delay="0"/>
                                          </p:stCondLst>
                                        </p:cTn>
                                        <p:tgtEl>
                                          <p:spTgt spid="12"/>
                                        </p:tgtEl>
                                        <p:attrNameLst>
                                          <p:attrName>style.visibility</p:attrName>
                                        </p:attrNameLst>
                                      </p:cBhvr>
                                      <p:to>
                                        <p:strVal val="visible"/>
                                      </p:to>
                                    </p:set>
                                    <p:animEffect transition="in" filter="fade">
                                      <p:cBhvr>
                                        <p:cTn id="19" dur="550"/>
                                        <p:tgtEl>
                                          <p:spTgt spid="12"/>
                                        </p:tgtEl>
                                      </p:cBhvr>
                                    </p:animEffect>
                                    <p:anim calcmode="lin" valueType="num">
                                      <p:cBhvr>
                                        <p:cTn id="20" dur="550" fill="hold"/>
                                        <p:tgtEl>
                                          <p:spTgt spid="12"/>
                                        </p:tgtEl>
                                        <p:attrNameLst>
                                          <p:attrName>ppt_x</p:attrName>
                                        </p:attrNameLst>
                                      </p:cBhvr>
                                      <p:tavLst>
                                        <p:tav tm="0">
                                          <p:val>
                                            <p:strVal val="#ppt_x"/>
                                          </p:val>
                                        </p:tav>
                                        <p:tav tm="100000">
                                          <p:val>
                                            <p:strVal val="#ppt_x"/>
                                          </p:val>
                                        </p:tav>
                                      </p:tavLst>
                                    </p:anim>
                                    <p:anim calcmode="lin" valueType="num">
                                      <p:cBhvr>
                                        <p:cTn id="21" dur="495" decel="100000" fill="hold"/>
                                        <p:tgtEl>
                                          <p:spTgt spid="12"/>
                                        </p:tgtEl>
                                        <p:attrNameLst>
                                          <p:attrName>ppt_y</p:attrName>
                                        </p:attrNameLst>
                                      </p:cBhvr>
                                      <p:tavLst>
                                        <p:tav tm="0">
                                          <p:val>
                                            <p:strVal val="#ppt_y+1"/>
                                          </p:val>
                                        </p:tav>
                                        <p:tav tm="100000">
                                          <p:val>
                                            <p:strVal val="#ppt_y-.03"/>
                                          </p:val>
                                        </p:tav>
                                      </p:tavLst>
                                    </p:anim>
                                    <p:anim calcmode="lin" valueType="num">
                                      <p:cBhvr>
                                        <p:cTn id="22" dur="55" accel="100000" fill="hold">
                                          <p:stCondLst>
                                            <p:cond delay="495"/>
                                          </p:stCondLst>
                                        </p:cTn>
                                        <p:tgtEl>
                                          <p:spTgt spid="12"/>
                                        </p:tgtEl>
                                        <p:attrNameLst>
                                          <p:attrName>ppt_y</p:attrName>
                                        </p:attrNameLst>
                                      </p:cBhvr>
                                      <p:tavLst>
                                        <p:tav tm="0">
                                          <p:val>
                                            <p:strVal val="#ppt_y-.03"/>
                                          </p:val>
                                        </p:tav>
                                        <p:tav tm="100000">
                                          <p:val>
                                            <p:strVal val="#ppt_y"/>
                                          </p:val>
                                        </p:tav>
                                      </p:tavLst>
                                    </p:anim>
                                  </p:childTnLst>
                                </p:cTn>
                              </p:par>
                              <p:par>
                                <p:cTn id="23" presetID="37" presetClass="entr" presetSubtype="0" fill="hold" nodeType="withEffect">
                                  <p:stCondLst>
                                    <p:cond delay="870"/>
                                  </p:stCondLst>
                                  <p:childTnLst>
                                    <p:set>
                                      <p:cBhvr>
                                        <p:cTn id="24" dur="1" fill="hold">
                                          <p:stCondLst>
                                            <p:cond delay="0"/>
                                          </p:stCondLst>
                                        </p:cTn>
                                        <p:tgtEl>
                                          <p:spTgt spid="18"/>
                                        </p:tgtEl>
                                        <p:attrNameLst>
                                          <p:attrName>style.visibility</p:attrName>
                                        </p:attrNameLst>
                                      </p:cBhvr>
                                      <p:to>
                                        <p:strVal val="visible"/>
                                      </p:to>
                                    </p:set>
                                    <p:animEffect transition="in" filter="fade">
                                      <p:cBhvr>
                                        <p:cTn id="25" dur="550"/>
                                        <p:tgtEl>
                                          <p:spTgt spid="18"/>
                                        </p:tgtEl>
                                      </p:cBhvr>
                                    </p:animEffect>
                                    <p:anim calcmode="lin" valueType="num">
                                      <p:cBhvr>
                                        <p:cTn id="26" dur="550" fill="hold"/>
                                        <p:tgtEl>
                                          <p:spTgt spid="18"/>
                                        </p:tgtEl>
                                        <p:attrNameLst>
                                          <p:attrName>ppt_x</p:attrName>
                                        </p:attrNameLst>
                                      </p:cBhvr>
                                      <p:tavLst>
                                        <p:tav tm="0">
                                          <p:val>
                                            <p:strVal val="#ppt_x"/>
                                          </p:val>
                                        </p:tav>
                                        <p:tav tm="100000">
                                          <p:val>
                                            <p:strVal val="#ppt_x"/>
                                          </p:val>
                                        </p:tav>
                                      </p:tavLst>
                                    </p:anim>
                                    <p:anim calcmode="lin" valueType="num">
                                      <p:cBhvr>
                                        <p:cTn id="27" dur="495" decel="100000" fill="hold"/>
                                        <p:tgtEl>
                                          <p:spTgt spid="18"/>
                                        </p:tgtEl>
                                        <p:attrNameLst>
                                          <p:attrName>ppt_y</p:attrName>
                                        </p:attrNameLst>
                                      </p:cBhvr>
                                      <p:tavLst>
                                        <p:tav tm="0">
                                          <p:val>
                                            <p:strVal val="#ppt_y+1"/>
                                          </p:val>
                                        </p:tav>
                                        <p:tav tm="100000">
                                          <p:val>
                                            <p:strVal val="#ppt_y-.03"/>
                                          </p:val>
                                        </p:tav>
                                      </p:tavLst>
                                    </p:anim>
                                    <p:anim calcmode="lin" valueType="num">
                                      <p:cBhvr>
                                        <p:cTn id="28" dur="55" accel="100000" fill="hold">
                                          <p:stCondLst>
                                            <p:cond delay="495"/>
                                          </p:stCondLst>
                                        </p:cTn>
                                        <p:tgtEl>
                                          <p:spTgt spid="18"/>
                                        </p:tgtEl>
                                        <p:attrNameLst>
                                          <p:attrName>ppt_y</p:attrName>
                                        </p:attrNameLst>
                                      </p:cBhvr>
                                      <p:tavLst>
                                        <p:tav tm="0">
                                          <p:val>
                                            <p:strVal val="#ppt_y-.03"/>
                                          </p:val>
                                        </p:tav>
                                        <p:tav tm="100000">
                                          <p:val>
                                            <p:strVal val="#ppt_y"/>
                                          </p:val>
                                        </p:tav>
                                      </p:tavLst>
                                    </p:anim>
                                  </p:childTnLst>
                                </p:cTn>
                              </p:par>
                              <p:par>
                                <p:cTn id="29" presetID="37" presetClass="entr" presetSubtype="0" fill="hold" nodeType="withEffect">
                                  <p:stCondLst>
                                    <p:cond delay="1040"/>
                                  </p:stCondLst>
                                  <p:childTnLst>
                                    <p:set>
                                      <p:cBhvr>
                                        <p:cTn id="30" dur="1" fill="hold">
                                          <p:stCondLst>
                                            <p:cond delay="0"/>
                                          </p:stCondLst>
                                        </p:cTn>
                                        <p:tgtEl>
                                          <p:spTgt spid="24"/>
                                        </p:tgtEl>
                                        <p:attrNameLst>
                                          <p:attrName>style.visibility</p:attrName>
                                        </p:attrNameLst>
                                      </p:cBhvr>
                                      <p:to>
                                        <p:strVal val="visible"/>
                                      </p:to>
                                    </p:set>
                                    <p:animEffect transition="in" filter="fade">
                                      <p:cBhvr>
                                        <p:cTn id="31" dur="550"/>
                                        <p:tgtEl>
                                          <p:spTgt spid="24"/>
                                        </p:tgtEl>
                                      </p:cBhvr>
                                    </p:animEffect>
                                    <p:anim calcmode="lin" valueType="num">
                                      <p:cBhvr>
                                        <p:cTn id="32" dur="550" fill="hold"/>
                                        <p:tgtEl>
                                          <p:spTgt spid="24"/>
                                        </p:tgtEl>
                                        <p:attrNameLst>
                                          <p:attrName>ppt_x</p:attrName>
                                        </p:attrNameLst>
                                      </p:cBhvr>
                                      <p:tavLst>
                                        <p:tav tm="0">
                                          <p:val>
                                            <p:strVal val="#ppt_x"/>
                                          </p:val>
                                        </p:tav>
                                        <p:tav tm="100000">
                                          <p:val>
                                            <p:strVal val="#ppt_x"/>
                                          </p:val>
                                        </p:tav>
                                      </p:tavLst>
                                    </p:anim>
                                    <p:anim calcmode="lin" valueType="num">
                                      <p:cBhvr>
                                        <p:cTn id="33" dur="495" decel="100000" fill="hold"/>
                                        <p:tgtEl>
                                          <p:spTgt spid="24"/>
                                        </p:tgtEl>
                                        <p:attrNameLst>
                                          <p:attrName>ppt_y</p:attrName>
                                        </p:attrNameLst>
                                      </p:cBhvr>
                                      <p:tavLst>
                                        <p:tav tm="0">
                                          <p:val>
                                            <p:strVal val="#ppt_y+1"/>
                                          </p:val>
                                        </p:tav>
                                        <p:tav tm="100000">
                                          <p:val>
                                            <p:strVal val="#ppt_y-.03"/>
                                          </p:val>
                                        </p:tav>
                                      </p:tavLst>
                                    </p:anim>
                                    <p:anim calcmode="lin" valueType="num">
                                      <p:cBhvr>
                                        <p:cTn id="34" dur="55" accel="100000" fill="hold">
                                          <p:stCondLst>
                                            <p:cond delay="495"/>
                                          </p:stCondLst>
                                        </p:cTn>
                                        <p:tgtEl>
                                          <p:spTgt spid="24"/>
                                        </p:tgtEl>
                                        <p:attrNameLst>
                                          <p:attrName>ppt_y</p:attrName>
                                        </p:attrNameLst>
                                      </p:cBhvr>
                                      <p:tavLst>
                                        <p:tav tm="0">
                                          <p:val>
                                            <p:strVal val="#ppt_y-.03"/>
                                          </p:val>
                                        </p:tav>
                                        <p:tav tm="100000">
                                          <p:val>
                                            <p:strVal val="#ppt_y"/>
                                          </p:val>
                                        </p:tav>
                                      </p:tavLst>
                                    </p:anim>
                                  </p:childTnLst>
                                </p:cTn>
                              </p:par>
                              <p:par>
                                <p:cTn id="35" presetID="37" presetClass="entr" presetSubtype="0" fill="hold" nodeType="withEffect">
                                  <p:stCondLst>
                                    <p:cond delay="1210"/>
                                  </p:stCondLst>
                                  <p:childTnLst>
                                    <p:set>
                                      <p:cBhvr>
                                        <p:cTn id="36" dur="1" fill="hold">
                                          <p:stCondLst>
                                            <p:cond delay="0"/>
                                          </p:stCondLst>
                                        </p:cTn>
                                        <p:tgtEl>
                                          <p:spTgt spid="30"/>
                                        </p:tgtEl>
                                        <p:attrNameLst>
                                          <p:attrName>style.visibility</p:attrName>
                                        </p:attrNameLst>
                                      </p:cBhvr>
                                      <p:to>
                                        <p:strVal val="visible"/>
                                      </p:to>
                                    </p:set>
                                    <p:animEffect transition="in" filter="fade">
                                      <p:cBhvr>
                                        <p:cTn id="37" dur="550"/>
                                        <p:tgtEl>
                                          <p:spTgt spid="30"/>
                                        </p:tgtEl>
                                      </p:cBhvr>
                                    </p:animEffect>
                                    <p:anim calcmode="lin" valueType="num">
                                      <p:cBhvr>
                                        <p:cTn id="38" dur="550" fill="hold"/>
                                        <p:tgtEl>
                                          <p:spTgt spid="30"/>
                                        </p:tgtEl>
                                        <p:attrNameLst>
                                          <p:attrName>ppt_x</p:attrName>
                                        </p:attrNameLst>
                                      </p:cBhvr>
                                      <p:tavLst>
                                        <p:tav tm="0">
                                          <p:val>
                                            <p:strVal val="#ppt_x"/>
                                          </p:val>
                                        </p:tav>
                                        <p:tav tm="100000">
                                          <p:val>
                                            <p:strVal val="#ppt_x"/>
                                          </p:val>
                                        </p:tav>
                                      </p:tavLst>
                                    </p:anim>
                                    <p:anim calcmode="lin" valueType="num">
                                      <p:cBhvr>
                                        <p:cTn id="39" dur="495" decel="100000" fill="hold"/>
                                        <p:tgtEl>
                                          <p:spTgt spid="30"/>
                                        </p:tgtEl>
                                        <p:attrNameLst>
                                          <p:attrName>ppt_y</p:attrName>
                                        </p:attrNameLst>
                                      </p:cBhvr>
                                      <p:tavLst>
                                        <p:tav tm="0">
                                          <p:val>
                                            <p:strVal val="#ppt_y+1"/>
                                          </p:val>
                                        </p:tav>
                                        <p:tav tm="100000">
                                          <p:val>
                                            <p:strVal val="#ppt_y-.03"/>
                                          </p:val>
                                        </p:tav>
                                      </p:tavLst>
                                    </p:anim>
                                    <p:anim calcmode="lin" valueType="num">
                                      <p:cBhvr>
                                        <p:cTn id="40" dur="55" accel="100000" fill="hold">
                                          <p:stCondLst>
                                            <p:cond delay="495"/>
                                          </p:stCondLst>
                                        </p:cTn>
                                        <p:tgtEl>
                                          <p:spTgt spid="30"/>
                                        </p:tgtEl>
                                        <p:attrNameLst>
                                          <p:attrName>ppt_y</p:attrName>
                                        </p:attrNameLst>
                                      </p:cBhvr>
                                      <p:tavLst>
                                        <p:tav tm="0">
                                          <p:val>
                                            <p:strVal val="#ppt_y-.03"/>
                                          </p:val>
                                        </p:tav>
                                        <p:tav tm="100000">
                                          <p:val>
                                            <p:strVal val="#ppt_y"/>
                                          </p:val>
                                        </p:tav>
                                      </p:tavLst>
                                    </p:anim>
                                  </p:childTnLst>
                                </p:cTn>
                              </p:par>
                              <p:par>
                                <p:cTn id="41" presetID="37" presetClass="entr" presetSubtype="0" fill="hold" nodeType="withEffect">
                                  <p:stCondLst>
                                    <p:cond delay="1380"/>
                                  </p:stCondLst>
                                  <p:childTnLst>
                                    <p:set>
                                      <p:cBhvr>
                                        <p:cTn id="42" dur="1" fill="hold">
                                          <p:stCondLst>
                                            <p:cond delay="0"/>
                                          </p:stCondLst>
                                        </p:cTn>
                                        <p:tgtEl>
                                          <p:spTgt spid="36"/>
                                        </p:tgtEl>
                                        <p:attrNameLst>
                                          <p:attrName>style.visibility</p:attrName>
                                        </p:attrNameLst>
                                      </p:cBhvr>
                                      <p:to>
                                        <p:strVal val="visible"/>
                                      </p:to>
                                    </p:set>
                                    <p:animEffect transition="in" filter="fade">
                                      <p:cBhvr>
                                        <p:cTn id="43" dur="550"/>
                                        <p:tgtEl>
                                          <p:spTgt spid="36"/>
                                        </p:tgtEl>
                                      </p:cBhvr>
                                    </p:animEffect>
                                    <p:anim calcmode="lin" valueType="num">
                                      <p:cBhvr>
                                        <p:cTn id="44" dur="550" fill="hold"/>
                                        <p:tgtEl>
                                          <p:spTgt spid="36"/>
                                        </p:tgtEl>
                                        <p:attrNameLst>
                                          <p:attrName>ppt_x</p:attrName>
                                        </p:attrNameLst>
                                      </p:cBhvr>
                                      <p:tavLst>
                                        <p:tav tm="0">
                                          <p:val>
                                            <p:strVal val="#ppt_x"/>
                                          </p:val>
                                        </p:tav>
                                        <p:tav tm="100000">
                                          <p:val>
                                            <p:strVal val="#ppt_x"/>
                                          </p:val>
                                        </p:tav>
                                      </p:tavLst>
                                    </p:anim>
                                    <p:anim calcmode="lin" valueType="num">
                                      <p:cBhvr>
                                        <p:cTn id="45" dur="495" decel="100000" fill="hold"/>
                                        <p:tgtEl>
                                          <p:spTgt spid="36"/>
                                        </p:tgtEl>
                                        <p:attrNameLst>
                                          <p:attrName>ppt_y</p:attrName>
                                        </p:attrNameLst>
                                      </p:cBhvr>
                                      <p:tavLst>
                                        <p:tav tm="0">
                                          <p:val>
                                            <p:strVal val="#ppt_y+1"/>
                                          </p:val>
                                        </p:tav>
                                        <p:tav tm="100000">
                                          <p:val>
                                            <p:strVal val="#ppt_y-.03"/>
                                          </p:val>
                                        </p:tav>
                                      </p:tavLst>
                                    </p:anim>
                                    <p:anim calcmode="lin" valueType="num">
                                      <p:cBhvr>
                                        <p:cTn id="46" dur="55" accel="100000" fill="hold">
                                          <p:stCondLst>
                                            <p:cond delay="495"/>
                                          </p:stCondLst>
                                        </p:cTn>
                                        <p:tgtEl>
                                          <p:spTgt spid="36"/>
                                        </p:tgtEl>
                                        <p:attrNameLst>
                                          <p:attrName>ppt_y</p:attrName>
                                        </p:attrNameLst>
                                      </p:cBhvr>
                                      <p:tavLst>
                                        <p:tav tm="0">
                                          <p:val>
                                            <p:strVal val="#ppt_y-.03"/>
                                          </p:val>
                                        </p:tav>
                                        <p:tav tm="100000">
                                          <p:val>
                                            <p:strVal val="#ppt_y"/>
                                          </p:val>
                                        </p:tav>
                                      </p:tavLst>
                                    </p:anim>
                                  </p:childTnLst>
                                </p:cTn>
                              </p:par>
                              <p:par>
                                <p:cTn id="47" presetID="37" presetClass="entr" presetSubtype="0" fill="hold" nodeType="withEffect">
                                  <p:stCondLst>
                                    <p:cond delay="1550"/>
                                  </p:stCondLst>
                                  <p:childTnLst>
                                    <p:set>
                                      <p:cBhvr>
                                        <p:cTn id="48" dur="1" fill="hold">
                                          <p:stCondLst>
                                            <p:cond delay="0"/>
                                          </p:stCondLst>
                                        </p:cTn>
                                        <p:tgtEl>
                                          <p:spTgt spid="42"/>
                                        </p:tgtEl>
                                        <p:attrNameLst>
                                          <p:attrName>style.visibility</p:attrName>
                                        </p:attrNameLst>
                                      </p:cBhvr>
                                      <p:to>
                                        <p:strVal val="visible"/>
                                      </p:to>
                                    </p:set>
                                    <p:animEffect transition="in" filter="fade">
                                      <p:cBhvr>
                                        <p:cTn id="49" dur="550"/>
                                        <p:tgtEl>
                                          <p:spTgt spid="42"/>
                                        </p:tgtEl>
                                      </p:cBhvr>
                                    </p:animEffect>
                                    <p:anim calcmode="lin" valueType="num">
                                      <p:cBhvr>
                                        <p:cTn id="50" dur="550" fill="hold"/>
                                        <p:tgtEl>
                                          <p:spTgt spid="42"/>
                                        </p:tgtEl>
                                        <p:attrNameLst>
                                          <p:attrName>ppt_x</p:attrName>
                                        </p:attrNameLst>
                                      </p:cBhvr>
                                      <p:tavLst>
                                        <p:tav tm="0">
                                          <p:val>
                                            <p:strVal val="#ppt_x"/>
                                          </p:val>
                                        </p:tav>
                                        <p:tav tm="100000">
                                          <p:val>
                                            <p:strVal val="#ppt_x"/>
                                          </p:val>
                                        </p:tav>
                                      </p:tavLst>
                                    </p:anim>
                                    <p:anim calcmode="lin" valueType="num">
                                      <p:cBhvr>
                                        <p:cTn id="51" dur="495" decel="100000" fill="hold"/>
                                        <p:tgtEl>
                                          <p:spTgt spid="42"/>
                                        </p:tgtEl>
                                        <p:attrNameLst>
                                          <p:attrName>ppt_y</p:attrName>
                                        </p:attrNameLst>
                                      </p:cBhvr>
                                      <p:tavLst>
                                        <p:tav tm="0">
                                          <p:val>
                                            <p:strVal val="#ppt_y+1"/>
                                          </p:val>
                                        </p:tav>
                                        <p:tav tm="100000">
                                          <p:val>
                                            <p:strVal val="#ppt_y-.03"/>
                                          </p:val>
                                        </p:tav>
                                      </p:tavLst>
                                    </p:anim>
                                    <p:anim calcmode="lin" valueType="num">
                                      <p:cBhvr>
                                        <p:cTn id="52" dur="55" accel="100000" fill="hold">
                                          <p:stCondLst>
                                            <p:cond delay="495"/>
                                          </p:stCondLst>
                                        </p:cTn>
                                        <p:tgtEl>
                                          <p:spTgt spid="42"/>
                                        </p:tgtEl>
                                        <p:attrNameLst>
                                          <p:attrName>ppt_y</p:attrName>
                                        </p:attrNameLst>
                                      </p:cBhvr>
                                      <p:tavLst>
                                        <p:tav tm="0">
                                          <p:val>
                                            <p:strVal val="#ppt_y-.03"/>
                                          </p:val>
                                        </p:tav>
                                        <p:tav tm="100000">
                                          <p:val>
                                            <p:strVal val="#ppt_y"/>
                                          </p:val>
                                        </p:tav>
                                      </p:tavLst>
                                    </p:anim>
                                  </p:childTnLst>
                                </p:cTn>
                              </p:par>
                              <p:par>
                                <p:cTn id="53" presetID="37" presetClass="entr" presetSubtype="0" fill="hold" nodeType="withEffect">
                                  <p:stCondLst>
                                    <p:cond delay="1720"/>
                                  </p:stCondLst>
                                  <p:childTnLst>
                                    <p:set>
                                      <p:cBhvr>
                                        <p:cTn id="54" dur="1" fill="hold">
                                          <p:stCondLst>
                                            <p:cond delay="0"/>
                                          </p:stCondLst>
                                        </p:cTn>
                                        <p:tgtEl>
                                          <p:spTgt spid="48"/>
                                        </p:tgtEl>
                                        <p:attrNameLst>
                                          <p:attrName>style.visibility</p:attrName>
                                        </p:attrNameLst>
                                      </p:cBhvr>
                                      <p:to>
                                        <p:strVal val="visible"/>
                                      </p:to>
                                    </p:set>
                                    <p:animEffect transition="in" filter="fade">
                                      <p:cBhvr>
                                        <p:cTn id="55" dur="550"/>
                                        <p:tgtEl>
                                          <p:spTgt spid="48"/>
                                        </p:tgtEl>
                                      </p:cBhvr>
                                    </p:animEffect>
                                    <p:anim calcmode="lin" valueType="num">
                                      <p:cBhvr>
                                        <p:cTn id="56" dur="550" fill="hold"/>
                                        <p:tgtEl>
                                          <p:spTgt spid="48"/>
                                        </p:tgtEl>
                                        <p:attrNameLst>
                                          <p:attrName>ppt_x</p:attrName>
                                        </p:attrNameLst>
                                      </p:cBhvr>
                                      <p:tavLst>
                                        <p:tav tm="0">
                                          <p:val>
                                            <p:strVal val="#ppt_x"/>
                                          </p:val>
                                        </p:tav>
                                        <p:tav tm="100000">
                                          <p:val>
                                            <p:strVal val="#ppt_x"/>
                                          </p:val>
                                        </p:tav>
                                      </p:tavLst>
                                    </p:anim>
                                    <p:anim calcmode="lin" valueType="num">
                                      <p:cBhvr>
                                        <p:cTn id="57" dur="495" decel="100000" fill="hold"/>
                                        <p:tgtEl>
                                          <p:spTgt spid="48"/>
                                        </p:tgtEl>
                                        <p:attrNameLst>
                                          <p:attrName>ppt_y</p:attrName>
                                        </p:attrNameLst>
                                      </p:cBhvr>
                                      <p:tavLst>
                                        <p:tav tm="0">
                                          <p:val>
                                            <p:strVal val="#ppt_y+1"/>
                                          </p:val>
                                        </p:tav>
                                        <p:tav tm="100000">
                                          <p:val>
                                            <p:strVal val="#ppt_y-.03"/>
                                          </p:val>
                                        </p:tav>
                                      </p:tavLst>
                                    </p:anim>
                                    <p:anim calcmode="lin" valueType="num">
                                      <p:cBhvr>
                                        <p:cTn id="58" dur="55" accel="100000" fill="hold">
                                          <p:stCondLst>
                                            <p:cond delay="495"/>
                                          </p:stCondLst>
                                        </p:cTn>
                                        <p:tgtEl>
                                          <p:spTgt spid="48"/>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14284B"/>
        </a:solidFill>
        <a:effectLst/>
      </p:bgPr>
    </p:bg>
    <p:spTree>
      <p:nvGrpSpPr>
        <p:cNvPr id="1" name=""/>
        <p:cNvGrpSpPr/>
        <p:nvPr/>
      </p:nvGrpSpPr>
      <p:grpSpPr>
        <a:xfrm>
          <a:off x="0" y="0"/>
          <a:ext cx="0" cy="0"/>
          <a:chOff x="0" y="0"/>
          <a:chExt cx="0" cy="0"/>
        </a:xfrm>
      </p:grpSpPr>
      <p:sp>
        <p:nvSpPr>
          <p:cNvPr id="2" name="Rectangle 1"/>
          <p:cNvSpPr/>
          <p:nvPr/>
        </p:nvSpPr>
        <p:spPr>
          <a:xfrm>
            <a:off x="0" y="0"/>
            <a:ext cx="12192000" cy="57150"/>
          </a:xfrm>
          <a:prstGeom prst="rect">
            <a:avLst/>
          </a:prstGeom>
          <a:solidFill>
            <a:srgbClr val="59BEC9"/>
          </a:solidFill>
          <a:ln>
            <a:noFill/>
          </a:ln>
        </p:spPr>
        <p:txBody>
          <a:bodyPr rtlCol="0" anchor="ctr"/>
          <a:lstStyle/>
          <a:p>
            <a:pPr algn="ctr"/>
            <a:endParaRPr/>
          </a:p>
        </p:txBody>
      </p:sp>
      <p:pic>
        <p:nvPicPr>
          <p:cNvPr id="3" name="Picture 2" descr="s15_Picture_13.png"/>
          <p:cNvPicPr>
            <a:picLocks noChangeAspect="1"/>
          </p:cNvPicPr>
          <p:nvPr/>
        </p:nvPicPr>
        <p:blipFill>
          <a:blip r:embed="rId2"/>
          <a:stretch>
            <a:fillRect/>
          </a:stretch>
        </p:blipFill>
        <p:spPr>
          <a:xfrm>
            <a:off x="0" y="6210300"/>
            <a:ext cx="12192000" cy="647700"/>
          </a:xfrm>
          <a:prstGeom prst="rect">
            <a:avLst/>
          </a:prstGeom>
        </p:spPr>
      </p:pic>
      <p:pic>
        <p:nvPicPr>
          <p:cNvPr id="4" name="anim|fade|0.1" descr="s15_Picture_15.png"/>
          <p:cNvPicPr>
            <a:picLocks noChangeAspect="1"/>
          </p:cNvPicPr>
          <p:nvPr/>
        </p:nvPicPr>
        <p:blipFill>
          <a:blip r:embed="rId3"/>
          <a:stretch>
            <a:fillRect/>
          </a:stretch>
        </p:blipFill>
        <p:spPr>
          <a:xfrm>
            <a:off x="8858250" y="323850"/>
            <a:ext cx="2762250" cy="495300"/>
          </a:xfrm>
          <a:prstGeom prst="rect">
            <a:avLst/>
          </a:prstGeom>
        </p:spPr>
      </p:pic>
      <p:grpSp>
        <p:nvGrpSpPr>
          <p:cNvPr id="5" name="anim|fade|0.05"/>
          <p:cNvGrpSpPr/>
          <p:nvPr/>
        </p:nvGrpSpPr>
        <p:grpSpPr>
          <a:xfrm>
            <a:off x="571500" y="266700"/>
            <a:ext cx="5200650" cy="190500"/>
            <a:chOff x="571500" y="266700"/>
            <a:chExt cx="5200650" cy="190500"/>
          </a:xfrm>
        </p:grpSpPr>
        <p:sp>
          <p:nvSpPr>
            <p:cNvPr id="6" name="Rectangle 5"/>
            <p:cNvSpPr/>
            <p:nvPr/>
          </p:nvSpPr>
          <p:spPr>
            <a:xfrm>
              <a:off x="571500" y="342900"/>
              <a:ext cx="342900" cy="47625"/>
            </a:xfrm>
            <a:prstGeom prst="rect">
              <a:avLst/>
            </a:prstGeom>
            <a:solidFill>
              <a:srgbClr val="FFB938"/>
            </a:solidFill>
            <a:ln>
              <a:noFill/>
            </a:ln>
          </p:spPr>
          <p:txBody>
            <a:bodyPr rtlCol="0" anchor="ctr"/>
            <a:lstStyle/>
            <a:p>
              <a:pPr algn="ctr"/>
              <a:endParaRPr/>
            </a:p>
          </p:txBody>
        </p:sp>
        <p:sp>
          <p:nvSpPr>
            <p:cNvPr id="7" name="TextBox 6"/>
            <p:cNvSpPr txBox="1"/>
            <p:nvPr/>
          </p:nvSpPr>
          <p:spPr>
            <a:xfrm>
              <a:off x="1009650" y="266700"/>
              <a:ext cx="4762500" cy="190500"/>
            </a:xfrm>
            <a:prstGeom prst="rect">
              <a:avLst/>
            </a:prstGeom>
            <a:noFill/>
          </p:spPr>
          <p:txBody>
            <a:bodyPr wrap="square" lIns="0" tIns="0" rIns="0" bIns="0" anchor="t">
              <a:spAutoFit/>
            </a:bodyPr>
            <a:lstStyle/>
            <a:p>
              <a:pPr algn="l"/>
              <a:r>
                <a:rPr sz="1100" b="1" spc="300">
                  <a:solidFill>
                    <a:srgbClr val="59BEC9"/>
                  </a:solidFill>
                  <a:latin typeface="Century Gothic"/>
                </a:rPr>
                <a:t>WRAP-UP</a:t>
              </a:r>
            </a:p>
          </p:txBody>
        </p:sp>
      </p:grpSp>
      <p:sp>
        <p:nvSpPr>
          <p:cNvPr id="8" name="anim|wipeL|0.1"/>
          <p:cNvSpPr txBox="1"/>
          <p:nvPr/>
        </p:nvSpPr>
        <p:spPr>
          <a:xfrm>
            <a:off x="571500" y="533400"/>
            <a:ext cx="7620000" cy="533400"/>
          </a:xfrm>
          <a:prstGeom prst="rect">
            <a:avLst/>
          </a:prstGeom>
          <a:noFill/>
        </p:spPr>
        <p:txBody>
          <a:bodyPr wrap="square" lIns="0" tIns="0" rIns="0" bIns="0" anchor="t">
            <a:spAutoFit/>
          </a:bodyPr>
          <a:lstStyle/>
          <a:p>
            <a:pPr algn="l"/>
            <a:r>
              <a:rPr sz="3100" b="1">
                <a:solidFill>
                  <a:srgbClr val="FFFFFF"/>
                </a:solidFill>
                <a:latin typeface="Century Gothic"/>
              </a:rPr>
              <a:t>Summary and resources</a:t>
            </a:r>
          </a:p>
        </p:txBody>
      </p:sp>
      <p:sp>
        <p:nvSpPr>
          <p:cNvPr id="9" name="anim|fade|0.45"/>
          <p:cNvSpPr txBox="1"/>
          <p:nvPr/>
        </p:nvSpPr>
        <p:spPr>
          <a:xfrm>
            <a:off x="571500" y="1028700"/>
            <a:ext cx="7620000" cy="247650"/>
          </a:xfrm>
          <a:prstGeom prst="rect">
            <a:avLst/>
          </a:prstGeom>
          <a:noFill/>
        </p:spPr>
        <p:txBody>
          <a:bodyPr wrap="square" lIns="0" tIns="0" rIns="0" bIns="0" anchor="t">
            <a:spAutoFit/>
          </a:bodyPr>
          <a:lstStyle/>
          <a:p>
            <a:pPr algn="l"/>
            <a:r>
              <a:rPr sz="1500" b="0">
                <a:solidFill>
                  <a:srgbClr val="B0C0D9"/>
                </a:solidFill>
                <a:latin typeface="Segoe UI"/>
              </a:rPr>
              <a:t>Keep these handy</a:t>
            </a:r>
          </a:p>
        </p:txBody>
      </p:sp>
      <p:grpSp>
        <p:nvGrpSpPr>
          <p:cNvPr id="10" name="anim|rise|0.55"/>
          <p:cNvGrpSpPr/>
          <p:nvPr/>
        </p:nvGrpSpPr>
        <p:grpSpPr>
          <a:xfrm>
            <a:off x="571500" y="1485900"/>
            <a:ext cx="5448300" cy="1143000"/>
            <a:chOff x="571500" y="1485900"/>
            <a:chExt cx="5448300" cy="1143000"/>
          </a:xfrm>
        </p:grpSpPr>
        <p:sp>
          <p:nvSpPr>
            <p:cNvPr id="11" name="Rounded Rectangle 10"/>
            <p:cNvSpPr/>
            <p:nvPr/>
          </p:nvSpPr>
          <p:spPr>
            <a:xfrm>
              <a:off x="571500" y="1485900"/>
              <a:ext cx="5448300" cy="1143000"/>
            </a:xfrm>
            <a:prstGeom prst="roundRect">
              <a:avLst>
                <a:gd name="adj" fmla="val 15000"/>
              </a:avLst>
            </a:prstGeom>
            <a:solidFill>
              <a:srgbClr val="1E3A68"/>
            </a:solidFill>
            <a:ln>
              <a:noFill/>
            </a:ln>
          </p:spPr>
          <p:txBody>
            <a:bodyPr rtlCol="0" anchor="ctr"/>
            <a:lstStyle/>
            <a:p>
              <a:pPr algn="ctr"/>
              <a:endParaRPr/>
            </a:p>
          </p:txBody>
        </p:sp>
        <p:sp>
          <p:nvSpPr>
            <p:cNvPr id="12" name="Oval 11"/>
            <p:cNvSpPr/>
            <p:nvPr/>
          </p:nvSpPr>
          <p:spPr>
            <a:xfrm>
              <a:off x="800100" y="1790700"/>
              <a:ext cx="533400" cy="533400"/>
            </a:xfrm>
            <a:prstGeom prst="ellipse">
              <a:avLst/>
            </a:prstGeom>
            <a:solidFill>
              <a:srgbClr val="FFB938"/>
            </a:solidFill>
            <a:ln>
              <a:noFill/>
            </a:ln>
          </p:spPr>
          <p:txBody>
            <a:bodyPr rtlCol="0" anchor="ctr"/>
            <a:lstStyle/>
            <a:p>
              <a:pPr algn="ctr"/>
              <a:endParaRPr/>
            </a:p>
          </p:txBody>
        </p:sp>
        <p:sp>
          <p:nvSpPr>
            <p:cNvPr id="13" name="TextBox 12"/>
            <p:cNvSpPr txBox="1"/>
            <p:nvPr/>
          </p:nvSpPr>
          <p:spPr>
            <a:xfrm>
              <a:off x="800100" y="1790700"/>
              <a:ext cx="533400" cy="533400"/>
            </a:xfrm>
            <a:prstGeom prst="rect">
              <a:avLst/>
            </a:prstGeom>
            <a:noFill/>
          </p:spPr>
          <p:txBody>
            <a:bodyPr wrap="square" lIns="0" tIns="0" rIns="0" bIns="0" anchor="ctr">
              <a:spAutoFit/>
            </a:bodyPr>
            <a:lstStyle/>
            <a:p>
              <a:pPr algn="ctr"/>
              <a:r>
                <a:rPr sz="2200" b="1">
                  <a:solidFill>
                    <a:srgbClr val="14284B"/>
                  </a:solidFill>
                  <a:latin typeface="Century Gothic"/>
                </a:rPr>
                <a:t>1</a:t>
              </a:r>
            </a:p>
          </p:txBody>
        </p:sp>
        <p:sp>
          <p:nvSpPr>
            <p:cNvPr id="14" name="TextBox 13"/>
            <p:cNvSpPr txBox="1"/>
            <p:nvPr/>
          </p:nvSpPr>
          <p:spPr>
            <a:xfrm>
              <a:off x="1524000" y="1619250"/>
              <a:ext cx="4286250" cy="876300"/>
            </a:xfrm>
            <a:prstGeom prst="rect">
              <a:avLst/>
            </a:prstGeom>
            <a:noFill/>
          </p:spPr>
          <p:txBody>
            <a:bodyPr wrap="square" lIns="0" tIns="0" rIns="0" bIns="0" anchor="ctr">
              <a:spAutoFit/>
            </a:bodyPr>
            <a:lstStyle/>
            <a:p>
              <a:pPr algn="l"/>
              <a:r>
                <a:rPr sz="1600" b="1">
                  <a:solidFill>
                    <a:srgbClr val="FFFFFF"/>
                  </a:solidFill>
                  <a:latin typeface="Segoe UI"/>
                </a:rPr>
                <a:t>The vault reaches the cluster through the Backup extension and Trusted Access</a:t>
              </a:r>
            </a:p>
          </p:txBody>
        </p:sp>
      </p:grpSp>
      <p:grpSp>
        <p:nvGrpSpPr>
          <p:cNvPr id="15" name="anim|rise|0.71"/>
          <p:cNvGrpSpPr/>
          <p:nvPr/>
        </p:nvGrpSpPr>
        <p:grpSpPr>
          <a:xfrm>
            <a:off x="6172200" y="1485900"/>
            <a:ext cx="5448300" cy="1143000"/>
            <a:chOff x="6172200" y="1485900"/>
            <a:chExt cx="5448300" cy="1143000"/>
          </a:xfrm>
        </p:grpSpPr>
        <p:sp>
          <p:nvSpPr>
            <p:cNvPr id="16" name="Rounded Rectangle 15"/>
            <p:cNvSpPr/>
            <p:nvPr/>
          </p:nvSpPr>
          <p:spPr>
            <a:xfrm>
              <a:off x="6172200" y="1485900"/>
              <a:ext cx="5448300" cy="1143000"/>
            </a:xfrm>
            <a:prstGeom prst="roundRect">
              <a:avLst>
                <a:gd name="adj" fmla="val 15000"/>
              </a:avLst>
            </a:prstGeom>
            <a:solidFill>
              <a:srgbClr val="1E3A68"/>
            </a:solidFill>
            <a:ln>
              <a:noFill/>
            </a:ln>
          </p:spPr>
          <p:txBody>
            <a:bodyPr rtlCol="0" anchor="ctr"/>
            <a:lstStyle/>
            <a:p>
              <a:pPr algn="ctr"/>
              <a:endParaRPr/>
            </a:p>
          </p:txBody>
        </p:sp>
        <p:sp>
          <p:nvSpPr>
            <p:cNvPr id="17" name="Oval 16"/>
            <p:cNvSpPr/>
            <p:nvPr/>
          </p:nvSpPr>
          <p:spPr>
            <a:xfrm>
              <a:off x="6400800" y="1790700"/>
              <a:ext cx="533400" cy="533400"/>
            </a:xfrm>
            <a:prstGeom prst="ellipse">
              <a:avLst/>
            </a:prstGeom>
            <a:solidFill>
              <a:srgbClr val="FFB938"/>
            </a:solidFill>
            <a:ln>
              <a:noFill/>
            </a:ln>
          </p:spPr>
          <p:txBody>
            <a:bodyPr rtlCol="0" anchor="ctr"/>
            <a:lstStyle/>
            <a:p>
              <a:pPr algn="ctr"/>
              <a:endParaRPr/>
            </a:p>
          </p:txBody>
        </p:sp>
        <p:sp>
          <p:nvSpPr>
            <p:cNvPr id="18" name="TextBox 17"/>
            <p:cNvSpPr txBox="1"/>
            <p:nvPr/>
          </p:nvSpPr>
          <p:spPr>
            <a:xfrm>
              <a:off x="6400800" y="1790700"/>
              <a:ext cx="533400" cy="533400"/>
            </a:xfrm>
            <a:prstGeom prst="rect">
              <a:avLst/>
            </a:prstGeom>
            <a:noFill/>
          </p:spPr>
          <p:txBody>
            <a:bodyPr wrap="square" lIns="0" tIns="0" rIns="0" bIns="0" anchor="ctr">
              <a:spAutoFit/>
            </a:bodyPr>
            <a:lstStyle/>
            <a:p>
              <a:pPr algn="ctr"/>
              <a:r>
                <a:rPr sz="2200" b="1">
                  <a:solidFill>
                    <a:srgbClr val="14284B"/>
                  </a:solidFill>
                  <a:latin typeface="Century Gothic"/>
                </a:rPr>
                <a:t>2</a:t>
              </a:r>
            </a:p>
          </p:txBody>
        </p:sp>
        <p:sp>
          <p:nvSpPr>
            <p:cNvPr id="19" name="TextBox 18"/>
            <p:cNvSpPr txBox="1"/>
            <p:nvPr/>
          </p:nvSpPr>
          <p:spPr>
            <a:xfrm>
              <a:off x="7124700" y="1619250"/>
              <a:ext cx="4286250" cy="876300"/>
            </a:xfrm>
            <a:prstGeom prst="rect">
              <a:avLst/>
            </a:prstGeom>
            <a:noFill/>
          </p:spPr>
          <p:txBody>
            <a:bodyPr wrap="square" lIns="0" tIns="0" rIns="0" bIns="0" anchor="ctr">
              <a:spAutoFit/>
            </a:bodyPr>
            <a:lstStyle/>
            <a:p>
              <a:pPr algn="l"/>
              <a:r>
                <a:rPr sz="1600" b="1">
                  <a:solidFill>
                    <a:srgbClr val="FFFFFF"/>
                  </a:solidFill>
                  <a:latin typeface="Segoe UI"/>
                </a:rPr>
                <a:t>Restore starts in the Backup vault of the environment: Restore, restore point, target, resources, validate</a:t>
              </a:r>
            </a:p>
          </p:txBody>
        </p:sp>
      </p:grpSp>
      <p:grpSp>
        <p:nvGrpSpPr>
          <p:cNvPr id="20" name="anim|rise|0.87"/>
          <p:cNvGrpSpPr/>
          <p:nvPr/>
        </p:nvGrpSpPr>
        <p:grpSpPr>
          <a:xfrm>
            <a:off x="571500" y="2781300"/>
            <a:ext cx="5448300" cy="1143000"/>
            <a:chOff x="571500" y="2781300"/>
            <a:chExt cx="5448300" cy="1143000"/>
          </a:xfrm>
        </p:grpSpPr>
        <p:sp>
          <p:nvSpPr>
            <p:cNvPr id="21" name="Rounded Rectangle 20"/>
            <p:cNvSpPr/>
            <p:nvPr/>
          </p:nvSpPr>
          <p:spPr>
            <a:xfrm>
              <a:off x="571500" y="2781300"/>
              <a:ext cx="5448300" cy="1143000"/>
            </a:xfrm>
            <a:prstGeom prst="roundRect">
              <a:avLst>
                <a:gd name="adj" fmla="val 15000"/>
              </a:avLst>
            </a:prstGeom>
            <a:solidFill>
              <a:srgbClr val="1E3A68"/>
            </a:solidFill>
            <a:ln>
              <a:noFill/>
            </a:ln>
          </p:spPr>
          <p:txBody>
            <a:bodyPr rtlCol="0" anchor="ctr"/>
            <a:lstStyle/>
            <a:p>
              <a:pPr algn="ctr"/>
              <a:endParaRPr/>
            </a:p>
          </p:txBody>
        </p:sp>
        <p:sp>
          <p:nvSpPr>
            <p:cNvPr id="22" name="Oval 21"/>
            <p:cNvSpPr/>
            <p:nvPr/>
          </p:nvSpPr>
          <p:spPr>
            <a:xfrm>
              <a:off x="800100" y="3086100"/>
              <a:ext cx="533400" cy="533400"/>
            </a:xfrm>
            <a:prstGeom prst="ellipse">
              <a:avLst/>
            </a:prstGeom>
            <a:solidFill>
              <a:srgbClr val="FFB938"/>
            </a:solidFill>
            <a:ln>
              <a:noFill/>
            </a:ln>
          </p:spPr>
          <p:txBody>
            <a:bodyPr rtlCol="0" anchor="ctr"/>
            <a:lstStyle/>
            <a:p>
              <a:pPr algn="ctr"/>
              <a:endParaRPr/>
            </a:p>
          </p:txBody>
        </p:sp>
        <p:sp>
          <p:nvSpPr>
            <p:cNvPr id="23" name="TextBox 22"/>
            <p:cNvSpPr txBox="1"/>
            <p:nvPr/>
          </p:nvSpPr>
          <p:spPr>
            <a:xfrm>
              <a:off x="800100" y="3086100"/>
              <a:ext cx="533400" cy="533400"/>
            </a:xfrm>
            <a:prstGeom prst="rect">
              <a:avLst/>
            </a:prstGeom>
            <a:noFill/>
          </p:spPr>
          <p:txBody>
            <a:bodyPr wrap="square" lIns="0" tIns="0" rIns="0" bIns="0" anchor="ctr">
              <a:spAutoFit/>
            </a:bodyPr>
            <a:lstStyle/>
            <a:p>
              <a:pPr algn="ctr"/>
              <a:r>
                <a:rPr sz="2200" b="1">
                  <a:solidFill>
                    <a:srgbClr val="14284B"/>
                  </a:solidFill>
                  <a:latin typeface="Century Gothic"/>
                </a:rPr>
                <a:t>3</a:t>
              </a:r>
            </a:p>
          </p:txBody>
        </p:sp>
        <p:sp>
          <p:nvSpPr>
            <p:cNvPr id="24" name="TextBox 23"/>
            <p:cNvSpPr txBox="1"/>
            <p:nvPr/>
          </p:nvSpPr>
          <p:spPr>
            <a:xfrm>
              <a:off x="1524000" y="2914650"/>
              <a:ext cx="4286250" cy="876300"/>
            </a:xfrm>
            <a:prstGeom prst="rect">
              <a:avLst/>
            </a:prstGeom>
            <a:noFill/>
          </p:spPr>
          <p:txBody>
            <a:bodyPr wrap="square" lIns="0" tIns="0" rIns="0" bIns="0" anchor="ctr">
              <a:spAutoFit/>
            </a:bodyPr>
            <a:lstStyle/>
            <a:p>
              <a:pPr algn="l"/>
              <a:r>
                <a:rPr sz="1600" b="1">
                  <a:solidFill>
                    <a:srgbClr val="FFFFFF"/>
                  </a:solidFill>
                  <a:latin typeface="Segoe UI"/>
                </a:rPr>
                <a:t>Grant the roles the validation asks for, then restore</a:t>
              </a:r>
            </a:p>
          </p:txBody>
        </p:sp>
      </p:grpSp>
      <p:grpSp>
        <p:nvGrpSpPr>
          <p:cNvPr id="25" name="anim|rise|1.03"/>
          <p:cNvGrpSpPr/>
          <p:nvPr/>
        </p:nvGrpSpPr>
        <p:grpSpPr>
          <a:xfrm>
            <a:off x="6172200" y="2781300"/>
            <a:ext cx="5448300" cy="1143000"/>
            <a:chOff x="6172200" y="2781300"/>
            <a:chExt cx="5448300" cy="1143000"/>
          </a:xfrm>
        </p:grpSpPr>
        <p:sp>
          <p:nvSpPr>
            <p:cNvPr id="26" name="Rounded Rectangle 25"/>
            <p:cNvSpPr/>
            <p:nvPr/>
          </p:nvSpPr>
          <p:spPr>
            <a:xfrm>
              <a:off x="6172200" y="2781300"/>
              <a:ext cx="5448300" cy="1143000"/>
            </a:xfrm>
            <a:prstGeom prst="roundRect">
              <a:avLst>
                <a:gd name="adj" fmla="val 15000"/>
              </a:avLst>
            </a:prstGeom>
            <a:solidFill>
              <a:srgbClr val="1E3A68"/>
            </a:solidFill>
            <a:ln>
              <a:noFill/>
            </a:ln>
          </p:spPr>
          <p:txBody>
            <a:bodyPr rtlCol="0" anchor="ctr"/>
            <a:lstStyle/>
            <a:p>
              <a:pPr algn="ctr"/>
              <a:endParaRPr/>
            </a:p>
          </p:txBody>
        </p:sp>
        <p:sp>
          <p:nvSpPr>
            <p:cNvPr id="27" name="Oval 26"/>
            <p:cNvSpPr/>
            <p:nvPr/>
          </p:nvSpPr>
          <p:spPr>
            <a:xfrm>
              <a:off x="6400800" y="3086100"/>
              <a:ext cx="533400" cy="533400"/>
            </a:xfrm>
            <a:prstGeom prst="ellipse">
              <a:avLst/>
            </a:prstGeom>
            <a:solidFill>
              <a:srgbClr val="FFB938"/>
            </a:solidFill>
            <a:ln>
              <a:noFill/>
            </a:ln>
          </p:spPr>
          <p:txBody>
            <a:bodyPr rtlCol="0" anchor="ctr"/>
            <a:lstStyle/>
            <a:p>
              <a:pPr algn="ctr"/>
              <a:endParaRPr/>
            </a:p>
          </p:txBody>
        </p:sp>
        <p:sp>
          <p:nvSpPr>
            <p:cNvPr id="28" name="TextBox 27"/>
            <p:cNvSpPr txBox="1"/>
            <p:nvPr/>
          </p:nvSpPr>
          <p:spPr>
            <a:xfrm>
              <a:off x="6400800" y="3086100"/>
              <a:ext cx="533400" cy="533400"/>
            </a:xfrm>
            <a:prstGeom prst="rect">
              <a:avLst/>
            </a:prstGeom>
            <a:noFill/>
          </p:spPr>
          <p:txBody>
            <a:bodyPr wrap="square" lIns="0" tIns="0" rIns="0" bIns="0" anchor="ctr">
              <a:spAutoFit/>
            </a:bodyPr>
            <a:lstStyle/>
            <a:p>
              <a:pPr algn="ctr"/>
              <a:r>
                <a:rPr sz="2200" b="1">
                  <a:solidFill>
                    <a:srgbClr val="14284B"/>
                  </a:solidFill>
                  <a:latin typeface="Century Gothic"/>
                </a:rPr>
                <a:t>4</a:t>
              </a:r>
            </a:p>
          </p:txBody>
        </p:sp>
        <p:sp>
          <p:nvSpPr>
            <p:cNvPr id="29" name="TextBox 28"/>
            <p:cNvSpPr txBox="1"/>
            <p:nvPr/>
          </p:nvSpPr>
          <p:spPr>
            <a:xfrm>
              <a:off x="7124700" y="2914650"/>
              <a:ext cx="4286250" cy="876300"/>
            </a:xfrm>
            <a:prstGeom prst="rect">
              <a:avLst/>
            </a:prstGeom>
            <a:noFill/>
          </p:spPr>
          <p:txBody>
            <a:bodyPr wrap="square" lIns="0" tIns="0" rIns="0" bIns="0" anchor="ctr">
              <a:spAutoFit/>
            </a:bodyPr>
            <a:lstStyle/>
            <a:p>
              <a:pPr algn="l"/>
              <a:r>
                <a:rPr sz="1600" b="1">
                  <a:solidFill>
                    <a:srgbClr val="FFFFFF"/>
                  </a:solidFill>
                  <a:latin typeface="Segoe UI"/>
                </a:rPr>
                <a:t>Verify with kubectl and check the restore job</a:t>
              </a:r>
            </a:p>
          </p:txBody>
        </p:sp>
      </p:grpSp>
      <p:grpSp>
        <p:nvGrpSpPr>
          <p:cNvPr id="30" name="anim|rise|1.19"/>
          <p:cNvGrpSpPr/>
          <p:nvPr/>
        </p:nvGrpSpPr>
        <p:grpSpPr>
          <a:xfrm>
            <a:off x="571500" y="4191000"/>
            <a:ext cx="8191500" cy="1809750"/>
            <a:chOff x="571500" y="4191000"/>
            <a:chExt cx="8191500" cy="1809750"/>
          </a:xfrm>
        </p:grpSpPr>
        <p:sp>
          <p:nvSpPr>
            <p:cNvPr id="31" name="Rounded Rectangle 30"/>
            <p:cNvSpPr/>
            <p:nvPr/>
          </p:nvSpPr>
          <p:spPr>
            <a:xfrm>
              <a:off x="571500" y="4191000"/>
              <a:ext cx="8191500" cy="1809750"/>
            </a:xfrm>
            <a:prstGeom prst="roundRect">
              <a:avLst>
                <a:gd name="adj" fmla="val 9473"/>
              </a:avLst>
            </a:prstGeom>
            <a:solidFill>
              <a:srgbClr val="1E3A68"/>
            </a:solidFill>
            <a:ln>
              <a:noFill/>
            </a:ln>
          </p:spPr>
          <p:txBody>
            <a:bodyPr rtlCol="0" anchor="ctr"/>
            <a:lstStyle/>
            <a:p>
              <a:pPr algn="ctr"/>
              <a:endParaRPr/>
            </a:p>
          </p:txBody>
        </p:sp>
        <p:sp>
          <p:nvSpPr>
            <p:cNvPr id="32" name="TextBox 31"/>
            <p:cNvSpPr txBox="1"/>
            <p:nvPr/>
          </p:nvSpPr>
          <p:spPr>
            <a:xfrm>
              <a:off x="838200" y="4381500"/>
              <a:ext cx="3810000" cy="171450"/>
            </a:xfrm>
            <a:prstGeom prst="rect">
              <a:avLst/>
            </a:prstGeom>
            <a:noFill/>
          </p:spPr>
          <p:txBody>
            <a:bodyPr wrap="square" lIns="0" tIns="0" rIns="0" bIns="0" anchor="t">
              <a:spAutoFit/>
            </a:bodyPr>
            <a:lstStyle/>
            <a:p>
              <a:pPr algn="l"/>
              <a:r>
                <a:rPr sz="1100" b="1" spc="300">
                  <a:solidFill>
                    <a:srgbClr val="59BEC9"/>
                  </a:solidFill>
                  <a:latin typeface="Century Gothic"/>
                </a:rPr>
                <a:t>MICROSOFT LEARN</a:t>
              </a:r>
            </a:p>
          </p:txBody>
        </p:sp>
        <p:sp>
          <p:nvSpPr>
            <p:cNvPr id="33" name="TextBox 32"/>
            <p:cNvSpPr txBox="1"/>
            <p:nvPr/>
          </p:nvSpPr>
          <p:spPr>
            <a:xfrm>
              <a:off x="838200" y="4686300"/>
              <a:ext cx="7620000" cy="1143000"/>
            </a:xfrm>
            <a:prstGeom prst="rect">
              <a:avLst/>
            </a:prstGeom>
            <a:noFill/>
          </p:spPr>
          <p:txBody>
            <a:bodyPr wrap="square" lIns="0" tIns="0" rIns="0" bIns="0" anchor="t">
              <a:spAutoFit/>
            </a:bodyPr>
            <a:lstStyle/>
            <a:p>
              <a:pPr algn="l">
                <a:lnSpc>
                  <a:spcPct val="150000"/>
                </a:lnSpc>
              </a:pPr>
              <a:r>
                <a:rPr sz="1350" b="0">
                  <a:solidFill>
                    <a:srgbClr val="B0C0D9"/>
                  </a:solidFill>
                  <a:latin typeface="Segoe UI"/>
                </a:rPr>
                <a:t>learn.microsoft.com/azure/backup/azure-kubernetes-service-cluster-restore</a:t>
              </a:r>
            </a:p>
            <a:p>
              <a:pPr algn="l">
                <a:lnSpc>
                  <a:spcPct val="150000"/>
                </a:lnSpc>
              </a:pPr>
              <a:r>
                <a:rPr sz="1350" b="0">
                  <a:solidFill>
                    <a:srgbClr val="B0C0D9"/>
                  </a:solidFill>
                  <a:latin typeface="Segoe UI"/>
                </a:rPr>
                <a:t>learn.microsoft.com/azure/backup/azure-kubernetes-service-backup-overview</a:t>
              </a:r>
            </a:p>
            <a:p>
              <a:pPr algn="l">
                <a:lnSpc>
                  <a:spcPct val="150000"/>
                </a:lnSpc>
              </a:pPr>
              <a:r>
                <a:rPr sz="1350" b="0">
                  <a:solidFill>
                    <a:srgbClr val="B0C0D9"/>
                  </a:solidFill>
                  <a:latin typeface="Segoe UI"/>
                </a:rPr>
                <a:t>learn.microsoft.com/azure/backup/azure-kubernetes-service-cluster-backup-concept</a:t>
              </a:r>
            </a:p>
          </p:txBody>
        </p:sp>
      </p:grpSp>
      <p:grpSp>
        <p:nvGrpSpPr>
          <p:cNvPr id="34" name="anim|zoom|1.35"/>
          <p:cNvGrpSpPr/>
          <p:nvPr/>
        </p:nvGrpSpPr>
        <p:grpSpPr>
          <a:xfrm>
            <a:off x="8953500" y="4191000"/>
            <a:ext cx="2667000" cy="1809750"/>
            <a:chOff x="8953500" y="4191000"/>
            <a:chExt cx="2667000" cy="1809750"/>
          </a:xfrm>
        </p:grpSpPr>
        <p:sp>
          <p:nvSpPr>
            <p:cNvPr id="35" name="Rounded Rectangle 34"/>
            <p:cNvSpPr/>
            <p:nvPr/>
          </p:nvSpPr>
          <p:spPr>
            <a:xfrm>
              <a:off x="8953500" y="4191000"/>
              <a:ext cx="2667000" cy="1809750"/>
            </a:xfrm>
            <a:prstGeom prst="roundRect">
              <a:avLst>
                <a:gd name="adj" fmla="val 9473"/>
              </a:avLst>
            </a:prstGeom>
            <a:solidFill>
              <a:srgbClr val="FFB938"/>
            </a:solidFill>
            <a:ln>
              <a:noFill/>
            </a:ln>
          </p:spPr>
          <p:txBody>
            <a:bodyPr rtlCol="0" anchor="ctr"/>
            <a:lstStyle/>
            <a:p>
              <a:pPr algn="ctr"/>
              <a:endParaRPr/>
            </a:p>
          </p:txBody>
        </p:sp>
        <p:sp>
          <p:nvSpPr>
            <p:cNvPr id="36" name="TextBox 35"/>
            <p:cNvSpPr txBox="1"/>
            <p:nvPr/>
          </p:nvSpPr>
          <p:spPr>
            <a:xfrm>
              <a:off x="8953500" y="4191000"/>
              <a:ext cx="2667000" cy="1809750"/>
            </a:xfrm>
            <a:prstGeom prst="rect">
              <a:avLst/>
            </a:prstGeom>
            <a:noFill/>
          </p:spPr>
          <p:txBody>
            <a:bodyPr wrap="square" lIns="0" tIns="0" rIns="0" bIns="0" anchor="ctr">
              <a:spAutoFit/>
            </a:bodyPr>
            <a:lstStyle/>
            <a:p>
              <a:pPr algn="ctr"/>
              <a:r>
                <a:rPr sz="3000" b="1">
                  <a:solidFill>
                    <a:srgbClr val="14284B"/>
                  </a:solidFill>
                  <a:latin typeface="Century Gothic"/>
                </a:rPr>
                <a:t>Questions?</a:t>
              </a:r>
            </a:p>
          </p:txBody>
        </p:sp>
      </p:grpSp>
    </p:spTree>
  </p:cSld>
  <p:clrMapOvr>
    <a:masterClrMapping/>
  </p:clrMapOvr>
  <mc:AlternateContent xmlns:mc="http://schemas.openxmlformats.org/markup-compatibility/2006">
    <mc:Choice xmlns:p14="http://schemas.microsoft.com/office/powerpoint/2010/main" Requires="p14">
      <p:transition spd="slow" p14:dur="800">
        <p:fad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5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50"/>
                                        <p:tgtEl>
                                          <p:spTgt spid="5"/>
                                        </p:tgtEl>
                                      </p:cBhvr>
                                    </p:animEffect>
                                  </p:childTnLst>
                                </p:cTn>
                              </p:par>
                              <p:par>
                                <p:cTn id="8" presetID="22" presetClass="entr" presetSubtype="8" fill="hold" grpId="0" nodeType="withEffect">
                                  <p:stCondLst>
                                    <p:cond delay="100"/>
                                  </p:stCondLst>
                                  <p:childTnLst>
                                    <p:set>
                                      <p:cBhvr>
                                        <p:cTn id="9" dur="1" fill="hold">
                                          <p:stCondLst>
                                            <p:cond delay="0"/>
                                          </p:stCondLst>
                                        </p:cTn>
                                        <p:tgtEl>
                                          <p:spTgt spid="8"/>
                                        </p:tgtEl>
                                        <p:attrNameLst>
                                          <p:attrName>style.visibility</p:attrName>
                                        </p:attrNameLst>
                                      </p:cBhvr>
                                      <p:to>
                                        <p:strVal val="visible"/>
                                      </p:to>
                                    </p:set>
                                    <p:animEffect transition="in" filter="wipe(left)">
                                      <p:cBhvr>
                                        <p:cTn id="10" dur="700"/>
                                        <p:tgtEl>
                                          <p:spTgt spid="8"/>
                                        </p:tgtEl>
                                      </p:cBhvr>
                                    </p:animEffect>
                                  </p:childTnLst>
                                </p:cTn>
                              </p:par>
                              <p:par>
                                <p:cTn id="11" presetID="10" presetClass="entr" presetSubtype="0" fill="hold" nodeType="withEffect">
                                  <p:stCondLst>
                                    <p:cond delay="10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550"/>
                                        <p:tgtEl>
                                          <p:spTgt spid="4"/>
                                        </p:tgtEl>
                                      </p:cBhvr>
                                    </p:animEffect>
                                  </p:childTnLst>
                                </p:cTn>
                              </p:par>
                              <p:par>
                                <p:cTn id="14" presetID="10" presetClass="entr" presetSubtype="0" fill="hold" grpId="0" nodeType="withEffect">
                                  <p:stCondLst>
                                    <p:cond delay="45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50"/>
                                        <p:tgtEl>
                                          <p:spTgt spid="9"/>
                                        </p:tgtEl>
                                      </p:cBhvr>
                                    </p:animEffect>
                                  </p:childTnLst>
                                </p:cTn>
                              </p:par>
                              <p:par>
                                <p:cTn id="17" presetID="37" presetClass="entr" presetSubtype="0" fill="hold" nodeType="withEffect">
                                  <p:stCondLst>
                                    <p:cond delay="55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550"/>
                                        <p:tgtEl>
                                          <p:spTgt spid="10"/>
                                        </p:tgtEl>
                                      </p:cBhvr>
                                    </p:animEffect>
                                    <p:anim calcmode="lin" valueType="num">
                                      <p:cBhvr>
                                        <p:cTn id="20" dur="550" fill="hold"/>
                                        <p:tgtEl>
                                          <p:spTgt spid="10"/>
                                        </p:tgtEl>
                                        <p:attrNameLst>
                                          <p:attrName>ppt_x</p:attrName>
                                        </p:attrNameLst>
                                      </p:cBhvr>
                                      <p:tavLst>
                                        <p:tav tm="0">
                                          <p:val>
                                            <p:strVal val="#ppt_x"/>
                                          </p:val>
                                        </p:tav>
                                        <p:tav tm="100000">
                                          <p:val>
                                            <p:strVal val="#ppt_x"/>
                                          </p:val>
                                        </p:tav>
                                      </p:tavLst>
                                    </p:anim>
                                    <p:anim calcmode="lin" valueType="num">
                                      <p:cBhvr>
                                        <p:cTn id="21" dur="495" decel="100000" fill="hold"/>
                                        <p:tgtEl>
                                          <p:spTgt spid="10"/>
                                        </p:tgtEl>
                                        <p:attrNameLst>
                                          <p:attrName>ppt_y</p:attrName>
                                        </p:attrNameLst>
                                      </p:cBhvr>
                                      <p:tavLst>
                                        <p:tav tm="0">
                                          <p:val>
                                            <p:strVal val="#ppt_y+1"/>
                                          </p:val>
                                        </p:tav>
                                        <p:tav tm="100000">
                                          <p:val>
                                            <p:strVal val="#ppt_y-.03"/>
                                          </p:val>
                                        </p:tav>
                                      </p:tavLst>
                                    </p:anim>
                                    <p:anim calcmode="lin" valueType="num">
                                      <p:cBhvr>
                                        <p:cTn id="22" dur="55" accel="100000" fill="hold">
                                          <p:stCondLst>
                                            <p:cond delay="495"/>
                                          </p:stCondLst>
                                        </p:cTn>
                                        <p:tgtEl>
                                          <p:spTgt spid="10"/>
                                        </p:tgtEl>
                                        <p:attrNameLst>
                                          <p:attrName>ppt_y</p:attrName>
                                        </p:attrNameLst>
                                      </p:cBhvr>
                                      <p:tavLst>
                                        <p:tav tm="0">
                                          <p:val>
                                            <p:strVal val="#ppt_y-.03"/>
                                          </p:val>
                                        </p:tav>
                                        <p:tav tm="100000">
                                          <p:val>
                                            <p:strVal val="#ppt_y"/>
                                          </p:val>
                                        </p:tav>
                                      </p:tavLst>
                                    </p:anim>
                                  </p:childTnLst>
                                </p:cTn>
                              </p:par>
                              <p:par>
                                <p:cTn id="23" presetID="37" presetClass="entr" presetSubtype="0" fill="hold" nodeType="withEffect">
                                  <p:stCondLst>
                                    <p:cond delay="710"/>
                                  </p:stCondLst>
                                  <p:childTnLst>
                                    <p:set>
                                      <p:cBhvr>
                                        <p:cTn id="24" dur="1" fill="hold">
                                          <p:stCondLst>
                                            <p:cond delay="0"/>
                                          </p:stCondLst>
                                        </p:cTn>
                                        <p:tgtEl>
                                          <p:spTgt spid="15"/>
                                        </p:tgtEl>
                                        <p:attrNameLst>
                                          <p:attrName>style.visibility</p:attrName>
                                        </p:attrNameLst>
                                      </p:cBhvr>
                                      <p:to>
                                        <p:strVal val="visible"/>
                                      </p:to>
                                    </p:set>
                                    <p:animEffect transition="in" filter="fade">
                                      <p:cBhvr>
                                        <p:cTn id="25" dur="550"/>
                                        <p:tgtEl>
                                          <p:spTgt spid="15"/>
                                        </p:tgtEl>
                                      </p:cBhvr>
                                    </p:animEffect>
                                    <p:anim calcmode="lin" valueType="num">
                                      <p:cBhvr>
                                        <p:cTn id="26" dur="550" fill="hold"/>
                                        <p:tgtEl>
                                          <p:spTgt spid="15"/>
                                        </p:tgtEl>
                                        <p:attrNameLst>
                                          <p:attrName>ppt_x</p:attrName>
                                        </p:attrNameLst>
                                      </p:cBhvr>
                                      <p:tavLst>
                                        <p:tav tm="0">
                                          <p:val>
                                            <p:strVal val="#ppt_x"/>
                                          </p:val>
                                        </p:tav>
                                        <p:tav tm="100000">
                                          <p:val>
                                            <p:strVal val="#ppt_x"/>
                                          </p:val>
                                        </p:tav>
                                      </p:tavLst>
                                    </p:anim>
                                    <p:anim calcmode="lin" valueType="num">
                                      <p:cBhvr>
                                        <p:cTn id="27" dur="495" decel="100000" fill="hold"/>
                                        <p:tgtEl>
                                          <p:spTgt spid="15"/>
                                        </p:tgtEl>
                                        <p:attrNameLst>
                                          <p:attrName>ppt_y</p:attrName>
                                        </p:attrNameLst>
                                      </p:cBhvr>
                                      <p:tavLst>
                                        <p:tav tm="0">
                                          <p:val>
                                            <p:strVal val="#ppt_y+1"/>
                                          </p:val>
                                        </p:tav>
                                        <p:tav tm="100000">
                                          <p:val>
                                            <p:strVal val="#ppt_y-.03"/>
                                          </p:val>
                                        </p:tav>
                                      </p:tavLst>
                                    </p:anim>
                                    <p:anim calcmode="lin" valueType="num">
                                      <p:cBhvr>
                                        <p:cTn id="28" dur="55" accel="100000" fill="hold">
                                          <p:stCondLst>
                                            <p:cond delay="495"/>
                                          </p:stCondLst>
                                        </p:cTn>
                                        <p:tgtEl>
                                          <p:spTgt spid="15"/>
                                        </p:tgtEl>
                                        <p:attrNameLst>
                                          <p:attrName>ppt_y</p:attrName>
                                        </p:attrNameLst>
                                      </p:cBhvr>
                                      <p:tavLst>
                                        <p:tav tm="0">
                                          <p:val>
                                            <p:strVal val="#ppt_y-.03"/>
                                          </p:val>
                                        </p:tav>
                                        <p:tav tm="100000">
                                          <p:val>
                                            <p:strVal val="#ppt_y"/>
                                          </p:val>
                                        </p:tav>
                                      </p:tavLst>
                                    </p:anim>
                                  </p:childTnLst>
                                </p:cTn>
                              </p:par>
                              <p:par>
                                <p:cTn id="29" presetID="37" presetClass="entr" presetSubtype="0" fill="hold" nodeType="withEffect">
                                  <p:stCondLst>
                                    <p:cond delay="870"/>
                                  </p:stCondLst>
                                  <p:childTnLst>
                                    <p:set>
                                      <p:cBhvr>
                                        <p:cTn id="30" dur="1" fill="hold">
                                          <p:stCondLst>
                                            <p:cond delay="0"/>
                                          </p:stCondLst>
                                        </p:cTn>
                                        <p:tgtEl>
                                          <p:spTgt spid="20"/>
                                        </p:tgtEl>
                                        <p:attrNameLst>
                                          <p:attrName>style.visibility</p:attrName>
                                        </p:attrNameLst>
                                      </p:cBhvr>
                                      <p:to>
                                        <p:strVal val="visible"/>
                                      </p:to>
                                    </p:set>
                                    <p:animEffect transition="in" filter="fade">
                                      <p:cBhvr>
                                        <p:cTn id="31" dur="550"/>
                                        <p:tgtEl>
                                          <p:spTgt spid="20"/>
                                        </p:tgtEl>
                                      </p:cBhvr>
                                    </p:animEffect>
                                    <p:anim calcmode="lin" valueType="num">
                                      <p:cBhvr>
                                        <p:cTn id="32" dur="550" fill="hold"/>
                                        <p:tgtEl>
                                          <p:spTgt spid="20"/>
                                        </p:tgtEl>
                                        <p:attrNameLst>
                                          <p:attrName>ppt_x</p:attrName>
                                        </p:attrNameLst>
                                      </p:cBhvr>
                                      <p:tavLst>
                                        <p:tav tm="0">
                                          <p:val>
                                            <p:strVal val="#ppt_x"/>
                                          </p:val>
                                        </p:tav>
                                        <p:tav tm="100000">
                                          <p:val>
                                            <p:strVal val="#ppt_x"/>
                                          </p:val>
                                        </p:tav>
                                      </p:tavLst>
                                    </p:anim>
                                    <p:anim calcmode="lin" valueType="num">
                                      <p:cBhvr>
                                        <p:cTn id="33" dur="495" decel="100000" fill="hold"/>
                                        <p:tgtEl>
                                          <p:spTgt spid="20"/>
                                        </p:tgtEl>
                                        <p:attrNameLst>
                                          <p:attrName>ppt_y</p:attrName>
                                        </p:attrNameLst>
                                      </p:cBhvr>
                                      <p:tavLst>
                                        <p:tav tm="0">
                                          <p:val>
                                            <p:strVal val="#ppt_y+1"/>
                                          </p:val>
                                        </p:tav>
                                        <p:tav tm="100000">
                                          <p:val>
                                            <p:strVal val="#ppt_y-.03"/>
                                          </p:val>
                                        </p:tav>
                                      </p:tavLst>
                                    </p:anim>
                                    <p:anim calcmode="lin" valueType="num">
                                      <p:cBhvr>
                                        <p:cTn id="34" dur="55" accel="100000" fill="hold">
                                          <p:stCondLst>
                                            <p:cond delay="495"/>
                                          </p:stCondLst>
                                        </p:cTn>
                                        <p:tgtEl>
                                          <p:spTgt spid="20"/>
                                        </p:tgtEl>
                                        <p:attrNameLst>
                                          <p:attrName>ppt_y</p:attrName>
                                        </p:attrNameLst>
                                      </p:cBhvr>
                                      <p:tavLst>
                                        <p:tav tm="0">
                                          <p:val>
                                            <p:strVal val="#ppt_y-.03"/>
                                          </p:val>
                                        </p:tav>
                                        <p:tav tm="100000">
                                          <p:val>
                                            <p:strVal val="#ppt_y"/>
                                          </p:val>
                                        </p:tav>
                                      </p:tavLst>
                                    </p:anim>
                                  </p:childTnLst>
                                </p:cTn>
                              </p:par>
                              <p:par>
                                <p:cTn id="35" presetID="37" presetClass="entr" presetSubtype="0" fill="hold" nodeType="withEffect">
                                  <p:stCondLst>
                                    <p:cond delay="1030"/>
                                  </p:stCondLst>
                                  <p:childTnLst>
                                    <p:set>
                                      <p:cBhvr>
                                        <p:cTn id="36" dur="1" fill="hold">
                                          <p:stCondLst>
                                            <p:cond delay="0"/>
                                          </p:stCondLst>
                                        </p:cTn>
                                        <p:tgtEl>
                                          <p:spTgt spid="25"/>
                                        </p:tgtEl>
                                        <p:attrNameLst>
                                          <p:attrName>style.visibility</p:attrName>
                                        </p:attrNameLst>
                                      </p:cBhvr>
                                      <p:to>
                                        <p:strVal val="visible"/>
                                      </p:to>
                                    </p:set>
                                    <p:animEffect transition="in" filter="fade">
                                      <p:cBhvr>
                                        <p:cTn id="37" dur="550"/>
                                        <p:tgtEl>
                                          <p:spTgt spid="25"/>
                                        </p:tgtEl>
                                      </p:cBhvr>
                                    </p:animEffect>
                                    <p:anim calcmode="lin" valueType="num">
                                      <p:cBhvr>
                                        <p:cTn id="38" dur="550" fill="hold"/>
                                        <p:tgtEl>
                                          <p:spTgt spid="25"/>
                                        </p:tgtEl>
                                        <p:attrNameLst>
                                          <p:attrName>ppt_x</p:attrName>
                                        </p:attrNameLst>
                                      </p:cBhvr>
                                      <p:tavLst>
                                        <p:tav tm="0">
                                          <p:val>
                                            <p:strVal val="#ppt_x"/>
                                          </p:val>
                                        </p:tav>
                                        <p:tav tm="100000">
                                          <p:val>
                                            <p:strVal val="#ppt_x"/>
                                          </p:val>
                                        </p:tav>
                                      </p:tavLst>
                                    </p:anim>
                                    <p:anim calcmode="lin" valueType="num">
                                      <p:cBhvr>
                                        <p:cTn id="39" dur="495" decel="100000" fill="hold"/>
                                        <p:tgtEl>
                                          <p:spTgt spid="25"/>
                                        </p:tgtEl>
                                        <p:attrNameLst>
                                          <p:attrName>ppt_y</p:attrName>
                                        </p:attrNameLst>
                                      </p:cBhvr>
                                      <p:tavLst>
                                        <p:tav tm="0">
                                          <p:val>
                                            <p:strVal val="#ppt_y+1"/>
                                          </p:val>
                                        </p:tav>
                                        <p:tav tm="100000">
                                          <p:val>
                                            <p:strVal val="#ppt_y-.03"/>
                                          </p:val>
                                        </p:tav>
                                      </p:tavLst>
                                    </p:anim>
                                    <p:anim calcmode="lin" valueType="num">
                                      <p:cBhvr>
                                        <p:cTn id="40" dur="55" accel="100000" fill="hold">
                                          <p:stCondLst>
                                            <p:cond delay="495"/>
                                          </p:stCondLst>
                                        </p:cTn>
                                        <p:tgtEl>
                                          <p:spTgt spid="25"/>
                                        </p:tgtEl>
                                        <p:attrNameLst>
                                          <p:attrName>ppt_y</p:attrName>
                                        </p:attrNameLst>
                                      </p:cBhvr>
                                      <p:tavLst>
                                        <p:tav tm="0">
                                          <p:val>
                                            <p:strVal val="#ppt_y-.03"/>
                                          </p:val>
                                        </p:tav>
                                        <p:tav tm="100000">
                                          <p:val>
                                            <p:strVal val="#ppt_y"/>
                                          </p:val>
                                        </p:tav>
                                      </p:tavLst>
                                    </p:anim>
                                  </p:childTnLst>
                                </p:cTn>
                              </p:par>
                              <p:par>
                                <p:cTn id="41" presetID="37" presetClass="entr" presetSubtype="0" fill="hold" nodeType="withEffect">
                                  <p:stCondLst>
                                    <p:cond delay="1190"/>
                                  </p:stCondLst>
                                  <p:childTnLst>
                                    <p:set>
                                      <p:cBhvr>
                                        <p:cTn id="42" dur="1" fill="hold">
                                          <p:stCondLst>
                                            <p:cond delay="0"/>
                                          </p:stCondLst>
                                        </p:cTn>
                                        <p:tgtEl>
                                          <p:spTgt spid="30"/>
                                        </p:tgtEl>
                                        <p:attrNameLst>
                                          <p:attrName>style.visibility</p:attrName>
                                        </p:attrNameLst>
                                      </p:cBhvr>
                                      <p:to>
                                        <p:strVal val="visible"/>
                                      </p:to>
                                    </p:set>
                                    <p:animEffect transition="in" filter="fade">
                                      <p:cBhvr>
                                        <p:cTn id="43" dur="550"/>
                                        <p:tgtEl>
                                          <p:spTgt spid="30"/>
                                        </p:tgtEl>
                                      </p:cBhvr>
                                    </p:animEffect>
                                    <p:anim calcmode="lin" valueType="num">
                                      <p:cBhvr>
                                        <p:cTn id="44" dur="550" fill="hold"/>
                                        <p:tgtEl>
                                          <p:spTgt spid="30"/>
                                        </p:tgtEl>
                                        <p:attrNameLst>
                                          <p:attrName>ppt_x</p:attrName>
                                        </p:attrNameLst>
                                      </p:cBhvr>
                                      <p:tavLst>
                                        <p:tav tm="0">
                                          <p:val>
                                            <p:strVal val="#ppt_x"/>
                                          </p:val>
                                        </p:tav>
                                        <p:tav tm="100000">
                                          <p:val>
                                            <p:strVal val="#ppt_x"/>
                                          </p:val>
                                        </p:tav>
                                      </p:tavLst>
                                    </p:anim>
                                    <p:anim calcmode="lin" valueType="num">
                                      <p:cBhvr>
                                        <p:cTn id="45" dur="495" decel="100000" fill="hold"/>
                                        <p:tgtEl>
                                          <p:spTgt spid="30"/>
                                        </p:tgtEl>
                                        <p:attrNameLst>
                                          <p:attrName>ppt_y</p:attrName>
                                        </p:attrNameLst>
                                      </p:cBhvr>
                                      <p:tavLst>
                                        <p:tav tm="0">
                                          <p:val>
                                            <p:strVal val="#ppt_y+1"/>
                                          </p:val>
                                        </p:tav>
                                        <p:tav tm="100000">
                                          <p:val>
                                            <p:strVal val="#ppt_y-.03"/>
                                          </p:val>
                                        </p:tav>
                                      </p:tavLst>
                                    </p:anim>
                                    <p:anim calcmode="lin" valueType="num">
                                      <p:cBhvr>
                                        <p:cTn id="46" dur="55" accel="100000" fill="hold">
                                          <p:stCondLst>
                                            <p:cond delay="495"/>
                                          </p:stCondLst>
                                        </p:cTn>
                                        <p:tgtEl>
                                          <p:spTgt spid="30"/>
                                        </p:tgtEl>
                                        <p:attrNameLst>
                                          <p:attrName>ppt_y</p:attrName>
                                        </p:attrNameLst>
                                      </p:cBhvr>
                                      <p:tavLst>
                                        <p:tav tm="0">
                                          <p:val>
                                            <p:strVal val="#ppt_y-.03"/>
                                          </p:val>
                                        </p:tav>
                                        <p:tav tm="100000">
                                          <p:val>
                                            <p:strVal val="#ppt_y"/>
                                          </p:val>
                                        </p:tav>
                                      </p:tavLst>
                                    </p:anim>
                                  </p:childTnLst>
                                </p:cTn>
                              </p:par>
                              <p:par>
                                <p:cTn id="47" presetID="23" presetClass="entr" presetSubtype="16" fill="hold" nodeType="withEffect">
                                  <p:stCondLst>
                                    <p:cond delay="1350"/>
                                  </p:stCondLst>
                                  <p:childTnLst>
                                    <p:set>
                                      <p:cBhvr>
                                        <p:cTn id="48" dur="1" fill="hold">
                                          <p:stCondLst>
                                            <p:cond delay="0"/>
                                          </p:stCondLst>
                                        </p:cTn>
                                        <p:tgtEl>
                                          <p:spTgt spid="34"/>
                                        </p:tgtEl>
                                        <p:attrNameLst>
                                          <p:attrName>style.visibility</p:attrName>
                                        </p:attrNameLst>
                                      </p:cBhvr>
                                      <p:to>
                                        <p:strVal val="visible"/>
                                      </p:to>
                                    </p:set>
                                    <p:anim calcmode="lin" valueType="num">
                                      <p:cBhvr>
                                        <p:cTn id="49" dur="550" fill="hold"/>
                                        <p:tgtEl>
                                          <p:spTgt spid="34"/>
                                        </p:tgtEl>
                                        <p:attrNameLst>
                                          <p:attrName>ppt_w</p:attrName>
                                        </p:attrNameLst>
                                      </p:cBhvr>
                                      <p:tavLst>
                                        <p:tav tm="0">
                                          <p:val>
                                            <p:fltVal val="0"/>
                                          </p:val>
                                        </p:tav>
                                        <p:tav tm="100000">
                                          <p:val>
                                            <p:strVal val="#ppt_w"/>
                                          </p:val>
                                        </p:tav>
                                      </p:tavLst>
                                    </p:anim>
                                    <p:anim calcmode="lin" valueType="num">
                                      <p:cBhvr>
                                        <p:cTn id="50" dur="550" fill="hold"/>
                                        <p:tgtEl>
                                          <p:spTgt spid="34"/>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2978</Words>
  <Application>Microsoft Office PowerPoint</Application>
  <PresentationFormat>Widescreen</PresentationFormat>
  <Paragraphs>430</Paragraphs>
  <Slides>23</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Arial</vt:lpstr>
      <vt:lpstr>Calibri</vt:lpstr>
      <vt:lpstr>Century Gothic</vt:lpstr>
      <vt:lpstr>Consolas</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keywords/>
  <dc:description>generated using python-pptx</dc:description>
  <cp:lastModifiedBy>abdullah bhatti</cp:lastModifiedBy>
  <cp:revision>2</cp:revision>
  <dcterms:created xsi:type="dcterms:W3CDTF">2013-01-27T09:14:16Z</dcterms:created>
  <dcterms:modified xsi:type="dcterms:W3CDTF">2026-10-28T19:15:58Z</dcterms:modified>
  <cp:category/>
</cp:coreProperties>
</file>